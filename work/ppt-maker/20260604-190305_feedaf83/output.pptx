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公司组织架构图</a:t>
            </a:r>
          </a:p>
          <a:p>
            <a:pPr>
              <a:spcBef>
                <a:spcPts val="1600"/>
              </a:spcBef>
              <a:defRPr sz="2000">
                <a:solidFill>
                  <a:srgbClr val="009688"/>
                </a:solidFill>
              </a:defRPr>
            </a:pPr>
            <a:r>
              <a:t>商务风格 · 层级清晰 · 高效管理</a:t>
            </a:r>
          </a:p>
          <a:p>
            <a:pPr>
              <a:spcBef>
                <a:spcPts val="3000"/>
              </a:spcBef>
              <a:defRPr sz="1400">
                <a:solidFill>
                  <a:srgbClr val="FFFFFF"/>
                </a:solidFill>
              </a:defRPr>
            </a:pPr>
            <a:r>
              <a:t>2026年度组织规划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管理架构</a:t>
            </a:r>
            <a:br/>
            <a:r>
              <a:t>核心管理层 · 职责体系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核心管理团队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9688"/>
                </a:solidFill>
              </a:defRPr>
            </a:pPr>
            <a:r>
              <a:t>总经理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全面负责公司整体战略规划与经营目标制定</a:t>
            </a:r>
          </a:p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统筹协调各部门资源与跨部门协作机制</a:t>
            </a:r>
          </a:p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主导核心业务决策与重大项目管理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9688"/>
                </a:solidFill>
              </a:defRPr>
            </a:pPr>
            <a:r>
              <a:t>下属部门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市场部 — 品牌推广、市场调研与商务拓展</a:t>
            </a:r>
          </a:p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技术部 — 产品研发、技术支持与创新驱动</a:t>
            </a:r>
          </a:p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运营部 — 流程优化、团队建设与绩效管理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01  体检合格的错觉：我身上5个看似无法解释的矛盾现象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500">
                <a:solidFill>
                  <a:srgbClr val="1E2D3C"/>
                </a:solidFill>
              </a:defRPr>
            </a:pPr>
            <a:r>
              <a:t>1. 血糖两极分化：空腹血糖数据表现优异，但餐后极易飙升，运动后又剧烈下探发生虚弱。</a:t>
            </a:r>
          </a:p>
          <a:p>
            <a:pPr>
              <a:spcAft>
                <a:spcPts val="1400"/>
              </a:spcAft>
              <a:defRPr sz="1500">
                <a:solidFill>
                  <a:srgbClr val="1E2D3C"/>
                </a:solidFill>
              </a:defRPr>
            </a:pPr>
            <a:r>
              <a:t>2. 关机却不充电：倒头就睡、从不起夜，但次日清晨极度疲惫，像电量永远卡在 30% 。</a:t>
            </a:r>
          </a:p>
          <a:p>
            <a:pPr>
              <a:spcAft>
                <a:spcPts val="1400"/>
              </a:spcAft>
              <a:defRPr sz="1500">
                <a:solidFill>
                  <a:srgbClr val="1E2D3C"/>
                </a:solidFill>
              </a:defRPr>
            </a:pPr>
            <a:r>
              <a:t>3. 终身不酒的高尿酸：对酒精极度敏感、一辈子几乎不饮酒，但长期高尿酸，需药物压制。</a:t>
            </a:r>
          </a:p>
          <a:p>
            <a:pPr>
              <a:spcAft>
                <a:spcPts val="1400"/>
              </a:spcAft>
              <a:defRPr sz="1500">
                <a:solidFill>
                  <a:srgbClr val="1E2D3C"/>
                </a:solidFill>
              </a:defRPr>
            </a:pPr>
            <a:r>
              <a:t>4. 结构性关节痛与脑雾：无重体力劳动，但髋部与肩关节长期疼痛；下午脑雾明显，效率下降。</a:t>
            </a:r>
          </a:p>
          <a:p>
            <a:pPr>
              <a:spcAft>
                <a:spcPts val="1400"/>
              </a:spcAft>
              <a:defRPr sz="1500">
                <a:solidFill>
                  <a:srgbClr val="1E2D3C"/>
                </a:solidFill>
              </a:defRPr>
            </a:pPr>
            <a:r>
              <a:t>5. 胃黏膜糜烂与息肉切除：六癌甲基化早筛阴性，但胃窦慢性炎、乙状结肠管状腺瘤异型增生。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01  回归医学共识：梅奥诊所的整合定义与功能医学根源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A2540"/>
                </a:solidFill>
              </a:defRPr>
            </a:pPr>
            <a:r>
              <a:t>• 梅奥诊所 (Mayo Clinic) 对整合医学的训诫：</a:t>
            </a:r>
          </a:p>
          <a:p>
            <a:pPr>
              <a:spcAft>
                <a:spcPts val="2000"/>
              </a:spcAft>
              <a:defRPr sz="1400">
                <a:solidFill>
                  <a:srgbClr val="1E2D3C"/>
                </a:solidFill>
              </a:defRPr>
            </a:pPr>
            <a:r>
              <a:t>   绝非抛弃常规医疗，而是在常规基础上结合营养、运动、压力管理等手段，团队化解决疲劳、疼痛与慢病。</a:t>
            </a:r>
          </a:p>
          <a:p>
            <a:pPr>
              <a:defRPr b="1" sz="1600">
                <a:solidFill>
                  <a:srgbClr val="0A2540"/>
                </a:solidFill>
              </a:defRPr>
            </a:pPr>
            <a:r>
              <a:t>• 功能医学的核心公理：</a:t>
            </a:r>
          </a:p>
          <a:p>
            <a:pPr>
              <a:defRPr sz="1400">
                <a:solidFill>
                  <a:srgbClr val="1E2D3C"/>
                </a:solidFill>
              </a:defRPr>
            </a:pPr>
            <a:r>
              <a:t>   身体绝非孤立零件的机械拼凑，而是一张复杂的化学网络。任何单点器官的异动，都是底层系统失衡的表现。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MODULE 02</a:t>
            </a:r>
            <a:br/>
            <a:r>
              <a:t>数据背后的真相：拆解企业家的三个隐形健康杀手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02  因果链一：我减掉的不是脂肪，而是人体最大的血糖缓冲区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657600" cy="457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46.7kg</a:t>
            </a:r>
          </a:p>
          <a:p>
            <a:pPr>
              <a:spcBef>
                <a:spcPts val="1600"/>
              </a:spcBef>
              <a:defRPr sz="1300">
                <a:solidFill>
                  <a:srgbClr val="009688"/>
                </a:solidFill>
              </a:defRPr>
            </a:pPr>
            <a:r>
              <a:t>骨骼肌总量严重低迷</a:t>
            </a:r>
            <a:br/>
            <a:r>
              <a:t>临床下限: 49.1-52.2kg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6705295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64592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糖代谢缓冲容量坍塌 (骨骼肌承担餐后 80% 糖摄取)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9456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D3C"/>
                </a:solidFill>
              </a:defRPr>
            </a:pPr>
            <a:r>
              <a:t>2026年胰岛素抵抗综述指出：正常情况下骨骼肌承担绝大多数餐后外周糖清理。肌肉量流失意味着代谢仓库严重缩减，胰岛素抵抗使肌糖原合成速率暴跌 50%，导致大量糖分在血液中引发‘电压过山车式’剧烈波动。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840480"/>
            <a:ext cx="6705295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402336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用企业语言翻译身体：仓库容量变小，叉车效率下降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57200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D3C"/>
                </a:solidFill>
              </a:defRPr>
            </a:pPr>
            <a:r>
              <a:t>空腹血糖只是工厂早上开门前的‘停机读数’；餐后血糖才是‘生产高峰期的负荷测试’。当缓冲资产（肌肉）严重不足，系统一旦遭遇餐后高负荷输入就会瞬间跳闸，引发运动后的极度虚弱与发软。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02  因果链二：倒头就睡却早晨极度疲惫，细胞发电机没有充上电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832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发电机遭毒素污染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螯合后尿铅：6.580 (参考值 &lt;3.0)</a:t>
            </a:r>
          </a:p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重金属暴露直接压制线粒体呼吸链效率，锁定神经系统高风险。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3832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低度燃烧与肠漏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解连蛋白：115 (参考值 15-107)</a:t>
            </a:r>
          </a:p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提示肠道屏障全面受损，内毒素入血引发系统性慢性低度炎症（铁蛋白 332.9 持续偏高）。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63040"/>
            <a:ext cx="33832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大脑代谢脑雾解密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脑胰岛素抵抗：2025年文献指出，脑胰岛素抵抗引发神经元线粒体障碍、ATP 耗竭，是脑雾的生化根源。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02  因果链三：不喝酒的高尿酸，背后是致命的“肠-肾-炎症轴”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9688"/>
                </a:solidFill>
              </a:defRPr>
            </a:pPr>
            <a:r>
              <a:t>1. 肠道排泄屏障失效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D3C"/>
                </a:solidFill>
              </a:defRPr>
            </a:pPr>
            <a:r>
              <a:t>2025年菌群稳态综述：人体 1/3 尿酸经肠道排出。患者菌群总分仅 56，丁酸/乙酸盐严重降低，导致肠道排泄通道上游积压。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0728655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9688"/>
                </a:solidFill>
              </a:defRPr>
            </a:pPr>
            <a:r>
              <a:t>2. 肾脏滤过清除率下降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D3C"/>
                </a:solidFill>
              </a:defRPr>
            </a:pPr>
            <a:r>
              <a:t>内源性预警信号：eGFR（肾小球滤过率）下降至 78.77 边缘线，提示早期排泄清除压力。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9688"/>
                </a:solidFill>
              </a:defRPr>
            </a:pPr>
            <a:r>
              <a:t>3. 癌前微环境持续燃烧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D3C"/>
                </a:solidFill>
              </a:defRPr>
            </a:pPr>
            <a:r>
              <a:t>乙状结肠管状腺瘤（伴轻-中度异型增生）已切除。甲基化早筛阴性不能掩盖局部慢性微环境发炎的事实。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MODULE 03</a:t>
            </a:r>
            <a:br/>
            <a:r>
              <a:t>功能医学的系统性救赎：围绕四个临床干预目标的精准破局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03  干预一：FMT（菌群移植）不是为了通便，而是重建崩溃的土壤生态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657600" cy="457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2918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评分 46</a:t>
            </a:r>
          </a:p>
          <a:p>
            <a:pPr>
              <a:spcBef>
                <a:spcPts val="1600"/>
              </a:spcBef>
              <a:defRPr sz="1400">
                <a:solidFill>
                  <a:srgbClr val="009688"/>
                </a:solidFill>
              </a:defRPr>
            </a:pPr>
            <a:r>
              <a:t>原菌群功能极度低下</a:t>
            </a:r>
            <a:br/>
            <a:r>
              <a:t>生态严重水土流失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6705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1E2D3C"/>
                </a:solidFill>
              </a:defRPr>
            </a:pPr>
            <a:r>
              <a:t>• 摆脱传统误区：益生菌只是撒种子，FMT 则是对荒漠化土壤的‘生态重构级’全面翻新。</a:t>
            </a:r>
          </a:p>
          <a:p>
            <a:pPr>
              <a:spcAft>
                <a:spcPts val="1000"/>
              </a:spcAft>
              <a:defRPr sz="1400">
                <a:solidFill>
                  <a:srgbClr val="1E2D3C"/>
                </a:solidFill>
              </a:defRPr>
            </a:pPr>
            <a:r>
              <a:t>• 实事求是的严谨审视：2025年系统综述提示，FMT 用于肥胖与代谢仍在快速发展的探索期；2023年荟萃分析证实其能短期改善胰岛素敏感性与 HDL，必须审慎客观看待。</a:t>
            </a:r>
          </a:p>
          <a:p>
            <a:pPr>
              <a:spcAft>
                <a:spcPts val="1000"/>
              </a:spcAft>
              <a:defRPr sz="1400">
                <a:solidFill>
                  <a:srgbClr val="1E2D3C"/>
                </a:solidFill>
              </a:defRPr>
            </a:pPr>
            <a:r>
              <a:t>• 四维轴向联动闭环目标：</a:t>
            </a:r>
          </a:p>
          <a:p>
            <a:pPr>
              <a:spcAft>
                <a:spcPts val="1000"/>
              </a:spcAft>
              <a:defRPr sz="1400">
                <a:solidFill>
                  <a:srgbClr val="1E2D3C"/>
                </a:solidFill>
              </a:defRPr>
            </a:pPr>
            <a:r>
              <a:t>  - [肠-脑轴] 狙击并逆转脑雾与认知衰退  |  - [肠-代谢轴] 稳固并削减餐后血糖波动</a:t>
            </a:r>
          </a:p>
          <a:p>
            <a:pPr>
              <a:spcAft>
                <a:spcPts val="1000"/>
              </a:spcAft>
              <a:defRPr sz="1400">
                <a:solidFill>
                  <a:srgbClr val="1E2D3C"/>
                </a:solidFill>
              </a:defRPr>
            </a:pPr>
            <a:r>
              <a:t>  - [肠-免疫轴] 彻底熄灭系统性低度微炎症  |  - [肠-肾轴] 协同辅助尿酸排泄与压力泄洪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03  干预二：营养素支持不是保健品，而是化学反应的绝对底物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5603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氨基酸网络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D3C"/>
                </a:solidFill>
              </a:defRPr>
            </a:pPr>
            <a:r>
              <a:t>骨骼肌蛋白质合成的核心原料，直接转化为中晚年血糖缓冲区资产。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645920"/>
            <a:ext cx="25603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高阶 B 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6888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D3C"/>
                </a:solidFill>
              </a:defRPr>
            </a:pPr>
            <a:r>
              <a:t>精准控制并改善体内甲基化循环、能量轴心与解毒网络的底层辅酶。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25603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矿物质 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46888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D3C"/>
                </a:solidFill>
              </a:defRPr>
            </a:pPr>
            <a:r>
              <a:t>全细胞能量货币 ATP 利用的绝对核心，稳定神级肌肉并优化血糖。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1645920"/>
            <a:ext cx="25603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个性化分子营养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46888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D3C"/>
                </a:solidFill>
              </a:defRPr>
            </a:pPr>
            <a:r>
              <a:t>因应 eGFR 下降与尿酸历史压力，严密遵循医生指导进行剂量复查闭环。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03  干预三：多肽、外源性 NAD+ 的线粒体锚定，而非抗衰神针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1">
                <a:solidFill>
                  <a:srgbClr val="0A2540"/>
                </a:solidFill>
              </a:defRPr>
            </a:pPr>
            <a:r>
              <a:t>• 生物化学定位：</a:t>
            </a:r>
          </a:p>
          <a:p>
            <a:pPr>
              <a:spcAft>
                <a:spcPts val="800"/>
              </a:spcAft>
              <a:defRPr sz="1400">
                <a:solidFill>
                  <a:srgbClr val="1E2D3C"/>
                </a:solidFill>
              </a:defRPr>
            </a:pPr>
            <a:r>
              <a:t>  NAD+ 是能量转移与细胞氧化还原反应中不可或缺的辅酶系统；多肽围绕细胞信号传导与免疫微环境进行系统修复。</a:t>
            </a:r>
          </a:p>
          <a:p>
            <a:pPr>
              <a:spcAft>
                <a:spcPts val="800"/>
              </a:spcAft>
              <a:defRPr sz="1400" b="1">
                <a:solidFill>
                  <a:srgbClr val="0A2540"/>
                </a:solidFill>
              </a:defRPr>
            </a:pPr>
            <a:r>
              <a:t>• 科学审慎求证（拒绝概念绑架）：</a:t>
            </a:r>
          </a:p>
          <a:p>
            <a:pPr>
              <a:spcAft>
                <a:spcPts val="800"/>
              </a:spcAft>
              <a:defRPr sz="1400">
                <a:solidFill>
                  <a:srgbClr val="1E2D3C"/>
                </a:solidFill>
              </a:defRPr>
            </a:pPr>
            <a:r>
              <a:t>  2026年系统综述明确指出：口服 NR/NMN 可较一致提升 NAD+ 生物标志物；但对血管、功能性结局的影响目前仍不稳定。尚无大规模结局试验证实静脉或肌肉注射 NAD+ 本身可以直接用于抗衰。</a:t>
            </a:r>
          </a:p>
          <a:p>
            <a:pPr>
              <a:spcAft>
                <a:spcPts val="800"/>
              </a:spcAft>
              <a:defRPr sz="1400" b="1">
                <a:solidFill>
                  <a:srgbClr val="0A2540"/>
                </a:solidFill>
              </a:defRPr>
            </a:pPr>
            <a:r>
              <a:t>• 真实的临床干预共识：</a:t>
            </a:r>
          </a:p>
          <a:p>
            <a:pPr>
              <a:spcAft>
                <a:spcPts val="800"/>
              </a:spcAft>
              <a:defRPr sz="1400">
                <a:solidFill>
                  <a:srgbClr val="1E2D3C"/>
                </a:solidFill>
              </a:defRPr>
            </a:pPr>
            <a:r>
              <a:t>  不追求玄学神迹。其根本目标是配合整体方案：改善线粒体底物供应、支持骨肌合成、对抗疲劳，在尿酸与肾功能全程可测的底线下，步步为营提高系统稳定性。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03  干预四：重新定义 60 岁以后的骨骼肌 —— 这是最核心的长寿资产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肌肉在稳态系统中的多维内分泌主权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肌肉量决定餐后血糖的最大缓冲极限容量</a:t>
            </a:r>
          </a:p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肌肉量维持中晚年基础代谢的引擎输出</a:t>
            </a:r>
          </a:p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肌肉量直接拉低并对冲全身体液的慢性炎症水平</a:t>
            </a:r>
          </a:p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肌肉量决定老年个体不跌倒、拥有绝对独立的尊严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CGM 监测下的“精准训练”替代“盲目拼命”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彻底抛弃盲目爬山、无节制走路的传统误区</a:t>
            </a:r>
          </a:p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在连续血糖监测（CGM）的雷达实时护航下展开训练</a:t>
            </a:r>
          </a:p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寻找餐后运动时机、抗阻训练抗荷、高质蛋白质补充的黄金交点</a:t>
            </a:r>
          </a:p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核心目标：绝非单纯减轻体重，而是提高代谢弹性与肌肉质量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MODULE 04</a:t>
            </a:r>
            <a:br/>
            <a:r>
              <a:t>企业家的终极诉求：建立长周期健康仪表盘与抗衰冷思考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04  管理企业靠前瞻性指标；管理生命，也必须建立实时仪表盘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</a:defRPr>
            </a:pPr>
            <a:r>
              <a:t>ENTERPRISE MANAGEMENT | 企业工厂精密管理</a:t>
            </a:r>
          </a:p>
          <a:p>
            <a:pPr>
              <a:spcBef>
                <a:spcPts val="600"/>
              </a:spcBef>
              <a:defRPr sz="1300">
                <a:solidFill>
                  <a:srgbClr val="1E2D3C"/>
                </a:solidFill>
              </a:defRPr>
            </a:pPr>
            <a:r>
              <a:t>• 前瞻性监控资产：现金流预测、产品良率、库存周转率、设备稼动率、车间能耗</a:t>
            </a:r>
            <a:br/>
            <a:r>
              <a:t>• 核心逻辑：绝不在机器彻底烧毁后才去停机抢修，而是依靠指标实施“预测性维护”。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10728655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</a:defRPr>
            </a:pPr>
            <a:r>
              <a:t>BIOLOGICAL METABOLIC DASHBOARD | 身体生命系统健康仪表盘</a:t>
            </a:r>
          </a:p>
          <a:p>
            <a:pPr>
              <a:spcAft>
                <a:spcPts val="400"/>
              </a:spcAft>
              <a:defRPr sz="1200">
                <a:solidFill>
                  <a:srgbClr val="1E2D3C"/>
                </a:solidFill>
              </a:defRPr>
            </a:pPr>
            <a:r>
              <a:t>• CGM 目标范围时间 (TIR)：拒绝空腹错觉，实时捕捉餐后敏感与运动后低血糖的负荷波动。</a:t>
            </a:r>
          </a:p>
          <a:p>
            <a:pPr>
              <a:spcAft>
                <a:spcPts val="400"/>
              </a:spcAft>
              <a:defRPr sz="1200">
                <a:solidFill>
                  <a:srgbClr val="1E2D3C"/>
                </a:solidFill>
              </a:defRPr>
            </a:pPr>
            <a:r>
              <a:t>• 屏障与免疫轴 (解连蛋白/铁蛋白/hsCRP)：监控肠道通透性，全力熄灭慢性体液发炎暗火。</a:t>
            </a:r>
          </a:p>
          <a:p>
            <a:pPr>
              <a:spcAft>
                <a:spcPts val="400"/>
              </a:spcAft>
              <a:defRPr sz="1200">
                <a:solidFill>
                  <a:srgbClr val="1E2D3C"/>
                </a:solidFill>
              </a:defRPr>
            </a:pPr>
            <a:r>
              <a:t>• 肾脏与清除率 (eGFR/UA/毒性清除)：精密测定清除率，对代谢废物与毒素进行全周期动态阻击。</a:t>
            </a:r>
          </a:p>
          <a:p>
            <a:pPr>
              <a:spcAft>
                <a:spcPts val="400"/>
              </a:spcAft>
              <a:defRPr sz="1200">
                <a:solidFill>
                  <a:srgbClr val="1E2D3C"/>
                </a:solidFill>
              </a:defRPr>
            </a:pPr>
            <a:r>
              <a:t>• 终极硬核诉求：彻底告别哪里不舒服治哪里的‘救火医学’，以高能量、高认知、高韧性挺进 90 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04  拥前沿科技，持审慎精神：关于认知衰退与细胞清除的冷思考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A2540"/>
                </a:solidFill>
              </a:defRPr>
            </a:pPr>
            <a:r>
              <a:t>• Dr. Dale Bredesen 精准医学认知恢复思路：</a:t>
            </a:r>
          </a:p>
          <a:p>
            <a:pPr>
              <a:spcAft>
                <a:spcPts val="1800"/>
              </a:spcAft>
              <a:defRPr sz="1300">
                <a:solidFill>
                  <a:srgbClr val="1E2D3C"/>
                </a:solidFill>
              </a:defRPr>
            </a:pPr>
            <a:r>
              <a:t>  大脑绝非孤立器官。认知力下降不是简单的年龄问题，而是炎症、胰岛素抵抗、毒素、线粒体耗竭的联合绞杀。多因素精准医学路径具有远大前景，但仍需要大规模随机对照试验（RCT）来确立为全球标准治疗。</a:t>
            </a:r>
          </a:p>
          <a:p>
            <a:pPr>
              <a:defRPr b="1" sz="1500">
                <a:solidFill>
                  <a:srgbClr val="0A2540"/>
                </a:solidFill>
              </a:defRPr>
            </a:pPr>
            <a:r>
              <a:t>• Senolytics (衰老细胞清除技术) 的冷冽审视：</a:t>
            </a:r>
          </a:p>
          <a:p>
            <a:pPr>
              <a:defRPr sz="1300">
                <a:solidFill>
                  <a:srgbClr val="1E2D3C"/>
                </a:solidFill>
              </a:defRPr>
            </a:pPr>
            <a:r>
              <a:t>  2025年《Nature Biotechnology》权威指出：靶向并清除衰老细胞是目前抗衰领域的王牌策略之一。然而，从动物模型到人类临床的转化，依然在经历最严苛的科学审视与毒性验证。</a:t>
            </a:r>
            <a:br/>
            <a:r>
              <a:t>  我们的基本纲领：拥抱前沿，但不被虚火概念绑架；追求长寿，更要追求绝对可验证的健康寿命。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05  结语：身体从来不会突然崩溃，它只是用你听不懂的语言报警了很多年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认知升维的阶段性成果：我经历的最大改善，不是某一个单点指标变漂亮，而是彻底看清了全身体液网络的系统拓扑图，从‘被动挨打’拿回了‘主动掌控权’。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告别“救火医学”，拥抱“系统最优”：从无病即健康的被动防御，全面转向对高能量、高认知、高韧性的全资产配置管理。</a:t>
            </a:r>
          </a:p>
          <a:p>
            <a:pPr>
              <a:spcAft>
                <a:spcPts val="1200"/>
              </a:spcAft>
              <a:defRPr sz="1500">
                <a:solidFill>
                  <a:srgbClr val="009688"/>
                </a:solidFill>
              </a:defRPr>
            </a:pPr>
            <a:r>
              <a:t>• 致所有企业家的生命呼吁：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  企业可以交班，资产可以传承，产线可以升级。但如果我们自己的大脑与身体丧失了掌控力，再庞大的财富也失去了锚点。让我们像管理企业一样管理健康——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  建立仪表盘，设定预警线，持续优化系统，用严密的科学主导生命后半程的绝对自由！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