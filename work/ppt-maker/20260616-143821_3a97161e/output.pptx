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44"/>
  </p:notesMasterIdLst>
  <p:sldIdLst>
    <p:sldId id="304" r:id="rId7"/>
    <p:sldId id="310" r:id="rId13"/>
    <p:sldId id="313" r:id="rId16"/>
    <p:sldId id="321" r:id="rId24"/>
    <p:sldId id="33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8625A"/>
    <a:srgbClr val="512926"/>
    <a:srgbClr val="883628"/>
    <a:srgbClr val="6E3329"/>
    <a:srgbClr val="63423E"/>
    <a:srgbClr val="7E4943"/>
    <a:srgbClr val="96898C"/>
    <a:srgbClr val="924437"/>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8"/>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notesMaster" Target="notesMasters/notesMaster1.xml"/><Relationship Id="rId45" Type="http://schemas.openxmlformats.org/officeDocument/2006/relationships/slide" Target="slides/slide39.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3.xml"/><Relationship Id="rId3" Type="http://schemas.microsoft.com/office/2011/relationships/chartColorStyle" Target="colors3.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4.xml"/><Relationship Id="rId3" Type="http://schemas.microsoft.com/office/2011/relationships/chartColorStyle" Target="colors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330" b="1" i="0" u="none" strike="noStrike" kern="1200" baseline="0">
                    <a:solidFill>
                      <a:schemeClr val="lt1"/>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Sheet1!$A$2:$A$8</c:f>
              <c:strCache>
                <c:ptCount val="7"/>
                <c:pt idx="0">
                  <c:v>类别1</c:v>
                </c:pt>
                <c:pt idx="1">
                  <c:v>类别 2</c:v>
                </c:pt>
                <c:pt idx="2">
                  <c:v>类别 3</c:v>
                </c:pt>
                <c:pt idx="3">
                  <c:v>类别 4</c:v>
                </c:pt>
                <c:pt idx="4">
                  <c:v>类别5</c:v>
                </c:pt>
                <c:pt idx="5">
                  <c:v>类别6</c:v>
                </c:pt>
                <c:pt idx="6">
                  <c:v>类别7</c:v>
                </c:pt>
              </c:strCache>
            </c:strRef>
          </c:cat>
          <c:val>
            <c:numRef>
              <c:f>Sheet1!$B$2:$B$8</c:f>
              <c:numCache>
                <c:formatCode>General</c:formatCode>
                <c:ptCount val="7"/>
                <c:pt idx="0">
                  <c:v>3.5</c:v>
                </c:pt>
                <c:pt idx="1">
                  <c:v>3</c:v>
                </c:pt>
                <c:pt idx="2">
                  <c:v>3.5</c:v>
                </c:pt>
                <c:pt idx="3">
                  <c:v>3.9</c:v>
                </c:pt>
                <c:pt idx="4">
                  <c:v>3</c:v>
                </c:pt>
                <c:pt idx="5">
                  <c:v>3</c:v>
                </c:pt>
                <c:pt idx="6">
                  <c:v>2.5</c:v>
                </c:pt>
              </c:numCache>
            </c:numRef>
          </c:val>
        </c:ser>
        <c:dLbls>
          <c:showLegendKey val="0"/>
          <c:showVal val="1"/>
          <c:showCatName val="0"/>
          <c:showSerName val="0"/>
          <c:showPercent val="0"/>
          <c:showBubbleSize val="0"/>
        </c:dLbls>
        <c:gapWidth val="41"/>
        <c:axId val="2020593632"/>
        <c:axId val="2020594048"/>
      </c:barChart>
      <c:catAx>
        <c:axId val="20205936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dk1">
                    <a:lumMod val="65000"/>
                    <a:lumOff val="35000"/>
                  </a:schemeClr>
                </a:solidFill>
                <a:effectLst/>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4048"/>
        <c:crosses val="autoZero"/>
        <c:auto val="1"/>
        <c:lblAlgn val="ctr"/>
        <c:lblOffset val="100"/>
        <c:noMultiLvlLbl val="0"/>
      </c:catAx>
      <c:valAx>
        <c:axId val="2020594048"/>
        <c:scaling>
          <c:orientation val="minMax"/>
          <c:max val="4"/>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dk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3632"/>
        <c:crosses val="autoZero"/>
        <c:crossBetween val="between"/>
        <c:majorUnit val="1"/>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lang="zh-CN">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chemeClr val="accent2"/>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925879472"/>
        <c:axId val="925884152"/>
      </c:barChart>
      <c:catAx>
        <c:axId val="9258794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84152"/>
        <c:crosses val="autoZero"/>
        <c:auto val="1"/>
        <c:lblAlgn val="ctr"/>
        <c:lblOffset val="100"/>
        <c:noMultiLvlLbl val="0"/>
      </c:catAx>
      <c:valAx>
        <c:axId val="925884152"/>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7947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2"/>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73</c:v>
                </c:pt>
                <c:pt idx="1">
                  <c:v>27</c:v>
                </c:pt>
              </c:numCache>
            </c:numRef>
          </c:val>
        </c:ser>
        <c:dLbls>
          <c:showLegendKey val="0"/>
          <c:showVal val="0"/>
          <c:showCatName val="0"/>
          <c:showSerName val="0"/>
          <c:showPercent val="0"/>
          <c:showBubbleSize val="0"/>
          <c:showLeaderLines val="1"/>
        </c:dLbls>
        <c:firstSliceAng val="0"/>
        <c:holeSize val="82"/>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1"/>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87</c:v>
                </c:pt>
                <c:pt idx="1">
                  <c:v>13</c:v>
                </c:pt>
              </c:numCache>
            </c:numRef>
          </c:val>
        </c:ser>
        <c:dLbls>
          <c:showLegendKey val="0"/>
          <c:showVal val="0"/>
          <c:showCatName val="0"/>
          <c:showSerName val="0"/>
          <c:showPercent val="0"/>
          <c:showBubbleSize val="0"/>
          <c:showLeaderLines val="1"/>
        </c:dLbls>
        <c:firstSliceAng val="0"/>
        <c:holeSize val="80"/>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99826412941867"/>
          <c:y val="0.0203632929678701"/>
          <c:w val="0.930017391684552"/>
          <c:h val="0.676741280130555"/>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Sheet1!$B$2</c:f>
              <c:numCache>
                <c:formatCode>0%</c:formatCode>
                <c:ptCount val="1"/>
                <c:pt idx="0">
                  <c:v>0.2</c:v>
                </c:pt>
              </c:numCache>
            </c:numRef>
          </c:val>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Sheet1!$C$2</c:f>
              <c:numCache>
                <c:formatCode>0%</c:formatCode>
                <c:ptCount val="1"/>
                <c:pt idx="0">
                  <c:v>0.3</c:v>
                </c:pt>
              </c:numCache>
            </c:numRef>
          </c:val>
        </c:ser>
        <c:ser>
          <c:idx val="2"/>
          <c:order val="2"/>
          <c:tx>
            <c:strRef>
              <c:f>Sheet1!$D$1</c:f>
              <c:strCache>
                <c:ptCount val="1"/>
                <c:pt idx="0">
                  <c:v>系列 3</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Sheet1!$D$2</c:f>
              <c:numCache>
                <c:formatCode>0%</c:formatCode>
                <c:ptCount val="1"/>
                <c:pt idx="0">
                  <c:v>0.4</c:v>
                </c:pt>
              </c:numCache>
            </c:numRef>
          </c:val>
        </c:ser>
        <c:ser>
          <c:idx val="3"/>
          <c:order val="3"/>
          <c:tx>
            <c:strRef>
              <c:f>Sheet1!$E$1</c:f>
              <c:strCache>
                <c:ptCount val="1"/>
                <c:pt idx="0">
                  <c:v>系列 4</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Sheet1!$E$2</c:f>
              <c:numCache>
                <c:formatCode>0%</c:formatCode>
                <c:ptCount val="1"/>
                <c:pt idx="0">
                  <c:v>0.5</c:v>
                </c:pt>
              </c:numCache>
            </c:numRef>
          </c:val>
        </c:ser>
        <c:ser>
          <c:idx val="4"/>
          <c:order val="4"/>
          <c:tx>
            <c:strRef>
              <c:f>Sheet1!$F$1</c:f>
              <c:strCache>
                <c:ptCount val="1"/>
                <c:pt idx="0">
                  <c:v>系列 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Sheet1!$F$2</c:f>
              <c:numCache>
                <c:formatCode>0%</c:formatCode>
                <c:ptCount val="1"/>
                <c:pt idx="0">
                  <c:v>0.6</c:v>
                </c:pt>
              </c:numCache>
            </c:numRef>
          </c:val>
        </c:ser>
        <c:ser>
          <c:idx val="5"/>
          <c:order val="5"/>
          <c:tx>
            <c:strRef>
              <c:f>Sheet1!$G$1</c:f>
              <c:strCache>
                <c:ptCount val="1"/>
                <c:pt idx="0">
                  <c:v>系列 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Sheet1!$G$2</c:f>
              <c:numCache>
                <c:formatCode>0%</c:formatCode>
                <c:ptCount val="1"/>
                <c:pt idx="0">
                  <c:v>0.7</c:v>
                </c:pt>
              </c:numCache>
            </c:numRef>
          </c:val>
        </c:ser>
        <c:ser>
          <c:idx val="6"/>
          <c:order val="6"/>
          <c:tx>
            <c:strRef>
              <c:f>Sheet1!$H$1</c:f>
              <c:strCache>
                <c:ptCount val="1"/>
                <c:pt idx="0">
                  <c:v>系列 7</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Sheet1!$H$2</c:f>
              <c:numCache>
                <c:formatCode>0%</c:formatCode>
                <c:ptCount val="1"/>
                <c:pt idx="0">
                  <c:v>0.95</c:v>
                </c:pt>
              </c:numCache>
            </c:numRef>
          </c:val>
        </c:ser>
        <c:dLbls>
          <c:showLegendKey val="0"/>
          <c:showVal val="1"/>
          <c:showCatName val="0"/>
          <c:showSerName val="0"/>
          <c:showPercent val="0"/>
          <c:showBubbleSize val="0"/>
        </c:dLbls>
        <c:gapWidth val="23"/>
        <c:overlap val="-100"/>
        <c:axId val="628800024"/>
        <c:axId val="628800416"/>
      </c:barChart>
      <c:catAx>
        <c:axId val="628800024"/>
        <c:scaling>
          <c:orientation val="minMax"/>
        </c:scaling>
        <c:delete val="0"/>
        <c:axPos val="b"/>
        <c:numFmt formatCode="General" sourceLinked="1"/>
        <c:majorTickMark val="out"/>
        <c:minorTickMark val="none"/>
        <c:tickLblPos val="nextTo"/>
        <c:spPr>
          <a:noFill/>
          <a:ln w="9525" cap="flat" cmpd="sng" algn="ctr">
            <a:solidFill>
              <a:schemeClr val="tx1">
                <a:lumMod val="75000"/>
                <a:lumOff val="25000"/>
              </a:schemeClr>
            </a:solidFill>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416"/>
        <c:crosses val="autoZero"/>
        <c:auto val="1"/>
        <c:lblAlgn val="ctr"/>
        <c:lblOffset val="100"/>
        <c:noMultiLvlLbl val="0"/>
      </c:catAx>
      <c:valAx>
        <c:axId val="628800416"/>
        <c:scaling>
          <c:orientation val="minMax"/>
          <c:max val="1"/>
        </c:scaling>
        <c:delete val="0"/>
        <c:axPos val="l"/>
        <c:numFmt formatCode="0%" sourceLinked="1"/>
        <c:majorTickMark val="none"/>
        <c:minorTickMark val="none"/>
        <c:tickLblPos val="nextTo"/>
        <c:spPr>
          <a:noFill/>
          <a:ln>
            <a:solidFill>
              <a:schemeClr val="tx1">
                <a:lumMod val="75000"/>
                <a:lumOff val="25000"/>
              </a:schemeClr>
            </a:solidFill>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024"/>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bg1"/>
          </a:solidFill>
          <a:latin typeface="+mn-lt"/>
          <a:ea typeface="+mn-ea"/>
          <a:cs typeface="+mn-ea"/>
          <a:sym typeface="+mn-lt"/>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explosion val="3"/>
            <c:spPr>
              <a:solidFill>
                <a:schemeClr val="accent1"/>
              </a:solidFill>
              <a:ln>
                <a:noFill/>
              </a:ln>
              <a:effectLst>
                <a:outerShdw blurRad="317500" algn="ctr" rotWithShape="0">
                  <a:prstClr val="black">
                    <a:alpha val="12000"/>
                  </a:prstClr>
                </a:outerShdw>
              </a:effectLst>
            </c:spPr>
          </c:dPt>
          <c:dPt>
            <c:idx val="1"/>
            <c:bubble3D val="0"/>
            <c:spPr>
              <a:solidFill>
                <a:schemeClr val="accent2"/>
              </a:solidFill>
              <a:ln>
                <a:noFill/>
              </a:ln>
              <a:effectLst>
                <a:outerShdw blurRad="317500" algn="ctr" rotWithShape="0">
                  <a:prstClr val="black">
                    <a:alpha val="12000"/>
                  </a:prstClr>
                </a:outerShdw>
              </a:effectLst>
            </c:spPr>
          </c:dPt>
          <c:dPt>
            <c:idx val="2"/>
            <c:bubble3D val="0"/>
            <c:spPr>
              <a:solidFill>
                <a:schemeClr val="accent3"/>
              </a:solidFill>
              <a:ln>
                <a:noFill/>
              </a:ln>
              <a:effectLst>
                <a:outerShdw blurRad="317500" algn="ctr" rotWithShape="0">
                  <a:prstClr val="black">
                    <a:alpha val="12000"/>
                  </a:prstClr>
                </a:outerShdw>
              </a:effectLst>
            </c:spPr>
          </c:dPt>
          <c:dPt>
            <c:idx val="3"/>
            <c:bubble3D val="0"/>
            <c:spPr>
              <a:solidFill>
                <a:schemeClr val="accent4"/>
              </a:solidFill>
              <a:ln>
                <a:noFill/>
              </a:ln>
              <a:effectLst>
                <a:outerShdw blurRad="317500" algn="ctr" rotWithShape="0">
                  <a:prstClr val="black">
                    <a:alpha val="12000"/>
                  </a:prstClr>
                </a:outerShdw>
              </a:effectLst>
            </c:spPr>
          </c:dPt>
          <c:dLbls>
            <c:dLbl>
              <c:idx val="0"/>
              <c:layout>
                <c:manualLayout>
                  <c:x val="-0.0943344686575915"/>
                  <c:y val="-0.0327027117539784"/>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195" b="1" i="0" u="none" strike="noStrike" kern="1200" baseline="0">
                    <a:solidFill>
                      <a:schemeClr val="lt1"/>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dk1">
                          <a:lumMod val="35000"/>
                          <a:lumOff val="65000"/>
                        </a:schemeClr>
                      </a:solidFill>
                      <a:round/>
                    </a:ln>
                    <a:effectLst/>
                  </c:spPr>
                </c15:leaderLines>
              </c:ext>
            </c:extLst>
          </c:dLbls>
          <c:cat>
            <c:strRef>
              <c:f>Sheet1!$A$2:$A$5</c:f>
              <c:strCache>
                <c:ptCount val="4"/>
                <c:pt idx="0">
                  <c:v>数据1 </c:v>
                </c:pt>
                <c:pt idx="1">
                  <c:v>数据2</c:v>
                </c:pt>
                <c:pt idx="2">
                  <c:v>数据3</c:v>
                </c:pt>
                <c:pt idx="3">
                  <c:v>数据4</c:v>
                </c:pt>
              </c:strCache>
            </c:strRef>
          </c:cat>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1"/>
          <c:showBubbleSize val="0"/>
          <c:showLeaderLines val="1"/>
        </c:dLbls>
        <c:firstSliceAng val="0"/>
      </c:pieChart>
      <c:spPr>
        <a:noFill/>
        <a:ln>
          <a:noFill/>
        </a:ln>
        <a:effectLst>
          <a:outerShdw blurRad="50800" dist="50800" dir="5400000" algn="ctr" rotWithShape="0">
            <a:schemeClr val="bg1"/>
          </a:outerShdw>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lang="zh-CN" sz="1195" b="0" i="0" u="none" strike="noStrike" kern="1200" baseline="0">
              <a:solidFill>
                <a:schemeClr val="dk1">
                  <a:lumMod val="65000"/>
                  <a:lumOff val="3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5" b="1" kern="1200"/>
  </cs:axisTitle>
  <cs:categoryAxis>
    <cs:lnRef idx="0"/>
    <cs:fillRef idx="0"/>
    <cs:effectRef idx="0"/>
    <cs:fontRef idx="minor">
      <a:schemeClr val="dk1">
        <a:lumMod val="65000"/>
        <a:lumOff val="35000"/>
      </a:schemeClr>
    </cs:fontRef>
    <cs:defRPr sz="1195"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5"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5" kern="1200"/>
  </cs:axisTitle>
  <cs:categoryAxis>
    <cs:lnRef idx="0"/>
    <cs:fillRef idx="0"/>
    <cs:effectRef idx="0"/>
    <cs:fontRef idx="minor">
      <a:schemeClr val="dk1">
        <a:lumMod val="65000"/>
        <a:lumOff val="35000"/>
      </a:schemeClr>
    </cs:fontRef>
    <cs:defRPr sz="1195"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5" kern="1200"/>
  </cs:chartArea>
  <cs:dataLabel>
    <cs:lnRef idx="0"/>
    <cs:fillRef idx="0"/>
    <cs:effectRef idx="0"/>
    <cs:fontRef idx="minor">
      <a:schemeClr val="lt1"/>
    </cs:fontRef>
    <cs:defRPr sz="1195"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5"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5"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6" Type="http://schemas.openxmlformats.org/officeDocument/2006/relationships/tags" Target="../tags/tag6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6.xml"/><Relationship Id="rId3" Type="http://schemas.openxmlformats.org/officeDocument/2006/relationships/tags" Target="../tags/tag67.xml"/><Relationship Id="rId4" Type="http://schemas.openxmlformats.org/officeDocument/2006/relationships/tags" Target="../tags/tag68.xml"/><Relationship Id="rId5" Type="http://schemas.openxmlformats.org/officeDocument/2006/relationships/tags" Target="../tags/tag69.xml"/><Relationship Id="rId6" Type="http://schemas.openxmlformats.org/officeDocument/2006/relationships/tags" Target="../tags/tag7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1.xml"/><Relationship Id="rId3" Type="http://schemas.openxmlformats.org/officeDocument/2006/relationships/tags" Target="../tags/tag72.xml"/><Relationship Id="rId4" Type="http://schemas.openxmlformats.org/officeDocument/2006/relationships/tags" Target="../tags/tag73.xml"/><Relationship Id="rId5" Type="http://schemas.openxmlformats.org/officeDocument/2006/relationships/tags" Target="../tags/tag74.xml"/><Relationship Id="rId6" Type="http://schemas.openxmlformats.org/officeDocument/2006/relationships/tags" Target="../tags/tag7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6.xml"/><Relationship Id="rId3" Type="http://schemas.openxmlformats.org/officeDocument/2006/relationships/tags" Target="../tags/tag77.xml"/><Relationship Id="rId4" Type="http://schemas.openxmlformats.org/officeDocument/2006/relationships/tags" Target="../tags/tag78.xml"/><Relationship Id="rId5" Type="http://schemas.openxmlformats.org/officeDocument/2006/relationships/tags" Target="../tags/tag79.xml"/><Relationship Id="rId6" Type="http://schemas.openxmlformats.org/officeDocument/2006/relationships/tags" Target="../tags/tag80.xml"/><Relationship Id="rId7" Type="http://schemas.openxmlformats.org/officeDocument/2006/relationships/tags" Target="../tags/tag8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2.xml"/><Relationship Id="rId3" Type="http://schemas.openxmlformats.org/officeDocument/2006/relationships/tags" Target="../tags/tag83.xml"/><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0.xml"/><Relationship Id="rId3" Type="http://schemas.openxmlformats.org/officeDocument/2006/relationships/tags" Target="../tags/tag91.xml"/><Relationship Id="rId4" Type="http://schemas.openxmlformats.org/officeDocument/2006/relationships/tags" Target="../tags/tag92.xml"/><Relationship Id="rId5" Type="http://schemas.openxmlformats.org/officeDocument/2006/relationships/tags" Target="../tags/tag9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4.xml"/><Relationship Id="rId3" Type="http://schemas.openxmlformats.org/officeDocument/2006/relationships/tags" Target="../tags/tag95.xml"/><Relationship Id="rId4" Type="http://schemas.openxmlformats.org/officeDocument/2006/relationships/tags" Target="../tags/tag9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tags" Target="../tags/tag10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3.xml"/><Relationship Id="rId3" Type="http://schemas.openxmlformats.org/officeDocument/2006/relationships/tags" Target="../tags/tag104.xml"/><Relationship Id="rId4" Type="http://schemas.openxmlformats.org/officeDocument/2006/relationships/tags" Target="../tags/tag105.xml"/><Relationship Id="rId5" Type="http://schemas.openxmlformats.org/officeDocument/2006/relationships/tags" Target="../tags/tag106.xml"/><Relationship Id="rId6" Type="http://schemas.openxmlformats.org/officeDocument/2006/relationships/tags" Target="../tags/tag10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8.xml"/><Relationship Id="rId3" Type="http://schemas.openxmlformats.org/officeDocument/2006/relationships/tags" Target="../tags/tag109.xml"/><Relationship Id="rId4" Type="http://schemas.openxmlformats.org/officeDocument/2006/relationships/tags" Target="../tags/tag110.xml"/><Relationship Id="rId5" Type="http://schemas.openxmlformats.org/officeDocument/2006/relationships/tags" Target="../tags/tag1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2.xml"/><Relationship Id="rId3" Type="http://schemas.openxmlformats.org/officeDocument/2006/relationships/tags" Target="../tags/tag113.xml"/><Relationship Id="rId4" Type="http://schemas.openxmlformats.org/officeDocument/2006/relationships/tags" Target="../tags/tag114.xml"/><Relationship Id="rId5" Type="http://schemas.openxmlformats.org/officeDocument/2006/relationships/tags" Target="../tags/tag115.xml"/><Relationship Id="rId6" Type="http://schemas.openxmlformats.org/officeDocument/2006/relationships/tags" Target="../tags/tag1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solidFill>
                  <a:schemeClr val="accent4"/>
                </a:solidFill>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accent4"/>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文本占位符 7"/>
          <p:cNvSpPr>
            <a:spLocks noGrp="1"/>
          </p:cNvSpPr>
          <p:nvPr>
            <p:ph type="body" idx="13" hasCustomPrompt="1"/>
          </p:nvPr>
        </p:nvSpPr>
        <p:spPr>
          <a:xfrm>
            <a:off x="2000250" y="2489200"/>
            <a:ext cx="2387600" cy="1371600"/>
          </a:xfrm>
          <a:prstGeom prst="rect">
            <a:avLst/>
          </a:prstGeom>
        </p:spPr>
        <p:txBody>
          <a:bodyPr/>
          <a:lstStyle>
            <a:lvl1pPr marL="0" indent="0">
              <a:buNone/>
              <a:defRPr sz="7200">
                <a:solidFill>
                  <a:schemeClr val="accent4"/>
                </a:solidFill>
              </a:defRPr>
            </a:lvl1pPr>
          </a:lstStyle>
          <a:p>
            <a:pPr lvl="0"/>
            <a:r>
              <a:rPr lang="zh-CN" altLang="en-US" smtClean="0"/>
              <a:t>单击</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465525"/>
            <a:ext cx="10969200" cy="705600"/>
          </a:xfrm>
          <a:prstGeom prst="rect">
            <a:avLst/>
          </a:prstGeom>
        </p:spPr>
        <p:txBody>
          <a:bodyPr vert="horz" lIns="90000" tIns="46800" rIns="90000" bIns="46800" rtlCol="0" anchor="ctr" anchorCtr="0">
            <a:normAutofit/>
          </a:bodyPr>
          <a:lstStyle>
            <a:lvl1pPr>
              <a:defRPr sz="2800" b="1">
                <a:solidFill>
                  <a:schemeClr val="accent6"/>
                </a:solidFill>
              </a:defRPr>
            </a:lvl1p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椭圆 6"/>
          <p:cNvSpPr/>
          <p:nvPr userDrawn="1"/>
        </p:nvSpPr>
        <p:spPr>
          <a:xfrm>
            <a:off x="11093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112839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userDrawn="1"/>
        </p:nvSpPr>
        <p:spPr>
          <a:xfrm>
            <a:off x="11474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a:prstGeom prst="rect">
            <a:avLst/>
          </a:prstGeo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a:prstGeom prst="rect">
            <a:avLst/>
          </a:prstGeo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a:xfrm>
            <a:off x="612000" y="6314400"/>
            <a:ext cx="2700000" cy="316800"/>
          </a:xfrm>
          <a:prstGeom prst="rect">
            <a:avLst/>
          </a:prstGeo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a:prstGeom prst="rect">
            <a:avLst/>
          </a:prstGeo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ags" Target="../tags/tag117.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8" name="圆角矩形 7"/>
          <p:cNvSpPr/>
          <p:nvPr userDrawn="1"/>
        </p:nvSpPr>
        <p:spPr>
          <a:xfrm>
            <a:off x="276860" y="248285"/>
            <a:ext cx="11637645" cy="6353175"/>
          </a:xfrm>
          <a:prstGeom prst="roundRect">
            <a:avLst>
              <a:gd name="adj" fmla="val 3978"/>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ustDataLst>
      <p:tags r:id="rId12"/>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tags" Target="../tags/tag155.xml"/><Relationship Id="rId3" Type="http://schemas.openxmlformats.org/officeDocument/2006/relationships/tags" Target="../tags/tag156.xml"/><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157.xml"/><Relationship Id="rId2" Type="http://schemas.openxmlformats.org/officeDocument/2006/relationships/tags" Target="../tags/tag158.xml"/><Relationship Id="rId3"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tags" Target="../tags/tag162.xml"/><Relationship Id="rId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tags" Target="../tags/tag164.xml"/><Relationship Id="rId3"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tags" Target="../tags/tag166.xml"/><Relationship Id="rId3"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tags" Target="../tags/tag167.xml"/><Relationship Id="rId2" Type="http://schemas.openxmlformats.org/officeDocument/2006/relationships/tags" Target="../tags/tag168.xml"/><Relationship Id="rId3" Type="http://schemas.openxmlformats.org/officeDocument/2006/relationships/tags" Target="../tags/tag169.xml"/><Relationship Id="rId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tags" Target="../tags/tag177.xml"/><Relationship Id="rId9" Type="http://schemas.openxmlformats.org/officeDocument/2006/relationships/tags" Target="../tags/tag178.xml"/><Relationship Id="rId10" Type="http://schemas.openxmlformats.org/officeDocument/2006/relationships/tags" Target="../tags/tag179.xml"/><Relationship Id="rId1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tags" Target="../tags/tag181.xml"/><Relationship Id="rId3"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tags" Target="../tags/tag183.xml"/><Relationship Id="rId3" Type="http://schemas.openxmlformats.org/officeDocument/2006/relationships/tags" Target="../tags/tag184.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tags" Target="../tags/tag186.xml"/><Relationship Id="rId3"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image" Target="../media/image7.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3.svg"/><Relationship Id="rId6" Type="http://schemas.openxmlformats.org/officeDocument/2006/relationships/image" Target="../media/image9.png"/><Relationship Id="rId7" Type="http://schemas.openxmlformats.org/officeDocument/2006/relationships/image" Target="../media/image4.svg"/><Relationship Id="rId8" Type="http://schemas.openxmlformats.org/officeDocument/2006/relationships/image" Target="../media/image10.png"/><Relationship Id="rId9" Type="http://schemas.openxmlformats.org/officeDocument/2006/relationships/image" Target="../media/image5.svg"/><Relationship Id="rId10" Type="http://schemas.openxmlformats.org/officeDocument/2006/relationships/image" Target="../media/image11.png"/><Relationship Id="rId11" Type="http://schemas.openxmlformats.org/officeDocument/2006/relationships/image" Target="../media/image6.svg"/><Relationship Id="rId12" Type="http://schemas.openxmlformats.org/officeDocument/2006/relationships/tags" Target="../tags/tag188.xml"/><Relationship Id="rId13"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tags" Target="../tags/tag191.xml"/><Relationship Id="rId4" Type="http://schemas.openxmlformats.org/officeDocument/2006/relationships/tags" Target="../tags/tag192.xml"/><Relationship Id="rId5"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tags" Target="../tags/tag194.xml"/><Relationship Id="rId3" Type="http://schemas.openxmlformats.org/officeDocument/2006/relationships/tags" Target="../tags/tag195.xml"/><Relationship Id="rId4" Type="http://schemas.openxmlformats.org/officeDocument/2006/relationships/tags" Target="../tags/tag196.xml"/><Relationship Id="rId5" Type="http://schemas.openxmlformats.org/officeDocument/2006/relationships/tags" Target="../tags/tag197.xml"/><Relationship Id="rId6" Type="http://schemas.openxmlformats.org/officeDocument/2006/relationships/tags" Target="../tags/tag198.xml"/><Relationship Id="rId7" Type="http://schemas.openxmlformats.org/officeDocument/2006/relationships/tags" Target="../tags/tag199.xml"/><Relationship Id="rId8" Type="http://schemas.openxmlformats.org/officeDocument/2006/relationships/tags" Target="../tags/tag200.xml"/><Relationship Id="rId9" Type="http://schemas.openxmlformats.org/officeDocument/2006/relationships/tags" Target="../tags/tag201.xml"/><Relationship Id="rId10" Type="http://schemas.openxmlformats.org/officeDocument/2006/relationships/tags" Target="../tags/tag202.xml"/><Relationship Id="rId11" Type="http://schemas.openxmlformats.org/officeDocument/2006/relationships/tags" Target="../tags/tag203.xml"/><Relationship Id="rId12" Type="http://schemas.openxmlformats.org/officeDocument/2006/relationships/tags" Target="../tags/tag204.xml"/><Relationship Id="rId13" Type="http://schemas.openxmlformats.org/officeDocument/2006/relationships/tags" Target="../tags/tag205.xml"/><Relationship Id="rId14" Type="http://schemas.openxmlformats.org/officeDocument/2006/relationships/tags" Target="../tags/tag206.xml"/><Relationship Id="rId15" Type="http://schemas.openxmlformats.org/officeDocument/2006/relationships/tags" Target="../tags/tag207.xml"/><Relationship Id="rId16" Type="http://schemas.openxmlformats.org/officeDocument/2006/relationships/tags" Target="../tags/tag208.xml"/><Relationship Id="rId17" Type="http://schemas.openxmlformats.org/officeDocument/2006/relationships/tags" Target="../tags/tag209.xml"/><Relationship Id="rId18" Type="http://schemas.openxmlformats.org/officeDocument/2006/relationships/tags" Target="../tags/tag210.xml"/><Relationship Id="rId19" Type="http://schemas.openxmlformats.org/officeDocument/2006/relationships/tags" Target="../tags/tag211.xml"/><Relationship Id="rId20" Type="http://schemas.openxmlformats.org/officeDocument/2006/relationships/tags" Target="../tags/tag212.xml"/><Relationship Id="rId21" Type="http://schemas.openxmlformats.org/officeDocument/2006/relationships/tags" Target="../tags/tag213.xml"/><Relationship Id="rId22" Type="http://schemas.openxmlformats.org/officeDocument/2006/relationships/image" Target="../media/image12.png"/><Relationship Id="rId23" Type="http://schemas.openxmlformats.org/officeDocument/2006/relationships/image" Target="../media/image7.svg"/><Relationship Id="rId24" Type="http://schemas.openxmlformats.org/officeDocument/2006/relationships/tags" Target="../tags/tag214.xml"/><Relationship Id="rId25" Type="http://schemas.openxmlformats.org/officeDocument/2006/relationships/image" Target="../media/image13.png"/><Relationship Id="rId26" Type="http://schemas.openxmlformats.org/officeDocument/2006/relationships/image" Target="../media/image8.svg"/><Relationship Id="rId27" Type="http://schemas.openxmlformats.org/officeDocument/2006/relationships/tags" Target="../tags/tag215.xml"/><Relationship Id="rId28" Type="http://schemas.openxmlformats.org/officeDocument/2006/relationships/image" Target="../media/image14.png"/><Relationship Id="rId29" Type="http://schemas.openxmlformats.org/officeDocument/2006/relationships/image" Target="../media/image9.svg"/><Relationship Id="rId30" Type="http://schemas.openxmlformats.org/officeDocument/2006/relationships/tags" Target="../tags/tag216.xml"/><Relationship Id="rId3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tags" Target="../tags/tag217.xml"/><Relationship Id="rId2" Type="http://schemas.openxmlformats.org/officeDocument/2006/relationships/tags" Target="../tags/tag218.xml"/><Relationship Id="rId3" Type="http://schemas.openxmlformats.org/officeDocument/2006/relationships/tags" Target="../tags/tag219.xml"/><Relationship Id="rId4" Type="http://schemas.openxmlformats.org/officeDocument/2006/relationships/tags" Target="../tags/tag220.xml"/><Relationship Id="rId5" Type="http://schemas.openxmlformats.org/officeDocument/2006/relationships/tags" Target="../tags/tag221.xml"/><Relationship Id="rId6" Type="http://schemas.openxmlformats.org/officeDocument/2006/relationships/tags" Target="../tags/tag222.xml"/><Relationship Id="rId7" Type="http://schemas.openxmlformats.org/officeDocument/2006/relationships/image" Target="../media/image15.png"/><Relationship Id="rId8" Type="http://schemas.openxmlformats.org/officeDocument/2006/relationships/image" Target="../media/image10.svg"/><Relationship Id="rId9" Type="http://schemas.openxmlformats.org/officeDocument/2006/relationships/tags" Target="../tags/tag223.xml"/><Relationship Id="rId10"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image" Target="../media/image16.png"/><Relationship Id="rId3" Type="http://schemas.openxmlformats.org/officeDocument/2006/relationships/image" Target="../media/image11.svg"/><Relationship Id="rId4" Type="http://schemas.openxmlformats.org/officeDocument/2006/relationships/image" Target="../media/image17.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3.svg"/><Relationship Id="rId8" Type="http://schemas.openxmlformats.org/officeDocument/2006/relationships/image" Target="../media/image19.png"/><Relationship Id="rId9" Type="http://schemas.openxmlformats.org/officeDocument/2006/relationships/image" Target="../media/image14.svg"/><Relationship Id="rId10" Type="http://schemas.openxmlformats.org/officeDocument/2006/relationships/image" Target="../media/image20.png"/><Relationship Id="rId11" Type="http://schemas.openxmlformats.org/officeDocument/2006/relationships/image" Target="../media/image15.svg"/><Relationship Id="rId12" Type="http://schemas.openxmlformats.org/officeDocument/2006/relationships/image" Target="../media/image21.png"/><Relationship Id="rId13" Type="http://schemas.openxmlformats.org/officeDocument/2006/relationships/image" Target="../media/image16.svg"/><Relationship Id="rId14" Type="http://schemas.openxmlformats.org/officeDocument/2006/relationships/tags" Target="../tags/tag225.xml"/><Relationship Id="rId15"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tags" Target="../tags/tag226.xml"/><Relationship Id="rId2" Type="http://schemas.openxmlformats.org/officeDocument/2006/relationships/tags" Target="../tags/tag227.xml"/><Relationship Id="rId3"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tags" Target="../tags/tag228.xml"/><Relationship Id="rId3" Type="http://schemas.openxmlformats.org/officeDocument/2006/relationships/tags" Target="../tags/tag229.xml"/><Relationship Id="rId4"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tags" Target="../tags/tag231.xml"/><Relationship Id="rId3" Type="http://schemas.openxmlformats.org/officeDocument/2006/relationships/tags" Target="../tags/tag232.xml"/><Relationship Id="rId4"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tags" Target="../tags/tag234.xml"/><Relationship Id="rId3"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tags" Target="../tags/tag235.xml"/><Relationship Id="rId2" Type="http://schemas.openxmlformats.org/officeDocument/2006/relationships/tags" Target="../tags/tag236.xml"/><Relationship Id="rId3"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tags" Target="../tags/tag238.xml"/><Relationship Id="rId3"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tags" Target="../tags/tag239.xml"/><Relationship Id="rId2" Type="http://schemas.openxmlformats.org/officeDocument/2006/relationships/tags" Target="../tags/tag240.xml"/><Relationship Id="rId3"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tags" Target="../tags/tag241.xml"/><Relationship Id="rId2" Type="http://schemas.openxmlformats.org/officeDocument/2006/relationships/tags" Target="../tags/tag242.xml"/><Relationship Id="rId3"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tags" Target="../tags/tag243.xml"/><Relationship Id="rId3" Type="http://schemas.openxmlformats.org/officeDocument/2006/relationships/tags" Target="../tags/tag244.xml"/><Relationship Id="rId4" Type="http://schemas.openxmlformats.org/officeDocument/2006/relationships/tags" Target="../tags/tag245.xml"/><Relationship Id="rId5" Type="http://schemas.openxmlformats.org/officeDocument/2006/relationships/tags" Target="../tags/tag246.xml"/><Relationship Id="rId6" Type="http://schemas.openxmlformats.org/officeDocument/2006/relationships/tags" Target="../tags/tag247.xml"/><Relationship Id="rId7" Type="http://schemas.openxmlformats.org/officeDocument/2006/relationships/tags" Target="../tags/tag248.xml"/><Relationship Id="rId8" Type="http://schemas.openxmlformats.org/officeDocument/2006/relationships/tags" Target="../tags/tag249.xml"/><Relationship Id="rId9" Type="http://schemas.openxmlformats.org/officeDocument/2006/relationships/image" Target="../media/image22.png"/><Relationship Id="rId10" Type="http://schemas.openxmlformats.org/officeDocument/2006/relationships/image" Target="../media/image17.svg"/><Relationship Id="rId11" Type="http://schemas.openxmlformats.org/officeDocument/2006/relationships/tags" Target="../tags/tag250.xml"/><Relationship Id="rId12" Type="http://schemas.openxmlformats.org/officeDocument/2006/relationships/tags" Target="../tags/tag251.xml"/><Relationship Id="rId13" Type="http://schemas.openxmlformats.org/officeDocument/2006/relationships/tags" Target="../tags/tag252.xml"/><Relationship Id="rId14" Type="http://schemas.openxmlformats.org/officeDocument/2006/relationships/image" Target="../media/image23.png"/><Relationship Id="rId15" Type="http://schemas.openxmlformats.org/officeDocument/2006/relationships/image" Target="../media/image18.svg"/><Relationship Id="rId16" Type="http://schemas.openxmlformats.org/officeDocument/2006/relationships/tags" Target="../tags/tag253.xml"/><Relationship Id="rId17" Type="http://schemas.openxmlformats.org/officeDocument/2006/relationships/tags" Target="../tags/tag254.xml"/><Relationship Id="rId18" Type="http://schemas.openxmlformats.org/officeDocument/2006/relationships/tags" Target="../tags/tag255.xml"/><Relationship Id="rId19" Type="http://schemas.openxmlformats.org/officeDocument/2006/relationships/image" Target="../media/image24.png"/><Relationship Id="rId20" Type="http://schemas.openxmlformats.org/officeDocument/2006/relationships/image" Target="../media/image19.svg"/><Relationship Id="rId21" Type="http://schemas.openxmlformats.org/officeDocument/2006/relationships/tags" Target="../tags/tag256.xml"/><Relationship Id="rId22"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tags" Target="../tags/tag257.xml"/><Relationship Id="rId2" Type="http://schemas.openxmlformats.org/officeDocument/2006/relationships/tags" Target="../tags/tag258.xml"/><Relationship Id="rId3"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tags" Target="../tags/tag259.xml"/><Relationship Id="rId2" Type="http://schemas.openxmlformats.org/officeDocument/2006/relationships/tags" Target="../tags/tag260.xml"/><Relationship Id="rId3" Type="http://schemas.openxmlformats.org/officeDocument/2006/relationships/tags" Target="../tags/tag261.xml"/><Relationship Id="rId4" Type="http://schemas.openxmlformats.org/officeDocument/2006/relationships/tags" Target="../tags/tag262.xml"/><Relationship Id="rId5" Type="http://schemas.openxmlformats.org/officeDocument/2006/relationships/tags" Target="../tags/tag263.xml"/><Relationship Id="rId6" Type="http://schemas.openxmlformats.org/officeDocument/2006/relationships/tags" Target="../tags/tag264.xml"/><Relationship Id="rId7" Type="http://schemas.openxmlformats.org/officeDocument/2006/relationships/tags" Target="../tags/tag265.xml"/><Relationship Id="rId8" Type="http://schemas.openxmlformats.org/officeDocument/2006/relationships/tags" Target="../tags/tag266.xml"/><Relationship Id="rId9" Type="http://schemas.openxmlformats.org/officeDocument/2006/relationships/tags" Target="../tags/tag267.xml"/><Relationship Id="rId10" Type="http://schemas.openxmlformats.org/officeDocument/2006/relationships/tags" Target="../tags/tag268.xml"/><Relationship Id="rId1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tags" Target="../tags/tag269.xml"/><Relationship Id="rId5" Type="http://schemas.openxmlformats.org/officeDocument/2006/relationships/tags" Target="../tags/tag270.xml"/><Relationship Id="rId6"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tags" Target="../tags/tag271.xml"/><Relationship Id="rId2" Type="http://schemas.openxmlformats.org/officeDocument/2006/relationships/tags" Target="../tags/tag272.xml"/><Relationship Id="rId3" Type="http://schemas.openxmlformats.org/officeDocument/2006/relationships/tags" Target="../tags/tag273.xml"/><Relationship Id="rId4"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tags" Target="../tags/tag274.xml"/><Relationship Id="rId2" Type="http://schemas.openxmlformats.org/officeDocument/2006/relationships/tags" Target="../tags/tag275.xml"/><Relationship Id="rId3"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tags" Target="../tags/tag276.xml"/><Relationship Id="rId2" Type="http://schemas.openxmlformats.org/officeDocument/2006/relationships/tags" Target="../tags/tag277.xml"/><Relationship Id="rId3"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tags" Target="../tags/tag278.xml"/><Relationship Id="rId2" Type="http://schemas.openxmlformats.org/officeDocument/2006/relationships/tags" Target="../tags/tag279.xml"/><Relationship Id="rId3" Type="http://schemas.openxmlformats.org/officeDocument/2006/relationships/tags" Target="../tags/tag280.xml"/><Relationship Id="rId4" Type="http://schemas.openxmlformats.org/officeDocument/2006/relationships/tags" Target="../tags/tag281.xml"/><Relationship Id="rId5" Type="http://schemas.openxmlformats.org/officeDocument/2006/relationships/tags" Target="../tags/tag282.xml"/><Relationship Id="rId6"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tags" Target="../tags/tag283.xml"/><Relationship Id="rId2" Type="http://schemas.openxmlformats.org/officeDocument/2006/relationships/tags" Target="../tags/tag284.xml"/><Relationship Id="rId3" Type="http://schemas.openxmlformats.org/officeDocument/2006/relationships/tags" Target="../tags/tag285.xml"/><Relationship Id="rId4" Type="http://schemas.openxmlformats.org/officeDocument/2006/relationships/tags" Target="../tags/tag286.xml"/><Relationship Id="rId5"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tags" Target="../tags/tag287.xml"/><Relationship Id="rId3" Type="http://schemas.openxmlformats.org/officeDocument/2006/relationships/tags" Target="../tags/tag288.xml"/><Relationship Id="rId4"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tags" Target="../tags/tag289.xml"/><Relationship Id="rId2" Type="http://schemas.openxmlformats.org/officeDocument/2006/relationships/tags" Target="../tags/tag290.xml"/><Relationship Id="rId3" Type="http://schemas.openxmlformats.org/officeDocument/2006/relationships/tags" Target="../tags/tag291.xml"/><Relationship Id="rId4"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tags" Target="../tags/tag292.xml"/><Relationship Id="rId2" Type="http://schemas.openxmlformats.org/officeDocument/2006/relationships/image" Target="../media/image25.png"/><Relationship Id="rId3" Type="http://schemas.openxmlformats.org/officeDocument/2006/relationships/image" Target="../media/image20.svg"/><Relationship Id="rId4" Type="http://schemas.openxmlformats.org/officeDocument/2006/relationships/tags" Target="../tags/tag293.xml"/><Relationship Id="rId5"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tags" Target="../tags/tag294.xml"/><Relationship Id="rId2" Type="http://schemas.openxmlformats.org/officeDocument/2006/relationships/tags" Target="../tags/tag295.xml"/><Relationship Id="rId3" Type="http://schemas.openxmlformats.org/officeDocument/2006/relationships/tags" Target="../tags/tag296.xml"/><Relationship Id="rId4" Type="http://schemas.openxmlformats.org/officeDocument/2006/relationships/tags" Target="../tags/tag297.xml"/><Relationship Id="rId5" Type="http://schemas.openxmlformats.org/officeDocument/2006/relationships/tags" Target="../tags/tag298.xml"/><Relationship Id="rId6" Type="http://schemas.openxmlformats.org/officeDocument/2006/relationships/tags" Target="../tags/tag299.xml"/><Relationship Id="rId7"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tags" Target="../tags/tag300.xml"/><Relationship Id="rId2" Type="http://schemas.openxmlformats.org/officeDocument/2006/relationships/tags" Target="../tags/tag301.xml"/><Relationship Id="rId3" Type="http://schemas.openxmlformats.org/officeDocument/2006/relationships/slideLayout" Target="../slideLayouts/slideLayout6.xml"/><Relationship Id="rId4" Type="http://schemas.openxmlformats.org/officeDocument/2006/relationships/notesSlide" Target="../notesSlides/notesSlide1.xml"/></Relationships>
</file>

<file path=ppt/slides/_rels/slide39.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tags" Target="../tags/tag304.xml"/><Relationship Id="rId4" Type="http://schemas.openxmlformats.org/officeDocument/2006/relationships/tags" Target="../tags/tag305.xml"/><Relationship Id="rId5" Type="http://schemas.openxmlformats.org/officeDocument/2006/relationships/tags" Target="../tags/tag306.xml"/><Relationship Id="rId6" Type="http://schemas.openxmlformats.org/officeDocument/2006/relationships/tags" Target="../tags/tag307.xml"/><Relationship Id="rId7" Type="http://schemas.openxmlformats.org/officeDocument/2006/relationships/tags" Target="../tags/tag308.xml"/><Relationship Id="rId8" Type="http://schemas.openxmlformats.org/officeDocument/2006/relationships/tags" Target="../tags/tag309.xml"/><Relationship Id="rId9" Type="http://schemas.openxmlformats.org/officeDocument/2006/relationships/tags" Target="../tags/tag310.xml"/><Relationship Id="rId10" Type="http://schemas.openxmlformats.org/officeDocument/2006/relationships/tags" Target="../tags/tag311.xml"/><Relationship Id="rId11" Type="http://schemas.openxmlformats.org/officeDocument/2006/relationships/tags" Target="../tags/tag312.xml"/><Relationship Id="rId12" Type="http://schemas.openxmlformats.org/officeDocument/2006/relationships/tags" Target="../tags/tag313.xml"/><Relationship Id="rId13" Type="http://schemas.openxmlformats.org/officeDocument/2006/relationships/tags" Target="../tags/tag314.xml"/><Relationship Id="rId14" Type="http://schemas.openxmlformats.org/officeDocument/2006/relationships/tags" Target="../tags/tag315.xml"/><Relationship Id="rId15" Type="http://schemas.openxmlformats.org/officeDocument/2006/relationships/tags" Target="../tags/tag316.xml"/><Relationship Id="rId16" Type="http://schemas.openxmlformats.org/officeDocument/2006/relationships/tags" Target="../tags/tag317.xml"/><Relationship Id="rId17" Type="http://schemas.openxmlformats.org/officeDocument/2006/relationships/tags" Target="../tags/tag318.xml"/><Relationship Id="rId18" Type="http://schemas.openxmlformats.org/officeDocument/2006/relationships/tags" Target="../tags/tag319.xml"/><Relationship Id="rId19" Type="http://schemas.openxmlformats.org/officeDocument/2006/relationships/tags" Target="../tags/tag320.xml"/><Relationship Id="rId20" Type="http://schemas.openxmlformats.org/officeDocument/2006/relationships/tags" Target="../tags/tag321.xml"/><Relationship Id="rId21" Type="http://schemas.openxmlformats.org/officeDocument/2006/relationships/tags" Target="../tags/tag322.xml"/><Relationship Id="rId22" Type="http://schemas.openxmlformats.org/officeDocument/2006/relationships/tags" Target="../tags/tag323.xml"/><Relationship Id="rId23" Type="http://schemas.openxmlformats.org/officeDocument/2006/relationships/tags" Target="../tags/tag324.xml"/><Relationship Id="rId24" Type="http://schemas.openxmlformats.org/officeDocument/2006/relationships/tags" Target="../tags/tag325.xml"/><Relationship Id="rId25" Type="http://schemas.openxmlformats.org/officeDocument/2006/relationships/tags" Target="../tags/tag326.xml"/><Relationship Id="rId26" Type="http://schemas.openxmlformats.org/officeDocument/2006/relationships/tags" Target="../tags/tag327.xml"/><Relationship Id="rId27" Type="http://schemas.openxmlformats.org/officeDocument/2006/relationships/tags" Target="../tags/tag328.xml"/><Relationship Id="rId28" Type="http://schemas.openxmlformats.org/officeDocument/2006/relationships/tags" Target="../tags/tag329.xml"/><Relationship Id="rId29" Type="http://schemas.openxmlformats.org/officeDocument/2006/relationships/tags" Target="../tags/tag330.xml"/><Relationship Id="rId30" Type="http://schemas.openxmlformats.org/officeDocument/2006/relationships/tags" Target="../tags/tag331.xml"/><Relationship Id="rId31" Type="http://schemas.openxmlformats.org/officeDocument/2006/relationships/tags" Target="../tags/tag332.xml"/><Relationship Id="rId32" Type="http://schemas.openxmlformats.org/officeDocument/2006/relationships/tags" Target="../tags/tag333.xml"/><Relationship Id="rId33" Type="http://schemas.openxmlformats.org/officeDocument/2006/relationships/tags" Target="../tags/tag334.xml"/><Relationship Id="rId34" Type="http://schemas.openxmlformats.org/officeDocument/2006/relationships/tags" Target="../tags/tag335.xml"/><Relationship Id="rId35" Type="http://schemas.openxmlformats.org/officeDocument/2006/relationships/tags" Target="../tags/tag336.xml"/><Relationship Id="rId36" Type="http://schemas.openxmlformats.org/officeDocument/2006/relationships/tags" Target="../tags/tag337.xml"/><Relationship Id="rId37" Type="http://schemas.openxmlformats.org/officeDocument/2006/relationships/tags" Target="../tags/tag338.xml"/><Relationship Id="rId38" Type="http://schemas.openxmlformats.org/officeDocument/2006/relationships/tags" Target="../tags/tag339.xml"/><Relationship Id="rId39" Type="http://schemas.openxmlformats.org/officeDocument/2006/relationships/tags" Target="../tags/tag340.xml"/><Relationship Id="rId40" Type="http://schemas.openxmlformats.org/officeDocument/2006/relationships/tags" Target="../tags/tag341.xml"/><Relationship Id="rId41" Type="http://schemas.openxmlformats.org/officeDocument/2006/relationships/tags" Target="../tags/tag342.xml"/><Relationship Id="rId42" Type="http://schemas.openxmlformats.org/officeDocument/2006/relationships/tags" Target="../tags/tag343.xml"/><Relationship Id="rId43" Type="http://schemas.openxmlformats.org/officeDocument/2006/relationships/tags" Target="../tags/tag344.xml"/><Relationship Id="rId44" Type="http://schemas.openxmlformats.org/officeDocument/2006/relationships/tags" Target="../tags/tag345.xml"/><Relationship Id="rId45" Type="http://schemas.openxmlformats.org/officeDocument/2006/relationships/tags" Target="../tags/tag346.xml"/><Relationship Id="rId46" Type="http://schemas.openxmlformats.org/officeDocument/2006/relationships/tags" Target="../tags/tag347.xml"/><Relationship Id="rId47" Type="http://schemas.openxmlformats.org/officeDocument/2006/relationships/tags" Target="../tags/tag348.xml"/><Relationship Id="rId48" Type="http://schemas.openxmlformats.org/officeDocument/2006/relationships/tags" Target="../tags/tag349.xml"/><Relationship Id="rId49"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背景</a:t>
            </a:r>
            <a:endParaRPr lang="zh-CN" altLang="en-US"/>
          </a:p>
        </p:txBody>
      </p:sp>
      <p:sp>
        <p:nvSpPr>
          <p:cNvPr id="5" name="文本占位符 4"/>
          <p:cNvSpPr>
            <a:spLocks noGrp="1"/>
          </p:cNvSpPr>
          <p:nvPr>
            <p:ph type="body" idx="1"/>
            <p:custDataLst>
              <p:tags r:id="rId2"/>
            </p:custDataLst>
          </p:nvPr>
        </p:nvSpPr>
        <p:spPr/>
        <p:txBody>
          <a:bodyPr/>
          <a:p>
            <a:r>
              <a:rPr lang="en-US" altLang="zh-CN"/>
              <a:t>RESEARCH BACKGOUND</a:t>
            </a:r>
            <a:endParaRPr lang="en-US" altLang="zh-CN"/>
          </a:p>
        </p:txBody>
      </p:sp>
      <p:sp>
        <p:nvSpPr>
          <p:cNvPr id="6" name="文本占位符 5"/>
          <p:cNvSpPr>
            <a:spLocks noGrp="1"/>
          </p:cNvSpPr>
          <p:nvPr>
            <p:ph type="body" idx="13"/>
          </p:nvPr>
        </p:nvSpPr>
        <p:spPr/>
        <p:txBody>
          <a:bodyPr/>
          <a:p>
            <a:r>
              <a:rPr lang="en-US" altLang="zh-CN"/>
              <a:t>01</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自主新势力品牌 2026年YTD销量分析</a:t>
            </a:r>
            <a:r>
              <a:rPr lang="en-US" altLang="zh-CN"/>
              <a:t/>
            </a:r>
            <a:r>
              <a:rPr lang="zh-CN" altLang="en-US"/>
              <a:t/>
            </a:r>
            <a:r>
              <a:rPr lang="en-US" altLang="zh-CN"/>
              <a:t/>
            </a:r>
            <a:r>
              <a:rPr lang="zh-CN" altLang="en-US"/>
              <a:t/>
            </a:r>
            <a:r>
              <a:rPr lang="zh-CN" altLang="en-US"/>
              <a:t/>
            </a:r>
            <a:endParaRPr lang="zh-CN" altLang="en-US"/>
          </a:p>
        </p:txBody>
      </p:sp>
      <p:sp>
        <p:nvSpPr>
          <p:cNvPr id="32" name="稻壳设计师康帅作品6"/>
          <p:cNvSpPr/>
          <p:nvPr/>
        </p:nvSpPr>
        <p:spPr>
          <a:xfrm>
            <a:off x="67807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sz="2000" b="1">
              <a:solidFill>
                <a:prstClr val="white"/>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稻壳设计师康帅作品7"/>
          <p:cNvSpPr/>
          <p:nvPr/>
        </p:nvSpPr>
        <p:spPr>
          <a:xfrm>
            <a:off x="76414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3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sym typeface="思源黑体 CN Regular" panose="020B0500000000000000" charset="-122"/>
            </a:endParaRPr>
          </a:p>
        </p:txBody>
      </p:sp>
      <p:sp>
        <p:nvSpPr>
          <p:cNvPr id="35" name="稻壳设计师康帅作品8"/>
          <p:cNvSpPr/>
          <p:nvPr/>
        </p:nvSpPr>
        <p:spPr>
          <a:xfrm>
            <a:off x="67807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稻壳设计师康帅作品9"/>
          <p:cNvSpPr txBox="1"/>
          <p:nvPr/>
        </p:nvSpPr>
        <p:spPr>
          <a:xfrm>
            <a:off x="1003985" y="2502304"/>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理想</a:t>
            </a:r>
            <a:r>
              <a:rPr kumimoji="1" lang="zh-CN" altLang="en-US" sz="2000" b="1" dirty="0">
                <a:solidFill>
                  <a:schemeClr val="accent1">
                    <a:lumMod val="100000"/>
                  </a:schemeClr>
                </a:solidFill>
                <a:latin typeface="+mj-ea"/>
                <a:ea typeface="+mj-ea"/>
              </a:rPr>
              <a:t/>
            </a:r>
            <a:endParaRPr kumimoji="1" lang="zh-CN" altLang="en-US" sz="2000" b="1" dirty="0">
              <a:solidFill>
                <a:schemeClr val="accent1">
                  <a:lumMod val="100000"/>
                </a:schemeClr>
              </a:solidFill>
              <a:latin typeface="+mj-ea"/>
              <a:ea typeface="+mj-ea"/>
            </a:endParaRPr>
          </a:p>
        </p:txBody>
      </p:sp>
      <p:sp>
        <p:nvSpPr>
          <p:cNvPr id="42" name="稻壳设计师康帅作品10"/>
          <p:cNvSpPr txBox="1"/>
          <p:nvPr/>
        </p:nvSpPr>
        <p:spPr>
          <a:xfrm flipH="1">
            <a:off x="104593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2026年1-5月理想累计交付22.8万辆，L9/L8/L7持续热销，纯电MEGA稳步爬坡，月销站稳5万台量级。</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3" name="稻壳设计师康帅作品11"/>
          <p:cNvCxnSpPr/>
          <p:nvPr/>
        </p:nvCxnSpPr>
        <p:spPr>
          <a:xfrm>
            <a:off x="148832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稻壳设计师康帅作品12"/>
          <p:cNvSpPr/>
          <p:nvPr/>
        </p:nvSpPr>
        <p:spPr>
          <a:xfrm>
            <a:off x="290216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稻壳设计师康帅作品13"/>
          <p:cNvSpPr/>
          <p:nvPr/>
        </p:nvSpPr>
        <p:spPr>
          <a:xfrm>
            <a:off x="298822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稻壳设计师康帅作品14"/>
          <p:cNvSpPr/>
          <p:nvPr/>
        </p:nvSpPr>
        <p:spPr>
          <a:xfrm>
            <a:off x="29069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7" name="稻壳设计师康帅作品15"/>
          <p:cNvSpPr txBox="1"/>
          <p:nvPr/>
        </p:nvSpPr>
        <p:spPr>
          <a:xfrm>
            <a:off x="3063240" y="2492375"/>
            <a:ext cx="176974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蔚来</a:t>
            </a:r>
            <a:endParaRPr kumimoji="1" lang="zh-CN" altLang="en-US" sz="2000" b="1" dirty="0">
              <a:solidFill>
                <a:schemeClr val="accent1">
                  <a:lumMod val="100000"/>
                </a:schemeClr>
              </a:solidFill>
              <a:latin typeface="+mj-ea"/>
              <a:ea typeface="+mj-ea"/>
            </a:endParaRPr>
          </a:p>
        </p:txBody>
      </p:sp>
      <p:sp>
        <p:nvSpPr>
          <p:cNvPr id="48" name="稻壳设计师康帅作品16"/>
          <p:cNvSpPr txBox="1"/>
          <p:nvPr/>
        </p:nvSpPr>
        <p:spPr>
          <a:xfrm flipH="1">
            <a:off x="3270250" y="3215640"/>
            <a:ext cx="1330325"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2026年1-5月蔚来累计交付8.6万辆，ET9旗舰上市拉动品牌向上，换电站突破2800座，乐道贡献增量。</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9" name="稻壳设计师康帅作品17"/>
          <p:cNvCxnSpPr/>
          <p:nvPr/>
        </p:nvCxnSpPr>
        <p:spPr>
          <a:xfrm>
            <a:off x="371240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稻壳设计师康帅作品18"/>
          <p:cNvSpPr/>
          <p:nvPr/>
        </p:nvSpPr>
        <p:spPr>
          <a:xfrm>
            <a:off x="512624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1" name="稻壳设计师康帅作品19"/>
          <p:cNvSpPr/>
          <p:nvPr/>
        </p:nvSpPr>
        <p:spPr>
          <a:xfrm>
            <a:off x="521231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稻壳设计师康帅作品20"/>
          <p:cNvSpPr/>
          <p:nvPr/>
        </p:nvSpPr>
        <p:spPr>
          <a:xfrm>
            <a:off x="51310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3" name="稻壳设计师康帅作品21"/>
          <p:cNvSpPr txBox="1"/>
          <p:nvPr/>
        </p:nvSpPr>
        <p:spPr>
          <a:xfrm>
            <a:off x="5452155" y="249267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小鹏</a:t>
            </a:r>
            <a:r>
              <a:rPr kumimoji="1" lang="zh-CN" altLang="en-US" sz="2000" b="1" dirty="0">
                <a:solidFill>
                  <a:schemeClr val="accent1">
                    <a:lumMod val="100000"/>
                  </a:schemeClr>
                </a:solidFill>
                <a:latin typeface="+mj-ea"/>
                <a:ea typeface="+mj-ea"/>
              </a:rPr>
              <a:t/>
            </a:r>
            <a:endParaRPr kumimoji="1" lang="zh-CN" altLang="en-US" sz="2000" b="1" dirty="0">
              <a:solidFill>
                <a:schemeClr val="accent1">
                  <a:lumMod val="100000"/>
                </a:schemeClr>
              </a:solidFill>
              <a:latin typeface="+mj-ea"/>
              <a:ea typeface="+mj-ea"/>
            </a:endParaRPr>
          </a:p>
        </p:txBody>
      </p:sp>
      <p:sp>
        <p:nvSpPr>
          <p:cNvPr id="54" name="稻壳设计师康帅作品22"/>
          <p:cNvSpPr txBox="1"/>
          <p:nvPr/>
        </p:nvSpPr>
        <p:spPr>
          <a:xfrm flipH="1">
            <a:off x="549410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2026年1-5月小鹏累计交付7.2万辆，XNGP城区智驾覆盖超300城，MONA品牌开启第二增长曲线。</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
            </a:r>
            <a:endParaRPr lang="zh-CN" altLang="en-US" sz="1200" dirty="0">
              <a:latin typeface="思源黑体 CN Medium" panose="020B0600000000000000" charset="-122"/>
              <a:ea typeface="思源黑体 CN Medium" panose="020B0600000000000000" charset="-122"/>
              <a:sym typeface="思源黑体 CN Light" panose="020B0300000000000000" pitchFamily="34" charset="-122"/>
            </a:endParaRPr>
          </a:p>
        </p:txBody>
      </p:sp>
      <p:cxnSp>
        <p:nvCxnSpPr>
          <p:cNvPr id="55" name="稻壳设计师康帅作品23"/>
          <p:cNvCxnSpPr/>
          <p:nvPr/>
        </p:nvCxnSpPr>
        <p:spPr>
          <a:xfrm>
            <a:off x="593649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稻壳设计师康帅作品24"/>
          <p:cNvSpPr/>
          <p:nvPr/>
        </p:nvSpPr>
        <p:spPr>
          <a:xfrm>
            <a:off x="735033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7" name="稻壳设计师康帅作品25"/>
          <p:cNvSpPr/>
          <p:nvPr/>
        </p:nvSpPr>
        <p:spPr>
          <a:xfrm>
            <a:off x="743639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稻壳设计师康帅作品26"/>
          <p:cNvSpPr/>
          <p:nvPr/>
        </p:nvSpPr>
        <p:spPr>
          <a:xfrm>
            <a:off x="73503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9" name="稻壳设计师康帅作品27"/>
          <p:cNvSpPr txBox="1"/>
          <p:nvPr/>
        </p:nvSpPr>
        <p:spPr>
          <a:xfrm>
            <a:off x="7676240" y="251192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小米</a:t>
            </a:r>
            <a:r>
              <a:rPr kumimoji="1" lang="zh-CN" altLang="en-US" sz="2000" b="1" dirty="0">
                <a:solidFill>
                  <a:schemeClr val="accent1">
                    <a:lumMod val="100000"/>
                  </a:schemeClr>
                </a:solidFill>
                <a:latin typeface="+mj-ea"/>
                <a:ea typeface="+mj-ea"/>
              </a:rPr>
              <a:t/>
            </a:r>
            <a:endParaRPr kumimoji="1" lang="zh-CN" altLang="en-US" sz="2000" b="1" dirty="0">
              <a:solidFill>
                <a:schemeClr val="accent1">
                  <a:lumMod val="100000"/>
                </a:schemeClr>
              </a:solidFill>
              <a:latin typeface="+mj-ea"/>
              <a:ea typeface="+mj-ea"/>
            </a:endParaRPr>
          </a:p>
        </p:txBody>
      </p:sp>
      <p:sp>
        <p:nvSpPr>
          <p:cNvPr id="60" name="稻壳设计师康帅作品28"/>
          <p:cNvSpPr txBox="1"/>
          <p:nvPr/>
        </p:nvSpPr>
        <p:spPr>
          <a:xfrm flipH="1">
            <a:off x="7718189" y="3215388"/>
            <a:ext cx="1265772" cy="138493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小米SU7 2026年1-5月交付突破10万辆，SU7 Ultra版订单占比超30%，全年冲刺30万辆交付目标。</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1" name="稻壳设计师康帅作品29"/>
          <p:cNvCxnSpPr/>
          <p:nvPr/>
        </p:nvCxnSpPr>
        <p:spPr>
          <a:xfrm>
            <a:off x="816057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稻壳设计师康帅作品30"/>
          <p:cNvSpPr/>
          <p:nvPr/>
        </p:nvSpPr>
        <p:spPr>
          <a:xfrm>
            <a:off x="9574414"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3" name="稻壳设计师康帅作品31"/>
          <p:cNvSpPr/>
          <p:nvPr/>
        </p:nvSpPr>
        <p:spPr>
          <a:xfrm>
            <a:off x="9660479"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稻壳设计师康帅作品32"/>
          <p:cNvSpPr/>
          <p:nvPr/>
        </p:nvSpPr>
        <p:spPr>
          <a:xfrm>
            <a:off x="95744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5" name="稻壳设计师康帅作品33"/>
          <p:cNvSpPr txBox="1"/>
          <p:nvPr/>
        </p:nvSpPr>
        <p:spPr>
          <a:xfrm>
            <a:off x="9709785" y="2502535"/>
            <a:ext cx="185737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问界</a:t>
            </a:r>
            <a:r>
              <a:rPr kumimoji="1" lang="zh-CN" altLang="en-US" sz="2000" b="1" dirty="0">
                <a:solidFill>
                  <a:schemeClr val="accent1">
                    <a:lumMod val="100000"/>
                  </a:schemeClr>
                </a:solidFill>
                <a:latin typeface="+mj-ea"/>
                <a:ea typeface="+mj-ea"/>
              </a:rPr>
              <a:t/>
            </a:r>
            <a:endParaRPr kumimoji="1" lang="zh-CN" altLang="en-US" sz="2000" b="1" dirty="0">
              <a:solidFill>
                <a:schemeClr val="accent1">
                  <a:lumMod val="100000"/>
                </a:schemeClr>
              </a:solidFill>
              <a:latin typeface="+mj-ea"/>
              <a:ea typeface="+mj-ea"/>
            </a:endParaRPr>
          </a:p>
        </p:txBody>
      </p:sp>
      <p:sp>
        <p:nvSpPr>
          <p:cNvPr id="66" name="稻壳设计师康帅作品34"/>
          <p:cNvSpPr txBox="1"/>
          <p:nvPr/>
        </p:nvSpPr>
        <p:spPr>
          <a:xfrm flipH="1">
            <a:off x="9942273"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2026年1-5月问界全系交付15.2万辆，M9/M7领跑高端SUV市场，智驾渗透率超80%领跑行业。</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7" name="稻壳设计师康帅作品35"/>
          <p:cNvCxnSpPr/>
          <p:nvPr/>
        </p:nvCxnSpPr>
        <p:spPr>
          <a:xfrm>
            <a:off x="10384659"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稻壳设计师康帅作品36"/>
          <p:cNvSpPr/>
          <p:nvPr/>
        </p:nvSpPr>
        <p:spPr>
          <a:xfrm>
            <a:off x="2093639"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9" name="稻壳设计师康帅作品37"/>
          <p:cNvSpPr/>
          <p:nvPr/>
        </p:nvSpPr>
        <p:spPr>
          <a:xfrm>
            <a:off x="6645832"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0" name="稻壳设计师康帅作品38"/>
          <p:cNvSpPr/>
          <p:nvPr/>
        </p:nvSpPr>
        <p:spPr>
          <a:xfrm flipV="1">
            <a:off x="4369735"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1" name="稻壳设计师康帅作品39"/>
          <p:cNvSpPr/>
          <p:nvPr/>
        </p:nvSpPr>
        <p:spPr>
          <a:xfrm flipV="1">
            <a:off x="8921928"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智能零售货架商品识别的视觉算法优化研究</a:t>
            </a:r>
            <a:r>
              <a:rPr lang="zh-CN" altLang="en-US"/>
              <a:t>背景</a:t>
            </a:r>
            <a:endParaRPr lang="zh-CN" altLang="en-US"/>
          </a:p>
        </p:txBody>
      </p:sp>
      <p:grpSp>
        <p:nvGrpSpPr>
          <p:cNvPr id="2" name="组合 1"/>
          <p:cNvGrpSpPr/>
          <p:nvPr/>
        </p:nvGrpSpPr>
        <p:grpSpPr>
          <a:xfrm>
            <a:off x="819748" y="1204083"/>
            <a:ext cx="10552044" cy="5084903"/>
            <a:chOff x="900023" y="963797"/>
            <a:chExt cx="10092243" cy="4863332"/>
          </a:xfrm>
        </p:grpSpPr>
        <p:grpSp>
          <p:nvGrpSpPr>
            <p:cNvPr id="3" name="组合 2"/>
            <p:cNvGrpSpPr/>
            <p:nvPr/>
          </p:nvGrpSpPr>
          <p:grpSpPr>
            <a:xfrm>
              <a:off x="900715" y="2848560"/>
              <a:ext cx="10091299" cy="1317043"/>
              <a:chOff x="1466774" y="2993701"/>
              <a:chExt cx="9049781" cy="1181111"/>
            </a:xfrm>
          </p:grpSpPr>
          <p:sp>
            <p:nvSpPr>
              <p:cNvPr id="32" name="任意多边形: 形状 36"/>
              <p:cNvSpPr/>
              <p:nvPr/>
            </p:nvSpPr>
            <p:spPr>
              <a:xfrm>
                <a:off x="2978109" y="3388755"/>
                <a:ext cx="1742290" cy="393028"/>
              </a:xfrm>
              <a:custGeom>
                <a:avLst/>
                <a:gdLst>
                  <a:gd name="connsiteX0" fmla="*/ 1649098 w 1742290"/>
                  <a:gd name="connsiteY0" fmla="*/ 0 h 393028"/>
                  <a:gd name="connsiteX1" fmla="*/ 1331029 w 1742290"/>
                  <a:gd name="connsiteY1" fmla="*/ 0 h 393028"/>
                  <a:gd name="connsiteX2" fmla="*/ 1043348 w 1742290"/>
                  <a:gd name="connsiteY2" fmla="*/ 0 h 393028"/>
                  <a:gd name="connsiteX3" fmla="*/ 1043348 w 1742290"/>
                  <a:gd name="connsiteY3" fmla="*/ 0 h 393028"/>
                  <a:gd name="connsiteX4" fmla="*/ 790109 w 1742290"/>
                  <a:gd name="connsiteY4" fmla="*/ 0 h 393028"/>
                  <a:gd name="connsiteX5" fmla="*/ 607776 w 1742290"/>
                  <a:gd name="connsiteY5" fmla="*/ 0 h 393028"/>
                  <a:gd name="connsiteX6" fmla="*/ 0 w 1742290"/>
                  <a:gd name="connsiteY6" fmla="*/ 0 h 393028"/>
                  <a:gd name="connsiteX7" fmla="*/ 34441 w 1742290"/>
                  <a:gd name="connsiteY7" fmla="*/ 196514 h 393028"/>
                  <a:gd name="connsiteX8" fmla="*/ 93192 w 1742290"/>
                  <a:gd name="connsiteY8" fmla="*/ 393029 h 393028"/>
                  <a:gd name="connsiteX9" fmla="*/ 609802 w 1742290"/>
                  <a:gd name="connsiteY9" fmla="*/ 393029 h 393028"/>
                  <a:gd name="connsiteX10" fmla="*/ 698942 w 1742290"/>
                  <a:gd name="connsiteY10" fmla="*/ 393029 h 393028"/>
                  <a:gd name="connsiteX11" fmla="*/ 698942 w 1742290"/>
                  <a:gd name="connsiteY11" fmla="*/ 393029 h 393028"/>
                  <a:gd name="connsiteX12" fmla="*/ 952182 w 1742290"/>
                  <a:gd name="connsiteY12" fmla="*/ 393029 h 393028"/>
                  <a:gd name="connsiteX13" fmla="*/ 952182 w 1742290"/>
                  <a:gd name="connsiteY13" fmla="*/ 393029 h 393028"/>
                  <a:gd name="connsiteX14" fmla="*/ 1742291 w 1742290"/>
                  <a:gd name="connsiteY14" fmla="*/ 393029 h 393028"/>
                  <a:gd name="connsiteX15" fmla="*/ 1707850 w 1742290"/>
                  <a:gd name="connsiteY15" fmla="*/ 196514 h 393028"/>
                  <a:gd name="connsiteX16" fmla="*/ 1649098 w 1742290"/>
                  <a:gd name="connsiteY16"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2290" h="393028">
                    <a:moveTo>
                      <a:pt x="1649098" y="0"/>
                    </a:moveTo>
                    <a:lnTo>
                      <a:pt x="1331029" y="0"/>
                    </a:lnTo>
                    <a:lnTo>
                      <a:pt x="1043348" y="0"/>
                    </a:lnTo>
                    <a:lnTo>
                      <a:pt x="1043348" y="0"/>
                    </a:lnTo>
                    <a:lnTo>
                      <a:pt x="790109" y="0"/>
                    </a:lnTo>
                    <a:lnTo>
                      <a:pt x="607776" y="0"/>
                    </a:lnTo>
                    <a:lnTo>
                      <a:pt x="0" y="0"/>
                    </a:lnTo>
                    <a:cubicBezTo>
                      <a:pt x="22285" y="60778"/>
                      <a:pt x="34441" y="127633"/>
                      <a:pt x="34441" y="196514"/>
                    </a:cubicBezTo>
                    <a:cubicBezTo>
                      <a:pt x="34441" y="269447"/>
                      <a:pt x="56726" y="336303"/>
                      <a:pt x="93192" y="393029"/>
                    </a:cubicBezTo>
                    <a:lnTo>
                      <a:pt x="609802" y="393029"/>
                    </a:lnTo>
                    <a:lnTo>
                      <a:pt x="698942" y="393029"/>
                    </a:lnTo>
                    <a:lnTo>
                      <a:pt x="698942" y="393029"/>
                    </a:lnTo>
                    <a:lnTo>
                      <a:pt x="952182" y="393029"/>
                    </a:lnTo>
                    <a:lnTo>
                      <a:pt x="952182" y="393029"/>
                    </a:lnTo>
                    <a:lnTo>
                      <a:pt x="1742291" y="393029"/>
                    </a:lnTo>
                    <a:cubicBezTo>
                      <a:pt x="1720006" y="332251"/>
                      <a:pt x="1707850" y="265396"/>
                      <a:pt x="1707850" y="196514"/>
                    </a:cubicBezTo>
                    <a:cubicBezTo>
                      <a:pt x="1707850" y="123581"/>
                      <a:pt x="1687591"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任意多边形: 形状 37"/>
              <p:cNvSpPr/>
              <p:nvPr/>
            </p:nvSpPr>
            <p:spPr>
              <a:xfrm>
                <a:off x="4880447" y="3388755"/>
                <a:ext cx="1742290" cy="393028"/>
              </a:xfrm>
              <a:custGeom>
                <a:avLst/>
                <a:gdLst>
                  <a:gd name="connsiteX0" fmla="*/ 1649098 w 1742290"/>
                  <a:gd name="connsiteY0" fmla="*/ 0 h 393028"/>
                  <a:gd name="connsiteX1" fmla="*/ 1043348 w 1742290"/>
                  <a:gd name="connsiteY1" fmla="*/ 0 h 393028"/>
                  <a:gd name="connsiteX2" fmla="*/ 1043348 w 1742290"/>
                  <a:gd name="connsiteY2" fmla="*/ 0 h 393028"/>
                  <a:gd name="connsiteX3" fmla="*/ 790109 w 1742290"/>
                  <a:gd name="connsiteY3" fmla="*/ 0 h 393028"/>
                  <a:gd name="connsiteX4" fmla="*/ 546998 w 1742290"/>
                  <a:gd name="connsiteY4" fmla="*/ 0 h 393028"/>
                  <a:gd name="connsiteX5" fmla="*/ 0 w 1742290"/>
                  <a:gd name="connsiteY5" fmla="*/ 0 h 393028"/>
                  <a:gd name="connsiteX6" fmla="*/ 34441 w 1742290"/>
                  <a:gd name="connsiteY6" fmla="*/ 196514 h 393028"/>
                  <a:gd name="connsiteX7" fmla="*/ 93192 w 1742290"/>
                  <a:gd name="connsiteY7" fmla="*/ 393029 h 393028"/>
                  <a:gd name="connsiteX8" fmla="*/ 549024 w 1742290"/>
                  <a:gd name="connsiteY8" fmla="*/ 393029 h 393028"/>
                  <a:gd name="connsiteX9" fmla="*/ 698942 w 1742290"/>
                  <a:gd name="connsiteY9" fmla="*/ 393029 h 393028"/>
                  <a:gd name="connsiteX10" fmla="*/ 698942 w 1742290"/>
                  <a:gd name="connsiteY10" fmla="*/ 393029 h 393028"/>
                  <a:gd name="connsiteX11" fmla="*/ 952182 w 1742290"/>
                  <a:gd name="connsiteY11" fmla="*/ 393029 h 393028"/>
                  <a:gd name="connsiteX12" fmla="*/ 952182 w 1742290"/>
                  <a:gd name="connsiteY12" fmla="*/ 393029 h 393028"/>
                  <a:gd name="connsiteX13" fmla="*/ 1742291 w 1742290"/>
                  <a:gd name="connsiteY13" fmla="*/ 393029 h 393028"/>
                  <a:gd name="connsiteX14" fmla="*/ 1707850 w 1742290"/>
                  <a:gd name="connsiteY14" fmla="*/ 196514 h 393028"/>
                  <a:gd name="connsiteX15" fmla="*/ 1649098 w 1742290"/>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2290" h="393028">
                    <a:moveTo>
                      <a:pt x="1649098" y="0"/>
                    </a:moveTo>
                    <a:lnTo>
                      <a:pt x="1043348" y="0"/>
                    </a:lnTo>
                    <a:lnTo>
                      <a:pt x="1043348" y="0"/>
                    </a:lnTo>
                    <a:lnTo>
                      <a:pt x="790109" y="0"/>
                    </a:lnTo>
                    <a:lnTo>
                      <a:pt x="546998" y="0"/>
                    </a:lnTo>
                    <a:lnTo>
                      <a:pt x="0" y="0"/>
                    </a:lnTo>
                    <a:cubicBezTo>
                      <a:pt x="22285" y="60778"/>
                      <a:pt x="34441" y="127633"/>
                      <a:pt x="34441" y="196514"/>
                    </a:cubicBezTo>
                    <a:cubicBezTo>
                      <a:pt x="34441" y="269447"/>
                      <a:pt x="56726" y="336303"/>
                      <a:pt x="93192" y="393029"/>
                    </a:cubicBezTo>
                    <a:lnTo>
                      <a:pt x="549024" y="393029"/>
                    </a:lnTo>
                    <a:lnTo>
                      <a:pt x="698942" y="393029"/>
                    </a:lnTo>
                    <a:lnTo>
                      <a:pt x="698942" y="393029"/>
                    </a:lnTo>
                    <a:lnTo>
                      <a:pt x="952182" y="393029"/>
                    </a:lnTo>
                    <a:lnTo>
                      <a:pt x="952182" y="393029"/>
                    </a:lnTo>
                    <a:lnTo>
                      <a:pt x="1742291" y="393029"/>
                    </a:lnTo>
                    <a:cubicBezTo>
                      <a:pt x="1720005" y="332251"/>
                      <a:pt x="1707850" y="265396"/>
                      <a:pt x="1707850"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任意多边形: 形状 38"/>
              <p:cNvSpPr/>
              <p:nvPr/>
            </p:nvSpPr>
            <p:spPr>
              <a:xfrm>
                <a:off x="6782786" y="3388755"/>
                <a:ext cx="1740264" cy="393028"/>
              </a:xfrm>
              <a:custGeom>
                <a:avLst/>
                <a:gdLst>
                  <a:gd name="connsiteX0" fmla="*/ 1649098 w 1740264"/>
                  <a:gd name="connsiteY0" fmla="*/ 0 h 393028"/>
                  <a:gd name="connsiteX1" fmla="*/ 1043348 w 1740264"/>
                  <a:gd name="connsiteY1" fmla="*/ 0 h 393028"/>
                  <a:gd name="connsiteX2" fmla="*/ 1043348 w 1740264"/>
                  <a:gd name="connsiteY2" fmla="*/ 0 h 393028"/>
                  <a:gd name="connsiteX3" fmla="*/ 790109 w 1740264"/>
                  <a:gd name="connsiteY3" fmla="*/ 0 h 393028"/>
                  <a:gd name="connsiteX4" fmla="*/ 486221 w 1740264"/>
                  <a:gd name="connsiteY4" fmla="*/ 0 h 393028"/>
                  <a:gd name="connsiteX5" fmla="*/ 0 w 1740264"/>
                  <a:gd name="connsiteY5" fmla="*/ 0 h 393028"/>
                  <a:gd name="connsiteX6" fmla="*/ 34441 w 1740264"/>
                  <a:gd name="connsiteY6" fmla="*/ 196514 h 393028"/>
                  <a:gd name="connsiteX7" fmla="*/ 93192 w 1740264"/>
                  <a:gd name="connsiteY7" fmla="*/ 393029 h 393028"/>
                  <a:gd name="connsiteX8" fmla="*/ 486221 w 1740264"/>
                  <a:gd name="connsiteY8" fmla="*/ 393029 h 393028"/>
                  <a:gd name="connsiteX9" fmla="*/ 696916 w 1740264"/>
                  <a:gd name="connsiteY9" fmla="*/ 393029 h 393028"/>
                  <a:gd name="connsiteX10" fmla="*/ 696916 w 1740264"/>
                  <a:gd name="connsiteY10" fmla="*/ 393029 h 393028"/>
                  <a:gd name="connsiteX11" fmla="*/ 950156 w 1740264"/>
                  <a:gd name="connsiteY11" fmla="*/ 393029 h 393028"/>
                  <a:gd name="connsiteX12" fmla="*/ 950156 w 1740264"/>
                  <a:gd name="connsiteY12" fmla="*/ 393029 h 393028"/>
                  <a:gd name="connsiteX13" fmla="*/ 1740265 w 1740264"/>
                  <a:gd name="connsiteY13" fmla="*/ 393029 h 393028"/>
                  <a:gd name="connsiteX14" fmla="*/ 1705824 w 1740264"/>
                  <a:gd name="connsiteY14" fmla="*/ 196514 h 393028"/>
                  <a:gd name="connsiteX15" fmla="*/ 1649098 w 1740264"/>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64" h="393028">
                    <a:moveTo>
                      <a:pt x="1649098" y="0"/>
                    </a:moveTo>
                    <a:lnTo>
                      <a:pt x="1043348" y="0"/>
                    </a:lnTo>
                    <a:lnTo>
                      <a:pt x="1043348" y="0"/>
                    </a:lnTo>
                    <a:lnTo>
                      <a:pt x="790109" y="0"/>
                    </a:lnTo>
                    <a:lnTo>
                      <a:pt x="486221" y="0"/>
                    </a:lnTo>
                    <a:lnTo>
                      <a:pt x="0" y="0"/>
                    </a:lnTo>
                    <a:cubicBezTo>
                      <a:pt x="22285" y="60778"/>
                      <a:pt x="34441" y="127633"/>
                      <a:pt x="34441" y="196514"/>
                    </a:cubicBezTo>
                    <a:cubicBezTo>
                      <a:pt x="34441" y="269447"/>
                      <a:pt x="56726" y="336303"/>
                      <a:pt x="93192" y="393029"/>
                    </a:cubicBezTo>
                    <a:lnTo>
                      <a:pt x="486221" y="393029"/>
                    </a:lnTo>
                    <a:lnTo>
                      <a:pt x="696916" y="393029"/>
                    </a:lnTo>
                    <a:lnTo>
                      <a:pt x="696916" y="393029"/>
                    </a:lnTo>
                    <a:lnTo>
                      <a:pt x="950156" y="393029"/>
                    </a:lnTo>
                    <a:lnTo>
                      <a:pt x="950156" y="393029"/>
                    </a:lnTo>
                    <a:lnTo>
                      <a:pt x="1740265" y="393029"/>
                    </a:lnTo>
                    <a:cubicBezTo>
                      <a:pt x="1717980" y="332251"/>
                      <a:pt x="1705824" y="265396"/>
                      <a:pt x="1705824"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任意多边形: 形状 39"/>
              <p:cNvSpPr/>
              <p:nvPr/>
            </p:nvSpPr>
            <p:spPr>
              <a:xfrm>
                <a:off x="1466774" y="3388755"/>
                <a:ext cx="1353314" cy="393028"/>
              </a:xfrm>
              <a:custGeom>
                <a:avLst/>
                <a:gdLst>
                  <a:gd name="connsiteX0" fmla="*/ 1260122 w 1353314"/>
                  <a:gd name="connsiteY0" fmla="*/ 0 h 393028"/>
                  <a:gd name="connsiteX1" fmla="*/ 1002830 w 1353314"/>
                  <a:gd name="connsiteY1" fmla="*/ 0 h 393028"/>
                  <a:gd name="connsiteX2" fmla="*/ 654372 w 1353314"/>
                  <a:gd name="connsiteY2" fmla="*/ 0 h 393028"/>
                  <a:gd name="connsiteX3" fmla="*/ 401132 w 1353314"/>
                  <a:gd name="connsiteY3" fmla="*/ 0 h 393028"/>
                  <a:gd name="connsiteX4" fmla="*/ 279577 w 1353314"/>
                  <a:gd name="connsiteY4" fmla="*/ 0 h 393028"/>
                  <a:gd name="connsiteX5" fmla="*/ 0 w 1353314"/>
                  <a:gd name="connsiteY5" fmla="*/ 0 h 393028"/>
                  <a:gd name="connsiteX6" fmla="*/ 188411 w 1353314"/>
                  <a:gd name="connsiteY6" fmla="*/ 196514 h 393028"/>
                  <a:gd name="connsiteX7" fmla="*/ 0 w 1353314"/>
                  <a:gd name="connsiteY7" fmla="*/ 393029 h 393028"/>
                  <a:gd name="connsiteX8" fmla="*/ 279577 w 1353314"/>
                  <a:gd name="connsiteY8" fmla="*/ 393029 h 393028"/>
                  <a:gd name="connsiteX9" fmla="*/ 1002830 w 1353314"/>
                  <a:gd name="connsiteY9" fmla="*/ 393029 h 393028"/>
                  <a:gd name="connsiteX10" fmla="*/ 1353314 w 1353314"/>
                  <a:gd name="connsiteY10" fmla="*/ 393029 h 393028"/>
                  <a:gd name="connsiteX11" fmla="*/ 1318873 w 1353314"/>
                  <a:gd name="connsiteY11" fmla="*/ 196514 h 393028"/>
                  <a:gd name="connsiteX12" fmla="*/ 1260122 w 1353314"/>
                  <a:gd name="connsiteY12"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3314" h="393028">
                    <a:moveTo>
                      <a:pt x="1260122" y="0"/>
                    </a:moveTo>
                    <a:lnTo>
                      <a:pt x="1002830" y="0"/>
                    </a:lnTo>
                    <a:lnTo>
                      <a:pt x="654372" y="0"/>
                    </a:lnTo>
                    <a:lnTo>
                      <a:pt x="401132" y="0"/>
                    </a:lnTo>
                    <a:lnTo>
                      <a:pt x="279577" y="0"/>
                    </a:lnTo>
                    <a:lnTo>
                      <a:pt x="0" y="0"/>
                    </a:lnTo>
                    <a:lnTo>
                      <a:pt x="188411" y="196514"/>
                    </a:lnTo>
                    <a:lnTo>
                      <a:pt x="0" y="393029"/>
                    </a:lnTo>
                    <a:lnTo>
                      <a:pt x="279577" y="393029"/>
                    </a:lnTo>
                    <a:lnTo>
                      <a:pt x="1002830" y="393029"/>
                    </a:lnTo>
                    <a:lnTo>
                      <a:pt x="1353314" y="393029"/>
                    </a:lnTo>
                    <a:cubicBezTo>
                      <a:pt x="1331029" y="332251"/>
                      <a:pt x="1318873" y="265396"/>
                      <a:pt x="1318873" y="196514"/>
                    </a:cubicBezTo>
                    <a:cubicBezTo>
                      <a:pt x="1318873" y="123581"/>
                      <a:pt x="1296588" y="56726"/>
                      <a:pt x="1260122"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任意多边形: 形状 40"/>
              <p:cNvSpPr/>
              <p:nvPr/>
            </p:nvSpPr>
            <p:spPr>
              <a:xfrm>
                <a:off x="4969588" y="3781784"/>
                <a:ext cx="605750" cy="164099"/>
              </a:xfrm>
              <a:custGeom>
                <a:avLst/>
                <a:gdLst>
                  <a:gd name="connsiteX0" fmla="*/ 305914 w 605750"/>
                  <a:gd name="connsiteY0" fmla="*/ 164099 h 164099"/>
                  <a:gd name="connsiteX1" fmla="*/ 514584 w 605750"/>
                  <a:gd name="connsiteY1" fmla="*/ 97244 h 164099"/>
                  <a:gd name="connsiteX2" fmla="*/ 536869 w 605750"/>
                  <a:gd name="connsiteY2" fmla="*/ 79011 h 164099"/>
                  <a:gd name="connsiteX3" fmla="*/ 542946 w 605750"/>
                  <a:gd name="connsiteY3" fmla="*/ 72933 h 164099"/>
                  <a:gd name="connsiteX4" fmla="*/ 559154 w 605750"/>
                  <a:gd name="connsiteY4" fmla="*/ 56726 h 164099"/>
                  <a:gd name="connsiteX5" fmla="*/ 567257 w 605750"/>
                  <a:gd name="connsiteY5" fmla="*/ 48622 h 164099"/>
                  <a:gd name="connsiteX6" fmla="*/ 581439 w 605750"/>
                  <a:gd name="connsiteY6" fmla="*/ 32415 h 164099"/>
                  <a:gd name="connsiteX7" fmla="*/ 587517 w 605750"/>
                  <a:gd name="connsiteY7" fmla="*/ 24311 h 164099"/>
                  <a:gd name="connsiteX8" fmla="*/ 605750 w 605750"/>
                  <a:gd name="connsiteY8" fmla="*/ 0 h 164099"/>
                  <a:gd name="connsiteX9" fmla="*/ 455832 w 605750"/>
                  <a:gd name="connsiteY9" fmla="*/ 0 h 164099"/>
                  <a:gd name="connsiteX10" fmla="*/ 0 w 605750"/>
                  <a:gd name="connsiteY10" fmla="*/ 0 h 164099"/>
                  <a:gd name="connsiteX11" fmla="*/ 305914 w 605750"/>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750" h="164099">
                    <a:moveTo>
                      <a:pt x="305914" y="164099"/>
                    </a:moveTo>
                    <a:cubicBezTo>
                      <a:pt x="384925" y="164099"/>
                      <a:pt x="455832" y="139788"/>
                      <a:pt x="514584" y="97244"/>
                    </a:cubicBezTo>
                    <a:cubicBezTo>
                      <a:pt x="522687" y="91166"/>
                      <a:pt x="528765" y="85089"/>
                      <a:pt x="536869" y="79011"/>
                    </a:cubicBezTo>
                    <a:cubicBezTo>
                      <a:pt x="538895" y="76985"/>
                      <a:pt x="540921" y="74959"/>
                      <a:pt x="542946" y="72933"/>
                    </a:cubicBezTo>
                    <a:cubicBezTo>
                      <a:pt x="549024" y="66855"/>
                      <a:pt x="555102" y="62803"/>
                      <a:pt x="559154" y="56726"/>
                    </a:cubicBezTo>
                    <a:cubicBezTo>
                      <a:pt x="561180" y="54700"/>
                      <a:pt x="565232" y="50648"/>
                      <a:pt x="567257" y="48622"/>
                    </a:cubicBezTo>
                    <a:cubicBezTo>
                      <a:pt x="571310" y="42544"/>
                      <a:pt x="577387" y="38492"/>
                      <a:pt x="581439" y="32415"/>
                    </a:cubicBezTo>
                    <a:cubicBezTo>
                      <a:pt x="583465" y="30389"/>
                      <a:pt x="585491" y="26337"/>
                      <a:pt x="587517" y="24311"/>
                    </a:cubicBezTo>
                    <a:cubicBezTo>
                      <a:pt x="593594" y="16207"/>
                      <a:pt x="599672" y="8104"/>
                      <a:pt x="605750" y="0"/>
                    </a:cubicBezTo>
                    <a:lnTo>
                      <a:pt x="455832" y="0"/>
                    </a:lnTo>
                    <a:lnTo>
                      <a:pt x="0" y="0"/>
                    </a:lnTo>
                    <a:cubicBezTo>
                      <a:pt x="68881" y="99270"/>
                      <a:pt x="180307" y="164099"/>
                      <a:pt x="305914"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任意多边形: 形状 41"/>
              <p:cNvSpPr/>
              <p:nvPr/>
            </p:nvSpPr>
            <p:spPr>
              <a:xfrm>
                <a:off x="3071301" y="3781784"/>
                <a:ext cx="603724" cy="164099"/>
              </a:xfrm>
              <a:custGeom>
                <a:avLst/>
                <a:gdLst>
                  <a:gd name="connsiteX0" fmla="*/ 303888 w 603724"/>
                  <a:gd name="connsiteY0" fmla="*/ 164099 h 164099"/>
                  <a:gd name="connsiteX1" fmla="*/ 512558 w 603724"/>
                  <a:gd name="connsiteY1" fmla="*/ 97244 h 164099"/>
                  <a:gd name="connsiteX2" fmla="*/ 534843 w 603724"/>
                  <a:gd name="connsiteY2" fmla="*/ 79011 h 164099"/>
                  <a:gd name="connsiteX3" fmla="*/ 540921 w 603724"/>
                  <a:gd name="connsiteY3" fmla="*/ 72933 h 164099"/>
                  <a:gd name="connsiteX4" fmla="*/ 557128 w 603724"/>
                  <a:gd name="connsiteY4" fmla="*/ 56726 h 164099"/>
                  <a:gd name="connsiteX5" fmla="*/ 565232 w 603724"/>
                  <a:gd name="connsiteY5" fmla="*/ 48622 h 164099"/>
                  <a:gd name="connsiteX6" fmla="*/ 579413 w 603724"/>
                  <a:gd name="connsiteY6" fmla="*/ 32415 h 164099"/>
                  <a:gd name="connsiteX7" fmla="*/ 585491 w 603724"/>
                  <a:gd name="connsiteY7" fmla="*/ 24311 h 164099"/>
                  <a:gd name="connsiteX8" fmla="*/ 603724 w 603724"/>
                  <a:gd name="connsiteY8" fmla="*/ 0 h 164099"/>
                  <a:gd name="connsiteX9" fmla="*/ 514584 w 603724"/>
                  <a:gd name="connsiteY9" fmla="*/ 0 h 164099"/>
                  <a:gd name="connsiteX10" fmla="*/ 0 w 603724"/>
                  <a:gd name="connsiteY10" fmla="*/ 0 h 164099"/>
                  <a:gd name="connsiteX11" fmla="*/ 303888 w 603724"/>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3724" h="164099">
                    <a:moveTo>
                      <a:pt x="303888" y="164099"/>
                    </a:moveTo>
                    <a:cubicBezTo>
                      <a:pt x="382899" y="164099"/>
                      <a:pt x="453806" y="139788"/>
                      <a:pt x="512558" y="97244"/>
                    </a:cubicBezTo>
                    <a:cubicBezTo>
                      <a:pt x="520661" y="91166"/>
                      <a:pt x="526739" y="85089"/>
                      <a:pt x="534843" y="79011"/>
                    </a:cubicBezTo>
                    <a:cubicBezTo>
                      <a:pt x="536869" y="76985"/>
                      <a:pt x="538895" y="74959"/>
                      <a:pt x="540921" y="72933"/>
                    </a:cubicBezTo>
                    <a:cubicBezTo>
                      <a:pt x="546998" y="66855"/>
                      <a:pt x="553076" y="62803"/>
                      <a:pt x="557128" y="56726"/>
                    </a:cubicBezTo>
                    <a:cubicBezTo>
                      <a:pt x="559154" y="54700"/>
                      <a:pt x="563206" y="50648"/>
                      <a:pt x="565232" y="48622"/>
                    </a:cubicBezTo>
                    <a:cubicBezTo>
                      <a:pt x="569283" y="42544"/>
                      <a:pt x="575361" y="38492"/>
                      <a:pt x="579413" y="32415"/>
                    </a:cubicBezTo>
                    <a:cubicBezTo>
                      <a:pt x="581439" y="30389"/>
                      <a:pt x="583465" y="26337"/>
                      <a:pt x="585491" y="24311"/>
                    </a:cubicBezTo>
                    <a:cubicBezTo>
                      <a:pt x="591569" y="16207"/>
                      <a:pt x="597646" y="8104"/>
                      <a:pt x="603724" y="0"/>
                    </a:cubicBezTo>
                    <a:lnTo>
                      <a:pt x="514584" y="0"/>
                    </a:lnTo>
                    <a:lnTo>
                      <a:pt x="0" y="0"/>
                    </a:lnTo>
                    <a:cubicBezTo>
                      <a:pt x="64830" y="99270"/>
                      <a:pt x="176255" y="164099"/>
                      <a:pt x="303888"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任意多边形: 形状 42"/>
              <p:cNvSpPr/>
              <p:nvPr/>
            </p:nvSpPr>
            <p:spPr>
              <a:xfrm>
                <a:off x="6875978" y="3783809"/>
                <a:ext cx="601698" cy="162073"/>
              </a:xfrm>
              <a:custGeom>
                <a:avLst/>
                <a:gdLst>
                  <a:gd name="connsiteX0" fmla="*/ 301862 w 601698"/>
                  <a:gd name="connsiteY0" fmla="*/ 162074 h 162073"/>
                  <a:gd name="connsiteX1" fmla="*/ 508506 w 601698"/>
                  <a:gd name="connsiteY1" fmla="*/ 97244 h 162073"/>
                  <a:gd name="connsiteX2" fmla="*/ 508506 w 601698"/>
                  <a:gd name="connsiteY2" fmla="*/ 97244 h 162073"/>
                  <a:gd name="connsiteX3" fmla="*/ 534843 w 601698"/>
                  <a:gd name="connsiteY3" fmla="*/ 76985 h 162073"/>
                  <a:gd name="connsiteX4" fmla="*/ 534843 w 601698"/>
                  <a:gd name="connsiteY4" fmla="*/ 76985 h 162073"/>
                  <a:gd name="connsiteX5" fmla="*/ 559154 w 601698"/>
                  <a:gd name="connsiteY5" fmla="*/ 54700 h 162073"/>
                  <a:gd name="connsiteX6" fmla="*/ 559154 w 601698"/>
                  <a:gd name="connsiteY6" fmla="*/ 54700 h 162073"/>
                  <a:gd name="connsiteX7" fmla="*/ 601698 w 601698"/>
                  <a:gd name="connsiteY7" fmla="*/ 0 h 162073"/>
                  <a:gd name="connsiteX8" fmla="*/ 391002 w 601698"/>
                  <a:gd name="connsiteY8" fmla="*/ 0 h 162073"/>
                  <a:gd name="connsiteX9" fmla="*/ 0 w 601698"/>
                  <a:gd name="connsiteY9" fmla="*/ 0 h 162073"/>
                  <a:gd name="connsiteX10" fmla="*/ 301862 w 601698"/>
                  <a:gd name="connsiteY10" fmla="*/ 162074 h 16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1698" h="162073">
                    <a:moveTo>
                      <a:pt x="301862" y="162074"/>
                    </a:moveTo>
                    <a:cubicBezTo>
                      <a:pt x="378847" y="162074"/>
                      <a:pt x="449754" y="137763"/>
                      <a:pt x="508506" y="97244"/>
                    </a:cubicBezTo>
                    <a:lnTo>
                      <a:pt x="508506" y="97244"/>
                    </a:lnTo>
                    <a:cubicBezTo>
                      <a:pt x="518635" y="91166"/>
                      <a:pt x="526739" y="83063"/>
                      <a:pt x="534843" y="76985"/>
                    </a:cubicBezTo>
                    <a:cubicBezTo>
                      <a:pt x="534843" y="76985"/>
                      <a:pt x="534843" y="76985"/>
                      <a:pt x="534843" y="76985"/>
                    </a:cubicBezTo>
                    <a:cubicBezTo>
                      <a:pt x="542946" y="68881"/>
                      <a:pt x="551050" y="62804"/>
                      <a:pt x="559154" y="54700"/>
                    </a:cubicBezTo>
                    <a:cubicBezTo>
                      <a:pt x="559154" y="54700"/>
                      <a:pt x="559154" y="54700"/>
                      <a:pt x="559154" y="54700"/>
                    </a:cubicBezTo>
                    <a:cubicBezTo>
                      <a:pt x="575361" y="38493"/>
                      <a:pt x="589543" y="20259"/>
                      <a:pt x="601698" y="0"/>
                    </a:cubicBezTo>
                    <a:lnTo>
                      <a:pt x="391002" y="0"/>
                    </a:lnTo>
                    <a:lnTo>
                      <a:pt x="0" y="0"/>
                    </a:lnTo>
                    <a:cubicBezTo>
                      <a:pt x="62804" y="97244"/>
                      <a:pt x="174229" y="162074"/>
                      <a:pt x="301862" y="162074"/>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任意多边形: 形状 43"/>
              <p:cNvSpPr/>
              <p:nvPr/>
            </p:nvSpPr>
            <p:spPr>
              <a:xfrm>
                <a:off x="7572894" y="2995727"/>
                <a:ext cx="1146670" cy="589542"/>
              </a:xfrm>
              <a:custGeom>
                <a:avLst/>
                <a:gdLst>
                  <a:gd name="connsiteX0" fmla="*/ 253240 w 1146670"/>
                  <a:gd name="connsiteY0" fmla="*/ 393028 h 589542"/>
                  <a:gd name="connsiteX1" fmla="*/ 255266 w 1146670"/>
                  <a:gd name="connsiteY1" fmla="*/ 391002 h 589542"/>
                  <a:gd name="connsiteX2" fmla="*/ 261343 w 1146670"/>
                  <a:gd name="connsiteY2" fmla="*/ 382899 h 589542"/>
                  <a:gd name="connsiteX3" fmla="*/ 269448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2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3" y="382899"/>
                    </a:cubicBezTo>
                    <a:cubicBezTo>
                      <a:pt x="263370" y="378847"/>
                      <a:pt x="265396" y="374795"/>
                      <a:pt x="269448" y="372769"/>
                    </a:cubicBezTo>
                    <a:cubicBezTo>
                      <a:pt x="269448" y="372769"/>
                      <a:pt x="269448" y="370743"/>
                      <a:pt x="271473" y="370743"/>
                    </a:cubicBezTo>
                    <a:cubicBezTo>
                      <a:pt x="291732" y="344406"/>
                      <a:pt x="316044" y="320095"/>
                      <a:pt x="342380" y="299836"/>
                    </a:cubicBezTo>
                    <a:cubicBezTo>
                      <a:pt x="403158" y="255266"/>
                      <a:pt x="478117" y="228929"/>
                      <a:pt x="557128" y="228929"/>
                    </a:cubicBezTo>
                    <a:cubicBezTo>
                      <a:pt x="684761" y="228929"/>
                      <a:pt x="796187" y="293758"/>
                      <a:pt x="858990" y="393028"/>
                    </a:cubicBezTo>
                    <a:cubicBezTo>
                      <a:pt x="895457" y="449754"/>
                      <a:pt x="917742" y="516609"/>
                      <a:pt x="917742"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8"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任意多边形: 形状 44"/>
              <p:cNvSpPr/>
              <p:nvPr/>
            </p:nvSpPr>
            <p:spPr>
              <a:xfrm>
                <a:off x="5672582" y="2995727"/>
                <a:ext cx="1144644" cy="589542"/>
              </a:xfrm>
              <a:custGeom>
                <a:avLst/>
                <a:gdLst>
                  <a:gd name="connsiteX0" fmla="*/ 251214 w 1144644"/>
                  <a:gd name="connsiteY0" fmla="*/ 393028 h 589542"/>
                  <a:gd name="connsiteX1" fmla="*/ 251214 w 1144644"/>
                  <a:gd name="connsiteY1" fmla="*/ 393028 h 589542"/>
                  <a:gd name="connsiteX2" fmla="*/ 253240 w 1144644"/>
                  <a:gd name="connsiteY2" fmla="*/ 391002 h 589542"/>
                  <a:gd name="connsiteX3" fmla="*/ 257292 w 1144644"/>
                  <a:gd name="connsiteY3" fmla="*/ 382899 h 589542"/>
                  <a:gd name="connsiteX4" fmla="*/ 265395 w 1144644"/>
                  <a:gd name="connsiteY4" fmla="*/ 372769 h 589542"/>
                  <a:gd name="connsiteX5" fmla="*/ 267421 w 1144644"/>
                  <a:gd name="connsiteY5" fmla="*/ 370743 h 589542"/>
                  <a:gd name="connsiteX6" fmla="*/ 340354 w 1144644"/>
                  <a:gd name="connsiteY6" fmla="*/ 299836 h 589542"/>
                  <a:gd name="connsiteX7" fmla="*/ 340354 w 1144644"/>
                  <a:gd name="connsiteY7" fmla="*/ 299836 h 589542"/>
                  <a:gd name="connsiteX8" fmla="*/ 555102 w 1144644"/>
                  <a:gd name="connsiteY8" fmla="*/ 228929 h 589542"/>
                  <a:gd name="connsiteX9" fmla="*/ 856964 w 1144644"/>
                  <a:gd name="connsiteY9" fmla="*/ 393028 h 589542"/>
                  <a:gd name="connsiteX10" fmla="*/ 915715 w 1144644"/>
                  <a:gd name="connsiteY10" fmla="*/ 589543 h 589542"/>
                  <a:gd name="connsiteX11" fmla="*/ 1144644 w 1144644"/>
                  <a:gd name="connsiteY11" fmla="*/ 589543 h 589542"/>
                  <a:gd name="connsiteX12" fmla="*/ 1110204 w 1144644"/>
                  <a:gd name="connsiteY12" fmla="*/ 393028 h 589542"/>
                  <a:gd name="connsiteX13" fmla="*/ 555102 w 1144644"/>
                  <a:gd name="connsiteY13" fmla="*/ 0 h 589542"/>
                  <a:gd name="connsiteX14" fmla="*/ 42544 w 1144644"/>
                  <a:gd name="connsiteY14" fmla="*/ 299836 h 589542"/>
                  <a:gd name="connsiteX15" fmla="*/ 42544 w 1144644"/>
                  <a:gd name="connsiteY15" fmla="*/ 299836 h 589542"/>
                  <a:gd name="connsiteX16" fmla="*/ 40518 w 1144644"/>
                  <a:gd name="connsiteY16" fmla="*/ 305914 h 589542"/>
                  <a:gd name="connsiteX17" fmla="*/ 32415 w 1144644"/>
                  <a:gd name="connsiteY17" fmla="*/ 320095 h 589542"/>
                  <a:gd name="connsiteX18" fmla="*/ 20259 w 1144644"/>
                  <a:gd name="connsiteY18" fmla="*/ 342380 h 589542"/>
                  <a:gd name="connsiteX19" fmla="*/ 14181 w 1144644"/>
                  <a:gd name="connsiteY19" fmla="*/ 356562 h 589542"/>
                  <a:gd name="connsiteX20" fmla="*/ 4052 w 1144644"/>
                  <a:gd name="connsiteY20" fmla="*/ 382899 h 589542"/>
                  <a:gd name="connsiteX21" fmla="*/ 0 w 1144644"/>
                  <a:gd name="connsiteY21" fmla="*/ 391002 h 589542"/>
                  <a:gd name="connsiteX22" fmla="*/ 251214 w 1144644"/>
                  <a:gd name="connsiteY22"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4644" h="589542">
                    <a:moveTo>
                      <a:pt x="251214" y="393028"/>
                    </a:moveTo>
                    <a:lnTo>
                      <a:pt x="251214" y="393028"/>
                    </a:lnTo>
                    <a:cubicBezTo>
                      <a:pt x="251214" y="393028"/>
                      <a:pt x="251214" y="391002"/>
                      <a:pt x="253240" y="391002"/>
                    </a:cubicBezTo>
                    <a:cubicBezTo>
                      <a:pt x="255266" y="388976"/>
                      <a:pt x="257292" y="386951"/>
                      <a:pt x="257292" y="382899"/>
                    </a:cubicBezTo>
                    <a:cubicBezTo>
                      <a:pt x="259317" y="378847"/>
                      <a:pt x="263370" y="374795"/>
                      <a:pt x="265395" y="372769"/>
                    </a:cubicBezTo>
                    <a:cubicBezTo>
                      <a:pt x="265395" y="372769"/>
                      <a:pt x="265395" y="372769"/>
                      <a:pt x="267421" y="370743"/>
                    </a:cubicBezTo>
                    <a:cubicBezTo>
                      <a:pt x="287680" y="344406"/>
                      <a:pt x="311991" y="320095"/>
                      <a:pt x="340354" y="299836"/>
                    </a:cubicBezTo>
                    <a:lnTo>
                      <a:pt x="340354" y="299836"/>
                    </a:lnTo>
                    <a:cubicBezTo>
                      <a:pt x="401132" y="255266"/>
                      <a:pt x="476091" y="228929"/>
                      <a:pt x="555102" y="228929"/>
                    </a:cubicBezTo>
                    <a:cubicBezTo>
                      <a:pt x="682735" y="228929"/>
                      <a:pt x="794160" y="293758"/>
                      <a:pt x="856964" y="393028"/>
                    </a:cubicBezTo>
                    <a:cubicBezTo>
                      <a:pt x="893430" y="449754"/>
                      <a:pt x="915715" y="516609"/>
                      <a:pt x="915715" y="589543"/>
                    </a:cubicBezTo>
                    <a:lnTo>
                      <a:pt x="1144644" y="589543"/>
                    </a:lnTo>
                    <a:cubicBezTo>
                      <a:pt x="1144644" y="520661"/>
                      <a:pt x="1132489" y="453806"/>
                      <a:pt x="1110204" y="393028"/>
                    </a:cubicBezTo>
                    <a:cubicBezTo>
                      <a:pt x="1029167" y="164100"/>
                      <a:pt x="810368" y="0"/>
                      <a:pt x="555102" y="0"/>
                    </a:cubicBezTo>
                    <a:cubicBezTo>
                      <a:pt x="334277" y="0"/>
                      <a:pt x="143840" y="121555"/>
                      <a:pt x="42544" y="299836"/>
                    </a:cubicBezTo>
                    <a:lnTo>
                      <a:pt x="42544" y="299836"/>
                    </a:lnTo>
                    <a:cubicBezTo>
                      <a:pt x="42544" y="301862"/>
                      <a:pt x="40518" y="303888"/>
                      <a:pt x="40518" y="305914"/>
                    </a:cubicBezTo>
                    <a:cubicBezTo>
                      <a:pt x="38492" y="309966"/>
                      <a:pt x="34441" y="316044"/>
                      <a:pt x="32415" y="320095"/>
                    </a:cubicBezTo>
                    <a:cubicBezTo>
                      <a:pt x="28363" y="328199"/>
                      <a:pt x="24311" y="336303"/>
                      <a:pt x="20259" y="342380"/>
                    </a:cubicBezTo>
                    <a:cubicBezTo>
                      <a:pt x="18233" y="346432"/>
                      <a:pt x="16207" y="352510"/>
                      <a:pt x="14181" y="356562"/>
                    </a:cubicBezTo>
                    <a:cubicBezTo>
                      <a:pt x="10130" y="364665"/>
                      <a:pt x="6078" y="374795"/>
                      <a:pt x="4052" y="382899"/>
                    </a:cubicBezTo>
                    <a:cubicBezTo>
                      <a:pt x="2026" y="384925"/>
                      <a:pt x="2026" y="388976"/>
                      <a:pt x="0" y="391002"/>
                    </a:cubicBezTo>
                    <a:lnTo>
                      <a:pt x="251214" y="391002"/>
                    </a:lnTo>
                    <a:close/>
                  </a:path>
                </a:pathLst>
              </a:custGeom>
              <a:solidFill>
                <a:schemeClr val="accent5"/>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任意多边形: 形状 45"/>
              <p:cNvSpPr/>
              <p:nvPr/>
            </p:nvSpPr>
            <p:spPr>
              <a:xfrm>
                <a:off x="3768218" y="2995727"/>
                <a:ext cx="1146670" cy="589542"/>
              </a:xfrm>
              <a:custGeom>
                <a:avLst/>
                <a:gdLst>
                  <a:gd name="connsiteX0" fmla="*/ 253240 w 1146670"/>
                  <a:gd name="connsiteY0" fmla="*/ 393028 h 589542"/>
                  <a:gd name="connsiteX1" fmla="*/ 255266 w 1146670"/>
                  <a:gd name="connsiteY1" fmla="*/ 391002 h 589542"/>
                  <a:gd name="connsiteX2" fmla="*/ 261344 w 1146670"/>
                  <a:gd name="connsiteY2" fmla="*/ 382899 h 589542"/>
                  <a:gd name="connsiteX3" fmla="*/ 269447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1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4" y="382899"/>
                    </a:cubicBezTo>
                    <a:cubicBezTo>
                      <a:pt x="263370" y="378847"/>
                      <a:pt x="267421" y="374795"/>
                      <a:pt x="269447" y="372769"/>
                    </a:cubicBezTo>
                    <a:cubicBezTo>
                      <a:pt x="269447" y="372769"/>
                      <a:pt x="269447" y="370743"/>
                      <a:pt x="271473" y="370743"/>
                    </a:cubicBezTo>
                    <a:cubicBezTo>
                      <a:pt x="291732" y="344406"/>
                      <a:pt x="316043" y="320095"/>
                      <a:pt x="342380" y="299836"/>
                    </a:cubicBezTo>
                    <a:cubicBezTo>
                      <a:pt x="403158" y="255266"/>
                      <a:pt x="478117" y="228929"/>
                      <a:pt x="557128" y="228929"/>
                    </a:cubicBezTo>
                    <a:cubicBezTo>
                      <a:pt x="684761" y="228929"/>
                      <a:pt x="796186" y="293758"/>
                      <a:pt x="858990" y="393028"/>
                    </a:cubicBezTo>
                    <a:cubicBezTo>
                      <a:pt x="895456" y="449754"/>
                      <a:pt x="917741" y="516609"/>
                      <a:pt x="917741"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7"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3"/>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任意多边形: 形状 46"/>
              <p:cNvSpPr/>
              <p:nvPr/>
            </p:nvSpPr>
            <p:spPr>
              <a:xfrm>
                <a:off x="1914502" y="2993701"/>
                <a:ext cx="1098048" cy="589542"/>
              </a:xfrm>
              <a:custGeom>
                <a:avLst/>
                <a:gdLst>
                  <a:gd name="connsiteX0" fmla="*/ 508506 w 1098048"/>
                  <a:gd name="connsiteY0" fmla="*/ 228929 h 589542"/>
                  <a:gd name="connsiteX1" fmla="*/ 810368 w 1098048"/>
                  <a:gd name="connsiteY1" fmla="*/ 393028 h 589542"/>
                  <a:gd name="connsiteX2" fmla="*/ 869119 w 1098048"/>
                  <a:gd name="connsiteY2" fmla="*/ 589542 h 589542"/>
                  <a:gd name="connsiteX3" fmla="*/ 1098048 w 1098048"/>
                  <a:gd name="connsiteY3" fmla="*/ 589542 h 589542"/>
                  <a:gd name="connsiteX4" fmla="*/ 1063608 w 1098048"/>
                  <a:gd name="connsiteY4" fmla="*/ 393028 h 589542"/>
                  <a:gd name="connsiteX5" fmla="*/ 508506 w 1098048"/>
                  <a:gd name="connsiteY5" fmla="*/ 0 h 589542"/>
                  <a:gd name="connsiteX6" fmla="*/ 0 w 1098048"/>
                  <a:gd name="connsiteY6" fmla="*/ 293758 h 589542"/>
                  <a:gd name="connsiteX7" fmla="*/ 301862 w 1098048"/>
                  <a:gd name="connsiteY7" fmla="*/ 293758 h 589542"/>
                  <a:gd name="connsiteX8" fmla="*/ 508506 w 1098048"/>
                  <a:gd name="connsiteY8" fmla="*/ 228929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08506" y="228929"/>
                    </a:moveTo>
                    <a:cubicBezTo>
                      <a:pt x="636139" y="228929"/>
                      <a:pt x="747564" y="293758"/>
                      <a:pt x="810368" y="393028"/>
                    </a:cubicBezTo>
                    <a:cubicBezTo>
                      <a:pt x="846834" y="449754"/>
                      <a:pt x="869119" y="516609"/>
                      <a:pt x="869119" y="589542"/>
                    </a:cubicBezTo>
                    <a:lnTo>
                      <a:pt x="1098048" y="589542"/>
                    </a:lnTo>
                    <a:cubicBezTo>
                      <a:pt x="1098048" y="520661"/>
                      <a:pt x="1085893" y="453806"/>
                      <a:pt x="1063608" y="393028"/>
                    </a:cubicBezTo>
                    <a:cubicBezTo>
                      <a:pt x="982571" y="164099"/>
                      <a:pt x="763772" y="0"/>
                      <a:pt x="508506" y="0"/>
                    </a:cubicBezTo>
                    <a:cubicBezTo>
                      <a:pt x="291732" y="0"/>
                      <a:pt x="101296" y="117503"/>
                      <a:pt x="0" y="293758"/>
                    </a:cubicBezTo>
                    <a:lnTo>
                      <a:pt x="301862" y="293758"/>
                    </a:lnTo>
                    <a:cubicBezTo>
                      <a:pt x="360614" y="253240"/>
                      <a:pt x="431521" y="228929"/>
                      <a:pt x="508506" y="228929"/>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任意多边形: 形状 47"/>
              <p:cNvSpPr/>
              <p:nvPr/>
            </p:nvSpPr>
            <p:spPr>
              <a:xfrm>
                <a:off x="5822500"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E6342B"/>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任意多边形: 形状 48"/>
              <p:cNvSpPr/>
              <p:nvPr/>
            </p:nvSpPr>
            <p:spPr>
              <a:xfrm>
                <a:off x="4687985" y="3585270"/>
                <a:ext cx="1098048" cy="589542"/>
              </a:xfrm>
              <a:custGeom>
                <a:avLst/>
                <a:gdLst>
                  <a:gd name="connsiteX0" fmla="*/ 798212 w 1098048"/>
                  <a:gd name="connsiteY0" fmla="*/ 293758 h 589542"/>
                  <a:gd name="connsiteX1" fmla="*/ 589543 w 1098048"/>
                  <a:gd name="connsiteY1" fmla="*/ 360613 h 589542"/>
                  <a:gd name="connsiteX2" fmla="*/ 287680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0" y="196514"/>
                    </a:cubicBezTo>
                    <a:cubicBezTo>
                      <a:pt x="251214" y="139788"/>
                      <a:pt x="228929" y="72933"/>
                      <a:pt x="228929" y="0"/>
                    </a:cubicBezTo>
                    <a:lnTo>
                      <a:pt x="0" y="0"/>
                    </a:lnTo>
                    <a:cubicBezTo>
                      <a:pt x="0" y="68881"/>
                      <a:pt x="12156"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任意多边形: 形状 49"/>
              <p:cNvSpPr/>
              <p:nvPr/>
            </p:nvSpPr>
            <p:spPr>
              <a:xfrm>
                <a:off x="3920162"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00BBB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0"/>
              <p:cNvSpPr/>
              <p:nvPr/>
            </p:nvSpPr>
            <p:spPr>
              <a:xfrm>
                <a:off x="2785647" y="3585270"/>
                <a:ext cx="1098048" cy="589542"/>
              </a:xfrm>
              <a:custGeom>
                <a:avLst/>
                <a:gdLst>
                  <a:gd name="connsiteX0" fmla="*/ 798212 w 1098048"/>
                  <a:gd name="connsiteY0" fmla="*/ 293758 h 589542"/>
                  <a:gd name="connsiteX1" fmla="*/ 589543 w 1098048"/>
                  <a:gd name="connsiteY1" fmla="*/ 360613 h 589542"/>
                  <a:gd name="connsiteX2" fmla="*/ 287681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1" y="196514"/>
                    </a:cubicBezTo>
                    <a:cubicBezTo>
                      <a:pt x="251214" y="139788"/>
                      <a:pt x="228929" y="72933"/>
                      <a:pt x="228929" y="0"/>
                    </a:cubicBezTo>
                    <a:lnTo>
                      <a:pt x="0" y="0"/>
                    </a:lnTo>
                    <a:cubicBezTo>
                      <a:pt x="0" y="68881"/>
                      <a:pt x="12155"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任意多边形: 形状 51"/>
              <p:cNvSpPr/>
              <p:nvPr/>
            </p:nvSpPr>
            <p:spPr>
              <a:xfrm>
                <a:off x="6588297" y="3585270"/>
                <a:ext cx="1098048" cy="589542"/>
              </a:xfrm>
              <a:custGeom>
                <a:avLst/>
                <a:gdLst>
                  <a:gd name="connsiteX0" fmla="*/ 589542 w 1098048"/>
                  <a:gd name="connsiteY0" fmla="*/ 360613 h 589542"/>
                  <a:gd name="connsiteX1" fmla="*/ 287680 w 1098048"/>
                  <a:gd name="connsiteY1" fmla="*/ 196514 h 589542"/>
                  <a:gd name="connsiteX2" fmla="*/ 228929 w 1098048"/>
                  <a:gd name="connsiteY2" fmla="*/ 0 h 589542"/>
                  <a:gd name="connsiteX3" fmla="*/ 0 w 1098048"/>
                  <a:gd name="connsiteY3" fmla="*/ 0 h 589542"/>
                  <a:gd name="connsiteX4" fmla="*/ 34441 w 1098048"/>
                  <a:gd name="connsiteY4" fmla="*/ 196514 h 589542"/>
                  <a:gd name="connsiteX5" fmla="*/ 589542 w 1098048"/>
                  <a:gd name="connsiteY5" fmla="*/ 589542 h 589542"/>
                  <a:gd name="connsiteX6" fmla="*/ 1098048 w 1098048"/>
                  <a:gd name="connsiteY6" fmla="*/ 295784 h 589542"/>
                  <a:gd name="connsiteX7" fmla="*/ 796186 w 1098048"/>
                  <a:gd name="connsiteY7" fmla="*/ 295784 h 589542"/>
                  <a:gd name="connsiteX8" fmla="*/ 589542 w 1098048"/>
                  <a:gd name="connsiteY8" fmla="*/ 360613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89542" y="360613"/>
                    </a:moveTo>
                    <a:cubicBezTo>
                      <a:pt x="461910" y="360613"/>
                      <a:pt x="350484" y="295784"/>
                      <a:pt x="287680" y="196514"/>
                    </a:cubicBezTo>
                    <a:cubicBezTo>
                      <a:pt x="251214" y="139788"/>
                      <a:pt x="228929" y="72933"/>
                      <a:pt x="228929" y="0"/>
                    </a:cubicBezTo>
                    <a:lnTo>
                      <a:pt x="0" y="0"/>
                    </a:lnTo>
                    <a:cubicBezTo>
                      <a:pt x="0" y="68881"/>
                      <a:pt x="12155" y="135737"/>
                      <a:pt x="34441" y="196514"/>
                    </a:cubicBezTo>
                    <a:cubicBezTo>
                      <a:pt x="115477" y="425443"/>
                      <a:pt x="334276" y="589542"/>
                      <a:pt x="589542" y="589542"/>
                    </a:cubicBezTo>
                    <a:cubicBezTo>
                      <a:pt x="806316" y="589542"/>
                      <a:pt x="996752" y="472039"/>
                      <a:pt x="1098048" y="295784"/>
                    </a:cubicBezTo>
                    <a:lnTo>
                      <a:pt x="796186" y="295784"/>
                    </a:lnTo>
                    <a:cubicBezTo>
                      <a:pt x="737435" y="336302"/>
                      <a:pt x="666528" y="360613"/>
                      <a:pt x="589542" y="360613"/>
                    </a:cubicBez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任意多边形: 形状 52"/>
              <p:cNvSpPr/>
              <p:nvPr/>
            </p:nvSpPr>
            <p:spPr>
              <a:xfrm>
                <a:off x="7718760" y="3812172"/>
                <a:ext cx="4051" cy="8103"/>
              </a:xfrm>
              <a:custGeom>
                <a:avLst/>
                <a:gdLst>
                  <a:gd name="connsiteX0" fmla="*/ 4051 w 4051"/>
                  <a:gd name="connsiteY0" fmla="*/ 0 h 8103"/>
                  <a:gd name="connsiteX1" fmla="*/ 4051 w 4051"/>
                  <a:gd name="connsiteY1" fmla="*/ 0 h 8103"/>
                  <a:gd name="connsiteX2" fmla="*/ 0 w 4051"/>
                  <a:gd name="connsiteY2" fmla="*/ 8104 h 8103"/>
                  <a:gd name="connsiteX3" fmla="*/ 4051 w 4051"/>
                  <a:gd name="connsiteY3" fmla="*/ 0 h 8103"/>
                </a:gdLst>
                <a:ahLst/>
                <a:cxnLst>
                  <a:cxn ang="0">
                    <a:pos x="connsiteX0" y="connsiteY0"/>
                  </a:cxn>
                  <a:cxn ang="0">
                    <a:pos x="connsiteX1" y="connsiteY1"/>
                  </a:cxn>
                  <a:cxn ang="0">
                    <a:pos x="connsiteX2" y="connsiteY2"/>
                  </a:cxn>
                  <a:cxn ang="0">
                    <a:pos x="connsiteX3" y="connsiteY3"/>
                  </a:cxn>
                </a:cxnLst>
                <a:rect l="l" t="t" r="r" b="b"/>
                <a:pathLst>
                  <a:path w="4051" h="8103">
                    <a:moveTo>
                      <a:pt x="4051" y="0"/>
                    </a:moveTo>
                    <a:lnTo>
                      <a:pt x="4051" y="0"/>
                    </a:lnTo>
                    <a:cubicBezTo>
                      <a:pt x="2026" y="2026"/>
                      <a:pt x="2026" y="4052"/>
                      <a:pt x="0" y="8104"/>
                    </a:cubicBezTo>
                    <a:cubicBezTo>
                      <a:pt x="0" y="4052"/>
                      <a:pt x="2026" y="2026"/>
                      <a:pt x="4051" y="0"/>
                    </a:cubicBezTo>
                    <a:close/>
                  </a:path>
                </a:pathLst>
              </a:custGeom>
              <a:solidFill>
                <a:srgbClr val="1AACFF"/>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任意多边形: 形状 53"/>
              <p:cNvSpPr/>
              <p:nvPr/>
            </p:nvSpPr>
            <p:spPr>
              <a:xfrm>
                <a:off x="8488610" y="3585270"/>
                <a:ext cx="1165104" cy="589542"/>
              </a:xfrm>
              <a:custGeom>
                <a:avLst/>
                <a:gdLst>
                  <a:gd name="connsiteX0" fmla="*/ 1051452 w 1165104"/>
                  <a:gd name="connsiteY0" fmla="*/ 0 h 589542"/>
                  <a:gd name="connsiteX1" fmla="*/ 942052 w 1165104"/>
                  <a:gd name="connsiteY1" fmla="*/ 85089 h 589542"/>
                  <a:gd name="connsiteX2" fmla="*/ 893431 w 1165104"/>
                  <a:gd name="connsiteY2" fmla="*/ 196514 h 589542"/>
                  <a:gd name="connsiteX3" fmla="*/ 589543 w 1165104"/>
                  <a:gd name="connsiteY3" fmla="*/ 360613 h 589542"/>
                  <a:gd name="connsiteX4" fmla="*/ 287680 w 1165104"/>
                  <a:gd name="connsiteY4" fmla="*/ 196514 h 589542"/>
                  <a:gd name="connsiteX5" fmla="*/ 228929 w 1165104"/>
                  <a:gd name="connsiteY5" fmla="*/ 0 h 589542"/>
                  <a:gd name="connsiteX6" fmla="*/ 0 w 1165104"/>
                  <a:gd name="connsiteY6" fmla="*/ 0 h 589542"/>
                  <a:gd name="connsiteX7" fmla="*/ 34440 w 1165104"/>
                  <a:gd name="connsiteY7" fmla="*/ 196514 h 589542"/>
                  <a:gd name="connsiteX8" fmla="*/ 589543 w 1165104"/>
                  <a:gd name="connsiteY8" fmla="*/ 589542 h 589542"/>
                  <a:gd name="connsiteX9" fmla="*/ 1144644 w 1165104"/>
                  <a:gd name="connsiteY9" fmla="*/ 196514 h 589542"/>
                  <a:gd name="connsiteX10" fmla="*/ 1160852 w 1165104"/>
                  <a:gd name="connsiteY10" fmla="*/ 141814 h 589542"/>
                  <a:gd name="connsiteX11" fmla="*/ 1051452 w 1165104"/>
                  <a:gd name="connsiteY11" fmla="*/ 0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5104" h="589542">
                    <a:moveTo>
                      <a:pt x="1051452" y="0"/>
                    </a:moveTo>
                    <a:cubicBezTo>
                      <a:pt x="998778" y="0"/>
                      <a:pt x="954208" y="34441"/>
                      <a:pt x="942052" y="85089"/>
                    </a:cubicBezTo>
                    <a:cubicBezTo>
                      <a:pt x="931923" y="125607"/>
                      <a:pt x="915715" y="162074"/>
                      <a:pt x="893431" y="196514"/>
                    </a:cubicBezTo>
                    <a:cubicBezTo>
                      <a:pt x="828601" y="295784"/>
                      <a:pt x="717175" y="360613"/>
                      <a:pt x="589543" y="360613"/>
                    </a:cubicBezTo>
                    <a:cubicBezTo>
                      <a:pt x="461909" y="360613"/>
                      <a:pt x="350484" y="295784"/>
                      <a:pt x="287680" y="196514"/>
                    </a:cubicBezTo>
                    <a:cubicBezTo>
                      <a:pt x="251214" y="139788"/>
                      <a:pt x="228929" y="72933"/>
                      <a:pt x="228929" y="0"/>
                    </a:cubicBezTo>
                    <a:lnTo>
                      <a:pt x="0" y="0"/>
                    </a:lnTo>
                    <a:cubicBezTo>
                      <a:pt x="0" y="68881"/>
                      <a:pt x="12156" y="135737"/>
                      <a:pt x="34440" y="196514"/>
                    </a:cubicBezTo>
                    <a:cubicBezTo>
                      <a:pt x="115477" y="425443"/>
                      <a:pt x="334277" y="589542"/>
                      <a:pt x="589543" y="589542"/>
                    </a:cubicBezTo>
                    <a:cubicBezTo>
                      <a:pt x="844808" y="589542"/>
                      <a:pt x="1063608" y="425443"/>
                      <a:pt x="1144644" y="196514"/>
                    </a:cubicBezTo>
                    <a:cubicBezTo>
                      <a:pt x="1150722" y="178281"/>
                      <a:pt x="1156800" y="160048"/>
                      <a:pt x="1160852" y="141814"/>
                    </a:cubicBezTo>
                    <a:cubicBezTo>
                      <a:pt x="1181111" y="68881"/>
                      <a:pt x="1126411" y="0"/>
                      <a:pt x="1051452" y="0"/>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4"/>
              <p:cNvSpPr/>
              <p:nvPr/>
            </p:nvSpPr>
            <p:spPr>
              <a:xfrm>
                <a:off x="1869931" y="3287459"/>
                <a:ext cx="348458" cy="97244"/>
              </a:xfrm>
              <a:custGeom>
                <a:avLst/>
                <a:gdLst>
                  <a:gd name="connsiteX0" fmla="*/ 320095 w 348458"/>
                  <a:gd name="connsiteY0" fmla="*/ 22285 h 97244"/>
                  <a:gd name="connsiteX1" fmla="*/ 320095 w 348458"/>
                  <a:gd name="connsiteY1" fmla="*/ 22285 h 97244"/>
                  <a:gd name="connsiteX2" fmla="*/ 348458 w 348458"/>
                  <a:gd name="connsiteY2" fmla="*/ 0 h 97244"/>
                  <a:gd name="connsiteX3" fmla="*/ 44570 w 348458"/>
                  <a:gd name="connsiteY3" fmla="*/ 0 h 97244"/>
                  <a:gd name="connsiteX4" fmla="*/ 44570 w 348458"/>
                  <a:gd name="connsiteY4" fmla="*/ 0 h 97244"/>
                  <a:gd name="connsiteX5" fmla="*/ 42544 w 348458"/>
                  <a:gd name="connsiteY5" fmla="*/ 4052 h 97244"/>
                  <a:gd name="connsiteX6" fmla="*/ 20259 w 348458"/>
                  <a:gd name="connsiteY6" fmla="*/ 48622 h 97244"/>
                  <a:gd name="connsiteX7" fmla="*/ 20259 w 348458"/>
                  <a:gd name="connsiteY7" fmla="*/ 48622 h 97244"/>
                  <a:gd name="connsiteX8" fmla="*/ 10130 w 348458"/>
                  <a:gd name="connsiteY8" fmla="*/ 72933 h 97244"/>
                  <a:gd name="connsiteX9" fmla="*/ 10130 w 348458"/>
                  <a:gd name="connsiteY9" fmla="*/ 72933 h 97244"/>
                  <a:gd name="connsiteX10" fmla="*/ 0 w 348458"/>
                  <a:gd name="connsiteY10" fmla="*/ 97244 h 97244"/>
                  <a:gd name="connsiteX11" fmla="*/ 253240 w 348458"/>
                  <a:gd name="connsiteY11" fmla="*/ 97244 h 97244"/>
                  <a:gd name="connsiteX12" fmla="*/ 320095 w 348458"/>
                  <a:gd name="connsiteY12" fmla="*/ 22285 h 97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458" h="97244">
                    <a:moveTo>
                      <a:pt x="320095" y="22285"/>
                    </a:moveTo>
                    <a:cubicBezTo>
                      <a:pt x="320095" y="22285"/>
                      <a:pt x="320095" y="22285"/>
                      <a:pt x="320095" y="22285"/>
                    </a:cubicBezTo>
                    <a:cubicBezTo>
                      <a:pt x="328199" y="14182"/>
                      <a:pt x="338329" y="8104"/>
                      <a:pt x="348458" y="0"/>
                    </a:cubicBezTo>
                    <a:lnTo>
                      <a:pt x="44570" y="0"/>
                    </a:lnTo>
                    <a:lnTo>
                      <a:pt x="44570" y="0"/>
                    </a:lnTo>
                    <a:cubicBezTo>
                      <a:pt x="44570" y="2026"/>
                      <a:pt x="42544" y="2026"/>
                      <a:pt x="42544" y="4052"/>
                    </a:cubicBezTo>
                    <a:cubicBezTo>
                      <a:pt x="34441" y="18233"/>
                      <a:pt x="26337" y="32415"/>
                      <a:pt x="20259" y="48622"/>
                    </a:cubicBezTo>
                    <a:cubicBezTo>
                      <a:pt x="20259" y="48622"/>
                      <a:pt x="20259" y="48622"/>
                      <a:pt x="20259" y="48622"/>
                    </a:cubicBezTo>
                    <a:cubicBezTo>
                      <a:pt x="16207" y="56726"/>
                      <a:pt x="12156" y="64830"/>
                      <a:pt x="10130" y="72933"/>
                    </a:cubicBezTo>
                    <a:cubicBezTo>
                      <a:pt x="10130" y="72933"/>
                      <a:pt x="10130" y="72933"/>
                      <a:pt x="10130" y="72933"/>
                    </a:cubicBezTo>
                    <a:cubicBezTo>
                      <a:pt x="6078" y="81037"/>
                      <a:pt x="4052" y="89141"/>
                      <a:pt x="0" y="97244"/>
                    </a:cubicBezTo>
                    <a:lnTo>
                      <a:pt x="253240" y="97244"/>
                    </a:lnTo>
                    <a:cubicBezTo>
                      <a:pt x="269447" y="70907"/>
                      <a:pt x="293758" y="44570"/>
                      <a:pt x="320095" y="22285"/>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任意多边形: 形状 55"/>
              <p:cNvSpPr/>
              <p:nvPr/>
            </p:nvSpPr>
            <p:spPr>
              <a:xfrm>
                <a:off x="7386510" y="3777732"/>
                <a:ext cx="346431" cy="101295"/>
              </a:xfrm>
              <a:custGeom>
                <a:avLst/>
                <a:gdLst>
                  <a:gd name="connsiteX0" fmla="*/ 93192 w 346431"/>
                  <a:gd name="connsiteY0" fmla="*/ 4052 h 101295"/>
                  <a:gd name="connsiteX1" fmla="*/ 93192 w 346431"/>
                  <a:gd name="connsiteY1" fmla="*/ 4052 h 101295"/>
                  <a:gd name="connsiteX2" fmla="*/ 50648 w 346431"/>
                  <a:gd name="connsiteY2" fmla="*/ 58752 h 101295"/>
                  <a:gd name="connsiteX3" fmla="*/ 50648 w 346431"/>
                  <a:gd name="connsiteY3" fmla="*/ 58752 h 101295"/>
                  <a:gd name="connsiteX4" fmla="*/ 26337 w 346431"/>
                  <a:gd name="connsiteY4" fmla="*/ 81037 h 101295"/>
                  <a:gd name="connsiteX5" fmla="*/ 26337 w 346431"/>
                  <a:gd name="connsiteY5" fmla="*/ 81037 h 101295"/>
                  <a:gd name="connsiteX6" fmla="*/ 0 w 346431"/>
                  <a:gd name="connsiteY6" fmla="*/ 101296 h 101295"/>
                  <a:gd name="connsiteX7" fmla="*/ 0 w 346431"/>
                  <a:gd name="connsiteY7" fmla="*/ 101296 h 101295"/>
                  <a:gd name="connsiteX8" fmla="*/ 299836 w 346431"/>
                  <a:gd name="connsiteY8" fmla="*/ 101296 h 101295"/>
                  <a:gd name="connsiteX9" fmla="*/ 299836 w 346431"/>
                  <a:gd name="connsiteY9" fmla="*/ 101296 h 101295"/>
                  <a:gd name="connsiteX10" fmla="*/ 314018 w 346431"/>
                  <a:gd name="connsiteY10" fmla="*/ 74959 h 101295"/>
                  <a:gd name="connsiteX11" fmla="*/ 320095 w 346431"/>
                  <a:gd name="connsiteY11" fmla="*/ 62803 h 101295"/>
                  <a:gd name="connsiteX12" fmla="*/ 330225 w 346431"/>
                  <a:gd name="connsiteY12" fmla="*/ 38492 h 101295"/>
                  <a:gd name="connsiteX13" fmla="*/ 334277 w 346431"/>
                  <a:gd name="connsiteY13" fmla="*/ 30389 h 101295"/>
                  <a:gd name="connsiteX14" fmla="*/ 346432 w 346431"/>
                  <a:gd name="connsiteY14" fmla="*/ 0 h 101295"/>
                  <a:gd name="connsiteX15" fmla="*/ 346432 w 346431"/>
                  <a:gd name="connsiteY15" fmla="*/ 0 h 101295"/>
                  <a:gd name="connsiteX16" fmla="*/ 93192 w 346431"/>
                  <a:gd name="connsiteY16"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431" h="101295">
                    <a:moveTo>
                      <a:pt x="93192" y="4052"/>
                    </a:moveTo>
                    <a:lnTo>
                      <a:pt x="93192" y="4052"/>
                    </a:lnTo>
                    <a:cubicBezTo>
                      <a:pt x="81037" y="24311"/>
                      <a:pt x="66855" y="40518"/>
                      <a:pt x="50648" y="58752"/>
                    </a:cubicBezTo>
                    <a:cubicBezTo>
                      <a:pt x="50648" y="58752"/>
                      <a:pt x="50648" y="58752"/>
                      <a:pt x="50648" y="58752"/>
                    </a:cubicBezTo>
                    <a:cubicBezTo>
                      <a:pt x="42544" y="66855"/>
                      <a:pt x="34440" y="74959"/>
                      <a:pt x="26337" y="81037"/>
                    </a:cubicBezTo>
                    <a:cubicBezTo>
                      <a:pt x="26337" y="81037"/>
                      <a:pt x="26337" y="81037"/>
                      <a:pt x="26337" y="81037"/>
                    </a:cubicBezTo>
                    <a:cubicBezTo>
                      <a:pt x="18233" y="89140"/>
                      <a:pt x="8104" y="95218"/>
                      <a:pt x="0" y="101296"/>
                    </a:cubicBezTo>
                    <a:lnTo>
                      <a:pt x="0" y="101296"/>
                    </a:lnTo>
                    <a:lnTo>
                      <a:pt x="299836" y="101296"/>
                    </a:lnTo>
                    <a:lnTo>
                      <a:pt x="299836" y="101296"/>
                    </a:lnTo>
                    <a:cubicBezTo>
                      <a:pt x="303888" y="93192"/>
                      <a:pt x="309965" y="85089"/>
                      <a:pt x="314018" y="74959"/>
                    </a:cubicBezTo>
                    <a:cubicBezTo>
                      <a:pt x="316043" y="70907"/>
                      <a:pt x="318069" y="66855"/>
                      <a:pt x="320095" y="62803"/>
                    </a:cubicBezTo>
                    <a:cubicBezTo>
                      <a:pt x="324147" y="54700"/>
                      <a:pt x="328199" y="46596"/>
                      <a:pt x="330225" y="38492"/>
                    </a:cubicBezTo>
                    <a:cubicBezTo>
                      <a:pt x="332251" y="36466"/>
                      <a:pt x="332251" y="34441"/>
                      <a:pt x="334277" y="30389"/>
                    </a:cubicBezTo>
                    <a:cubicBezTo>
                      <a:pt x="338328" y="20259"/>
                      <a:pt x="342380" y="10130"/>
                      <a:pt x="346432" y="0"/>
                    </a:cubicBezTo>
                    <a:lnTo>
                      <a:pt x="346432" y="0"/>
                    </a:lnTo>
                    <a:lnTo>
                      <a:pt x="93192" y="0"/>
                    </a:ln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任意多边形: 形状 56"/>
              <p:cNvSpPr/>
              <p:nvPr/>
            </p:nvSpPr>
            <p:spPr>
              <a:xfrm>
                <a:off x="5486197"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1 w 350484"/>
                  <a:gd name="connsiteY14" fmla="*/ 24311 h 101295"/>
                  <a:gd name="connsiteX15" fmla="*/ 342381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30"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4" y="79011"/>
                      <a:pt x="322121" y="68881"/>
                    </a:cubicBezTo>
                    <a:cubicBezTo>
                      <a:pt x="324147" y="66855"/>
                      <a:pt x="324147" y="64829"/>
                      <a:pt x="326173" y="60778"/>
                    </a:cubicBezTo>
                    <a:cubicBezTo>
                      <a:pt x="332251" y="48622"/>
                      <a:pt x="336303" y="36467"/>
                      <a:pt x="342381" y="24311"/>
                    </a:cubicBezTo>
                    <a:cubicBezTo>
                      <a:pt x="342381" y="24311"/>
                      <a:pt x="342381" y="24311"/>
                      <a:pt x="342381" y="24311"/>
                    </a:cubicBezTo>
                    <a:cubicBezTo>
                      <a:pt x="346432" y="16207"/>
                      <a:pt x="348458" y="8104"/>
                      <a:pt x="350484" y="0"/>
                    </a:cubicBezTo>
                    <a:lnTo>
                      <a:pt x="350484" y="0"/>
                    </a:lnTo>
                    <a:lnTo>
                      <a:pt x="93192" y="0"/>
                    </a:ln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任意多边形: 形状 57"/>
              <p:cNvSpPr/>
              <p:nvPr/>
            </p:nvSpPr>
            <p:spPr>
              <a:xfrm>
                <a:off x="3583859"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0 w 350484"/>
                  <a:gd name="connsiteY14" fmla="*/ 24311 h 101295"/>
                  <a:gd name="connsiteX15" fmla="*/ 342380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29"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3" y="79011"/>
                      <a:pt x="322121" y="68881"/>
                    </a:cubicBezTo>
                    <a:cubicBezTo>
                      <a:pt x="324147" y="66855"/>
                      <a:pt x="324147" y="64829"/>
                      <a:pt x="326173" y="60778"/>
                    </a:cubicBezTo>
                    <a:cubicBezTo>
                      <a:pt x="332251" y="48622"/>
                      <a:pt x="336303" y="36467"/>
                      <a:pt x="342380" y="24311"/>
                    </a:cubicBezTo>
                    <a:cubicBezTo>
                      <a:pt x="342380" y="24311"/>
                      <a:pt x="342380" y="24311"/>
                      <a:pt x="342380" y="24311"/>
                    </a:cubicBezTo>
                    <a:cubicBezTo>
                      <a:pt x="346432" y="16207"/>
                      <a:pt x="348458" y="8104"/>
                      <a:pt x="350484" y="0"/>
                    </a:cubicBezTo>
                    <a:lnTo>
                      <a:pt x="350484" y="0"/>
                    </a:lnTo>
                    <a:lnTo>
                      <a:pt x="93192" y="0"/>
                    </a:ln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8"/>
              <p:cNvSpPr/>
              <p:nvPr/>
            </p:nvSpPr>
            <p:spPr>
              <a:xfrm>
                <a:off x="8685124" y="3388755"/>
                <a:ext cx="1831431" cy="393028"/>
              </a:xfrm>
              <a:custGeom>
                <a:avLst/>
                <a:gdLst>
                  <a:gd name="connsiteX0" fmla="*/ 1640995 w 1831431"/>
                  <a:gd name="connsiteY0" fmla="*/ 0 h 393028"/>
                  <a:gd name="connsiteX1" fmla="*/ 0 w 1831431"/>
                  <a:gd name="connsiteY1" fmla="*/ 0 h 393028"/>
                  <a:gd name="connsiteX2" fmla="*/ 34441 w 1831431"/>
                  <a:gd name="connsiteY2" fmla="*/ 196514 h 393028"/>
                  <a:gd name="connsiteX3" fmla="*/ 93192 w 1831431"/>
                  <a:gd name="connsiteY3" fmla="*/ 393029 h 393028"/>
                  <a:gd name="connsiteX4" fmla="*/ 698942 w 1831431"/>
                  <a:gd name="connsiteY4" fmla="*/ 393029 h 393028"/>
                  <a:gd name="connsiteX5" fmla="*/ 747565 w 1831431"/>
                  <a:gd name="connsiteY5" fmla="*/ 281603 h 393028"/>
                  <a:gd name="connsiteX6" fmla="*/ 856964 w 1831431"/>
                  <a:gd name="connsiteY6" fmla="*/ 196514 h 393028"/>
                  <a:gd name="connsiteX7" fmla="*/ 968390 w 1831431"/>
                  <a:gd name="connsiteY7" fmla="*/ 338329 h 393028"/>
                  <a:gd name="connsiteX8" fmla="*/ 952182 w 1831431"/>
                  <a:gd name="connsiteY8" fmla="*/ 393029 h 393028"/>
                  <a:gd name="connsiteX9" fmla="*/ 1643021 w 1831431"/>
                  <a:gd name="connsiteY9" fmla="*/ 393029 h 393028"/>
                  <a:gd name="connsiteX10" fmla="*/ 1831432 w 1831431"/>
                  <a:gd name="connsiteY10" fmla="*/ 196514 h 393028"/>
                  <a:gd name="connsiteX11" fmla="*/ 1640995 w 1831431"/>
                  <a:gd name="connsiteY11"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1431" h="393028">
                    <a:moveTo>
                      <a:pt x="1640995" y="0"/>
                    </a:moveTo>
                    <a:lnTo>
                      <a:pt x="0" y="0"/>
                    </a:lnTo>
                    <a:cubicBezTo>
                      <a:pt x="22285" y="60778"/>
                      <a:pt x="34441" y="127633"/>
                      <a:pt x="34441" y="196514"/>
                    </a:cubicBezTo>
                    <a:cubicBezTo>
                      <a:pt x="34441" y="269447"/>
                      <a:pt x="56726" y="336303"/>
                      <a:pt x="93192" y="393029"/>
                    </a:cubicBezTo>
                    <a:lnTo>
                      <a:pt x="698942" y="393029"/>
                    </a:lnTo>
                    <a:cubicBezTo>
                      <a:pt x="721227" y="358588"/>
                      <a:pt x="737435" y="322121"/>
                      <a:pt x="747565" y="281603"/>
                    </a:cubicBezTo>
                    <a:cubicBezTo>
                      <a:pt x="759720" y="230955"/>
                      <a:pt x="806316" y="196514"/>
                      <a:pt x="856964" y="196514"/>
                    </a:cubicBezTo>
                    <a:cubicBezTo>
                      <a:pt x="931923" y="196514"/>
                      <a:pt x="986623" y="265396"/>
                      <a:pt x="968390" y="338329"/>
                    </a:cubicBezTo>
                    <a:cubicBezTo>
                      <a:pt x="964338" y="356562"/>
                      <a:pt x="958260" y="374795"/>
                      <a:pt x="952182" y="393029"/>
                    </a:cubicBezTo>
                    <a:lnTo>
                      <a:pt x="1643021" y="393029"/>
                    </a:lnTo>
                    <a:lnTo>
                      <a:pt x="1831432" y="196514"/>
                    </a:lnTo>
                    <a:lnTo>
                      <a:pt x="1640995" y="0"/>
                    </a:ln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1" name="组合 60"/>
            <p:cNvGrpSpPr/>
            <p:nvPr/>
          </p:nvGrpSpPr>
          <p:grpSpPr>
            <a:xfrm>
              <a:off x="900023" y="3980237"/>
              <a:ext cx="2252587" cy="1846892"/>
              <a:chOff x="424504" y="3739846"/>
              <a:chExt cx="2252587" cy="1846892"/>
            </a:xfrm>
          </p:grpSpPr>
          <p:sp>
            <p:nvSpPr>
              <p:cNvPr id="62" name="文本框 23"/>
              <p:cNvSpPr txBox="1"/>
              <p:nvPr/>
            </p:nvSpPr>
            <p:spPr>
              <a:xfrm>
                <a:off x="428749" y="4345962"/>
                <a:ext cx="204488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商品遮挡识别精度低</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3" name="文本框 24"/>
              <p:cNvSpPr txBox="1"/>
              <p:nvPr/>
            </p:nvSpPr>
            <p:spPr>
              <a:xfrm>
                <a:off x="424504" y="4653271"/>
                <a:ext cx="2252587"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智能零售货架商品堆叠遮挡率超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，现有算法对遮挡商品的识别准确率不足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75%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，无法满足结算与盘点需求。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4" name="文本框 23"/>
              <p:cNvSpPr txBox="1"/>
              <p:nvPr/>
            </p:nvSpPr>
            <p:spPr>
              <a:xfrm>
                <a:off x="843029" y="3739846"/>
                <a:ext cx="1567519" cy="586681"/>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5" name="组合 64"/>
            <p:cNvGrpSpPr/>
            <p:nvPr/>
          </p:nvGrpSpPr>
          <p:grpSpPr>
            <a:xfrm>
              <a:off x="3356966" y="3980237"/>
              <a:ext cx="2221006" cy="1635541"/>
              <a:chOff x="658467" y="3739846"/>
              <a:chExt cx="2221006" cy="1635541"/>
            </a:xfrm>
          </p:grpSpPr>
          <p:sp>
            <p:nvSpPr>
              <p:cNvPr id="66" name="文本框 23"/>
              <p:cNvSpPr txBox="1"/>
              <p:nvPr/>
            </p:nvSpPr>
            <p:spPr>
              <a:xfrm>
                <a:off x="685943" y="4345962"/>
                <a:ext cx="2049132"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a:t>
                </a:r>
                <a:r>
                  <a:rPr lang="en-US" altLang="zh-CN"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SKU</a:t>
                </a:r>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泛化能力弱</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7" name="文本框 24"/>
              <p:cNvSpPr txBox="1"/>
              <p:nvPr/>
            </p:nvSpPr>
            <p:spPr>
              <a:xfrm>
                <a:off x="658467" y="4653271"/>
                <a:ext cx="22210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零售货架商品</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SKU</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常超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种，现有算法对新品类商品的适配周期超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7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天，难以应对快速上新。</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8"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9" name="组合 68"/>
            <p:cNvGrpSpPr/>
            <p:nvPr/>
          </p:nvGrpSpPr>
          <p:grpSpPr>
            <a:xfrm>
              <a:off x="5764508" y="3980237"/>
              <a:ext cx="2071603" cy="1635541"/>
              <a:chOff x="843029" y="3739846"/>
              <a:chExt cx="2071603" cy="1635541"/>
            </a:xfrm>
          </p:grpSpPr>
          <p:sp>
            <p:nvSpPr>
              <p:cNvPr id="70" name="文本框 23"/>
              <p:cNvSpPr txBox="1"/>
              <p:nvPr/>
            </p:nvSpPr>
            <p:spPr>
              <a:xfrm>
                <a:off x="843029" y="4345962"/>
                <a:ext cx="194467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低算力终端适配难</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1" name="文本框 24"/>
              <p:cNvSpPr txBox="1"/>
              <p:nvPr/>
            </p:nvSpPr>
            <p:spPr>
              <a:xfrm>
                <a:off x="843029" y="4653271"/>
                <a:ext cx="2071603"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零售自助终端多为低算力设备，参数量超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50M</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的识别模型无法流畅运行，帧率不足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15fps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2"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3" name="组合 72"/>
            <p:cNvGrpSpPr/>
            <p:nvPr/>
          </p:nvGrpSpPr>
          <p:grpSpPr>
            <a:xfrm>
              <a:off x="7987488" y="3980237"/>
              <a:ext cx="2185781" cy="1846892"/>
              <a:chOff x="843029" y="3739846"/>
              <a:chExt cx="2185781" cy="1846892"/>
            </a:xfrm>
          </p:grpSpPr>
          <p:sp>
            <p:nvSpPr>
              <p:cNvPr id="74" name="文本框 23"/>
              <p:cNvSpPr txBox="1"/>
              <p:nvPr/>
            </p:nvSpPr>
            <p:spPr>
              <a:xfrm>
                <a:off x="843029" y="4345962"/>
                <a:ext cx="204245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局部特征干扰严重</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5" name="文本框 24"/>
              <p:cNvSpPr txBox="1"/>
              <p:nvPr/>
            </p:nvSpPr>
            <p:spPr>
              <a:xfrm>
                <a:off x="843029" y="4653271"/>
                <a:ext cx="2185781"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商品标签等局部干扰元素，导致算法误将同类不同规格商品（如</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500ml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饮料）混淆，误识率超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12%</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6"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07</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7" name="组合 76"/>
            <p:cNvGrpSpPr/>
            <p:nvPr/>
          </p:nvGrpSpPr>
          <p:grpSpPr>
            <a:xfrm>
              <a:off x="2383901" y="1208298"/>
              <a:ext cx="2120797" cy="1772086"/>
              <a:chOff x="2383901" y="1208298"/>
              <a:chExt cx="2120797" cy="1772086"/>
            </a:xfrm>
          </p:grpSpPr>
          <p:sp>
            <p:nvSpPr>
              <p:cNvPr id="78" name="文本框 23"/>
              <p:cNvSpPr txBox="1"/>
              <p:nvPr/>
            </p:nvSpPr>
            <p:spPr>
              <a:xfrm>
                <a:off x="2389970" y="2008766"/>
                <a:ext cx="1749718"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光照变化鲁棒性差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9"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0" name="文本框 24"/>
              <p:cNvSpPr txBox="1"/>
              <p:nvPr/>
            </p:nvSpPr>
            <p:spPr>
              <a:xfrm>
                <a:off x="2383901" y="1208298"/>
                <a:ext cx="2120797" cy="800461"/>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超市货架区域光照波动时，算法识别误差上升</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15%-20%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，易出现商品误判。</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1" name="组合 80"/>
            <p:cNvGrpSpPr/>
            <p:nvPr/>
          </p:nvGrpSpPr>
          <p:grpSpPr>
            <a:xfrm>
              <a:off x="4646430" y="965876"/>
              <a:ext cx="2074032" cy="2014508"/>
              <a:chOff x="2499293" y="965876"/>
              <a:chExt cx="2074032" cy="2014508"/>
            </a:xfrm>
          </p:grpSpPr>
          <p:sp>
            <p:nvSpPr>
              <p:cNvPr id="82" name="文本框 23"/>
              <p:cNvSpPr txBox="1"/>
              <p:nvPr/>
            </p:nvSpPr>
            <p:spPr>
              <a:xfrm>
                <a:off x="2511440" y="2020913"/>
                <a:ext cx="183413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实时识别速度不足</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3"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4" name="文本框 24"/>
              <p:cNvSpPr txBox="1"/>
              <p:nvPr/>
            </p:nvSpPr>
            <p:spPr>
              <a:xfrm>
                <a:off x="2499293" y="965876"/>
                <a:ext cx="2074032" cy="1042179"/>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自助结算场景需每秒识别</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件商品，现有算法单帧推理耗时超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100ms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，导致结算排队拥堵。</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5" name="组合 84"/>
            <p:cNvGrpSpPr/>
            <p:nvPr/>
          </p:nvGrpSpPr>
          <p:grpSpPr>
            <a:xfrm>
              <a:off x="6805714" y="963797"/>
              <a:ext cx="1964106" cy="2016587"/>
              <a:chOff x="2511440" y="963797"/>
              <a:chExt cx="1964106" cy="2016587"/>
            </a:xfrm>
          </p:grpSpPr>
          <p:sp>
            <p:nvSpPr>
              <p:cNvPr id="86" name="文本框 23"/>
              <p:cNvSpPr txBox="1"/>
              <p:nvPr/>
            </p:nvSpPr>
            <p:spPr>
              <a:xfrm>
                <a:off x="2511441"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旧品包装适配差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7"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rPr>
                  <a:t>06</a:t>
                </a:r>
                <a:endParaRPr lang="zh-CN" altLang="en-US"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8" name="文本框 24"/>
              <p:cNvSpPr txBox="1"/>
              <p:nvPr/>
            </p:nvSpPr>
            <p:spPr>
              <a:xfrm>
                <a:off x="2511440" y="963797"/>
                <a:ext cx="19641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部分商品包装磨损、标签褪色，算法依赖清晰包装特征，对旧品识别率较新品低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25%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9" name="组合 88"/>
            <p:cNvGrpSpPr/>
            <p:nvPr/>
          </p:nvGrpSpPr>
          <p:grpSpPr>
            <a:xfrm>
              <a:off x="8856286" y="972566"/>
              <a:ext cx="2135980" cy="2007818"/>
              <a:chOff x="2414875" y="972566"/>
              <a:chExt cx="2135980" cy="2007818"/>
            </a:xfrm>
          </p:grpSpPr>
          <p:sp>
            <p:nvSpPr>
              <p:cNvPr id="90" name="文本框 23"/>
              <p:cNvSpPr txBox="1"/>
              <p:nvPr/>
            </p:nvSpPr>
            <p:spPr>
              <a:xfrm>
                <a:off x="2426412"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多视角识别失衡</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1"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08</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2" name="文本框 24"/>
              <p:cNvSpPr txBox="1"/>
              <p:nvPr/>
            </p:nvSpPr>
            <p:spPr>
              <a:xfrm>
                <a:off x="2414875" y="972566"/>
                <a:ext cx="2135980"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多视角拍摄场景下，算法对非正视角商品的识别率下降</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，难以覆盖全场景盘点需求。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幼儿园大班科学区角材料层次性投放的实践研究</a:t>
            </a:r>
            <a:r>
              <a:rPr lang="zh-CN" altLang="en-US"/>
              <a:t>背景</a:t>
            </a:r>
            <a:endParaRPr lang="zh-CN" altLang="en-US"/>
          </a:p>
        </p:txBody>
      </p:sp>
      <p:sp>
        <p:nvSpPr>
          <p:cNvPr id="3" name="等腰三角形 2"/>
          <p:cNvSpPr/>
          <p:nvPr/>
        </p:nvSpPr>
        <p:spPr>
          <a:xfrm rot="16200000" flipH="1">
            <a:off x="5726204"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等腰三角形 3"/>
          <p:cNvSpPr/>
          <p:nvPr/>
        </p:nvSpPr>
        <p:spPr>
          <a:xfrm rot="5400000">
            <a:off x="2070538"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椭圆 4"/>
          <p:cNvSpPr/>
          <p:nvPr/>
        </p:nvSpPr>
        <p:spPr>
          <a:xfrm>
            <a:off x="4981575" y="2604463"/>
            <a:ext cx="2228850" cy="22288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user_209046"/>
          <p:cNvSpPr/>
          <p:nvPr/>
        </p:nvSpPr>
        <p:spPr>
          <a:xfrm>
            <a:off x="5753099" y="3085363"/>
            <a:ext cx="819152" cy="73867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5320030" y="3921760"/>
            <a:ext cx="1547495" cy="430530"/>
          </a:xfrm>
          <a:prstGeom prst="rect">
            <a:avLst/>
          </a:prstGeom>
          <a:noFill/>
        </p:spPr>
        <p:txBody>
          <a:bodyPr wrap="square" lIns="0" tIns="0" rIns="0" bIns="0" rtlCol="0" anchor="t">
            <a:spAutoFit/>
          </a:bodyPr>
          <a:lstStyle/>
          <a:p>
            <a:pPr algn="ctr"/>
            <a:r>
              <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研究背景</a:t>
            </a:r>
            <a:endPar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8" name="组合 7"/>
          <p:cNvGrpSpPr/>
          <p:nvPr/>
        </p:nvGrpSpPr>
        <p:grpSpPr>
          <a:xfrm>
            <a:off x="1802724" y="3330166"/>
            <a:ext cx="2465443" cy="1731884"/>
            <a:chOff x="1902535" y="2223785"/>
            <a:chExt cx="2465443" cy="1731884"/>
          </a:xfrm>
        </p:grpSpPr>
        <p:sp>
          <p:nvSpPr>
            <p:cNvPr id="9" name="梯形 8"/>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nvSpPr>
          <p:spPr>
            <a:xfrm>
              <a:off x="2218953" y="2223785"/>
              <a:ext cx="1832610"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政策实践脱节</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文本框 10"/>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3-6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岁儿童学习与发展指南》强调科学区角需支持幼儿探究，</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 but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多数幼儿园科学区角材料投放无层次，未结合幼儿能力梯度设计，难以适配不同能力幼儿的探究需求。</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12" name="组合 11"/>
          <p:cNvGrpSpPr/>
          <p:nvPr/>
        </p:nvGrpSpPr>
        <p:grpSpPr>
          <a:xfrm>
            <a:off x="7944814" y="3330166"/>
            <a:ext cx="2465443" cy="1731884"/>
            <a:chOff x="1902535" y="2223785"/>
            <a:chExt cx="2465443" cy="1731884"/>
          </a:xfrm>
        </p:grpSpPr>
        <p:sp>
          <p:nvSpPr>
            <p:cNvPr id="13" name="梯形 12"/>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文本框 13"/>
            <p:cNvSpPr txBox="1"/>
            <p:nvPr/>
          </p:nvSpPr>
          <p:spPr>
            <a:xfrm>
              <a:off x="2066236" y="2223785"/>
              <a:ext cx="2138045"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幼儿材料不匹配</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大班幼儿科学探究能力已出现明显差异，现有无层次的科学材料，既无法满足能力强幼儿的深度探究，也易让能力弱幼儿丧失兴趣，无法提供阶梯式探究支持。</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6" name="椭圆 15"/>
          <p:cNvSpPr/>
          <p:nvPr/>
        </p:nvSpPr>
        <p:spPr>
          <a:xfrm>
            <a:off x="4722469" y="2327672"/>
            <a:ext cx="2811042" cy="2811042"/>
          </a:xfrm>
          <a:prstGeom prst="ellipse">
            <a:avLst/>
          </a:pr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rot="5400000">
            <a:off x="4538445" y="3510780"/>
            <a:ext cx="352390" cy="352390"/>
            <a:chOff x="5852160" y="2613660"/>
            <a:chExt cx="487680" cy="487680"/>
          </a:xfrm>
        </p:grpSpPr>
        <p:sp>
          <p:nvSpPr>
            <p:cNvPr id="18" name="椭圆 17"/>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rot="16200000" flipH="1">
            <a:off x="7356961" y="3510780"/>
            <a:ext cx="352390" cy="352390"/>
            <a:chOff x="5852160" y="2613660"/>
            <a:chExt cx="487680" cy="487680"/>
          </a:xfrm>
        </p:grpSpPr>
        <p:sp>
          <p:nvSpPr>
            <p:cNvPr id="21" name="椭圆 20"/>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en-US"/>
              <a:t>COPD</a:t>
            </a:r>
            <a:r>
              <a:rPr lang="zh-CN" altLang="en-US"/>
              <a:t>患者氧疗依从性影响因素与干预研究</a:t>
            </a:r>
            <a:r>
              <a:rPr lang="zh-CN" altLang="en-US"/>
              <a:t>背景</a:t>
            </a:r>
            <a:endParaRPr lang="zh-CN" altLang="en-US"/>
          </a:p>
        </p:txBody>
      </p:sp>
      <p:grpSp>
        <p:nvGrpSpPr>
          <p:cNvPr id="3" name="Group 3"/>
          <p:cNvGrpSpPr/>
          <p:nvPr/>
        </p:nvGrpSpPr>
        <p:grpSpPr>
          <a:xfrm>
            <a:off x="4474260" y="5224133"/>
            <a:ext cx="3042014" cy="515654"/>
            <a:chOff x="4243804" y="5106300"/>
            <a:chExt cx="3538929" cy="599885"/>
          </a:xfrm>
        </p:grpSpPr>
        <p:grpSp>
          <p:nvGrpSpPr>
            <p:cNvPr id="4" name="Group 2"/>
            <p:cNvGrpSpPr/>
            <p:nvPr/>
          </p:nvGrpSpPr>
          <p:grpSpPr>
            <a:xfrm>
              <a:off x="4243804" y="5106300"/>
              <a:ext cx="3538929" cy="599885"/>
              <a:chOff x="4243804" y="5106300"/>
              <a:chExt cx="3538929" cy="599885"/>
            </a:xfrm>
          </p:grpSpPr>
          <p:sp>
            <p:nvSpPr>
              <p:cNvPr id="10" name="ïşḻïďê-Oval 85"/>
              <p:cNvSpPr/>
              <p:nvPr/>
            </p:nvSpPr>
            <p:spPr>
              <a:xfrm>
                <a:off x="4243804" y="5106300"/>
                <a:ext cx="599885" cy="599885"/>
              </a:xfrm>
              <a:prstGeom prst="ellipse">
                <a:avLst/>
              </a:prstGeom>
              <a:solidFill>
                <a:schemeClr val="accent4"/>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ïşḻïďê-Oval 73"/>
              <p:cNvSpPr/>
              <p:nvPr/>
            </p:nvSpPr>
            <p:spPr>
              <a:xfrm>
                <a:off x="4979185" y="5106300"/>
                <a:ext cx="599885" cy="599885"/>
              </a:xfrm>
              <a:prstGeom prst="ellipse">
                <a:avLst/>
              </a:prstGeom>
              <a:solidFill>
                <a:schemeClr val="accent5"/>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ïşḻïďê-Oval 65"/>
              <p:cNvSpPr/>
              <p:nvPr/>
            </p:nvSpPr>
            <p:spPr>
              <a:xfrm>
                <a:off x="5714567" y="5106300"/>
                <a:ext cx="599885" cy="599885"/>
              </a:xfrm>
              <a:prstGeom prst="ellipse">
                <a:avLst/>
              </a:prstGeom>
              <a:solidFill>
                <a:schemeClr val="accent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ïşḻïďê-Oval 63"/>
              <p:cNvSpPr/>
              <p:nvPr/>
            </p:nvSpPr>
            <p:spPr>
              <a:xfrm>
                <a:off x="6449948" y="5106300"/>
                <a:ext cx="599885" cy="599885"/>
              </a:xfrm>
              <a:prstGeom prst="ellipse">
                <a:avLst/>
              </a:prstGeom>
              <a:solidFill>
                <a:schemeClr val="accent3"/>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ïşḻïďê-Oval 50"/>
              <p:cNvSpPr/>
              <p:nvPr/>
            </p:nvSpPr>
            <p:spPr>
              <a:xfrm>
                <a:off x="7182848" y="5106300"/>
                <a:ext cx="599885" cy="599885"/>
              </a:xfrm>
              <a:prstGeom prst="ellipse">
                <a:avLst/>
              </a:prstGeom>
              <a:solidFill>
                <a:schemeClr val="bg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 name="ïşḻïďê-Freeform: Shape 138"/>
            <p:cNvSpPr/>
            <p:nvPr/>
          </p:nvSpPr>
          <p:spPr bwMode="auto">
            <a:xfrm>
              <a:off x="5140643" y="5248046"/>
              <a:ext cx="316393" cy="3163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6" name="ïşḻïďê-Freeform: Shape 139"/>
            <p:cNvSpPr/>
            <p:nvPr/>
          </p:nvSpPr>
          <p:spPr bwMode="auto">
            <a:xfrm>
              <a:off x="4395308" y="5248046"/>
              <a:ext cx="316393" cy="316393"/>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7" name="ïşḻïďê-Freeform: Shape 140"/>
            <p:cNvSpPr/>
            <p:nvPr/>
          </p:nvSpPr>
          <p:spPr bwMode="auto">
            <a:xfrm>
              <a:off x="5879976" y="5248046"/>
              <a:ext cx="316393" cy="316393"/>
            </a:xfrm>
            <a:custGeom>
              <a:avLst/>
              <a:gdLst>
                <a:gd name="T0" fmla="*/ 74 w 236"/>
                <a:gd name="T1" fmla="*/ 160 h 236"/>
                <a:gd name="T2" fmla="*/ 93 w 236"/>
                <a:gd name="T3" fmla="*/ 160 h 236"/>
                <a:gd name="T4" fmla="*/ 93 w 236"/>
                <a:gd name="T5" fmla="*/ 103 h 236"/>
                <a:gd name="T6" fmla="*/ 74 w 236"/>
                <a:gd name="T7" fmla="*/ 103 h 236"/>
                <a:gd name="T8" fmla="*/ 74 w 236"/>
                <a:gd name="T9" fmla="*/ 160 h 236"/>
                <a:gd name="T10" fmla="*/ 140 w 236"/>
                <a:gd name="T11" fmla="*/ 102 h 236"/>
                <a:gd name="T12" fmla="*/ 122 w 236"/>
                <a:gd name="T13" fmla="*/ 111 h 236"/>
                <a:gd name="T14" fmla="*/ 122 w 236"/>
                <a:gd name="T15" fmla="*/ 103 h 236"/>
                <a:gd name="T16" fmla="*/ 103 w 236"/>
                <a:gd name="T17" fmla="*/ 103 h 236"/>
                <a:gd name="T18" fmla="*/ 103 w 236"/>
                <a:gd name="T19" fmla="*/ 160 h 236"/>
                <a:gd name="T20" fmla="*/ 122 w 236"/>
                <a:gd name="T21" fmla="*/ 160 h 236"/>
                <a:gd name="T22" fmla="*/ 122 w 236"/>
                <a:gd name="T23" fmla="*/ 128 h 236"/>
                <a:gd name="T24" fmla="*/ 123 w 236"/>
                <a:gd name="T25" fmla="*/ 124 h 236"/>
                <a:gd name="T26" fmla="*/ 133 w 236"/>
                <a:gd name="T27" fmla="*/ 117 h 236"/>
                <a:gd name="T28" fmla="*/ 142 w 236"/>
                <a:gd name="T29" fmla="*/ 130 h 236"/>
                <a:gd name="T30" fmla="*/ 142 w 236"/>
                <a:gd name="T31" fmla="*/ 160 h 236"/>
                <a:gd name="T32" fmla="*/ 161 w 236"/>
                <a:gd name="T33" fmla="*/ 160 h 236"/>
                <a:gd name="T34" fmla="*/ 161 w 236"/>
                <a:gd name="T35" fmla="*/ 160 h 236"/>
                <a:gd name="T36" fmla="*/ 161 w 236"/>
                <a:gd name="T37" fmla="*/ 127 h 236"/>
                <a:gd name="T38" fmla="*/ 140 w 236"/>
                <a:gd name="T39" fmla="*/ 102 h 236"/>
                <a:gd name="T40" fmla="*/ 122 w 236"/>
                <a:gd name="T41" fmla="*/ 111 h 236"/>
                <a:gd name="T42" fmla="*/ 122 w 236"/>
                <a:gd name="T43" fmla="*/ 111 h 236"/>
                <a:gd name="T44" fmla="*/ 122 w 236"/>
                <a:gd name="T45" fmla="*/ 111 h 236"/>
                <a:gd name="T46" fmla="*/ 83 w 236"/>
                <a:gd name="T47" fmla="*/ 75 h 236"/>
                <a:gd name="T48" fmla="*/ 73 w 236"/>
                <a:gd name="T49" fmla="*/ 85 h 236"/>
                <a:gd name="T50" fmla="*/ 83 w 236"/>
                <a:gd name="T51" fmla="*/ 95 h 236"/>
                <a:gd name="T52" fmla="*/ 83 w 236"/>
                <a:gd name="T53" fmla="*/ 95 h 236"/>
                <a:gd name="T54" fmla="*/ 94 w 236"/>
                <a:gd name="T55" fmla="*/ 85 h 236"/>
                <a:gd name="T56" fmla="*/ 83 w 236"/>
                <a:gd name="T57" fmla="*/ 75 h 236"/>
                <a:gd name="T58" fmla="*/ 118 w 236"/>
                <a:gd name="T59" fmla="*/ 0 h 236"/>
                <a:gd name="T60" fmla="*/ 0 w 236"/>
                <a:gd name="T61" fmla="*/ 118 h 236"/>
                <a:gd name="T62" fmla="*/ 118 w 236"/>
                <a:gd name="T63" fmla="*/ 236 h 236"/>
                <a:gd name="T64" fmla="*/ 236 w 236"/>
                <a:gd name="T65" fmla="*/ 118 h 236"/>
                <a:gd name="T66" fmla="*/ 118 w 236"/>
                <a:gd name="T67" fmla="*/ 0 h 236"/>
                <a:gd name="T68" fmla="*/ 181 w 236"/>
                <a:gd name="T69" fmla="*/ 172 h 236"/>
                <a:gd name="T70" fmla="*/ 171 w 236"/>
                <a:gd name="T71" fmla="*/ 181 h 236"/>
                <a:gd name="T72" fmla="*/ 64 w 236"/>
                <a:gd name="T73" fmla="*/ 181 h 236"/>
                <a:gd name="T74" fmla="*/ 55 w 236"/>
                <a:gd name="T75" fmla="*/ 172 h 236"/>
                <a:gd name="T76" fmla="*/ 55 w 236"/>
                <a:gd name="T77" fmla="*/ 63 h 236"/>
                <a:gd name="T78" fmla="*/ 64 w 236"/>
                <a:gd name="T79" fmla="*/ 54 h 236"/>
                <a:gd name="T80" fmla="*/ 171 w 236"/>
                <a:gd name="T81" fmla="*/ 54 h 236"/>
                <a:gd name="T82" fmla="*/ 181 w 236"/>
                <a:gd name="T83" fmla="*/ 63 h 236"/>
                <a:gd name="T84" fmla="*/ 181 w 236"/>
                <a:gd name="T85"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 h="236">
                  <a:moveTo>
                    <a:pt x="74" y="160"/>
                  </a:moveTo>
                  <a:cubicBezTo>
                    <a:pt x="93" y="160"/>
                    <a:pt x="93" y="160"/>
                    <a:pt x="93" y="160"/>
                  </a:cubicBezTo>
                  <a:cubicBezTo>
                    <a:pt x="93" y="103"/>
                    <a:pt x="93" y="103"/>
                    <a:pt x="93" y="103"/>
                  </a:cubicBezTo>
                  <a:cubicBezTo>
                    <a:pt x="74" y="103"/>
                    <a:pt x="74" y="103"/>
                    <a:pt x="74" y="103"/>
                  </a:cubicBezTo>
                  <a:lnTo>
                    <a:pt x="74" y="160"/>
                  </a:lnTo>
                  <a:close/>
                  <a:moveTo>
                    <a:pt x="140" y="102"/>
                  </a:moveTo>
                  <a:cubicBezTo>
                    <a:pt x="129" y="102"/>
                    <a:pt x="125" y="107"/>
                    <a:pt x="122" y="111"/>
                  </a:cubicBezTo>
                  <a:cubicBezTo>
                    <a:pt x="122" y="103"/>
                    <a:pt x="122" y="103"/>
                    <a:pt x="122" y="103"/>
                  </a:cubicBezTo>
                  <a:cubicBezTo>
                    <a:pt x="103" y="103"/>
                    <a:pt x="103" y="103"/>
                    <a:pt x="103" y="103"/>
                  </a:cubicBezTo>
                  <a:cubicBezTo>
                    <a:pt x="104" y="108"/>
                    <a:pt x="103" y="160"/>
                    <a:pt x="103" y="160"/>
                  </a:cubicBezTo>
                  <a:cubicBezTo>
                    <a:pt x="122" y="160"/>
                    <a:pt x="122" y="160"/>
                    <a:pt x="122" y="160"/>
                  </a:cubicBezTo>
                  <a:cubicBezTo>
                    <a:pt x="122" y="128"/>
                    <a:pt x="122" y="128"/>
                    <a:pt x="122" y="128"/>
                  </a:cubicBezTo>
                  <a:cubicBezTo>
                    <a:pt x="122" y="127"/>
                    <a:pt x="123" y="125"/>
                    <a:pt x="123" y="124"/>
                  </a:cubicBezTo>
                  <a:cubicBezTo>
                    <a:pt x="124" y="120"/>
                    <a:pt x="128" y="117"/>
                    <a:pt x="133" y="117"/>
                  </a:cubicBezTo>
                  <a:cubicBezTo>
                    <a:pt x="140" y="117"/>
                    <a:pt x="142" y="122"/>
                    <a:pt x="142" y="130"/>
                  </a:cubicBezTo>
                  <a:cubicBezTo>
                    <a:pt x="142" y="160"/>
                    <a:pt x="142" y="160"/>
                    <a:pt x="142" y="160"/>
                  </a:cubicBezTo>
                  <a:cubicBezTo>
                    <a:pt x="161" y="160"/>
                    <a:pt x="161" y="160"/>
                    <a:pt x="161" y="160"/>
                  </a:cubicBezTo>
                  <a:cubicBezTo>
                    <a:pt x="161" y="160"/>
                    <a:pt x="161" y="160"/>
                    <a:pt x="161" y="160"/>
                  </a:cubicBezTo>
                  <a:cubicBezTo>
                    <a:pt x="161" y="127"/>
                    <a:pt x="161" y="127"/>
                    <a:pt x="161" y="127"/>
                  </a:cubicBezTo>
                  <a:cubicBezTo>
                    <a:pt x="161" y="110"/>
                    <a:pt x="152" y="102"/>
                    <a:pt x="140" y="102"/>
                  </a:cubicBezTo>
                  <a:close/>
                  <a:moveTo>
                    <a:pt x="122" y="111"/>
                  </a:moveTo>
                  <a:cubicBezTo>
                    <a:pt x="122" y="111"/>
                    <a:pt x="122" y="111"/>
                    <a:pt x="122" y="111"/>
                  </a:cubicBezTo>
                  <a:cubicBezTo>
                    <a:pt x="122" y="111"/>
                    <a:pt x="122" y="111"/>
                    <a:pt x="122" y="111"/>
                  </a:cubicBezTo>
                  <a:close/>
                  <a:moveTo>
                    <a:pt x="83" y="75"/>
                  </a:moveTo>
                  <a:cubicBezTo>
                    <a:pt x="77" y="75"/>
                    <a:pt x="73" y="80"/>
                    <a:pt x="73" y="85"/>
                  </a:cubicBezTo>
                  <a:cubicBezTo>
                    <a:pt x="73" y="91"/>
                    <a:pt x="77" y="95"/>
                    <a:pt x="83" y="95"/>
                  </a:cubicBezTo>
                  <a:cubicBezTo>
                    <a:pt x="83" y="95"/>
                    <a:pt x="83" y="95"/>
                    <a:pt x="83" y="95"/>
                  </a:cubicBezTo>
                  <a:cubicBezTo>
                    <a:pt x="90" y="95"/>
                    <a:pt x="94" y="91"/>
                    <a:pt x="94" y="85"/>
                  </a:cubicBezTo>
                  <a:cubicBezTo>
                    <a:pt x="94" y="80"/>
                    <a:pt x="90" y="75"/>
                    <a:pt x="83" y="75"/>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1" y="172"/>
                  </a:moveTo>
                  <a:cubicBezTo>
                    <a:pt x="181" y="177"/>
                    <a:pt x="176" y="181"/>
                    <a:pt x="171" y="181"/>
                  </a:cubicBezTo>
                  <a:cubicBezTo>
                    <a:pt x="64" y="181"/>
                    <a:pt x="64" y="181"/>
                    <a:pt x="64" y="181"/>
                  </a:cubicBezTo>
                  <a:cubicBezTo>
                    <a:pt x="59" y="181"/>
                    <a:pt x="55" y="177"/>
                    <a:pt x="55" y="172"/>
                  </a:cubicBezTo>
                  <a:cubicBezTo>
                    <a:pt x="55" y="63"/>
                    <a:pt x="55" y="63"/>
                    <a:pt x="55" y="63"/>
                  </a:cubicBezTo>
                  <a:cubicBezTo>
                    <a:pt x="55" y="58"/>
                    <a:pt x="59" y="54"/>
                    <a:pt x="64" y="54"/>
                  </a:cubicBezTo>
                  <a:cubicBezTo>
                    <a:pt x="171" y="54"/>
                    <a:pt x="171" y="54"/>
                    <a:pt x="171" y="54"/>
                  </a:cubicBezTo>
                  <a:cubicBezTo>
                    <a:pt x="176" y="54"/>
                    <a:pt x="181" y="58"/>
                    <a:pt x="181" y="63"/>
                  </a:cubicBezTo>
                  <a:cubicBezTo>
                    <a:pt x="181" y="172"/>
                    <a:pt x="181" y="172"/>
                    <a:pt x="181" y="17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8" name="ïşḻïďê-Freeform: Shape 142"/>
            <p:cNvSpPr/>
            <p:nvPr/>
          </p:nvSpPr>
          <p:spPr bwMode="auto">
            <a:xfrm>
              <a:off x="7324593" y="5248046"/>
              <a:ext cx="316393" cy="31639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9" name="îṣļîḑé-Freeform: Shape 143"/>
            <p:cNvSpPr/>
            <p:nvPr/>
          </p:nvSpPr>
          <p:spPr bwMode="auto">
            <a:xfrm>
              <a:off x="6591693" y="5248046"/>
              <a:ext cx="316393" cy="316393"/>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grpSp>
        <p:nvGrpSpPr>
          <p:cNvPr id="15" name="Group 1"/>
          <p:cNvGrpSpPr/>
          <p:nvPr/>
        </p:nvGrpSpPr>
        <p:grpSpPr>
          <a:xfrm>
            <a:off x="4681673" y="2218923"/>
            <a:ext cx="2792660" cy="2826553"/>
            <a:chOff x="1365304" y="1322527"/>
            <a:chExt cx="2604722" cy="2636334"/>
          </a:xfrm>
        </p:grpSpPr>
        <p:grpSp>
          <p:nvGrpSpPr>
            <p:cNvPr id="16" name="Group 99"/>
            <p:cNvGrpSpPr/>
            <p:nvPr/>
          </p:nvGrpSpPr>
          <p:grpSpPr>
            <a:xfrm>
              <a:off x="1365304" y="1322527"/>
              <a:ext cx="2604722" cy="2636334"/>
              <a:chOff x="4951411" y="1311276"/>
              <a:chExt cx="4184652" cy="4235449"/>
            </a:xfrm>
          </p:grpSpPr>
          <p:sp>
            <p:nvSpPr>
              <p:cNvPr id="19" name="îṣļîḑé-Straight Connector 100"/>
              <p:cNvSpPr/>
              <p:nvPr/>
            </p:nvSpPr>
            <p:spPr bwMode="auto">
              <a:xfrm flipH="1" flipV="1">
                <a:off x="6943725" y="1311276"/>
                <a:ext cx="1130300" cy="2667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îṣļîḑé-Freeform: Shape 101"/>
              <p:cNvSpPr/>
              <p:nvPr/>
            </p:nvSpPr>
            <p:spPr bwMode="auto">
              <a:xfrm>
                <a:off x="8074025" y="1577976"/>
                <a:ext cx="1062038" cy="1800225"/>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îṣļîḑé-Freeform: Shape 102"/>
              <p:cNvSpPr/>
              <p:nvPr/>
            </p:nvSpPr>
            <p:spPr bwMode="auto">
              <a:xfrm>
                <a:off x="6048374" y="3378201"/>
                <a:ext cx="3087688" cy="2168524"/>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îṣļîḑé-Straight Connector 103"/>
              <p:cNvSpPr/>
              <p:nvPr/>
            </p:nvSpPr>
            <p:spPr bwMode="auto">
              <a:xfrm>
                <a:off x="5118100" y="4216401"/>
                <a:ext cx="930275" cy="1187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3" name="îṣļîḑé-Freeform: Shape 104"/>
              <p:cNvSpPr/>
              <p:nvPr/>
            </p:nvSpPr>
            <p:spPr bwMode="auto">
              <a:xfrm>
                <a:off x="4951411" y="2489105"/>
                <a:ext cx="166691" cy="1727299"/>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4" name="îṣļîḑé-Straight Connector 105"/>
              <p:cNvSpPr/>
              <p:nvPr/>
            </p:nvSpPr>
            <p:spPr bwMode="auto">
              <a:xfrm flipH="1">
                <a:off x="5918200" y="1311276"/>
                <a:ext cx="1025525" cy="3476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5" name="îṣļîḑé-Freeform: Shape 106"/>
              <p:cNvSpPr/>
              <p:nvPr/>
            </p:nvSpPr>
            <p:spPr bwMode="auto">
              <a:xfrm>
                <a:off x="5919695" y="1547849"/>
                <a:ext cx="2159653" cy="120556"/>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6" name="îṣļîḑé-Freeform: Shape 107"/>
              <p:cNvSpPr/>
              <p:nvPr/>
            </p:nvSpPr>
            <p:spPr bwMode="auto">
              <a:xfrm>
                <a:off x="5765799" y="3549651"/>
                <a:ext cx="282575" cy="1854200"/>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7" name="îṣļîḑé-Freeform: Shape 108"/>
              <p:cNvSpPr/>
              <p:nvPr/>
            </p:nvSpPr>
            <p:spPr bwMode="auto">
              <a:xfrm>
                <a:off x="5765799" y="1666876"/>
                <a:ext cx="209550" cy="188277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ysClr val="window" lastClr="FFFFFF">
                    <a:lumMod val="65000"/>
                    <a:alpha val="54000"/>
                  </a:sys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8" name="îṣļîḑé-Freeform: Shape 109"/>
              <p:cNvSpPr/>
              <p:nvPr/>
            </p:nvSpPr>
            <p:spPr bwMode="auto">
              <a:xfrm>
                <a:off x="6889749" y="4346575"/>
                <a:ext cx="476270" cy="1200150"/>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9" name="îṣļîḑé-Freeform: Shape 110"/>
              <p:cNvSpPr/>
              <p:nvPr/>
            </p:nvSpPr>
            <p:spPr bwMode="auto">
              <a:xfrm>
                <a:off x="6889750" y="1557339"/>
                <a:ext cx="523875" cy="27892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0" name="îṣļîḑé-Straight Connector 111"/>
              <p:cNvSpPr/>
              <p:nvPr/>
            </p:nvSpPr>
            <p:spPr bwMode="auto">
              <a:xfrm>
                <a:off x="6943725" y="1311276"/>
                <a:ext cx="28575" cy="2460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1" name="îṣļîḑé-Straight Connector 112"/>
              <p:cNvSpPr/>
              <p:nvPr/>
            </p:nvSpPr>
            <p:spPr bwMode="auto">
              <a:xfrm flipH="1">
                <a:off x="5033963" y="1657222"/>
                <a:ext cx="874730" cy="831979"/>
              </a:xfrm>
              <a:prstGeom prst="line">
                <a:avLst/>
              </a:pr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2" name="îṣļîḑé-Straight Connector 113"/>
              <p:cNvSpPr/>
              <p:nvPr/>
            </p:nvSpPr>
            <p:spPr bwMode="auto">
              <a:xfrm flipH="1" flipV="1">
                <a:off x="8888413" y="3265489"/>
                <a:ext cx="247650" cy="1127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3" name="îṣļîḑé-Straight Connector 114"/>
              <p:cNvSpPr/>
              <p:nvPr/>
            </p:nvSpPr>
            <p:spPr bwMode="auto">
              <a:xfrm flipH="1" flipV="1">
                <a:off x="8063440" y="1579414"/>
                <a:ext cx="282046" cy="73357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4" name="îṣļîḑé-Straight Connector 115"/>
              <p:cNvSpPr/>
              <p:nvPr/>
            </p:nvSpPr>
            <p:spPr bwMode="auto">
              <a:xfrm flipH="1" flipV="1">
                <a:off x="8345488" y="2312989"/>
                <a:ext cx="542925" cy="9525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5" name="îṣļîḑé-Straight Connector 116"/>
              <p:cNvSpPr/>
              <p:nvPr/>
            </p:nvSpPr>
            <p:spPr bwMode="auto">
              <a:xfrm flipH="1" flipV="1">
                <a:off x="8888413" y="3265489"/>
                <a:ext cx="23812" cy="1282699"/>
              </a:xfrm>
              <a:prstGeom prst="line">
                <a:avLst/>
              </a:pr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6" name="îṣļîḑé-Freeform: Shape 117"/>
              <p:cNvSpPr/>
              <p:nvPr/>
            </p:nvSpPr>
            <p:spPr bwMode="auto">
              <a:xfrm>
                <a:off x="6889750" y="4346576"/>
                <a:ext cx="2022475" cy="382588"/>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7" name="îṣļîḑé-Straight Connector 118"/>
              <p:cNvSpPr/>
              <p:nvPr/>
            </p:nvSpPr>
            <p:spPr bwMode="auto">
              <a:xfrm>
                <a:off x="5765800" y="3549651"/>
                <a:ext cx="1123950" cy="7969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8" name="îṣļîḑé-Straight Connector 119"/>
              <p:cNvSpPr/>
              <p:nvPr/>
            </p:nvSpPr>
            <p:spPr bwMode="auto">
              <a:xfrm>
                <a:off x="5033963" y="2489201"/>
                <a:ext cx="731838" cy="1060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9" name="îṣļîḑé-Straight Connector 120"/>
              <p:cNvSpPr/>
              <p:nvPr/>
            </p:nvSpPr>
            <p:spPr bwMode="auto">
              <a:xfrm flipH="1">
                <a:off x="5033963" y="2251076"/>
                <a:ext cx="941388" cy="2381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0" name="îṣļîḑé-Straight Connector 121"/>
              <p:cNvSpPr/>
              <p:nvPr/>
            </p:nvSpPr>
            <p:spPr bwMode="auto">
              <a:xfrm flipH="1">
                <a:off x="5975350" y="1557339"/>
                <a:ext cx="996950" cy="693738"/>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1" name="îṣļîḑé-Straight Connector 122"/>
              <p:cNvSpPr/>
              <p:nvPr/>
            </p:nvSpPr>
            <p:spPr bwMode="auto">
              <a:xfrm flipH="1" flipV="1">
                <a:off x="6972300" y="1557339"/>
                <a:ext cx="1373188" cy="7556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2" name="îṣļîḑé-Freeform: Shape 123"/>
              <p:cNvSpPr/>
              <p:nvPr/>
            </p:nvSpPr>
            <p:spPr bwMode="auto">
              <a:xfrm>
                <a:off x="8345488" y="2312989"/>
                <a:ext cx="666750" cy="928688"/>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3" name="îṣļîḑé-Freeform: Shape 124"/>
              <p:cNvSpPr/>
              <p:nvPr/>
            </p:nvSpPr>
            <p:spPr bwMode="auto">
              <a:xfrm>
                <a:off x="8320088" y="2312989"/>
                <a:ext cx="571500" cy="2416175"/>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4" name="îṣļîḑé-Straight Connector 125"/>
              <p:cNvSpPr/>
              <p:nvPr/>
            </p:nvSpPr>
            <p:spPr bwMode="auto">
              <a:xfrm flipV="1">
                <a:off x="7413625" y="2312989"/>
                <a:ext cx="931863" cy="298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5" name="îṣļîḑé-Straight Connector 126"/>
              <p:cNvSpPr/>
              <p:nvPr/>
            </p:nvSpPr>
            <p:spPr bwMode="auto">
              <a:xfrm flipV="1">
                <a:off x="5765800" y="2611439"/>
                <a:ext cx="1647825" cy="9509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îṣļîḑé-Freeform: Shape 127"/>
              <p:cNvSpPr/>
              <p:nvPr/>
            </p:nvSpPr>
            <p:spPr bwMode="auto">
              <a:xfrm>
                <a:off x="5118100" y="3562351"/>
                <a:ext cx="876300" cy="1244600"/>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7" name="îṣļîḑé-Straight Connector 128"/>
              <p:cNvSpPr/>
              <p:nvPr/>
            </p:nvSpPr>
            <p:spPr bwMode="auto">
              <a:xfrm flipH="1">
                <a:off x="5994400" y="4346576"/>
                <a:ext cx="895350" cy="46037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8" name="îṣļîḑé-Freeform: Shape 129"/>
              <p:cNvSpPr/>
              <p:nvPr/>
            </p:nvSpPr>
            <p:spPr bwMode="auto">
              <a:xfrm>
                <a:off x="6889750" y="3265488"/>
                <a:ext cx="1998663" cy="1081088"/>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9" name="îṣļîḑé-Freeform: Shape 130"/>
              <p:cNvSpPr/>
              <p:nvPr/>
            </p:nvSpPr>
            <p:spPr bwMode="auto">
              <a:xfrm>
                <a:off x="6064250" y="5224463"/>
                <a:ext cx="2043113" cy="184150"/>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0" name="îṣļîḑé-Freeform: Shape 131"/>
              <p:cNvSpPr/>
              <p:nvPr/>
            </p:nvSpPr>
            <p:spPr bwMode="auto">
              <a:xfrm>
                <a:off x="5994399" y="4729162"/>
                <a:ext cx="2338388" cy="555625"/>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1" name="îṣļîḑé-Straight Connector 132"/>
              <p:cNvSpPr/>
              <p:nvPr/>
            </p:nvSpPr>
            <p:spPr bwMode="auto">
              <a:xfrm>
                <a:off x="7413625" y="2611438"/>
                <a:ext cx="908050" cy="8763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îṣļîḑé-Straight Connector 133"/>
              <p:cNvSpPr/>
              <p:nvPr/>
            </p:nvSpPr>
            <p:spPr bwMode="auto">
              <a:xfrm>
                <a:off x="5975350" y="2251076"/>
                <a:ext cx="1438275" cy="3603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17" name="îṣļîḑé-Oval 98"/>
            <p:cNvSpPr/>
            <p:nvPr/>
          </p:nvSpPr>
          <p:spPr>
            <a:xfrm>
              <a:off x="1786997" y="1759244"/>
              <a:ext cx="1754054" cy="1754050"/>
            </a:xfrm>
            <a:prstGeom prst="ellipse">
              <a:avLst/>
            </a:prstGeom>
            <a:solidFill>
              <a:schemeClr val="accent1">
                <a:alpha val="86000"/>
              </a:schemeClr>
            </a:solidFill>
            <a:ln w="127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îṣļîḑé-TextBox 134"/>
            <p:cNvSpPr txBox="1"/>
            <p:nvPr/>
          </p:nvSpPr>
          <p:spPr bwMode="auto">
            <a:xfrm>
              <a:off x="2040643" y="2463380"/>
              <a:ext cx="1245594" cy="677441"/>
            </a:xfrm>
            <a:prstGeom prst="rect">
              <a:avLst/>
            </a:prstGeom>
            <a:noFill/>
            <a:scene3d>
              <a:camera prst="orthographicFront">
                <a:rot lat="0" lon="0" rev="0"/>
              </a:camera>
              <a:lightRig rig="threePt" dir="t"/>
            </a:scene3d>
            <a:sp3d prstMaterial="matte">
              <a:bevelT w="1270" h="1270"/>
            </a:sp3d>
          </p:spPr>
          <p:txBody>
            <a:bodyPr wrap="none" lIns="0" tIns="0" rIns="0" bIns="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
                  <a:prstClr val="white"/>
                </a:buClr>
                <a:buSzTx/>
                <a:buFontTx/>
                <a:buNone/>
                <a:defRPr/>
              </a:pPr>
              <a:r>
                <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rPr>
                <a:t>研究背景</a:t>
              </a:r>
              <a:endPar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3" name="îṣļîḑé-TextBox 80"/>
          <p:cNvSpPr txBox="1"/>
          <p:nvPr/>
        </p:nvSpPr>
        <p:spPr>
          <a:xfrm>
            <a:off x="8152812" y="2208264"/>
            <a:ext cx="2611177" cy="52266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社区卫生服务中心针对</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的指导多聚焦患者，针对照护者的氧疗专项培训覆盖率不足</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20%</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4" name="íślíḋè-Rectangle 81"/>
          <p:cNvSpPr/>
          <p:nvPr/>
        </p:nvSpPr>
        <p:spPr>
          <a:xfrm>
            <a:off x="8152812"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社区服务缺</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5" name="íślíḋè-TextBox 78"/>
          <p:cNvSpPr txBox="1"/>
          <p:nvPr/>
        </p:nvSpPr>
        <p:spPr>
          <a:xfrm>
            <a:off x="7899400" y="3531870"/>
            <a:ext cx="2864485" cy="52260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国家《</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十四五</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国民健康规划》明确要求加强慢性病居家照护，</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照护者氧疗指导需落地政策要求。</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6" name="íślíḋè-Rectangle 79"/>
          <p:cNvSpPr/>
          <p:nvPr/>
        </p:nvSpPr>
        <p:spPr>
          <a:xfrm>
            <a:off x="8152812"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政策有要求</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7" name="íślíḋè-TextBox 76"/>
          <p:cNvSpPr txBox="1"/>
          <p:nvPr/>
        </p:nvSpPr>
        <p:spPr>
          <a:xfrm>
            <a:off x="8152812" y="4856080"/>
            <a:ext cx="2611177" cy="719891"/>
          </a:xfrm>
          <a:prstGeom prst="rect">
            <a:avLst/>
          </a:prstGeom>
          <a:noFill/>
        </p:spPr>
        <p:txBody>
          <a:bodyPr wrap="squar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氧疗依从性差会使</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患者急性加重率升高</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35%</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，增加住院风险，加重家庭与医疗负担。</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íślíḋè-Rectangle 77"/>
          <p:cNvSpPr/>
          <p:nvPr/>
        </p:nvSpPr>
        <p:spPr>
          <a:xfrm>
            <a:off x="8152812"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患者结局差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59" name="íślíḋè-Straight Connector 70"/>
          <p:cNvCxnSpPr/>
          <p:nvPr/>
        </p:nvCxnSpPr>
        <p:spPr>
          <a:xfrm>
            <a:off x="8454262"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0" name="íślíḋè-Straight Connector 71"/>
          <p:cNvCxnSpPr/>
          <p:nvPr/>
        </p:nvCxnSpPr>
        <p:spPr>
          <a:xfrm>
            <a:off x="8454262"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
        <p:nvSpPr>
          <p:cNvPr id="61" name="íślíḋè-TextBox 90"/>
          <p:cNvSpPr txBox="1"/>
          <p:nvPr/>
        </p:nvSpPr>
        <p:spPr>
          <a:xfrm>
            <a:off x="1392008" y="2208264"/>
            <a:ext cx="2611177" cy="719890"/>
          </a:xfrm>
          <a:prstGeom prst="rect">
            <a:avLst/>
          </a:prstGeom>
          <a:noFill/>
        </p:spPr>
        <p:txBody>
          <a:bodyPr wrap="square" lIns="0" tIns="0" rIns="0" bIns="0">
            <a:normAutofit fontScale="7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我国</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1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亿，居家长期氧疗是延缓病情进展的核心干预手段，但患者氧疗依从性普遍不足</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2" name="íślíḋè-Rectangle 91"/>
          <p:cNvSpPr/>
          <p:nvPr/>
        </p:nvSpPr>
        <p:spPr>
          <a:xfrm>
            <a:off x="1392008"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疾病负担重</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3" name="íślíḋè-TextBox 88"/>
          <p:cNvSpPr txBox="1"/>
          <p:nvPr/>
        </p:nvSpPr>
        <p:spPr>
          <a:xfrm>
            <a:off x="1391920" y="3531870"/>
            <a:ext cx="2813685" cy="62547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患者氧疗操作（如设备调试、时长把控）多依赖照护者，其配合度直接影响氧疗执行效果。</a:t>
            </a:r>
            <a:endPar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íślíḋè-Rectangle 89"/>
          <p:cNvSpPr/>
          <p:nvPr/>
        </p:nvSpPr>
        <p:spPr>
          <a:xfrm>
            <a:off x="1392008"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照护角色关键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5" name="íślíḋè-TextBox 86"/>
          <p:cNvSpPr txBox="1"/>
          <p:nvPr/>
        </p:nvSpPr>
        <p:spPr>
          <a:xfrm>
            <a:off x="1392008" y="4856080"/>
            <a:ext cx="2611177" cy="719891"/>
          </a:xfrm>
          <a:prstGeom prst="rect">
            <a:avLst/>
          </a:prstGeom>
          <a:noFill/>
        </p:spPr>
        <p:txBody>
          <a:bodyPr wrap="square" lIns="0" tIns="0" rIns="0" bIns="0">
            <a:normAutofit fontScale="8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调研显示仅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家庭照护者知晓氧疗正确时长与注意事项，认知不足易导致操作偏差。</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6" name="íślíḋè-Rectangle 87"/>
          <p:cNvSpPr/>
          <p:nvPr/>
        </p:nvSpPr>
        <p:spPr>
          <a:xfrm>
            <a:off x="1392008"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照护者认知弱</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67" name="íślíḋè-Straight Connector 67"/>
          <p:cNvCxnSpPr/>
          <p:nvPr/>
        </p:nvCxnSpPr>
        <p:spPr>
          <a:xfrm>
            <a:off x="1289466"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8" name="íślíḋè-Straight Connector 68"/>
          <p:cNvCxnSpPr/>
          <p:nvPr/>
        </p:nvCxnSpPr>
        <p:spPr>
          <a:xfrm>
            <a:off x="1289466"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工业机器视觉表面缺陷检测的实时性优化研究</a:t>
            </a:r>
            <a:r>
              <a:rPr lang="zh-CN" altLang="en-US"/>
              <a:t>背景</a:t>
            </a:r>
            <a:endParaRPr lang="zh-CN" altLang="en-US"/>
          </a:p>
        </p:txBody>
      </p:sp>
      <p:grpSp>
        <p:nvGrpSpPr>
          <p:cNvPr id="3" name="组合 2"/>
          <p:cNvGrpSpPr/>
          <p:nvPr/>
        </p:nvGrpSpPr>
        <p:grpSpPr>
          <a:xfrm>
            <a:off x="1333500" y="1729184"/>
            <a:ext cx="9652000" cy="4393570"/>
            <a:chOff x="2477" y="3170"/>
            <a:chExt cx="14245" cy="6484"/>
          </a:xfrm>
        </p:grpSpPr>
        <p:grpSp>
          <p:nvGrpSpPr>
            <p:cNvPr id="4" name="组合 3"/>
            <p:cNvGrpSpPr/>
            <p:nvPr/>
          </p:nvGrpSpPr>
          <p:grpSpPr>
            <a:xfrm>
              <a:off x="10754" y="3170"/>
              <a:ext cx="5967" cy="1740"/>
              <a:chOff x="11347" y="3326"/>
              <a:chExt cx="5805" cy="1693"/>
            </a:xfrm>
          </p:grpSpPr>
          <p:sp>
            <p:nvSpPr>
              <p:cNvPr id="25" name="Rectangle 60"/>
              <p:cNvSpPr/>
              <p:nvPr/>
            </p:nvSpPr>
            <p:spPr>
              <a:xfrm>
                <a:off x="12248" y="3326"/>
                <a:ext cx="3149" cy="353"/>
              </a:xfrm>
              <a:prstGeom prst="rect">
                <a:avLst/>
              </a:prstGeom>
            </p:spPr>
            <p:txBody>
              <a:bodyPr wrap="square" lIns="0" tIns="0" rIns="0" bIns="0">
                <a:spAutoFit/>
              </a:bodyPr>
              <a:lstStyle/>
              <a:p>
                <a:pPr algn="l"/>
                <a:r>
                  <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rPr>
                  <a:t>生产线检测实时性滞后</a:t>
                </a:r>
                <a:endPar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TextBox 59"/>
              <p:cNvSpPr txBox="1"/>
              <p:nvPr/>
            </p:nvSpPr>
            <p:spPr>
              <a:xfrm>
                <a:off x="12248" y="3804"/>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工业流水线（如钢板、电子元件）传输速度达</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，现有缺陷检测算法单帧处理耗时超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，导致检测滞后易漏检。</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sp>
            <p:nvSpPr>
              <p:cNvPr id="27" name="Freeform 387"/>
              <p:cNvSpPr>
                <a:spLocks noEditPoints="1"/>
              </p:cNvSpPr>
              <p:nvPr/>
            </p:nvSpPr>
            <p:spPr bwMode="auto">
              <a:xfrm>
                <a:off x="11347" y="3510"/>
                <a:ext cx="587" cy="690"/>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accent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5" name="组合 4"/>
            <p:cNvGrpSpPr/>
            <p:nvPr/>
          </p:nvGrpSpPr>
          <p:grpSpPr>
            <a:xfrm>
              <a:off x="2477" y="4498"/>
              <a:ext cx="5701" cy="4473"/>
              <a:chOff x="3389" y="3614"/>
              <a:chExt cx="6549" cy="5137"/>
            </a:xfrm>
          </p:grpSpPr>
          <p:sp>
            <p:nvSpPr>
              <p:cNvPr id="22" name="梯形 21"/>
              <p:cNvSpPr/>
              <p:nvPr/>
            </p:nvSpPr>
            <p:spPr>
              <a:xfrm rot="5400000">
                <a:off x="2175" y="4828"/>
                <a:ext cx="5137" cy="2709"/>
              </a:xfrm>
              <a:prstGeom prst="trapezoid">
                <a:avLst>
                  <a:gd name="adj" fmla="val 28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梯形 22"/>
              <p:cNvSpPr/>
              <p:nvPr/>
            </p:nvSpPr>
            <p:spPr>
              <a:xfrm rot="5400000">
                <a:off x="5521" y="5114"/>
                <a:ext cx="3539" cy="2127"/>
              </a:xfrm>
              <a:prstGeom prst="trapezoid">
                <a:avLst>
                  <a:gd name="adj" fmla="val 242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梯形 23"/>
              <p:cNvSpPr/>
              <p:nvPr/>
            </p:nvSpPr>
            <p:spPr>
              <a:xfrm rot="5400000">
                <a:off x="8001" y="5450"/>
                <a:ext cx="2420" cy="1454"/>
              </a:xfrm>
              <a:prstGeom prst="trapezoid">
                <a:avLst>
                  <a:gd name="adj" fmla="val 2426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5978" y="5087"/>
              <a:ext cx="4406" cy="1027"/>
              <a:chOff x="7219" y="3638"/>
              <a:chExt cx="4086" cy="728"/>
            </a:xfrm>
          </p:grpSpPr>
          <p:cxnSp>
            <p:nvCxnSpPr>
              <p:cNvPr id="20" name="肘形连接符 7"/>
              <p:cNvCxnSpPr/>
              <p:nvPr/>
            </p:nvCxnSpPr>
            <p:spPr>
              <a:xfrm>
                <a:off x="7224" y="3648"/>
                <a:ext cx="4081" cy="718"/>
              </a:xfrm>
              <a:prstGeom prst="bentConnector3">
                <a:avLst>
                  <a:gd name="adj1" fmla="val 68335"/>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219" y="3638"/>
                <a:ext cx="0" cy="2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7" name="肘形连接符 12"/>
            <p:cNvCxnSpPr>
              <a:endCxn id="22" idx="1"/>
            </p:cNvCxnSpPr>
            <p:nvPr/>
          </p:nvCxnSpPr>
          <p:spPr>
            <a:xfrm rot="10800000" flipV="1">
              <a:off x="3708" y="3694"/>
              <a:ext cx="6676" cy="1137"/>
            </a:xfrm>
            <a:prstGeom prst="bentConnector2">
              <a:avLst/>
            </a:prstGeom>
            <a:ln w="1905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 name="肘形连接符 14"/>
            <p:cNvCxnSpPr/>
            <p:nvPr/>
          </p:nvCxnSpPr>
          <p:spPr>
            <a:xfrm rot="10800000">
              <a:off x="7566" y="7603"/>
              <a:ext cx="2818" cy="946"/>
            </a:xfrm>
            <a:prstGeom prst="bentConnector3">
              <a:avLst>
                <a:gd name="adj1" fmla="val 99503"/>
              </a:avLst>
            </a:prstGeom>
            <a:ln w="19050">
              <a:solidFill>
                <a:schemeClr val="bg2"/>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0709" y="5545"/>
              <a:ext cx="6013" cy="1753"/>
              <a:chOff x="11303" y="5576"/>
              <a:chExt cx="5849" cy="1706"/>
            </a:xfrm>
          </p:grpSpPr>
          <p:sp>
            <p:nvSpPr>
              <p:cNvPr id="17" name="Freeform 160"/>
              <p:cNvSpPr>
                <a:spLocks noEditPoints="1"/>
              </p:cNvSpPr>
              <p:nvPr/>
            </p:nvSpPr>
            <p:spPr bwMode="auto">
              <a:xfrm>
                <a:off x="11303" y="5783"/>
                <a:ext cx="654" cy="757"/>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accent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Rectangle 60"/>
              <p:cNvSpPr/>
              <p:nvPr/>
            </p:nvSpPr>
            <p:spPr>
              <a:xfrm>
                <a:off x="12248" y="5576"/>
                <a:ext cx="2429" cy="353"/>
              </a:xfrm>
              <a:prstGeom prst="rect">
                <a:avLst/>
              </a:prstGeom>
            </p:spPr>
            <p:txBody>
              <a:bodyPr wrap="square" lIns="0" tIns="0" rIns="0" bIns="0">
                <a:spAutoFit/>
              </a:bodyPr>
              <a:lstStyle/>
              <a:p>
                <a:pPr algn="l"/>
                <a:r>
                  <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rPr>
                  <a:t>微小缺陷漏检率高</a:t>
                </a:r>
                <a:endPar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TextBox 59"/>
              <p:cNvSpPr txBox="1"/>
              <p:nvPr/>
            </p:nvSpPr>
            <p:spPr>
              <a:xfrm>
                <a:off x="12248" y="6067"/>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针对尺寸＜</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0.1mm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的表面微裂纹、针孔，现有视觉算法识别率不足</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70%</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，无法满足高精度工业质量管控要求。</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grpSp>
          <p:nvGrpSpPr>
            <p:cNvPr id="10" name="组合 9"/>
            <p:cNvGrpSpPr/>
            <p:nvPr/>
          </p:nvGrpSpPr>
          <p:grpSpPr>
            <a:xfrm>
              <a:off x="10738" y="7968"/>
              <a:ext cx="5984" cy="1686"/>
              <a:chOff x="11331" y="7568"/>
              <a:chExt cx="5821" cy="1640"/>
            </a:xfrm>
          </p:grpSpPr>
          <p:sp>
            <p:nvSpPr>
              <p:cNvPr id="14" name="Freeform 83"/>
              <p:cNvSpPr>
                <a:spLocks noEditPoints="1"/>
              </p:cNvSpPr>
              <p:nvPr/>
            </p:nvSpPr>
            <p:spPr bwMode="auto">
              <a:xfrm>
                <a:off x="11331" y="7802"/>
                <a:ext cx="619" cy="699"/>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Rectangle 60"/>
              <p:cNvSpPr/>
              <p:nvPr/>
            </p:nvSpPr>
            <p:spPr>
              <a:xfrm>
                <a:off x="12248" y="7568"/>
                <a:ext cx="3157" cy="353"/>
              </a:xfrm>
              <a:prstGeom prst="rect">
                <a:avLst/>
              </a:prstGeom>
            </p:spPr>
            <p:txBody>
              <a:bodyPr wrap="square" lIns="0" tIns="0" rIns="0" bIns="0">
                <a:spAutoFit/>
              </a:bodyPr>
              <a:lstStyle/>
              <a:p>
                <a:pPr algn="l"/>
                <a:r>
                  <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rPr>
                  <a:t>工业终端算力适配差</a:t>
                </a:r>
                <a:endPar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TextBox 59"/>
              <p:cNvSpPr txBox="1"/>
              <p:nvPr/>
            </p:nvSpPr>
            <p:spPr>
              <a:xfrm>
                <a:off x="12248" y="7994"/>
                <a:ext cx="4904" cy="1214"/>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工业现场检测设备多为嵌入式终端（算力＜</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2TOPS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），参数量超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的检测模型无法流畅运行，帧率低于</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15fps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sp>
          <p:nvSpPr>
            <p:cNvPr id="11" name="Rectangle 60"/>
            <p:cNvSpPr/>
            <p:nvPr/>
          </p:nvSpPr>
          <p:spPr>
            <a:xfrm>
              <a:off x="3188" y="6276"/>
              <a:ext cx="979" cy="795"/>
            </a:xfrm>
            <a:prstGeom prst="rect">
              <a:avLst/>
            </a:prstGeom>
          </p:spPr>
          <p:txBody>
            <a:bodyPr wrap="square" lIns="0" tIns="0" rIns="0" bIns="0">
              <a:spAutoFit/>
            </a:bodyPr>
            <a:lstStyle/>
            <a:p>
              <a:pPr algn="ctr"/>
              <a:r>
                <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01</a:t>
              </a:r>
              <a:endPar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2" name="Rectangle 60"/>
            <p:cNvSpPr/>
            <p:nvPr/>
          </p:nvSpPr>
          <p:spPr>
            <a:xfrm>
              <a:off x="5389" y="6364"/>
              <a:ext cx="979" cy="636"/>
            </a:xfrm>
            <a:prstGeom prst="rect">
              <a:avLst/>
            </a:prstGeom>
          </p:spPr>
          <p:txBody>
            <a:bodyPr wrap="square" lIns="0" tIns="0" rIns="0" bIns="0">
              <a:spAutoFit/>
            </a:bodyPr>
            <a:lstStyle/>
            <a:p>
              <a:pPr algn="ctr"/>
              <a:r>
                <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02</a:t>
              </a:r>
              <a:endPar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3" name="Rectangle 60"/>
            <p:cNvSpPr/>
            <p:nvPr/>
          </p:nvSpPr>
          <p:spPr>
            <a:xfrm>
              <a:off x="7047" y="6438"/>
              <a:ext cx="979" cy="500"/>
            </a:xfrm>
            <a:prstGeom prst="rect">
              <a:avLst/>
            </a:prstGeom>
          </p:spPr>
          <p:txBody>
            <a:bodyPr wrap="square" lIns="0" tIns="0" rIns="0" bIns="0">
              <a:spAutoFit/>
            </a:bodyPr>
            <a:lstStyle/>
            <a:p>
              <a:pPr algn="ctr"/>
              <a:r>
                <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03</a:t>
              </a:r>
              <a:endPar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小学高段科学探究式实验教学的教研融合策略研究</a:t>
            </a:r>
            <a:r>
              <a:rPr lang="zh-CN" altLang="en-US"/>
              <a:t>背景</a:t>
            </a:r>
            <a:endParaRPr lang="zh-CN" altLang="en-US"/>
          </a:p>
        </p:txBody>
      </p:sp>
      <p:sp>
        <p:nvSpPr>
          <p:cNvPr id="3" name="矩形: 圆角 1"/>
          <p:cNvSpPr/>
          <p:nvPr>
            <p:custDataLst>
              <p:tags r:id="rId2"/>
            </p:custDataLst>
          </p:nvPr>
        </p:nvSpPr>
        <p:spPr>
          <a:xfrm>
            <a:off x="1519132" y="3285903"/>
            <a:ext cx="8838854" cy="752983"/>
          </a:xfrm>
          <a:prstGeom prst="roundRect">
            <a:avLst>
              <a:gd name="adj" fmla="val 13093"/>
            </a:avLst>
          </a:prstGeom>
          <a:gradFill>
            <a:gsLst>
              <a:gs pos="0">
                <a:schemeClr val="accent2">
                  <a:lumMod val="60000"/>
                  <a:lumOff val="40000"/>
                </a:schemeClr>
              </a:gs>
              <a:gs pos="92000">
                <a:schemeClr val="accent1">
                  <a:lumMod val="85000"/>
                </a:schemeClr>
              </a:gs>
            </a:gsLst>
            <a:lin ang="2700000" scaled="0"/>
          </a:gradFill>
          <a:ln>
            <a:noFill/>
          </a:ln>
          <a:effectLst>
            <a:outerShdw blurRad="304546" dist="110744" dir="2700004"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9670" tIns="49835" rIns="99670" bIns="49835" rtlCol="0" anchor="ctr">
            <a:noAutofit/>
          </a:bodyP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sz="1745">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a:off x="3329327" y="3583975"/>
            <a:ext cx="417386" cy="194076"/>
            <a:chOff x="1513616" y="3925988"/>
            <a:chExt cx="417386" cy="194076"/>
          </a:xfrm>
          <a:solidFill>
            <a:schemeClr val="accent6">
              <a:lumMod val="10000"/>
              <a:lumOff val="90000"/>
            </a:schemeClr>
          </a:solidFill>
        </p:grpSpPr>
        <p:sp>
          <p:nvSpPr>
            <p:cNvPr id="5" name="箭头: V 形 3"/>
            <p:cNvSpPr/>
            <p:nvPr/>
          </p:nvSpPr>
          <p:spPr>
            <a:xfrm>
              <a:off x="1750472"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箭头: V 形 4"/>
            <p:cNvSpPr/>
            <p:nvPr/>
          </p:nvSpPr>
          <p:spPr>
            <a:xfrm>
              <a:off x="1632044"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箭头: V 形 5"/>
            <p:cNvSpPr/>
            <p:nvPr/>
          </p:nvSpPr>
          <p:spPr>
            <a:xfrm>
              <a:off x="1513616"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8" name="直接箭头连接符 7"/>
          <p:cNvCxnSpPr/>
          <p:nvPr/>
        </p:nvCxnSpPr>
        <p:spPr>
          <a:xfrm flipV="1">
            <a:off x="234096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9" name="矩形 8"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2471490"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新课标明确小学高段科学需以探究式实验为主，但超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70%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学校的实验教学仍停留在教师演示层面。</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矩形 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2471420" y="1640205"/>
            <a:ext cx="29013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新课标强化探究式实验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1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59162" y="3496500"/>
            <a:ext cx="1546191"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第一步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箭头连接符 11"/>
          <p:cNvCxnSpPr/>
          <p:nvPr/>
        </p:nvCxnSpPr>
        <p:spPr>
          <a:xfrm>
            <a:off x="3793292"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13" name="矩形 12"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3923820" y="483568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小学高段科学实验复杂度提升，</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65%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教师反馈难以设计兼具探究性与安全性的实验，导致教学效果打折扣。</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1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923665" y="4506595"/>
            <a:ext cx="210502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实验探究性不足</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87068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第二步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6" name="组合 15"/>
          <p:cNvGrpSpPr/>
          <p:nvPr/>
        </p:nvGrpSpPr>
        <p:grpSpPr>
          <a:xfrm>
            <a:off x="5611704" y="3583975"/>
            <a:ext cx="417386" cy="194076"/>
            <a:chOff x="1702069" y="3925988"/>
            <a:chExt cx="417386" cy="194076"/>
          </a:xfrm>
          <a:solidFill>
            <a:schemeClr val="accent6">
              <a:lumMod val="10000"/>
              <a:lumOff val="90000"/>
            </a:schemeClr>
          </a:solidFill>
        </p:grpSpPr>
        <p:sp>
          <p:nvSpPr>
            <p:cNvPr id="17" name="箭头: V 形 16"/>
            <p:cNvSpPr/>
            <p:nvPr/>
          </p:nvSpPr>
          <p:spPr>
            <a:xfrm>
              <a:off x="1938925"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箭头: V 形 17"/>
            <p:cNvSpPr/>
            <p:nvPr/>
          </p:nvSpPr>
          <p:spPr>
            <a:xfrm>
              <a:off x="182049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a:off x="170206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a:off x="7894079" y="3583975"/>
            <a:ext cx="417387" cy="194076"/>
            <a:chOff x="1890521" y="3925988"/>
            <a:chExt cx="417387" cy="194076"/>
          </a:xfrm>
          <a:solidFill>
            <a:schemeClr val="accent6">
              <a:lumMod val="10000"/>
              <a:lumOff val="90000"/>
            </a:schemeClr>
          </a:solidFill>
        </p:grpSpPr>
        <p:sp>
          <p:nvSpPr>
            <p:cNvPr id="21" name="箭头: V 形 20"/>
            <p:cNvSpPr/>
            <p:nvPr/>
          </p:nvSpPr>
          <p:spPr>
            <a:xfrm>
              <a:off x="2127378"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a:off x="2008950"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箭头: V 形 22"/>
            <p:cNvSpPr/>
            <p:nvPr/>
          </p:nvSpPr>
          <p:spPr>
            <a:xfrm>
              <a:off x="1890521"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24" name="直接箭头连接符 23"/>
          <p:cNvCxnSpPr/>
          <p:nvPr/>
        </p:nvCxnSpPr>
        <p:spPr>
          <a:xfrm flipV="1">
            <a:off x="647013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5" name="矩形 24"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6600661"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当前小学科学教研中，仅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30%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的活动会针对探究式实验的设计、指导展开，难以支撑教师教学需求。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矩形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600825" y="1640205"/>
            <a:ext cx="33077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教研未聚焦探究式实验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27" name="直接箭头连接符 26"/>
          <p:cNvCxnSpPr/>
          <p:nvPr/>
        </p:nvCxnSpPr>
        <p:spPr>
          <a:xfrm>
            <a:off x="7967549"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8" name="矩形 27"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8098155" y="4835525"/>
            <a:ext cx="2689225"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调研显示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58%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的小学高段学生表示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实验仅按步骤做，没有自主思考</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，现有教学无法满足其探究能力培养需求。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098155" y="4506595"/>
            <a:ext cx="2688590"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需提升科学探究能力</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矩形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153064"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第三步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43543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第四步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合资品牌 2026年销量分析</a:t>
            </a:r>
            <a:r>
              <a:rPr lang="zh-CN" altLang="en-US"/>
              <a:t/>
            </a:r>
            <a:endParaRPr lang="zh-CN" altLang="en-US"/>
          </a:p>
        </p:txBody>
      </p:sp>
      <p:sp>
        <p:nvSpPr>
          <p:cNvPr id="3" name="Freeform 19"/>
          <p:cNvSpPr/>
          <p:nvPr/>
        </p:nvSpPr>
        <p:spPr bwMode="auto">
          <a:xfrm rot="16200000">
            <a:off x="1387952" y="672356"/>
            <a:ext cx="5013325" cy="6858000"/>
          </a:xfrm>
          <a:custGeom>
            <a:avLst/>
            <a:gdLst>
              <a:gd name="T0" fmla="*/ 0 w 1620"/>
              <a:gd name="T1" fmla="*/ 0 h 2217"/>
              <a:gd name="T2" fmla="*/ 1203 w 1620"/>
              <a:gd name="T3" fmla="*/ 0 h 2217"/>
              <a:gd name="T4" fmla="*/ 1553 w 1620"/>
              <a:gd name="T5" fmla="*/ 349 h 2217"/>
              <a:gd name="T6" fmla="*/ 1553 w 1620"/>
              <a:gd name="T7" fmla="*/ 2019 h 2217"/>
              <a:gd name="T8" fmla="*/ 1620 w 1620"/>
              <a:gd name="T9" fmla="*/ 2019 h 2217"/>
              <a:gd name="T10" fmla="*/ 1483 w 1620"/>
              <a:gd name="T11" fmla="*/ 2217 h 2217"/>
              <a:gd name="T12" fmla="*/ 1345 w 1620"/>
              <a:gd name="T13" fmla="*/ 2019 h 2217"/>
              <a:gd name="T14" fmla="*/ 1412 w 1620"/>
              <a:gd name="T15" fmla="*/ 2019 h 2217"/>
              <a:gd name="T16" fmla="*/ 1412 w 1620"/>
              <a:gd name="T17" fmla="*/ 349 h 2217"/>
              <a:gd name="T18" fmla="*/ 1203 w 1620"/>
              <a:gd name="T19" fmla="*/ 140 h 2217"/>
              <a:gd name="T20" fmla="*/ 0 w 1620"/>
              <a:gd name="T21" fmla="*/ 140 h 2217"/>
              <a:gd name="T22" fmla="*/ 0 w 1620"/>
              <a:gd name="T23" fmla="*/ 0 h 2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0" h="2217">
                <a:moveTo>
                  <a:pt x="0" y="0"/>
                </a:moveTo>
                <a:cubicBezTo>
                  <a:pt x="1203" y="0"/>
                  <a:pt x="1203" y="0"/>
                  <a:pt x="1203" y="0"/>
                </a:cubicBezTo>
                <a:cubicBezTo>
                  <a:pt x="1396" y="0"/>
                  <a:pt x="1553" y="156"/>
                  <a:pt x="1553" y="349"/>
                </a:cubicBezTo>
                <a:cubicBezTo>
                  <a:pt x="1553" y="2019"/>
                  <a:pt x="1553" y="2019"/>
                  <a:pt x="1553" y="2019"/>
                </a:cubicBezTo>
                <a:cubicBezTo>
                  <a:pt x="1620" y="2019"/>
                  <a:pt x="1620" y="2019"/>
                  <a:pt x="1620" y="2019"/>
                </a:cubicBezTo>
                <a:cubicBezTo>
                  <a:pt x="1483" y="2217"/>
                  <a:pt x="1483" y="2217"/>
                  <a:pt x="1483" y="2217"/>
                </a:cubicBezTo>
                <a:cubicBezTo>
                  <a:pt x="1345" y="2019"/>
                  <a:pt x="1345" y="2019"/>
                  <a:pt x="1345" y="2019"/>
                </a:cubicBezTo>
                <a:cubicBezTo>
                  <a:pt x="1412" y="2019"/>
                  <a:pt x="1412" y="2019"/>
                  <a:pt x="1412" y="2019"/>
                </a:cubicBezTo>
                <a:cubicBezTo>
                  <a:pt x="1412" y="349"/>
                  <a:pt x="1412" y="349"/>
                  <a:pt x="1412" y="349"/>
                </a:cubicBezTo>
                <a:cubicBezTo>
                  <a:pt x="1412" y="234"/>
                  <a:pt x="1319" y="140"/>
                  <a:pt x="1203"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4" name="Freeform 20"/>
          <p:cNvSpPr/>
          <p:nvPr/>
        </p:nvSpPr>
        <p:spPr bwMode="auto">
          <a:xfrm rot="16200000">
            <a:off x="1790384" y="1912987"/>
            <a:ext cx="3917950" cy="5472113"/>
          </a:xfrm>
          <a:custGeom>
            <a:avLst/>
            <a:gdLst>
              <a:gd name="T0" fmla="*/ 0 w 1266"/>
              <a:gd name="T1" fmla="*/ 0 h 1769"/>
              <a:gd name="T2" fmla="*/ 865 w 1266"/>
              <a:gd name="T3" fmla="*/ 0 h 1769"/>
              <a:gd name="T4" fmla="*/ 1204 w 1266"/>
              <a:gd name="T5" fmla="*/ 339 h 1769"/>
              <a:gd name="T6" fmla="*/ 1204 w 1266"/>
              <a:gd name="T7" fmla="*/ 1589 h 1769"/>
              <a:gd name="T8" fmla="*/ 1266 w 1266"/>
              <a:gd name="T9" fmla="*/ 1589 h 1769"/>
              <a:gd name="T10" fmla="*/ 1135 w 1266"/>
              <a:gd name="T11" fmla="*/ 1769 h 1769"/>
              <a:gd name="T12" fmla="*/ 1004 w 1266"/>
              <a:gd name="T13" fmla="*/ 1589 h 1769"/>
              <a:gd name="T14" fmla="*/ 1066 w 1266"/>
              <a:gd name="T15" fmla="*/ 1589 h 1769"/>
              <a:gd name="T16" fmla="*/ 1066 w 1266"/>
              <a:gd name="T17" fmla="*/ 339 h 1769"/>
              <a:gd name="T18" fmla="*/ 865 w 1266"/>
              <a:gd name="T19" fmla="*/ 138 h 1769"/>
              <a:gd name="T20" fmla="*/ 0 w 1266"/>
              <a:gd name="T21" fmla="*/ 138 h 1769"/>
              <a:gd name="T22" fmla="*/ 0 w 1266"/>
              <a:gd name="T2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66" h="1769">
                <a:moveTo>
                  <a:pt x="0" y="0"/>
                </a:moveTo>
                <a:cubicBezTo>
                  <a:pt x="865" y="0"/>
                  <a:pt x="865" y="0"/>
                  <a:pt x="865" y="0"/>
                </a:cubicBezTo>
                <a:cubicBezTo>
                  <a:pt x="1052" y="0"/>
                  <a:pt x="1204" y="152"/>
                  <a:pt x="1204" y="339"/>
                </a:cubicBezTo>
                <a:cubicBezTo>
                  <a:pt x="1204" y="1589"/>
                  <a:pt x="1204" y="1589"/>
                  <a:pt x="1204" y="1589"/>
                </a:cubicBezTo>
                <a:cubicBezTo>
                  <a:pt x="1266" y="1589"/>
                  <a:pt x="1266" y="1589"/>
                  <a:pt x="1266" y="1589"/>
                </a:cubicBezTo>
                <a:cubicBezTo>
                  <a:pt x="1135" y="1769"/>
                  <a:pt x="1135" y="1769"/>
                  <a:pt x="1135" y="1769"/>
                </a:cubicBezTo>
                <a:cubicBezTo>
                  <a:pt x="1004" y="1589"/>
                  <a:pt x="1004" y="1589"/>
                  <a:pt x="1004" y="1589"/>
                </a:cubicBezTo>
                <a:cubicBezTo>
                  <a:pt x="1066" y="1589"/>
                  <a:pt x="1066" y="1589"/>
                  <a:pt x="1066" y="1589"/>
                </a:cubicBezTo>
                <a:cubicBezTo>
                  <a:pt x="1066" y="339"/>
                  <a:pt x="1066" y="339"/>
                  <a:pt x="1066" y="339"/>
                </a:cubicBezTo>
                <a:cubicBezTo>
                  <a:pt x="1066" y="228"/>
                  <a:pt x="976" y="138"/>
                  <a:pt x="865" y="138"/>
                </a:cubicBezTo>
                <a:cubicBezTo>
                  <a:pt x="0" y="138"/>
                  <a:pt x="0" y="138"/>
                  <a:pt x="0" y="138"/>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5" name="Freeform 21"/>
          <p:cNvSpPr/>
          <p:nvPr/>
        </p:nvSpPr>
        <p:spPr bwMode="auto">
          <a:xfrm rot="16200000">
            <a:off x="2510315" y="4553793"/>
            <a:ext cx="1620838" cy="2487613"/>
          </a:xfrm>
          <a:custGeom>
            <a:avLst/>
            <a:gdLst>
              <a:gd name="T0" fmla="*/ 0 w 524"/>
              <a:gd name="T1" fmla="*/ 0 h 804"/>
              <a:gd name="T2" fmla="*/ 268 w 524"/>
              <a:gd name="T3" fmla="*/ 0 h 804"/>
              <a:gd name="T4" fmla="*/ 456 w 524"/>
              <a:gd name="T5" fmla="*/ 188 h 804"/>
              <a:gd name="T6" fmla="*/ 456 w 524"/>
              <a:gd name="T7" fmla="*/ 647 h 804"/>
              <a:gd name="T8" fmla="*/ 524 w 524"/>
              <a:gd name="T9" fmla="*/ 647 h 804"/>
              <a:gd name="T10" fmla="*/ 386 w 524"/>
              <a:gd name="T11" fmla="*/ 804 h 804"/>
              <a:gd name="T12" fmla="*/ 249 w 524"/>
              <a:gd name="T13" fmla="*/ 647 h 804"/>
              <a:gd name="T14" fmla="*/ 317 w 524"/>
              <a:gd name="T15" fmla="*/ 647 h 804"/>
              <a:gd name="T16" fmla="*/ 317 w 524"/>
              <a:gd name="T17" fmla="*/ 188 h 804"/>
              <a:gd name="T18" fmla="*/ 268 w 524"/>
              <a:gd name="T19" fmla="*/ 139 h 804"/>
              <a:gd name="T20" fmla="*/ 0 w 524"/>
              <a:gd name="T21" fmla="*/ 139 h 804"/>
              <a:gd name="T22" fmla="*/ 0 w 524"/>
              <a:gd name="T23" fmla="*/ 0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4" h="804">
                <a:moveTo>
                  <a:pt x="0" y="0"/>
                </a:moveTo>
                <a:cubicBezTo>
                  <a:pt x="268" y="0"/>
                  <a:pt x="268" y="0"/>
                  <a:pt x="268" y="0"/>
                </a:cubicBezTo>
                <a:cubicBezTo>
                  <a:pt x="372" y="0"/>
                  <a:pt x="456" y="84"/>
                  <a:pt x="456" y="188"/>
                </a:cubicBezTo>
                <a:cubicBezTo>
                  <a:pt x="456" y="647"/>
                  <a:pt x="456" y="647"/>
                  <a:pt x="456" y="647"/>
                </a:cubicBezTo>
                <a:cubicBezTo>
                  <a:pt x="524" y="647"/>
                  <a:pt x="524" y="647"/>
                  <a:pt x="524" y="647"/>
                </a:cubicBezTo>
                <a:cubicBezTo>
                  <a:pt x="386" y="804"/>
                  <a:pt x="386" y="804"/>
                  <a:pt x="386" y="804"/>
                </a:cubicBezTo>
                <a:cubicBezTo>
                  <a:pt x="249" y="647"/>
                  <a:pt x="249" y="647"/>
                  <a:pt x="249" y="647"/>
                </a:cubicBezTo>
                <a:cubicBezTo>
                  <a:pt x="317" y="647"/>
                  <a:pt x="317" y="647"/>
                  <a:pt x="317" y="647"/>
                </a:cubicBezTo>
                <a:cubicBezTo>
                  <a:pt x="317" y="188"/>
                  <a:pt x="317" y="188"/>
                  <a:pt x="317" y="188"/>
                </a:cubicBezTo>
                <a:cubicBezTo>
                  <a:pt x="317" y="161"/>
                  <a:pt x="295" y="139"/>
                  <a:pt x="268" y="139"/>
                </a:cubicBezTo>
                <a:cubicBezTo>
                  <a:pt x="0" y="139"/>
                  <a:pt x="0" y="139"/>
                  <a:pt x="0" y="139"/>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6" name="Freeform 22"/>
          <p:cNvSpPr/>
          <p:nvPr/>
        </p:nvSpPr>
        <p:spPr bwMode="auto">
          <a:xfrm rot="16200000">
            <a:off x="2174558" y="3243312"/>
            <a:ext cx="2738438" cy="3990975"/>
          </a:xfrm>
          <a:custGeom>
            <a:avLst/>
            <a:gdLst>
              <a:gd name="T0" fmla="*/ 0 w 885"/>
              <a:gd name="T1" fmla="*/ 0 h 1290"/>
              <a:gd name="T2" fmla="*/ 550 w 885"/>
              <a:gd name="T3" fmla="*/ 0 h 1290"/>
              <a:gd name="T4" fmla="*/ 833 w 885"/>
              <a:gd name="T5" fmla="*/ 283 h 1290"/>
              <a:gd name="T6" fmla="*/ 833 w 885"/>
              <a:gd name="T7" fmla="*/ 1114 h 1290"/>
              <a:gd name="T8" fmla="*/ 885 w 885"/>
              <a:gd name="T9" fmla="*/ 1114 h 1290"/>
              <a:gd name="T10" fmla="*/ 764 w 885"/>
              <a:gd name="T11" fmla="*/ 1290 h 1290"/>
              <a:gd name="T12" fmla="*/ 642 w 885"/>
              <a:gd name="T13" fmla="*/ 1114 h 1290"/>
              <a:gd name="T14" fmla="*/ 694 w 885"/>
              <a:gd name="T15" fmla="*/ 1114 h 1290"/>
              <a:gd name="T16" fmla="*/ 694 w 885"/>
              <a:gd name="T17" fmla="*/ 283 h 1290"/>
              <a:gd name="T18" fmla="*/ 550 w 885"/>
              <a:gd name="T19" fmla="*/ 140 h 1290"/>
              <a:gd name="T20" fmla="*/ 0 w 885"/>
              <a:gd name="T21" fmla="*/ 140 h 1290"/>
              <a:gd name="T22" fmla="*/ 0 w 885"/>
              <a:gd name="T23" fmla="*/ 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1290">
                <a:moveTo>
                  <a:pt x="0" y="0"/>
                </a:moveTo>
                <a:cubicBezTo>
                  <a:pt x="550" y="0"/>
                  <a:pt x="550" y="0"/>
                  <a:pt x="550" y="0"/>
                </a:cubicBezTo>
                <a:cubicBezTo>
                  <a:pt x="707" y="0"/>
                  <a:pt x="833" y="127"/>
                  <a:pt x="833" y="283"/>
                </a:cubicBezTo>
                <a:cubicBezTo>
                  <a:pt x="833" y="1114"/>
                  <a:pt x="833" y="1114"/>
                  <a:pt x="833" y="1114"/>
                </a:cubicBezTo>
                <a:cubicBezTo>
                  <a:pt x="885" y="1114"/>
                  <a:pt x="885" y="1114"/>
                  <a:pt x="885" y="1114"/>
                </a:cubicBezTo>
                <a:cubicBezTo>
                  <a:pt x="764" y="1290"/>
                  <a:pt x="764" y="1290"/>
                  <a:pt x="764" y="1290"/>
                </a:cubicBezTo>
                <a:cubicBezTo>
                  <a:pt x="642" y="1114"/>
                  <a:pt x="642" y="1114"/>
                  <a:pt x="642" y="1114"/>
                </a:cubicBezTo>
                <a:cubicBezTo>
                  <a:pt x="694" y="1114"/>
                  <a:pt x="694" y="1114"/>
                  <a:pt x="694" y="1114"/>
                </a:cubicBezTo>
                <a:cubicBezTo>
                  <a:pt x="694" y="283"/>
                  <a:pt x="694" y="283"/>
                  <a:pt x="694" y="283"/>
                </a:cubicBezTo>
                <a:cubicBezTo>
                  <a:pt x="694" y="204"/>
                  <a:pt x="629" y="140"/>
                  <a:pt x="550"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7" name="文本框 23"/>
          <p:cNvSpPr txBox="1"/>
          <p:nvPr>
            <p:custDataLst>
              <p:tags r:id="rId2"/>
            </p:custDataLst>
          </p:nvPr>
        </p:nvSpPr>
        <p:spPr>
          <a:xfrm>
            <a:off x="7323455" y="1594485"/>
            <a:ext cx="2590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大众</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8" name="矩形 7"/>
          <p:cNvSpPr/>
          <p:nvPr>
            <p:custDataLst>
              <p:tags r:id="rId3"/>
            </p:custDataLst>
          </p:nvPr>
        </p:nvSpPr>
        <p:spPr>
          <a:xfrm>
            <a:off x="7323614" y="1931231"/>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2026年1-5月一汽大众+上汽大众合计约78万辆，ID.纯电占比升至12%，燃油车基盘承压持续扩大。</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9" name="文本框 23"/>
          <p:cNvSpPr txBox="1"/>
          <p:nvPr>
            <p:custDataLst>
              <p:tags r:id="rId4"/>
            </p:custDataLst>
          </p:nvPr>
        </p:nvSpPr>
        <p:spPr>
          <a:xfrm>
            <a:off x="6642735" y="2689860"/>
            <a:ext cx="241173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丰田</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0" name="矩形 9"/>
          <p:cNvSpPr/>
          <p:nvPr>
            <p:custDataLst>
              <p:tags r:id="rId5"/>
            </p:custDataLst>
          </p:nvPr>
        </p:nvSpPr>
        <p:spPr>
          <a:xfrm>
            <a:off x="6643034" y="3026606"/>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2026年1-5月广丰+一丰合计约62万辆，双擎混动占比过半，bZ系列纯电表现尚不及市场预期。</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1" name="文本框 23"/>
          <p:cNvSpPr txBox="1"/>
          <p:nvPr>
            <p:custDataLst>
              <p:tags r:id="rId6"/>
            </p:custDataLst>
          </p:nvPr>
        </p:nvSpPr>
        <p:spPr>
          <a:xfrm>
            <a:off x="5660390" y="3860800"/>
            <a:ext cx="2463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本田</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2" name="矩形 11"/>
          <p:cNvSpPr/>
          <p:nvPr>
            <p:custDataLst>
              <p:tags r:id="rId7"/>
            </p:custDataLst>
          </p:nvPr>
        </p:nvSpPr>
        <p:spPr>
          <a:xfrm>
            <a:off x="5660099" y="4197305"/>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2026年1-5月东本+广本合计约42万辆，雅阁/CR-V仍是支柱，电动化转型速度显著落后自主品牌。</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3" name="文本框 23"/>
          <p:cNvSpPr txBox="1"/>
          <p:nvPr>
            <p:custDataLst>
              <p:tags r:id="rId8"/>
            </p:custDataLst>
          </p:nvPr>
        </p:nvSpPr>
        <p:spPr>
          <a:xfrm>
            <a:off x="4677410" y="5031740"/>
            <a:ext cx="264668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通用</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4" name="矩形 13"/>
          <p:cNvSpPr/>
          <p:nvPr>
            <p:custDataLst>
              <p:tags r:id="rId9"/>
            </p:custDataLst>
          </p:nvPr>
        </p:nvSpPr>
        <p:spPr>
          <a:xfrm>
            <a:off x="4677164" y="5368004"/>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2026年1-5月上汽通用合计约32万辆，GL8/君威主力下滑，奥特能平台电动车尚未形成规模。</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Tree>
    <p:custDataLst>
      <p:tags r:id="rId10"/>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儿童过敏性紫癜家庭照护者照护能力与干预研究</a:t>
            </a:r>
            <a:r>
              <a:rPr lang="zh-CN" altLang="en-US"/>
              <a:t>背景</a:t>
            </a:r>
            <a:endParaRPr lang="zh-CN" altLang="en-US"/>
          </a:p>
        </p:txBody>
      </p:sp>
      <p:grpSp>
        <p:nvGrpSpPr>
          <p:cNvPr id="9" name="淘宝网chenying0907出品 53"/>
          <p:cNvGrpSpPr/>
          <p:nvPr/>
        </p:nvGrpSpPr>
        <p:grpSpPr>
          <a:xfrm>
            <a:off x="4150552" y="1906308"/>
            <a:ext cx="1942049" cy="1942313"/>
            <a:chOff x="5076056" y="2996952"/>
            <a:chExt cx="1800200" cy="1800200"/>
          </a:xfrm>
          <a:effectLst>
            <a:outerShdw blurRad="50800" dist="38100" dir="5400000" algn="t" rotWithShape="0">
              <a:prstClr val="black">
                <a:alpha val="40000"/>
              </a:prstClr>
            </a:outerShdw>
          </a:effectLst>
        </p:grpSpPr>
        <p:sp>
          <p:nvSpPr>
            <p:cNvPr id="38" name="淘宝网chenying0907出品 64"/>
            <p:cNvSpPr/>
            <p:nvPr/>
          </p:nvSpPr>
          <p:spPr>
            <a:xfrm>
              <a:off x="5076056" y="2996952"/>
              <a:ext cx="1800200" cy="1800200"/>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9" name="淘宝网chenying0907出品 65"/>
            <p:cNvSpPr/>
            <p:nvPr/>
          </p:nvSpPr>
          <p:spPr>
            <a:xfrm>
              <a:off x="5270130" y="3191026"/>
              <a:ext cx="1412052" cy="1412052"/>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0" name="淘宝网chenying0907出品 66"/>
            <p:cNvSpPr/>
            <p:nvPr/>
          </p:nvSpPr>
          <p:spPr>
            <a:xfrm>
              <a:off x="5499115" y="3420011"/>
              <a:ext cx="954083" cy="954083"/>
            </a:xfrm>
            <a:prstGeom prst="ellipse">
              <a:avLst/>
            </a:prstGeom>
            <a:solidFill>
              <a:schemeClr val="accent1"/>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1" name="淘宝网chenying0907出品 67"/>
            <p:cNvSpPr/>
            <p:nvPr/>
          </p:nvSpPr>
          <p:spPr>
            <a:xfrm>
              <a:off x="5690650" y="3611546"/>
              <a:ext cx="571013" cy="571013"/>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0" name="淘宝网chenying0907出品 54"/>
          <p:cNvGrpSpPr/>
          <p:nvPr/>
        </p:nvGrpSpPr>
        <p:grpSpPr>
          <a:xfrm>
            <a:off x="5745088" y="2488521"/>
            <a:ext cx="2315520" cy="2315833"/>
            <a:chOff x="5076056" y="2996952"/>
            <a:chExt cx="1800200" cy="1800200"/>
          </a:xfrm>
          <a:effectLst>
            <a:outerShdw blurRad="50800" dist="38100" dir="5400000" algn="t" rotWithShape="0">
              <a:prstClr val="black">
                <a:alpha val="40000"/>
              </a:prstClr>
            </a:outerShdw>
          </a:effectLst>
        </p:grpSpPr>
        <p:sp>
          <p:nvSpPr>
            <p:cNvPr id="34" name="淘宝网chenying0907出品 60"/>
            <p:cNvSpPr/>
            <p:nvPr/>
          </p:nvSpPr>
          <p:spPr>
            <a:xfrm>
              <a:off x="5076056" y="2996952"/>
              <a:ext cx="1800200" cy="1800200"/>
            </a:xfrm>
            <a:prstGeom prst="ellipse">
              <a:avLst/>
            </a:prstGeom>
            <a:solidFill>
              <a:schemeClr val="accent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5" name="淘宝网chenying0907出品 61"/>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6" name="淘宝网chenying0907出品 62"/>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7" name="淘宝网chenying0907出品 63"/>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grpSp>
      <p:grpSp>
        <p:nvGrpSpPr>
          <p:cNvPr id="11" name="淘宝网chenying0907出品 55"/>
          <p:cNvGrpSpPr/>
          <p:nvPr/>
        </p:nvGrpSpPr>
        <p:grpSpPr>
          <a:xfrm>
            <a:off x="4704614" y="3635956"/>
            <a:ext cx="1387988" cy="1388176"/>
            <a:chOff x="5076056" y="2996952"/>
            <a:chExt cx="1800200" cy="1800200"/>
          </a:xfrm>
          <a:effectLst>
            <a:outerShdw blurRad="50800" dist="38100" dir="5400000" algn="t" rotWithShape="0">
              <a:prstClr val="black">
                <a:alpha val="40000"/>
              </a:prstClr>
            </a:outerShdw>
          </a:effectLst>
        </p:grpSpPr>
        <p:sp>
          <p:nvSpPr>
            <p:cNvPr id="30" name="淘宝网chenying0907出品 56"/>
            <p:cNvSpPr/>
            <p:nvPr/>
          </p:nvSpPr>
          <p:spPr>
            <a:xfrm>
              <a:off x="5076056" y="2996952"/>
              <a:ext cx="1800200" cy="1800200"/>
            </a:xfrm>
            <a:prstGeom prst="ellipse">
              <a:avLst/>
            </a:prstGeom>
            <a:solidFill>
              <a:schemeClr val="accent1"/>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1" name="淘宝网chenying0907出品 57"/>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2" name="淘宝网chenying0907出品 58"/>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3" name="淘宝网chenying0907出品 59"/>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2" name="Group 51"/>
          <p:cNvGrpSpPr/>
          <p:nvPr/>
        </p:nvGrpSpPr>
        <p:grpSpPr>
          <a:xfrm>
            <a:off x="7416038" y="2172566"/>
            <a:ext cx="1064569" cy="860191"/>
            <a:chOff x="7486389" y="2051648"/>
            <a:chExt cx="1064712" cy="860191"/>
          </a:xfrm>
        </p:grpSpPr>
        <p:sp>
          <p:nvSpPr>
            <p:cNvPr id="28" name="淘宝网chenying0907出品 80"/>
            <p:cNvSpPr/>
            <p:nvPr/>
          </p:nvSpPr>
          <p:spPr>
            <a:xfrm>
              <a:off x="7486389" y="2051648"/>
              <a:ext cx="1064712" cy="651354"/>
            </a:xfrm>
            <a:custGeom>
              <a:avLst/>
              <a:gdLst>
                <a:gd name="connsiteX0" fmla="*/ 0 w 1064712"/>
                <a:gd name="connsiteY0" fmla="*/ 651354 h 651354"/>
                <a:gd name="connsiteX1" fmla="*/ 413359 w 1064712"/>
                <a:gd name="connsiteY1" fmla="*/ 0 h 651354"/>
                <a:gd name="connsiteX2" fmla="*/ 1064712 w 1064712"/>
                <a:gd name="connsiteY2" fmla="*/ 0 h 651354"/>
              </a:gdLst>
              <a:ahLst/>
              <a:cxnLst>
                <a:cxn ang="0">
                  <a:pos x="connsiteX0" y="connsiteY0"/>
                </a:cxn>
                <a:cxn ang="0">
                  <a:pos x="connsiteX1" y="connsiteY1"/>
                </a:cxn>
                <a:cxn ang="0">
                  <a:pos x="connsiteX2" y="connsiteY2"/>
                </a:cxn>
              </a:cxnLst>
              <a:rect l="l" t="t" r="r" b="b"/>
              <a:pathLst>
                <a:path w="1064712" h="651354">
                  <a:moveTo>
                    <a:pt x="0" y="651354"/>
                  </a:moveTo>
                  <a:lnTo>
                    <a:pt x="413359" y="0"/>
                  </a:lnTo>
                  <a:lnTo>
                    <a:pt x="1064712"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9" name="直接连接符 28"/>
            <p:cNvCxnSpPr/>
            <p:nvPr/>
          </p:nvCxnSpPr>
          <p:spPr>
            <a:xfrm>
              <a:off x="8551101" y="2051648"/>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3" name="Group 41"/>
          <p:cNvGrpSpPr/>
          <p:nvPr/>
        </p:nvGrpSpPr>
        <p:grpSpPr>
          <a:xfrm>
            <a:off x="3725539" y="4246075"/>
            <a:ext cx="1364663" cy="860192"/>
            <a:chOff x="3640897" y="3955604"/>
            <a:chExt cx="1364663" cy="860192"/>
          </a:xfrm>
        </p:grpSpPr>
        <p:sp>
          <p:nvSpPr>
            <p:cNvPr id="26" name="淘宝网chenying0907出品 83"/>
            <p:cNvSpPr/>
            <p:nvPr/>
          </p:nvSpPr>
          <p:spPr>
            <a:xfrm>
              <a:off x="3652931" y="3955604"/>
              <a:ext cx="1352629" cy="400833"/>
            </a:xfrm>
            <a:custGeom>
              <a:avLst/>
              <a:gdLst>
                <a:gd name="connsiteX0" fmla="*/ 1352811 w 1352811"/>
                <a:gd name="connsiteY0" fmla="*/ 400833 h 400833"/>
                <a:gd name="connsiteX1" fmla="*/ 325677 w 1352811"/>
                <a:gd name="connsiteY1" fmla="*/ 0 h 400833"/>
                <a:gd name="connsiteX2" fmla="*/ 0 w 1352811"/>
                <a:gd name="connsiteY2" fmla="*/ 0 h 400833"/>
              </a:gdLst>
              <a:ahLst/>
              <a:cxnLst>
                <a:cxn ang="0">
                  <a:pos x="connsiteX0" y="connsiteY0"/>
                </a:cxn>
                <a:cxn ang="0">
                  <a:pos x="connsiteX1" y="connsiteY1"/>
                </a:cxn>
                <a:cxn ang="0">
                  <a:pos x="connsiteX2" y="connsiteY2"/>
                </a:cxn>
              </a:cxnLst>
              <a:rect l="l" t="t" r="r" b="b"/>
              <a:pathLst>
                <a:path w="1352811" h="400833">
                  <a:moveTo>
                    <a:pt x="1352811" y="400833"/>
                  </a:moveTo>
                  <a:lnTo>
                    <a:pt x="325677"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7" name="直接连接符 26"/>
            <p:cNvCxnSpPr/>
            <p:nvPr/>
          </p:nvCxnSpPr>
          <p:spPr>
            <a:xfrm>
              <a:off x="3640897" y="3955605"/>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4" name="Group 44"/>
          <p:cNvGrpSpPr/>
          <p:nvPr/>
        </p:nvGrpSpPr>
        <p:grpSpPr>
          <a:xfrm>
            <a:off x="3668714" y="1761258"/>
            <a:ext cx="804105" cy="860191"/>
            <a:chOff x="3738558" y="1640341"/>
            <a:chExt cx="804214" cy="860191"/>
          </a:xfrm>
        </p:grpSpPr>
        <p:sp>
          <p:nvSpPr>
            <p:cNvPr id="24" name="淘宝网chenying0907出品 87"/>
            <p:cNvSpPr/>
            <p:nvPr/>
          </p:nvSpPr>
          <p:spPr>
            <a:xfrm>
              <a:off x="3745059" y="1650815"/>
              <a:ext cx="797713" cy="839244"/>
            </a:xfrm>
            <a:custGeom>
              <a:avLst/>
              <a:gdLst>
                <a:gd name="connsiteX0" fmla="*/ 563671 w 563671"/>
                <a:gd name="connsiteY0" fmla="*/ 839244 h 839244"/>
                <a:gd name="connsiteX1" fmla="*/ 501041 w 563671"/>
                <a:gd name="connsiteY1" fmla="*/ 0 h 839244"/>
                <a:gd name="connsiteX2" fmla="*/ 0 w 563671"/>
                <a:gd name="connsiteY2" fmla="*/ 0 h 839244"/>
              </a:gdLst>
              <a:ahLst/>
              <a:cxnLst>
                <a:cxn ang="0">
                  <a:pos x="connsiteX0" y="connsiteY0"/>
                </a:cxn>
                <a:cxn ang="0">
                  <a:pos x="connsiteX1" y="connsiteY1"/>
                </a:cxn>
                <a:cxn ang="0">
                  <a:pos x="connsiteX2" y="connsiteY2"/>
                </a:cxn>
              </a:cxnLst>
              <a:rect l="l" t="t" r="r" b="b"/>
              <a:pathLst>
                <a:path w="563671" h="839244">
                  <a:moveTo>
                    <a:pt x="563671" y="839244"/>
                  </a:moveTo>
                  <a:lnTo>
                    <a:pt x="501041"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5" name="直接连接符 24"/>
            <p:cNvCxnSpPr/>
            <p:nvPr/>
          </p:nvCxnSpPr>
          <p:spPr>
            <a:xfrm>
              <a:off x="3738558" y="1640341"/>
              <a:ext cx="0" cy="860191"/>
            </a:xfrm>
            <a:prstGeom prst="line">
              <a:avLst/>
            </a:prstGeom>
            <a:noFill/>
            <a:ln w="12700" cap="flat" cmpd="sng" algn="ctr">
              <a:solidFill>
                <a:srgbClr val="595959"/>
              </a:solidFill>
              <a:prstDash val="solid"/>
              <a:headEnd type="oval" w="med" len="med"/>
              <a:tailEnd type="oval" w="med" len="med"/>
            </a:ln>
            <a:effectLst/>
          </p:spPr>
        </p:cxnSp>
      </p:grpSp>
      <p:sp>
        <p:nvSpPr>
          <p:cNvPr id="22" name="淘宝网chenying0907出品 46"/>
          <p:cNvSpPr txBox="1"/>
          <p:nvPr/>
        </p:nvSpPr>
        <p:spPr>
          <a:xfrm>
            <a:off x="1312238" y="1713516"/>
            <a:ext cx="2063115" cy="27686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b="1" dirty="0">
                <a:solidFill>
                  <a:schemeClr val="accent1">
                    <a:lumMod val="100000"/>
                  </a:schemeClr>
                </a:solidFill>
                <a:latin typeface="思源黑体 CN Medium" panose="020B0600000000000000" charset="-122"/>
                <a:ea typeface="思源黑体 CN Medium" panose="020B0600000000000000" charset="-122"/>
              </a:rPr>
              <a:t>疾病特性与照护需求</a:t>
            </a:r>
            <a:endParaRPr kumimoji="1" lang="zh-CN" altLang="en-US" b="1" dirty="0">
              <a:solidFill>
                <a:schemeClr val="accent1">
                  <a:lumMod val="100000"/>
                </a:schemeClr>
              </a:solidFill>
              <a:latin typeface="思源黑体 CN Medium" panose="020B0600000000000000" charset="-122"/>
              <a:ea typeface="思源黑体 CN Medium" panose="020B0600000000000000" charset="-122"/>
            </a:endParaRPr>
          </a:p>
        </p:txBody>
      </p:sp>
      <p:sp>
        <p:nvSpPr>
          <p:cNvPr id="23" name="Rectangle 47"/>
          <p:cNvSpPr/>
          <p:nvPr/>
        </p:nvSpPr>
        <p:spPr>
          <a:xfrm>
            <a:off x="666706" y="2068991"/>
            <a:ext cx="2915756"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0">
              <a:lnSpc>
                <a:spcPct val="130000"/>
              </a:lnSpc>
            </a:pPr>
            <a:r>
              <a:rPr lang="zh-CN" altLang="en-US" sz="1200" b="0" i="0" dirty="0">
                <a:effectLst/>
                <a:latin typeface="+mn-ea"/>
                <a:cs typeface="Open Sans Light" panose="020B0306030504020204" charset="0"/>
                <a:sym typeface="Open Sans Light" panose="020B0306030504020204" charset="0"/>
              </a:rPr>
              <a:t>儿童过敏性紫癜（</a:t>
            </a:r>
            <a:r>
              <a:rPr lang="en-US" altLang="zh-CN" sz="1200" b="0" i="0" dirty="0">
                <a:effectLst/>
                <a:latin typeface="+mn-ea"/>
                <a:cs typeface="Open Sans Light" panose="020B0306030504020204" charset="0"/>
                <a:sym typeface="Open Sans Light" panose="020B0306030504020204" charset="0"/>
              </a:rPr>
              <a:t>HSP</a:t>
            </a:r>
            <a:r>
              <a:rPr lang="zh-CN" altLang="en-US" sz="1200" b="0" i="0" dirty="0">
                <a:effectLst/>
                <a:latin typeface="+mn-ea"/>
                <a:cs typeface="Open Sans Light" panose="020B0306030504020204" charset="0"/>
                <a:sym typeface="Open Sans Light" panose="020B0306030504020204" charset="0"/>
              </a:rPr>
              <a:t>）易反复且需长期居家护理，家庭照护者是患儿皮疹监测、饮食管理及病情预警的核心角色。</a:t>
            </a:r>
            <a:endParaRPr lang="zh-CN" altLang="en-US" sz="1200" b="0" i="0" dirty="0">
              <a:effectLst/>
              <a:latin typeface="+mn-ea"/>
              <a:cs typeface="Open Sans Light" panose="020B0306030504020204" charset="0"/>
              <a:sym typeface="Open Sans Light" panose="020B0306030504020204" charset="0"/>
            </a:endParaRPr>
          </a:p>
        </p:txBody>
      </p:sp>
      <p:sp>
        <p:nvSpPr>
          <p:cNvPr id="20" name="淘宝网chenying0907出品 49"/>
          <p:cNvSpPr txBox="1"/>
          <p:nvPr/>
        </p:nvSpPr>
        <p:spPr>
          <a:xfrm>
            <a:off x="8632380" y="1669504"/>
            <a:ext cx="184731" cy="43672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en-GB" sz="2000" b="1" dirty="0">
              <a:solidFill>
                <a:schemeClr val="accent1"/>
              </a:solidFill>
            </a:endParaRPr>
          </a:p>
        </p:txBody>
      </p:sp>
      <p:sp>
        <p:nvSpPr>
          <p:cNvPr id="21" name="Rectangle 50"/>
          <p:cNvSpPr/>
          <p:nvPr/>
        </p:nvSpPr>
        <p:spPr>
          <a:xfrm>
            <a:off x="8625065" y="1934373"/>
            <a:ext cx="2854810"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仅</a:t>
            </a:r>
            <a:r>
              <a:rPr lang="en-US" altLang="zh-CN" sz="1200" b="0" i="0" dirty="0">
                <a:effectLst/>
                <a:latin typeface="+mn-ea"/>
                <a:cs typeface="Open Sans Light" panose="020B0306030504020204" charset="0"/>
                <a:sym typeface="Open Sans Light" panose="020B0306030504020204" charset="0"/>
              </a:rPr>
              <a:t> 25% </a:t>
            </a:r>
            <a:r>
              <a:rPr lang="zh-CN" altLang="en-US" sz="1200" b="0" i="0" dirty="0">
                <a:effectLst/>
                <a:latin typeface="+mn-ea"/>
                <a:cs typeface="Open Sans Light" panose="020B0306030504020204" charset="0"/>
                <a:sym typeface="Open Sans Light" panose="020B0306030504020204" charset="0"/>
              </a:rPr>
              <a:t>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家庭照护者掌握皮疹变化识别、饮食禁忌等关键照护知识，易因操作不当增加患儿病情加重风险。</a:t>
            </a:r>
            <a:endParaRPr lang="zh-CN" altLang="en-US" sz="1200" b="0" i="0" dirty="0">
              <a:effectLst/>
              <a:latin typeface="+mn-ea"/>
              <a:cs typeface="Open Sans Light" panose="020B0306030504020204" charset="0"/>
              <a:sym typeface="Open Sans Light" panose="020B0306030504020204" charset="0"/>
            </a:endParaRPr>
          </a:p>
        </p:txBody>
      </p:sp>
      <p:sp>
        <p:nvSpPr>
          <p:cNvPr id="17" name="Rectangle 56"/>
          <p:cNvSpPr/>
          <p:nvPr/>
        </p:nvSpPr>
        <p:spPr>
          <a:xfrm>
            <a:off x="3245655" y="5690483"/>
            <a:ext cx="3688545"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社区卫生服务中心针对儿童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照护者的专项指导覆盖率不足</a:t>
            </a:r>
            <a:r>
              <a:rPr lang="en-US" altLang="zh-CN" sz="1200" b="0" i="0" dirty="0">
                <a:effectLst/>
                <a:latin typeface="+mn-ea"/>
                <a:cs typeface="Open Sans Light" panose="020B0306030504020204" charset="0"/>
                <a:sym typeface="Open Sans Light" panose="020B0306030504020204" charset="0"/>
              </a:rPr>
              <a:t> 15%</a:t>
            </a:r>
            <a:r>
              <a:rPr lang="zh-CN" altLang="en-US" sz="1200" b="0" i="0" dirty="0">
                <a:effectLst/>
                <a:latin typeface="+mn-ea"/>
                <a:cs typeface="Open Sans Light" panose="020B0306030504020204" charset="0"/>
                <a:sym typeface="Open Sans Light" panose="020B0306030504020204" charset="0"/>
              </a:rPr>
              <a:t>，缺乏系统性支持难以满足居家照护实际需求。</a:t>
            </a:r>
            <a:endParaRPr lang="zh-CN" altLang="en-US" sz="1200" b="0" i="0" dirty="0">
              <a:effectLst/>
              <a:latin typeface="+mn-ea"/>
              <a:cs typeface="Open Sans Light" panose="020B0306030504020204" charset="0"/>
              <a:sym typeface="Open Sans Light" panose="020B0306030504020204" charset="0"/>
            </a:endParaRPr>
          </a:p>
        </p:txBody>
      </p:sp>
      <p:sp>
        <p:nvSpPr>
          <p:cNvPr id="18" name="矩形 17"/>
          <p:cNvSpPr/>
          <p:nvPr/>
        </p:nvSpPr>
        <p:spPr>
          <a:xfrm>
            <a:off x="8625065" y="1572470"/>
            <a:ext cx="20574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照护者知识技能缺口</a:t>
            </a:r>
            <a:endParaRPr kumimoji="1" lang="zh-CN" altLang="en-US" sz="1800" b="1" dirty="0">
              <a:solidFill>
                <a:schemeClr val="accent1">
                  <a:lumMod val="100000"/>
                </a:schemeClr>
              </a:solidFill>
              <a:latin typeface="+mj-ea"/>
              <a:ea typeface="+mj-ea"/>
            </a:endParaRPr>
          </a:p>
        </p:txBody>
      </p:sp>
      <p:sp>
        <p:nvSpPr>
          <p:cNvPr id="19" name="矩形 18"/>
          <p:cNvSpPr/>
          <p:nvPr/>
        </p:nvSpPr>
        <p:spPr>
          <a:xfrm>
            <a:off x="3245655" y="5356613"/>
            <a:ext cx="18288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社区专项指导不足</a:t>
            </a:r>
            <a:endParaRPr kumimoji="1" lang="zh-CN" altLang="en-US" sz="1800" b="1" dirty="0">
              <a:solidFill>
                <a:schemeClr val="accent1">
                  <a:lumMod val="100000"/>
                </a:schemeClr>
              </a:solidFill>
              <a:latin typeface="+mj-ea"/>
              <a:ea typeface="+mj-ea"/>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意义</a:t>
            </a:r>
            <a:endParaRPr lang="zh-CN" altLang="en-US"/>
          </a:p>
        </p:txBody>
      </p:sp>
      <p:sp>
        <p:nvSpPr>
          <p:cNvPr id="4" name="文本占位符 3"/>
          <p:cNvSpPr>
            <a:spLocks noGrp="1"/>
          </p:cNvSpPr>
          <p:nvPr>
            <p:ph type="body" idx="1"/>
            <p:custDataLst>
              <p:tags r:id="rId2"/>
            </p:custDataLst>
          </p:nvPr>
        </p:nvSpPr>
        <p:spPr/>
        <p:txBody>
          <a:bodyPr/>
          <a:p>
            <a:r>
              <a:rPr lang="en-US" altLang="zh-CN"/>
              <a:t>RESEARCH SIGNIFICANCE</a:t>
            </a:r>
            <a:endParaRPr lang="en-US" altLang="zh-CN"/>
          </a:p>
        </p:txBody>
      </p:sp>
      <p:sp>
        <p:nvSpPr>
          <p:cNvPr id="5" name="文本占位符 4"/>
          <p:cNvSpPr>
            <a:spLocks noGrp="1"/>
          </p:cNvSpPr>
          <p:nvPr>
            <p:ph type="body" idx="13"/>
          </p:nvPr>
        </p:nvSpPr>
        <p:spPr/>
        <p:txBody>
          <a:bodyPr/>
          <a:p>
            <a:r>
              <a:rPr lang="en-US" altLang="zh-CN"/>
              <a:t>02</a:t>
            </a:r>
            <a:endParaRPr lang="en-US" altLang="zh-CN"/>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Tesla 全球表现：股价·技术·交付</a:t>
            </a:r>
            <a:r>
              <a:rPr lang="zh-CN" altLang="en-US"/>
              <a:t/>
            </a:r>
            <a:endParaRPr lang="zh-CN" altLang="en-US"/>
          </a:p>
        </p:txBody>
      </p:sp>
      <p:sp>
        <p:nvSpPr>
          <p:cNvPr id="3" name="Freeform"/>
          <p:cNvSpPr/>
          <p:nvPr/>
        </p:nvSpPr>
        <p:spPr bwMode="auto">
          <a:xfrm>
            <a:off x="3847465" y="3913506"/>
            <a:ext cx="2244725" cy="1826895"/>
          </a:xfrm>
          <a:custGeom>
            <a:avLst/>
            <a:gdLst>
              <a:gd name="T0" fmla="*/ 0 w 2999"/>
              <a:gd name="T1" fmla="*/ 176 h 2441"/>
              <a:gd name="T2" fmla="*/ 0 w 2999"/>
              <a:gd name="T3" fmla="*/ 454 h 2441"/>
              <a:gd name="T4" fmla="*/ 1818 w 2999"/>
              <a:gd name="T5" fmla="*/ 2441 h 2441"/>
              <a:gd name="T6" fmla="*/ 2999 w 2999"/>
              <a:gd name="T7" fmla="*/ 1782 h 2441"/>
              <a:gd name="T8" fmla="*/ 2999 w 2999"/>
              <a:gd name="T9" fmla="*/ 1344 h 2441"/>
              <a:gd name="T10" fmla="*/ 822 w 2999"/>
              <a:gd name="T11" fmla="*/ 0 h 2441"/>
              <a:gd name="T12" fmla="*/ 0 w 2999"/>
              <a:gd name="T13" fmla="*/ 176 h 2441"/>
            </a:gdLst>
            <a:ahLst/>
            <a:cxnLst>
              <a:cxn ang="0">
                <a:pos x="T0" y="T1"/>
              </a:cxn>
              <a:cxn ang="0">
                <a:pos x="T2" y="T3"/>
              </a:cxn>
              <a:cxn ang="0">
                <a:pos x="T4" y="T5"/>
              </a:cxn>
              <a:cxn ang="0">
                <a:pos x="T6" y="T7"/>
              </a:cxn>
              <a:cxn ang="0">
                <a:pos x="T8" y="T9"/>
              </a:cxn>
              <a:cxn ang="0">
                <a:pos x="T10" y="T11"/>
              </a:cxn>
              <a:cxn ang="0">
                <a:pos x="T12" y="T13"/>
              </a:cxn>
            </a:cxnLst>
            <a:rect l="0" t="0" r="r" b="b"/>
            <a:pathLst>
              <a:path w="2999" h="2441">
                <a:moveTo>
                  <a:pt x="0" y="176"/>
                </a:moveTo>
                <a:lnTo>
                  <a:pt x="0" y="454"/>
                </a:lnTo>
                <a:lnTo>
                  <a:pt x="1818" y="2441"/>
                </a:lnTo>
                <a:lnTo>
                  <a:pt x="2999" y="1782"/>
                </a:lnTo>
                <a:lnTo>
                  <a:pt x="2999" y="1344"/>
                </a:lnTo>
                <a:lnTo>
                  <a:pt x="822" y="0"/>
                </a:lnTo>
                <a:lnTo>
                  <a:pt x="0" y="176"/>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 name="Freeform"/>
          <p:cNvSpPr/>
          <p:nvPr/>
        </p:nvSpPr>
        <p:spPr bwMode="auto">
          <a:xfrm>
            <a:off x="3847465" y="3913506"/>
            <a:ext cx="2244725" cy="1439545"/>
          </a:xfrm>
          <a:custGeom>
            <a:avLst/>
            <a:gdLst>
              <a:gd name="T0" fmla="*/ 0 w 2999"/>
              <a:gd name="T1" fmla="*/ 176 h 1923"/>
              <a:gd name="T2" fmla="*/ 822 w 2999"/>
              <a:gd name="T3" fmla="*/ 0 h 1923"/>
              <a:gd name="T4" fmla="*/ 2999 w 2999"/>
              <a:gd name="T5" fmla="*/ 1344 h 1923"/>
              <a:gd name="T6" fmla="*/ 1818 w 2999"/>
              <a:gd name="T7" fmla="*/ 1923 h 1923"/>
              <a:gd name="T8" fmla="*/ 0 w 2999"/>
              <a:gd name="T9" fmla="*/ 176 h 1923"/>
            </a:gdLst>
            <a:ahLst/>
            <a:cxnLst>
              <a:cxn ang="0">
                <a:pos x="T0" y="T1"/>
              </a:cxn>
              <a:cxn ang="0">
                <a:pos x="T2" y="T3"/>
              </a:cxn>
              <a:cxn ang="0">
                <a:pos x="T4" y="T5"/>
              </a:cxn>
              <a:cxn ang="0">
                <a:pos x="T6" y="T7"/>
              </a:cxn>
              <a:cxn ang="0">
                <a:pos x="T8" y="T9"/>
              </a:cxn>
            </a:cxnLst>
            <a:rect l="0" t="0" r="r" b="b"/>
            <a:pathLst>
              <a:path w="2999" h="1923">
                <a:moveTo>
                  <a:pt x="0" y="176"/>
                </a:moveTo>
                <a:lnTo>
                  <a:pt x="822" y="0"/>
                </a:lnTo>
                <a:lnTo>
                  <a:pt x="2999" y="1344"/>
                </a:lnTo>
                <a:lnTo>
                  <a:pt x="1818" y="1923"/>
                </a:lnTo>
                <a:lnTo>
                  <a:pt x="0" y="176"/>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p:cNvSpPr/>
          <p:nvPr/>
        </p:nvSpPr>
        <p:spPr bwMode="auto">
          <a:xfrm>
            <a:off x="4462780" y="3584576"/>
            <a:ext cx="2456815" cy="1335405"/>
          </a:xfrm>
          <a:custGeom>
            <a:avLst/>
            <a:gdLst>
              <a:gd name="T0" fmla="*/ 0 w 3282"/>
              <a:gd name="T1" fmla="*/ 162 h 1784"/>
              <a:gd name="T2" fmla="*/ 0 w 3282"/>
              <a:gd name="T3" fmla="*/ 440 h 1784"/>
              <a:gd name="T4" fmla="*/ 2177 w 3282"/>
              <a:gd name="T5" fmla="*/ 1784 h 1784"/>
              <a:gd name="T6" fmla="*/ 3282 w 3282"/>
              <a:gd name="T7" fmla="*/ 1242 h 1784"/>
              <a:gd name="T8" fmla="*/ 3282 w 3282"/>
              <a:gd name="T9" fmla="*/ 865 h 1784"/>
              <a:gd name="T10" fmla="*/ 911 w 3282"/>
              <a:gd name="T11" fmla="*/ 0 h 1784"/>
              <a:gd name="T12" fmla="*/ 0 w 3282"/>
              <a:gd name="T13" fmla="*/ 162 h 1784"/>
            </a:gdLst>
            <a:ahLst/>
            <a:cxnLst>
              <a:cxn ang="0">
                <a:pos x="T0" y="T1"/>
              </a:cxn>
              <a:cxn ang="0">
                <a:pos x="T2" y="T3"/>
              </a:cxn>
              <a:cxn ang="0">
                <a:pos x="T4" y="T5"/>
              </a:cxn>
              <a:cxn ang="0">
                <a:pos x="T6" y="T7"/>
              </a:cxn>
              <a:cxn ang="0">
                <a:pos x="T8" y="T9"/>
              </a:cxn>
              <a:cxn ang="0">
                <a:pos x="T10" y="T11"/>
              </a:cxn>
              <a:cxn ang="0">
                <a:pos x="T12" y="T13"/>
              </a:cxn>
            </a:cxnLst>
            <a:rect l="0" t="0" r="r" b="b"/>
            <a:pathLst>
              <a:path w="3282" h="1784">
                <a:moveTo>
                  <a:pt x="0" y="162"/>
                </a:moveTo>
                <a:lnTo>
                  <a:pt x="0" y="440"/>
                </a:lnTo>
                <a:lnTo>
                  <a:pt x="2177" y="1784"/>
                </a:lnTo>
                <a:lnTo>
                  <a:pt x="3282" y="1242"/>
                </a:lnTo>
                <a:lnTo>
                  <a:pt x="3282" y="865"/>
                </a:lnTo>
                <a:lnTo>
                  <a:pt x="911" y="0"/>
                </a:lnTo>
                <a:lnTo>
                  <a:pt x="0" y="162"/>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Freeform"/>
          <p:cNvSpPr/>
          <p:nvPr/>
        </p:nvSpPr>
        <p:spPr bwMode="auto">
          <a:xfrm>
            <a:off x="4462780" y="3584576"/>
            <a:ext cx="2456815" cy="995680"/>
          </a:xfrm>
          <a:custGeom>
            <a:avLst/>
            <a:gdLst>
              <a:gd name="T0" fmla="*/ 0 w 3282"/>
              <a:gd name="T1" fmla="*/ 162 h 1330"/>
              <a:gd name="T2" fmla="*/ 911 w 3282"/>
              <a:gd name="T3" fmla="*/ 0 h 1330"/>
              <a:gd name="T4" fmla="*/ 3282 w 3282"/>
              <a:gd name="T5" fmla="*/ 865 h 1330"/>
              <a:gd name="T6" fmla="*/ 2177 w 3282"/>
              <a:gd name="T7" fmla="*/ 1330 h 1330"/>
              <a:gd name="T8" fmla="*/ 0 w 3282"/>
              <a:gd name="T9" fmla="*/ 162 h 1330"/>
            </a:gdLst>
            <a:ahLst/>
            <a:cxnLst>
              <a:cxn ang="0">
                <a:pos x="T0" y="T1"/>
              </a:cxn>
              <a:cxn ang="0">
                <a:pos x="T2" y="T3"/>
              </a:cxn>
              <a:cxn ang="0">
                <a:pos x="T4" y="T5"/>
              </a:cxn>
              <a:cxn ang="0">
                <a:pos x="T6" y="T7"/>
              </a:cxn>
              <a:cxn ang="0">
                <a:pos x="T8" y="T9"/>
              </a:cxn>
            </a:cxnLst>
            <a:rect l="0" t="0" r="r" b="b"/>
            <a:pathLst>
              <a:path w="3282" h="1330">
                <a:moveTo>
                  <a:pt x="0" y="162"/>
                </a:moveTo>
                <a:lnTo>
                  <a:pt x="911" y="0"/>
                </a:lnTo>
                <a:lnTo>
                  <a:pt x="3282" y="865"/>
                </a:lnTo>
                <a:lnTo>
                  <a:pt x="2177" y="1330"/>
                </a:lnTo>
                <a:lnTo>
                  <a:pt x="0" y="162"/>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Freeform"/>
          <p:cNvSpPr/>
          <p:nvPr/>
        </p:nvSpPr>
        <p:spPr bwMode="auto">
          <a:xfrm>
            <a:off x="5144770" y="3261996"/>
            <a:ext cx="2594610" cy="970280"/>
          </a:xfrm>
          <a:custGeom>
            <a:avLst/>
            <a:gdLst>
              <a:gd name="T0" fmla="*/ 0 w 3466"/>
              <a:gd name="T1" fmla="*/ 153 h 1296"/>
              <a:gd name="T2" fmla="*/ 0 w 3466"/>
              <a:gd name="T3" fmla="*/ 431 h 1296"/>
              <a:gd name="T4" fmla="*/ 2371 w 3466"/>
              <a:gd name="T5" fmla="*/ 1296 h 1296"/>
              <a:gd name="T6" fmla="*/ 3466 w 3466"/>
              <a:gd name="T7" fmla="*/ 834 h 1296"/>
              <a:gd name="T8" fmla="*/ 3466 w 3466"/>
              <a:gd name="T9" fmla="*/ 476 h 1296"/>
              <a:gd name="T10" fmla="*/ 1057 w 3466"/>
              <a:gd name="T11" fmla="*/ 0 h 1296"/>
              <a:gd name="T12" fmla="*/ 0 w 3466"/>
              <a:gd name="T13" fmla="*/ 153 h 1296"/>
            </a:gdLst>
            <a:ahLst/>
            <a:cxnLst>
              <a:cxn ang="0">
                <a:pos x="T0" y="T1"/>
              </a:cxn>
              <a:cxn ang="0">
                <a:pos x="T2" y="T3"/>
              </a:cxn>
              <a:cxn ang="0">
                <a:pos x="T4" y="T5"/>
              </a:cxn>
              <a:cxn ang="0">
                <a:pos x="T6" y="T7"/>
              </a:cxn>
              <a:cxn ang="0">
                <a:pos x="T8" y="T9"/>
              </a:cxn>
              <a:cxn ang="0">
                <a:pos x="T10" y="T11"/>
              </a:cxn>
              <a:cxn ang="0">
                <a:pos x="T12" y="T13"/>
              </a:cxn>
            </a:cxnLst>
            <a:rect l="0" t="0" r="r" b="b"/>
            <a:pathLst>
              <a:path w="3466" h="1296">
                <a:moveTo>
                  <a:pt x="0" y="153"/>
                </a:moveTo>
                <a:lnTo>
                  <a:pt x="0" y="431"/>
                </a:lnTo>
                <a:lnTo>
                  <a:pt x="2371" y="1296"/>
                </a:lnTo>
                <a:lnTo>
                  <a:pt x="3466" y="834"/>
                </a:lnTo>
                <a:lnTo>
                  <a:pt x="3466" y="476"/>
                </a:lnTo>
                <a:lnTo>
                  <a:pt x="1057" y="0"/>
                </a:lnTo>
                <a:lnTo>
                  <a:pt x="0" y="153"/>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Freeform"/>
          <p:cNvSpPr/>
          <p:nvPr/>
        </p:nvSpPr>
        <p:spPr bwMode="auto">
          <a:xfrm>
            <a:off x="5144770" y="3261996"/>
            <a:ext cx="2594610" cy="633730"/>
          </a:xfrm>
          <a:custGeom>
            <a:avLst/>
            <a:gdLst>
              <a:gd name="T0" fmla="*/ 0 w 3466"/>
              <a:gd name="T1" fmla="*/ 153 h 847"/>
              <a:gd name="T2" fmla="*/ 1057 w 3466"/>
              <a:gd name="T3" fmla="*/ 0 h 847"/>
              <a:gd name="T4" fmla="*/ 3466 w 3466"/>
              <a:gd name="T5" fmla="*/ 476 h 847"/>
              <a:gd name="T6" fmla="*/ 2371 w 3466"/>
              <a:gd name="T7" fmla="*/ 847 h 847"/>
              <a:gd name="T8" fmla="*/ 0 w 3466"/>
              <a:gd name="T9" fmla="*/ 153 h 847"/>
            </a:gdLst>
            <a:ahLst/>
            <a:cxnLst>
              <a:cxn ang="0">
                <a:pos x="T0" y="T1"/>
              </a:cxn>
              <a:cxn ang="0">
                <a:pos x="T2" y="T3"/>
              </a:cxn>
              <a:cxn ang="0">
                <a:pos x="T4" y="T5"/>
              </a:cxn>
              <a:cxn ang="0">
                <a:pos x="T6" y="T7"/>
              </a:cxn>
              <a:cxn ang="0">
                <a:pos x="T8" y="T9"/>
              </a:cxn>
            </a:cxnLst>
            <a:rect l="0" t="0" r="r" b="b"/>
            <a:pathLst>
              <a:path w="3466" h="847">
                <a:moveTo>
                  <a:pt x="0" y="153"/>
                </a:moveTo>
                <a:lnTo>
                  <a:pt x="1057" y="0"/>
                </a:lnTo>
                <a:lnTo>
                  <a:pt x="3466" y="476"/>
                </a:lnTo>
                <a:lnTo>
                  <a:pt x="2371" y="847"/>
                </a:lnTo>
                <a:lnTo>
                  <a:pt x="0" y="15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p:cNvSpPr/>
          <p:nvPr/>
        </p:nvSpPr>
        <p:spPr bwMode="auto">
          <a:xfrm>
            <a:off x="5935980" y="2962276"/>
            <a:ext cx="2582545" cy="655955"/>
          </a:xfrm>
          <a:custGeom>
            <a:avLst/>
            <a:gdLst>
              <a:gd name="T0" fmla="*/ 0 w 3450"/>
              <a:gd name="T1" fmla="*/ 123 h 876"/>
              <a:gd name="T2" fmla="*/ 0 w 3450"/>
              <a:gd name="T3" fmla="*/ 400 h 876"/>
              <a:gd name="T4" fmla="*/ 2409 w 3450"/>
              <a:gd name="T5" fmla="*/ 876 h 876"/>
              <a:gd name="T6" fmla="*/ 3450 w 3450"/>
              <a:gd name="T7" fmla="*/ 526 h 876"/>
              <a:gd name="T8" fmla="*/ 3450 w 3450"/>
              <a:gd name="T9" fmla="*/ 211 h 876"/>
              <a:gd name="T10" fmla="*/ 1186 w 3450"/>
              <a:gd name="T11" fmla="*/ 0 h 876"/>
              <a:gd name="T12" fmla="*/ 0 w 3450"/>
              <a:gd name="T13" fmla="*/ 123 h 876"/>
            </a:gdLst>
            <a:ahLst/>
            <a:cxnLst>
              <a:cxn ang="0">
                <a:pos x="T0" y="T1"/>
              </a:cxn>
              <a:cxn ang="0">
                <a:pos x="T2" y="T3"/>
              </a:cxn>
              <a:cxn ang="0">
                <a:pos x="T4" y="T5"/>
              </a:cxn>
              <a:cxn ang="0">
                <a:pos x="T6" y="T7"/>
              </a:cxn>
              <a:cxn ang="0">
                <a:pos x="T8" y="T9"/>
              </a:cxn>
              <a:cxn ang="0">
                <a:pos x="T10" y="T11"/>
              </a:cxn>
              <a:cxn ang="0">
                <a:pos x="T12" y="T13"/>
              </a:cxn>
            </a:cxnLst>
            <a:rect l="0" t="0" r="r" b="b"/>
            <a:pathLst>
              <a:path w="3450" h="876">
                <a:moveTo>
                  <a:pt x="0" y="123"/>
                </a:moveTo>
                <a:lnTo>
                  <a:pt x="0" y="400"/>
                </a:lnTo>
                <a:lnTo>
                  <a:pt x="2409" y="876"/>
                </a:lnTo>
                <a:lnTo>
                  <a:pt x="3450" y="526"/>
                </a:lnTo>
                <a:lnTo>
                  <a:pt x="3450" y="211"/>
                </a:lnTo>
                <a:lnTo>
                  <a:pt x="1186" y="0"/>
                </a:lnTo>
                <a:lnTo>
                  <a:pt x="0" y="123"/>
                </a:lnTo>
                <a:close/>
              </a:path>
            </a:pathLst>
          </a:custGeom>
          <a:solidFill>
            <a:schemeClr val="accent4">
              <a:lumMod val="7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Freeform"/>
          <p:cNvSpPr/>
          <p:nvPr/>
        </p:nvSpPr>
        <p:spPr bwMode="auto">
          <a:xfrm>
            <a:off x="5935980" y="2962276"/>
            <a:ext cx="2582545" cy="346075"/>
          </a:xfrm>
          <a:custGeom>
            <a:avLst/>
            <a:gdLst>
              <a:gd name="T0" fmla="*/ 0 w 3450"/>
              <a:gd name="T1" fmla="*/ 123 h 462"/>
              <a:gd name="T2" fmla="*/ 1186 w 3450"/>
              <a:gd name="T3" fmla="*/ 0 h 462"/>
              <a:gd name="T4" fmla="*/ 3450 w 3450"/>
              <a:gd name="T5" fmla="*/ 211 h 462"/>
              <a:gd name="T6" fmla="*/ 2409 w 3450"/>
              <a:gd name="T7" fmla="*/ 462 h 462"/>
              <a:gd name="T8" fmla="*/ 0 w 3450"/>
              <a:gd name="T9" fmla="*/ 123 h 462"/>
            </a:gdLst>
            <a:ahLst/>
            <a:cxnLst>
              <a:cxn ang="0">
                <a:pos x="T0" y="T1"/>
              </a:cxn>
              <a:cxn ang="0">
                <a:pos x="T2" y="T3"/>
              </a:cxn>
              <a:cxn ang="0">
                <a:pos x="T4" y="T5"/>
              </a:cxn>
              <a:cxn ang="0">
                <a:pos x="T6" y="T7"/>
              </a:cxn>
              <a:cxn ang="0">
                <a:pos x="T8" y="T9"/>
              </a:cxn>
            </a:cxnLst>
            <a:rect l="0" t="0" r="r" b="b"/>
            <a:pathLst>
              <a:path w="3450" h="462">
                <a:moveTo>
                  <a:pt x="0" y="123"/>
                </a:moveTo>
                <a:lnTo>
                  <a:pt x="1186" y="0"/>
                </a:lnTo>
                <a:lnTo>
                  <a:pt x="3450" y="211"/>
                </a:lnTo>
                <a:lnTo>
                  <a:pt x="2409" y="462"/>
                </a:lnTo>
                <a:lnTo>
                  <a:pt x="0" y="12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1" name="直接连接符 10"/>
          <p:cNvCxnSpPr/>
          <p:nvPr/>
        </p:nvCxnSpPr>
        <p:spPr>
          <a:xfrm>
            <a:off x="2940050" y="304800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2" name="直接箭头连接符 11"/>
          <p:cNvCxnSpPr/>
          <p:nvPr/>
        </p:nvCxnSpPr>
        <p:spPr>
          <a:xfrm>
            <a:off x="4342130" y="30467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3" name="直接连接符 12"/>
          <p:cNvCxnSpPr/>
          <p:nvPr/>
        </p:nvCxnSpPr>
        <p:spPr>
          <a:xfrm flipV="1">
            <a:off x="2338705" y="511365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4" name="直接箭头连接符 13"/>
          <p:cNvCxnSpPr/>
          <p:nvPr/>
        </p:nvCxnSpPr>
        <p:spPr>
          <a:xfrm flipV="1">
            <a:off x="3740785" y="458025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5" name="直接连接符 14"/>
          <p:cNvCxnSpPr/>
          <p:nvPr/>
        </p:nvCxnSpPr>
        <p:spPr>
          <a:xfrm flipH="1" flipV="1">
            <a:off x="7493000" y="473075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6" name="直接箭头连接符 15"/>
          <p:cNvCxnSpPr/>
          <p:nvPr/>
        </p:nvCxnSpPr>
        <p:spPr>
          <a:xfrm flipH="1" flipV="1">
            <a:off x="7255510" y="419671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7" name="直接连接符 16"/>
          <p:cNvCxnSpPr/>
          <p:nvPr/>
        </p:nvCxnSpPr>
        <p:spPr>
          <a:xfrm flipH="1">
            <a:off x="8422640" y="247586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8" name="直接箭头连接符 17"/>
          <p:cNvCxnSpPr/>
          <p:nvPr/>
        </p:nvCxnSpPr>
        <p:spPr>
          <a:xfrm flipH="1">
            <a:off x="8185150" y="24752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sp>
        <p:nvSpPr>
          <p:cNvPr id="19" name="TextBox"/>
          <p:cNvSpPr txBox="1"/>
          <p:nvPr/>
        </p:nvSpPr>
        <p:spPr>
          <a:xfrm>
            <a:off x="2009140" y="2160905"/>
            <a:ext cx="313563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2026年Tesla股价约340美元，市值1.1万亿美元，受FSD进展与全球EV需求波动双重影响，Q2以来反弹超20%。</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0" name="Rectangle"/>
          <p:cNvSpPr/>
          <p:nvPr/>
        </p:nvSpPr>
        <p:spPr>
          <a:xfrm>
            <a:off x="2524760" y="1786255"/>
            <a:ext cx="20999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股价表现</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1" name="TextBox"/>
          <p:cNvSpPr txBox="1"/>
          <p:nvPr/>
        </p:nvSpPr>
        <p:spPr>
          <a:xfrm>
            <a:off x="8015605" y="1642110"/>
            <a:ext cx="324739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FSD V13端到端架构已推送至全球，干预里程提升至200+英里，中国版合作百度加速合规化进程。</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2" name="Rectangle"/>
          <p:cNvSpPr/>
          <p:nvPr/>
        </p:nvSpPr>
        <p:spPr>
          <a:xfrm>
            <a:off x="7982585" y="1267460"/>
            <a:ext cx="327977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FSD自动驾驶</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3" name="TextBox"/>
          <p:cNvSpPr txBox="1"/>
          <p:nvPr/>
        </p:nvSpPr>
        <p:spPr>
          <a:xfrm>
            <a:off x="967105" y="5654040"/>
            <a:ext cx="305752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4680电池年产能突破20GWh，Cybertruck搭载结构电池包，电芯成本较2170降低约25%，引领下一代标准化。</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4" name="Rectangle"/>
          <p:cNvSpPr/>
          <p:nvPr/>
        </p:nvSpPr>
        <p:spPr>
          <a:xfrm>
            <a:off x="717550" y="5228590"/>
            <a:ext cx="36493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4680电池技术</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6" name="TextBox"/>
          <p:cNvSpPr txBox="1"/>
          <p:nvPr/>
        </p:nvSpPr>
        <p:spPr>
          <a:xfrm>
            <a:off x="7018020" y="5266690"/>
            <a:ext cx="320865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上海工厂年化产能超100万辆，柏林/德州工厂持续爬坡，Cybertruck全球订单超200万，Q1交付约42万辆。</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7" name="Rectangle"/>
          <p:cNvSpPr/>
          <p:nvPr/>
        </p:nvSpPr>
        <p:spPr>
          <a:xfrm>
            <a:off x="7086600" y="4815840"/>
            <a:ext cx="3013710"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rgbClr val="A8625A"/>
                </a:solidFill>
                <a:uFillTx/>
                <a:latin typeface="思源黑体 CN Medium" panose="020B0600000000000000" charset="-122"/>
                <a:ea typeface="思源黑体 CN Medium" panose="020B0600000000000000" charset="-122"/>
              </a:rPr>
              <a:t>全球交付表现</a:t>
            </a:r>
            <a:endParaRPr lang="zh-CN" altLang="en-US" b="1" spc="300" dirty="0">
              <a:solidFill>
                <a:srgbClr val="A8625A"/>
              </a:solidFill>
              <a:uFillTx/>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小学中段数学</a:t>
            </a:r>
            <a:r>
              <a:rPr lang="en-US" altLang="zh-CN"/>
              <a:t> “</a:t>
            </a:r>
            <a:r>
              <a:rPr lang="zh-CN" altLang="en-US"/>
              <a:t>生活化问题解决</a:t>
            </a:r>
            <a:r>
              <a:rPr lang="en-US" altLang="zh-CN"/>
              <a:t>” </a:t>
            </a:r>
            <a:r>
              <a:rPr lang="zh-CN" altLang="en-US"/>
              <a:t>教研融合策略研究</a:t>
            </a:r>
            <a:r>
              <a:rPr lang="zh-CN" altLang="en-US"/>
              <a:t>意义</a:t>
            </a:r>
            <a:endParaRPr lang="zh-CN" altLang="en-US"/>
          </a:p>
        </p:txBody>
      </p:sp>
      <p:grpSp>
        <p:nvGrpSpPr>
          <p:cNvPr id="88" name="组合 87"/>
          <p:cNvGrpSpPr/>
          <p:nvPr/>
        </p:nvGrpSpPr>
        <p:grpSpPr>
          <a:xfrm>
            <a:off x="613410" y="1752600"/>
            <a:ext cx="10908905" cy="4062998"/>
            <a:chOff x="966" y="2400"/>
            <a:chExt cx="12468" cy="4644"/>
          </a:xfrm>
        </p:grpSpPr>
        <p:sp>
          <p:nvSpPr>
            <p:cNvPr id="65" name="椭圆 64"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22" y="2487"/>
              <a:ext cx="4556" cy="4556"/>
            </a:xfrm>
            <a:prstGeom prst="ellipse">
              <a:avLst/>
            </a:prstGeom>
            <a:solidFill>
              <a:schemeClr val="accent1">
                <a:lumMod val="20000"/>
                <a:lumOff val="80000"/>
                <a:alpha val="2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018"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7" name="椭圆 6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247"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8" name="椭圆 6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60"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9" name="椭圆 6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189"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70" name="弧形 69"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073" y="3111"/>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弧形 7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858"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弧形 71"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6073" y="4537"/>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弧形 72"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5316"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椭圆 73"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973" y="3613"/>
              <a:ext cx="2453" cy="2453"/>
            </a:xfrm>
            <a:prstGeom prst="ellipse">
              <a:avLst/>
            </a:prstGeom>
            <a:solidFill>
              <a:schemeClr val="accent1"/>
            </a:solidFill>
            <a:ln>
              <a:noFill/>
            </a:ln>
            <a:effectLst>
              <a:outerShdw blurRad="1270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pic>
          <p:nvPicPr>
            <p:cNvPr id="75"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8" y="6005"/>
              <a:ext cx="689" cy="689"/>
            </a:xfrm>
            <a:prstGeom prst="rect">
              <a:avLst/>
            </a:prstGeom>
          </p:spPr>
        </p:pic>
        <p:pic>
          <p:nvPicPr>
            <p:cNvPr id="76" name="图片 1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75" y="5960"/>
              <a:ext cx="778" cy="778"/>
            </a:xfrm>
            <a:prstGeom prst="rect">
              <a:avLst/>
            </a:prstGeom>
          </p:spPr>
        </p:pic>
        <p:pic>
          <p:nvPicPr>
            <p:cNvPr id="77" name="图片 1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78" y="2645"/>
              <a:ext cx="689" cy="689"/>
            </a:xfrm>
            <a:prstGeom prst="rect">
              <a:avLst/>
            </a:prstGeom>
          </p:spPr>
        </p:pic>
        <p:pic>
          <p:nvPicPr>
            <p:cNvPr id="78" name="图片 1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07" y="2645"/>
              <a:ext cx="689" cy="689"/>
            </a:xfrm>
            <a:prstGeom prst="rect">
              <a:avLst/>
            </a:prstGeom>
          </p:spPr>
        </p:pic>
        <p:pic>
          <p:nvPicPr>
            <p:cNvPr id="79"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20" y="4260"/>
              <a:ext cx="1160" cy="1160"/>
            </a:xfrm>
            <a:prstGeom prst="rect">
              <a:avLst/>
            </a:prstGeom>
          </p:spPr>
        </p:pic>
        <p:sp>
          <p:nvSpPr>
            <p:cNvPr id="80" name="文本框 79"/>
            <p:cNvSpPr txBox="1"/>
            <p:nvPr/>
          </p:nvSpPr>
          <p:spPr>
            <a:xfrm>
              <a:off x="9899" y="2400"/>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促学生提应用能力</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1" name="文本框 80"/>
            <p:cNvSpPr txBox="1"/>
            <p:nvPr/>
          </p:nvSpPr>
          <p:spPr>
            <a:xfrm>
              <a:off x="9899" y="2816"/>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让数学知识与生活场景结合，降低学生对抽象数学的理解难度，助力其用数学思维解决实际问题，提升应用能力。</a:t>
              </a:r>
              <a:endParaRPr lang="zh-CN" altLang="en-US" sz="1200" b="0">
                <a:solidFill>
                  <a:schemeClr val="tx1">
                    <a:lumMod val="75000"/>
                    <a:lumOff val="25000"/>
                  </a:schemeClr>
                </a:solidFill>
              </a:endParaRPr>
            </a:p>
          </p:txBody>
        </p:sp>
        <p:sp>
          <p:nvSpPr>
            <p:cNvPr id="82" name="文本框 81"/>
            <p:cNvSpPr txBox="1"/>
            <p:nvPr/>
          </p:nvSpPr>
          <p:spPr>
            <a:xfrm>
              <a:off x="9899" y="5493"/>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升学科教学质量</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3" name="文本框 82"/>
            <p:cNvSpPr txBox="1"/>
            <p:nvPr/>
          </p:nvSpPr>
          <p:spPr>
            <a:xfrm>
              <a:off x="9899" y="5910"/>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以教研融合优化生活化教学环节，改善课堂互动效果，切实提升小学中段数学教学的整体质量与学生学习兴趣。</a:t>
              </a:r>
              <a:endParaRPr lang="zh-CN" altLang="en-US" sz="1200" b="0">
                <a:solidFill>
                  <a:schemeClr val="tx1">
                    <a:lumMod val="75000"/>
                    <a:lumOff val="25000"/>
                  </a:schemeClr>
                </a:solidFill>
              </a:endParaRPr>
            </a:p>
          </p:txBody>
        </p:sp>
        <p:sp>
          <p:nvSpPr>
            <p:cNvPr id="84" name="文本框 83"/>
            <p:cNvSpPr txBox="1"/>
            <p:nvPr/>
          </p:nvSpPr>
          <p:spPr>
            <a:xfrm>
              <a:off x="1315" y="2400"/>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助教师破设计困境</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5" name="文本框 84"/>
            <p:cNvSpPr txBox="1"/>
            <p:nvPr/>
          </p:nvSpPr>
          <p:spPr>
            <a:xfrm>
              <a:off x="966" y="2816"/>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帮助小学中段数学教师突破</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生活化问题设计难、与教学脱节</a:t>
              </a:r>
              <a:r>
                <a:rPr lang="en-US" altLang="zh-CN" sz="1200" b="0">
                  <a:solidFill>
                    <a:schemeClr val="tx1">
                      <a:lumMod val="75000"/>
                      <a:lumOff val="25000"/>
                    </a:schemeClr>
                  </a:solidFill>
                </a:rPr>
                <a:t>” </a:t>
              </a:r>
              <a:r>
                <a:rPr lang="zh-CN" altLang="en-US" sz="1200" b="0">
                  <a:solidFill>
                    <a:schemeClr val="tx1">
                      <a:lumMod val="75000"/>
                      <a:lumOff val="25000"/>
                    </a:schemeClr>
                  </a:solidFill>
                </a:rPr>
                <a:t>的问题，提供可落地的教研策略，提升教学设计能力。</a:t>
              </a:r>
              <a:endParaRPr lang="zh-CN" altLang="en-US" sz="1200" b="0">
                <a:solidFill>
                  <a:schemeClr val="tx1">
                    <a:lumMod val="75000"/>
                    <a:lumOff val="25000"/>
                  </a:schemeClr>
                </a:solidFill>
              </a:endParaRPr>
            </a:p>
          </p:txBody>
        </p:sp>
        <p:sp>
          <p:nvSpPr>
            <p:cNvPr id="86" name="文本框 85"/>
            <p:cNvSpPr txBox="1"/>
            <p:nvPr/>
          </p:nvSpPr>
          <p:spPr>
            <a:xfrm>
              <a:off x="1315" y="5493"/>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强教研针对性</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7" name="文本框 86"/>
            <p:cNvSpPr txBox="1"/>
            <p:nvPr/>
          </p:nvSpPr>
          <p:spPr>
            <a:xfrm>
              <a:off x="966" y="5910"/>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推动小学中段数学教研聚焦</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生活化问题解决</a:t>
              </a:r>
              <a:r>
                <a:rPr lang="en-US" altLang="zh-CN" sz="1200" b="0">
                  <a:solidFill>
                    <a:schemeClr val="tx1">
                      <a:lumMod val="75000"/>
                      <a:lumOff val="25000"/>
                    </a:schemeClr>
                  </a:solidFill>
                </a:rPr>
                <a:t>” </a:t>
              </a:r>
              <a:r>
                <a:rPr lang="zh-CN" altLang="en-US" sz="1200" b="0">
                  <a:solidFill>
                    <a:schemeClr val="tx1">
                      <a:lumMod val="75000"/>
                      <a:lumOff val="25000"/>
                    </a:schemeClr>
                  </a:solidFill>
                </a:rPr>
                <a:t>这一真实教学需求，避免教研流于形式，增强教研对教学的支撑作用。</a:t>
              </a:r>
              <a:endParaRPr lang="zh-CN" altLang="en-US" sz="1200" b="0">
                <a:solidFill>
                  <a:schemeClr val="tx1">
                    <a:lumMod val="75000"/>
                    <a:lumOff val="25000"/>
                  </a:schemeClr>
                </a:solidFill>
              </a:endParaRPr>
            </a:p>
          </p:txBody>
        </p:sp>
      </p:grpSp>
    </p:spTree>
    <p:custDataLst>
      <p:tags r:id="rId1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居家腹膜透析患者家庭照护者导管护理规范执行研究</a:t>
            </a:r>
            <a:r>
              <a:rPr lang="zh-CN" altLang="en-US"/>
              <a:t>意义</a:t>
            </a:r>
            <a:endParaRPr lang="zh-CN" altLang="en-US"/>
          </a:p>
        </p:txBody>
      </p:sp>
      <p:sp>
        <p:nvSpPr>
          <p:cNvPr id="3" name="矩形: 圆角 1"/>
          <p:cNvSpPr/>
          <p:nvPr/>
        </p:nvSpPr>
        <p:spPr>
          <a:xfrm flipH="1">
            <a:off x="6310704"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椭圆 3"/>
          <p:cNvSpPr/>
          <p:nvPr/>
        </p:nvSpPr>
        <p:spPr>
          <a:xfrm flipH="1">
            <a:off x="10315967"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文本框 4"/>
          <p:cNvSpPr txBox="1"/>
          <p:nvPr/>
        </p:nvSpPr>
        <p:spPr>
          <a:xfrm flipH="1">
            <a:off x="8144307" y="37769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完善社区透析护理</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矩形: 圆角 5"/>
          <p:cNvSpPr/>
          <p:nvPr/>
        </p:nvSpPr>
        <p:spPr>
          <a:xfrm flipH="1">
            <a:off x="6711950"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椭圆 6"/>
          <p:cNvSpPr/>
          <p:nvPr/>
        </p:nvSpPr>
        <p:spPr>
          <a:xfrm flipH="1">
            <a:off x="10717213"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文本框 7"/>
          <p:cNvSpPr txBox="1"/>
          <p:nvPr/>
        </p:nvSpPr>
        <p:spPr>
          <a:xfrm flipH="1">
            <a:off x="8227736" y="2251559"/>
            <a:ext cx="2291715"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提升照护者实操能力</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文本框 8"/>
          <p:cNvSpPr txBox="1"/>
          <p:nvPr/>
        </p:nvSpPr>
        <p:spPr>
          <a:xfrm flipH="1">
            <a:off x="7693026" y="2579800"/>
            <a:ext cx="2876317" cy="761365"/>
          </a:xfrm>
          <a:prstGeom prst="rect">
            <a:avLst/>
          </a:prstGeom>
          <a:noFill/>
        </p:spPr>
        <p:txBody>
          <a:bodyPr wrap="square" lIns="0" tIns="0" rIns="0" bIns="0" rtlCol="0" anchor="t">
            <a:spAutoFit/>
          </a:bodyPr>
          <a:lstStyle/>
          <a:p>
            <a:pPr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28% </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居家腹膜透析家庭照护者能完全掌握导管护理规范，本研究可填补其技能缺口，增强照护信心与自我效能。</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custDataLst>
              <p:tags r:id="rId2"/>
            </p:custDataLst>
          </p:nvPr>
        </p:nvSpPr>
        <p:spPr>
          <a:xfrm flipH="1">
            <a:off x="7724775" y="4119880"/>
            <a:ext cx="2534920" cy="507365"/>
          </a:xfrm>
          <a:prstGeom prst="rect">
            <a:avLst/>
          </a:prstGeom>
          <a:noFill/>
        </p:spPr>
        <p:txBody>
          <a:bodyPr wrap="square" lIns="0" tIns="0" rIns="0" bIns="0" rtlCol="0" anchor="t">
            <a:spAutoFit/>
          </a:bodyPr>
          <a:lstStyle/>
          <a:p>
            <a:pPr lvl="0"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社区导管护理指导覆盖率不足</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20%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，本研究提供标准化方案，补全居家护理体系。</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圆角 10"/>
          <p:cNvSpPr/>
          <p:nvPr/>
        </p:nvSpPr>
        <p:spPr>
          <a:xfrm>
            <a:off x="1592549"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椭圆 11"/>
          <p:cNvSpPr/>
          <p:nvPr/>
        </p:nvSpPr>
        <p:spPr>
          <a:xfrm>
            <a:off x="1430624"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文本框 12"/>
          <p:cNvSpPr txBox="1"/>
          <p:nvPr/>
        </p:nvSpPr>
        <p:spPr>
          <a:xfrm>
            <a:off x="2078474" y="37896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减少医疗资源消耗</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1148842"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椭圆 14"/>
          <p:cNvSpPr/>
          <p:nvPr/>
        </p:nvSpPr>
        <p:spPr>
          <a:xfrm>
            <a:off x="986917"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user_209046"/>
          <p:cNvSpPr/>
          <p:nvPr/>
        </p:nvSpPr>
        <p:spPr>
          <a:xfrm>
            <a:off x="1110742" y="2536830"/>
            <a:ext cx="261185" cy="23552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16"/>
          <p:cNvSpPr txBox="1"/>
          <p:nvPr/>
        </p:nvSpPr>
        <p:spPr>
          <a:xfrm>
            <a:off x="1736367" y="226425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降低患者感染风险</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17"/>
          <p:cNvSpPr txBox="1"/>
          <p:nvPr/>
        </p:nvSpPr>
        <p:spPr>
          <a:xfrm>
            <a:off x="1698857" y="2592500"/>
            <a:ext cx="2876317"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我国居家腹膜透析患者导管相关感染率约</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15%</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，本研究可提升照护者规范操作能力，直接降低感染发生率，保障患者透析安全。</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文本框 18"/>
          <p:cNvSpPr txBox="1"/>
          <p:nvPr/>
        </p:nvSpPr>
        <p:spPr>
          <a:xfrm>
            <a:off x="2025650" y="4107180"/>
            <a:ext cx="2614295"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导管感染导致的腹膜透析患者住院率超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，本研究能减少非必要住院，缓解肾内科医疗资源紧张，降低家庭医疗支出。</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流程图: 文档 19"/>
          <p:cNvSpPr/>
          <p:nvPr/>
        </p:nvSpPr>
        <p:spPr>
          <a:xfrm>
            <a:off x="4662488" y="1905000"/>
            <a:ext cx="2867025" cy="4157409"/>
          </a:xfrm>
          <a:prstGeom prst="flowChartDocument">
            <a:avLst/>
          </a:prstGeom>
          <a:solidFill>
            <a:schemeClr val="accent1"/>
          </a:solidFill>
          <a:ln w="12700" cap="flat" cmpd="sng" algn="ctr">
            <a:noFill/>
            <a:prstDash val="solid"/>
            <a:miter lim="800000"/>
          </a:ln>
          <a:effectLst>
            <a:outerShdw blurRad="228600" sx="102000" sy="102000" algn="ctr" rotWithShape="0">
              <a:schemeClr val="accent1">
                <a:lumMod val="50000"/>
                <a:alpha val="20000"/>
              </a:schemeClr>
            </a:outerShdw>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20"/>
          <p:cNvSpPr txBox="1"/>
          <p:nvPr/>
        </p:nvSpPr>
        <p:spPr>
          <a:xfrm>
            <a:off x="5283201" y="2720453"/>
            <a:ext cx="1625600" cy="492125"/>
          </a:xfrm>
          <a:prstGeom prst="rect">
            <a:avLst/>
          </a:prstGeom>
          <a:noFill/>
        </p:spPr>
        <p:txBody>
          <a:bodyPr wrap="none" lIns="0" tIns="0" rIns="0" bIns="0" rtlCol="0" anchor="t">
            <a:spAutoFit/>
          </a:bodyPr>
          <a:lstStyle/>
          <a:p>
            <a:pPr algn="ctr"/>
            <a:r>
              <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文本框 21"/>
          <p:cNvSpPr txBox="1"/>
          <p:nvPr>
            <p:custDataLst>
              <p:tags r:id="rId3"/>
            </p:custDataLst>
          </p:nvPr>
        </p:nvSpPr>
        <p:spPr>
          <a:xfrm>
            <a:off x="4862512" y="3440478"/>
            <a:ext cx="2466975" cy="1292225"/>
          </a:xfrm>
          <a:prstGeom prst="rect">
            <a:avLst/>
          </a:prstGeom>
          <a:noFill/>
        </p:spPr>
        <p:txBody>
          <a:bodyPr wrap="square" lIns="0" tIns="0" rIns="0" bIns="0" rtlCol="0" anchor="t">
            <a:spAutoFit/>
          </a:bodyPr>
          <a:lstStyle/>
          <a:p>
            <a:pPr lvl="0" algn="ctr">
              <a:lnSpc>
                <a:spcPct val="150000"/>
              </a:lnSpc>
            </a:pPr>
            <a:r>
              <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本研究提升照护者导管护理能力，可降低感染率与住院率、减少医疗消耗，完善护理体系，保障患者安全并增强照护效能。</a:t>
            </a:r>
            <a:endPar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5867400" y="3350500"/>
            <a:ext cx="457200" cy="457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user_209046"/>
          <p:cNvSpPr/>
          <p:nvPr/>
        </p:nvSpPr>
        <p:spPr>
          <a:xfrm>
            <a:off x="10427089" y="4121578"/>
            <a:ext cx="257182" cy="248016"/>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user_209046"/>
          <p:cNvSpPr/>
          <p:nvPr/>
        </p:nvSpPr>
        <p:spPr>
          <a:xfrm>
            <a:off x="10852278" y="2543031"/>
            <a:ext cx="219455" cy="269503"/>
          </a:xfrm>
          <a:custGeom>
            <a:avLst/>
            <a:gdLst>
              <a:gd name="T0" fmla="*/ 4225 w 8450"/>
              <a:gd name="T1" fmla="*/ 0 h 10376"/>
              <a:gd name="T2" fmla="*/ 0 w 8450"/>
              <a:gd name="T3" fmla="*/ 4225 h 10376"/>
              <a:gd name="T4" fmla="*/ 4225 w 8450"/>
              <a:gd name="T5" fmla="*/ 8450 h 10376"/>
              <a:gd name="T6" fmla="*/ 8450 w 8450"/>
              <a:gd name="T7" fmla="*/ 4225 h 10376"/>
              <a:gd name="T8" fmla="*/ 4225 w 8450"/>
              <a:gd name="T9" fmla="*/ 0 h 10376"/>
              <a:gd name="T10" fmla="*/ 4225 w 8450"/>
              <a:gd name="T11" fmla="*/ 6092 h 10376"/>
              <a:gd name="T12" fmla="*/ 2359 w 8450"/>
              <a:gd name="T13" fmla="*/ 4226 h 10376"/>
              <a:gd name="T14" fmla="*/ 4225 w 8450"/>
              <a:gd name="T15" fmla="*/ 2360 h 10376"/>
              <a:gd name="T16" fmla="*/ 6092 w 8450"/>
              <a:gd name="T17" fmla="*/ 4226 h 10376"/>
              <a:gd name="T18" fmla="*/ 4225 w 8450"/>
              <a:gd name="T19" fmla="*/ 6092 h 10376"/>
              <a:gd name="T20" fmla="*/ 6682 w 8450"/>
              <a:gd name="T21" fmla="*/ 8571 h 10376"/>
              <a:gd name="T22" fmla="*/ 6322 w 8450"/>
              <a:gd name="T23" fmla="*/ 8582 h 10376"/>
              <a:gd name="T24" fmla="*/ 4225 w 8450"/>
              <a:gd name="T25" fmla="*/ 9225 h 10376"/>
              <a:gd name="T26" fmla="*/ 2180 w 8450"/>
              <a:gd name="T27" fmla="*/ 8611 h 10376"/>
              <a:gd name="T28" fmla="*/ 1793 w 8450"/>
              <a:gd name="T29" fmla="*/ 8620 h 10376"/>
              <a:gd name="T30" fmla="*/ 1533 w 8450"/>
              <a:gd name="T31" fmla="*/ 8956 h 10376"/>
              <a:gd name="T32" fmla="*/ 1352 w 8450"/>
              <a:gd name="T33" fmla="*/ 9871 h 10376"/>
              <a:gd name="T34" fmla="*/ 1857 w 8450"/>
              <a:gd name="T35" fmla="*/ 10376 h 10376"/>
              <a:gd name="T36" fmla="*/ 6680 w 8450"/>
              <a:gd name="T37" fmla="*/ 10376 h 10376"/>
              <a:gd name="T38" fmla="*/ 7185 w 8450"/>
              <a:gd name="T39" fmla="*/ 9871 h 10376"/>
              <a:gd name="T40" fmla="*/ 7004 w 8450"/>
              <a:gd name="T41" fmla="*/ 8956 h 10376"/>
              <a:gd name="T42" fmla="*/ 6682 w 8450"/>
              <a:gd name="T43" fmla="*/ 8571 h 10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50" h="10376">
                <a:moveTo>
                  <a:pt x="4225" y="0"/>
                </a:moveTo>
                <a:cubicBezTo>
                  <a:pt x="1892" y="0"/>
                  <a:pt x="0" y="1891"/>
                  <a:pt x="0" y="4225"/>
                </a:cubicBezTo>
                <a:cubicBezTo>
                  <a:pt x="0" y="6558"/>
                  <a:pt x="1892" y="8450"/>
                  <a:pt x="4225" y="8450"/>
                </a:cubicBezTo>
                <a:cubicBezTo>
                  <a:pt x="6559" y="8450"/>
                  <a:pt x="8450" y="6558"/>
                  <a:pt x="8450" y="4225"/>
                </a:cubicBezTo>
                <a:cubicBezTo>
                  <a:pt x="8450" y="1892"/>
                  <a:pt x="6559" y="0"/>
                  <a:pt x="4225" y="0"/>
                </a:cubicBezTo>
                <a:close/>
                <a:moveTo>
                  <a:pt x="4225" y="6092"/>
                </a:moveTo>
                <a:cubicBezTo>
                  <a:pt x="3194" y="6092"/>
                  <a:pt x="2359" y="5257"/>
                  <a:pt x="2359" y="4226"/>
                </a:cubicBezTo>
                <a:cubicBezTo>
                  <a:pt x="2359" y="3194"/>
                  <a:pt x="3194" y="2360"/>
                  <a:pt x="4225" y="2360"/>
                </a:cubicBezTo>
                <a:cubicBezTo>
                  <a:pt x="5257" y="2360"/>
                  <a:pt x="6092" y="3195"/>
                  <a:pt x="6092" y="4226"/>
                </a:cubicBezTo>
                <a:cubicBezTo>
                  <a:pt x="6092" y="5257"/>
                  <a:pt x="5257" y="6092"/>
                  <a:pt x="4225" y="6092"/>
                </a:cubicBezTo>
                <a:close/>
                <a:moveTo>
                  <a:pt x="6682" y="8571"/>
                </a:moveTo>
                <a:cubicBezTo>
                  <a:pt x="6570" y="8507"/>
                  <a:pt x="6432" y="8516"/>
                  <a:pt x="6322" y="8582"/>
                </a:cubicBezTo>
                <a:cubicBezTo>
                  <a:pt x="5643" y="8991"/>
                  <a:pt x="5117" y="9225"/>
                  <a:pt x="4225" y="9225"/>
                </a:cubicBezTo>
                <a:cubicBezTo>
                  <a:pt x="3355" y="9225"/>
                  <a:pt x="2843" y="9002"/>
                  <a:pt x="2180" y="8611"/>
                </a:cubicBezTo>
                <a:cubicBezTo>
                  <a:pt x="2060" y="8539"/>
                  <a:pt x="1909" y="8542"/>
                  <a:pt x="1793" y="8620"/>
                </a:cubicBezTo>
                <a:cubicBezTo>
                  <a:pt x="1659" y="8710"/>
                  <a:pt x="1584" y="8811"/>
                  <a:pt x="1533" y="8956"/>
                </a:cubicBezTo>
                <a:lnTo>
                  <a:pt x="1352" y="9871"/>
                </a:lnTo>
                <a:cubicBezTo>
                  <a:pt x="1352" y="10148"/>
                  <a:pt x="1579" y="10376"/>
                  <a:pt x="1857" y="10376"/>
                </a:cubicBezTo>
                <a:lnTo>
                  <a:pt x="6680" y="10376"/>
                </a:lnTo>
                <a:cubicBezTo>
                  <a:pt x="6958" y="10376"/>
                  <a:pt x="7185" y="10148"/>
                  <a:pt x="7185" y="9871"/>
                </a:cubicBezTo>
                <a:lnTo>
                  <a:pt x="7004" y="8956"/>
                </a:lnTo>
                <a:cubicBezTo>
                  <a:pt x="6947" y="8792"/>
                  <a:pt x="6845" y="8663"/>
                  <a:pt x="6682" y="85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user_209046"/>
          <p:cNvSpPr/>
          <p:nvPr/>
        </p:nvSpPr>
        <p:spPr>
          <a:xfrm>
            <a:off x="1527840" y="4111678"/>
            <a:ext cx="293438" cy="248016"/>
          </a:xfrm>
          <a:custGeom>
            <a:avLst/>
            <a:gdLst>
              <a:gd name="T0" fmla="*/ 4484 w 10375"/>
              <a:gd name="T1" fmla="*/ 6967 h 8769"/>
              <a:gd name="T2" fmla="*/ 4484 w 10375"/>
              <a:gd name="T3" fmla="*/ 8374 h 8769"/>
              <a:gd name="T4" fmla="*/ 5891 w 10375"/>
              <a:gd name="T5" fmla="*/ 8374 h 8769"/>
              <a:gd name="T6" fmla="*/ 5891 w 10375"/>
              <a:gd name="T7" fmla="*/ 6967 h 8769"/>
              <a:gd name="T8" fmla="*/ 4484 w 10375"/>
              <a:gd name="T9" fmla="*/ 6967 h 8769"/>
              <a:gd name="T10" fmla="*/ 1754 w 10375"/>
              <a:gd name="T11" fmla="*/ 5262 h 8769"/>
              <a:gd name="T12" fmla="*/ 2766 w 10375"/>
              <a:gd name="T13" fmla="*/ 6423 h 8769"/>
              <a:gd name="T14" fmla="*/ 7633 w 10375"/>
              <a:gd name="T15" fmla="*/ 6423 h 8769"/>
              <a:gd name="T16" fmla="*/ 8645 w 10375"/>
              <a:gd name="T17" fmla="*/ 5262 h 8769"/>
              <a:gd name="T18" fmla="*/ 1754 w 10375"/>
              <a:gd name="T19" fmla="*/ 5262 h 8769"/>
              <a:gd name="T20" fmla="*/ 0 w 10375"/>
              <a:gd name="T21" fmla="*/ 3261 h 8769"/>
              <a:gd name="T22" fmla="*/ 1038 w 10375"/>
              <a:gd name="T23" fmla="*/ 4447 h 8769"/>
              <a:gd name="T24" fmla="*/ 9338 w 10375"/>
              <a:gd name="T25" fmla="*/ 4447 h 8769"/>
              <a:gd name="T26" fmla="*/ 10375 w 10375"/>
              <a:gd name="T27" fmla="*/ 3261 h 8769"/>
              <a:gd name="T28" fmla="*/ 0 w 10375"/>
              <a:gd name="T29" fmla="*/ 3261 h 8769"/>
              <a:gd name="T30" fmla="*/ 0 w 10375"/>
              <a:gd name="T31" fmla="*/ 3261 h 8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75" h="8769">
                <a:moveTo>
                  <a:pt x="4484" y="6967"/>
                </a:moveTo>
                <a:cubicBezTo>
                  <a:pt x="4089" y="7362"/>
                  <a:pt x="4089" y="7979"/>
                  <a:pt x="4484" y="8374"/>
                </a:cubicBezTo>
                <a:cubicBezTo>
                  <a:pt x="4879" y="8769"/>
                  <a:pt x="5496" y="8769"/>
                  <a:pt x="5891" y="8374"/>
                </a:cubicBezTo>
                <a:cubicBezTo>
                  <a:pt x="6286" y="7979"/>
                  <a:pt x="6286" y="7362"/>
                  <a:pt x="5891" y="6967"/>
                </a:cubicBezTo>
                <a:cubicBezTo>
                  <a:pt x="5471" y="6571"/>
                  <a:pt x="4854" y="6571"/>
                  <a:pt x="4484" y="6967"/>
                </a:cubicBezTo>
                <a:close/>
                <a:moveTo>
                  <a:pt x="1754" y="5262"/>
                </a:moveTo>
                <a:lnTo>
                  <a:pt x="2766" y="6423"/>
                </a:lnTo>
                <a:cubicBezTo>
                  <a:pt x="4100" y="4892"/>
                  <a:pt x="6299" y="4892"/>
                  <a:pt x="7633" y="6423"/>
                </a:cubicBezTo>
                <a:lnTo>
                  <a:pt x="8645" y="5262"/>
                </a:lnTo>
                <a:cubicBezTo>
                  <a:pt x="6719" y="3088"/>
                  <a:pt x="3656" y="3088"/>
                  <a:pt x="1754" y="5262"/>
                </a:cubicBezTo>
                <a:close/>
                <a:moveTo>
                  <a:pt x="0" y="3261"/>
                </a:moveTo>
                <a:lnTo>
                  <a:pt x="1038" y="4447"/>
                </a:lnTo>
                <a:cubicBezTo>
                  <a:pt x="3335" y="1803"/>
                  <a:pt x="7040" y="1803"/>
                  <a:pt x="9338" y="4447"/>
                </a:cubicBezTo>
                <a:lnTo>
                  <a:pt x="10375" y="3261"/>
                </a:lnTo>
                <a:cubicBezTo>
                  <a:pt x="7534" y="0"/>
                  <a:pt x="2865" y="0"/>
                  <a:pt x="0" y="3261"/>
                </a:cubicBezTo>
                <a:close/>
                <a:moveTo>
                  <a:pt x="0" y="3261"/>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中小学课后服务中非书面作业的设计与实施研究</a:t>
            </a:r>
            <a:r>
              <a:rPr lang="zh-CN" altLang="en-US"/>
              <a:t>意义</a:t>
            </a:r>
            <a:endParaRPr lang="zh-CN" altLang="en-US"/>
          </a:p>
        </p:txBody>
      </p:sp>
      <p:sp>
        <p:nvSpPr>
          <p:cNvPr id="6" name="Rectangle 20"/>
          <p:cNvSpPr/>
          <p:nvPr>
            <p:custDataLst>
              <p:tags r:id="rId2"/>
            </p:custDataLst>
          </p:nvPr>
        </p:nvSpPr>
        <p:spPr>
          <a:xfrm>
            <a:off x="3040786" y="4949696"/>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缓解中小学生课后书面作业压力，通过实践类、体验类作业发展其动手与创新能力。</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7" name="Rectangle 21"/>
          <p:cNvSpPr/>
          <p:nvPr>
            <p:custDataLst>
              <p:tags r:id="rId3"/>
            </p:custDataLst>
          </p:nvPr>
        </p:nvSpPr>
        <p:spPr>
          <a:xfrm>
            <a:off x="5057205" y="4114367"/>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为教师提供课后服务作业设计参考，解决非书面作业</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无方向、难落地</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的困境。</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8" name="Rectangle 22"/>
          <p:cNvSpPr/>
          <p:nvPr>
            <p:custDataLst>
              <p:tags r:id="rId4"/>
            </p:custDataLst>
          </p:nvPr>
        </p:nvSpPr>
        <p:spPr>
          <a:xfrm>
            <a:off x="7053567" y="3392731"/>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丰富中小学课后服务内容形式，助力</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双减</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政策在课后服务场景中有效落地。</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9" name="Rectangle 23"/>
          <p:cNvSpPr/>
          <p:nvPr>
            <p:custDataLst>
              <p:tags r:id="rId5"/>
            </p:custDataLst>
          </p:nvPr>
        </p:nvSpPr>
        <p:spPr>
          <a:xfrm>
            <a:off x="9028284" y="2707448"/>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填补当前中小学课后服务非书面作业专项设计的研究空白，完善作业研究体系。</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10" name="Freeform 5"/>
          <p:cNvSpPr/>
          <p:nvPr>
            <p:custDataLst>
              <p:tags r:id="rId6"/>
            </p:custDataLst>
          </p:nvPr>
        </p:nvSpPr>
        <p:spPr bwMode="auto">
          <a:xfrm>
            <a:off x="1115024" y="4657316"/>
            <a:ext cx="1925762" cy="651993"/>
          </a:xfrm>
          <a:custGeom>
            <a:avLst/>
            <a:gdLst>
              <a:gd name="T0" fmla="*/ 1211 w 1211"/>
              <a:gd name="T1" fmla="*/ 0 h 410"/>
              <a:gd name="T2" fmla="*/ 1035 w 1211"/>
              <a:gd name="T3" fmla="*/ 410 h 410"/>
              <a:gd name="T4" fmla="*/ 0 w 1211"/>
              <a:gd name="T5" fmla="*/ 410 h 410"/>
              <a:gd name="T6" fmla="*/ 329 w 1211"/>
              <a:gd name="T7" fmla="*/ 0 h 410"/>
              <a:gd name="T8" fmla="*/ 1211 w 1211"/>
              <a:gd name="T9" fmla="*/ 0 h 410"/>
            </a:gdLst>
            <a:ahLst/>
            <a:cxnLst>
              <a:cxn ang="0">
                <a:pos x="T0" y="T1"/>
              </a:cxn>
              <a:cxn ang="0">
                <a:pos x="T2" y="T3"/>
              </a:cxn>
              <a:cxn ang="0">
                <a:pos x="T4" y="T5"/>
              </a:cxn>
              <a:cxn ang="0">
                <a:pos x="T6" y="T7"/>
              </a:cxn>
              <a:cxn ang="0">
                <a:pos x="T8" y="T9"/>
              </a:cxn>
            </a:cxnLst>
            <a:rect l="0" t="0" r="r" b="b"/>
            <a:pathLst>
              <a:path w="1211" h="410">
                <a:moveTo>
                  <a:pt x="1211" y="0"/>
                </a:moveTo>
                <a:lnTo>
                  <a:pt x="1035" y="410"/>
                </a:lnTo>
                <a:lnTo>
                  <a:pt x="0" y="410"/>
                </a:lnTo>
                <a:lnTo>
                  <a:pt x="329" y="0"/>
                </a:lnTo>
                <a:lnTo>
                  <a:pt x="121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2" name="Rectangle 6"/>
          <p:cNvSpPr>
            <a:spLocks noChangeArrowheads="1"/>
          </p:cNvSpPr>
          <p:nvPr>
            <p:custDataLst>
              <p:tags r:id="rId7"/>
            </p:custDataLst>
          </p:nvPr>
        </p:nvSpPr>
        <p:spPr bwMode="auto">
          <a:xfrm>
            <a:off x="1124549" y="5299783"/>
            <a:ext cx="1645883" cy="165383"/>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3891" tIns="36945" rIns="73891" bIns="36945" numCol="1" anchor="t" anchorCtr="0" compatLnSpc="1">
            <a:normAutofit fontScale="325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3" name="Freeform 7"/>
          <p:cNvSpPr/>
          <p:nvPr>
            <p:custDataLst>
              <p:tags r:id="rId8"/>
            </p:custDataLst>
          </p:nvPr>
        </p:nvSpPr>
        <p:spPr bwMode="auto">
          <a:xfrm>
            <a:off x="2760907" y="4657316"/>
            <a:ext cx="279879" cy="817376"/>
          </a:xfrm>
          <a:custGeom>
            <a:avLst/>
            <a:gdLst>
              <a:gd name="T0" fmla="*/ 0 w 176"/>
              <a:gd name="T1" fmla="*/ 410 h 514"/>
              <a:gd name="T2" fmla="*/ 0 w 176"/>
              <a:gd name="T3" fmla="*/ 514 h 514"/>
              <a:gd name="T4" fmla="*/ 176 w 176"/>
              <a:gd name="T5" fmla="*/ 99 h 514"/>
              <a:gd name="T6" fmla="*/ 176 w 176"/>
              <a:gd name="T7" fmla="*/ 0 h 514"/>
              <a:gd name="T8" fmla="*/ 0 w 176"/>
              <a:gd name="T9" fmla="*/ 410 h 514"/>
            </a:gdLst>
            <a:ahLst/>
            <a:cxnLst>
              <a:cxn ang="0">
                <a:pos x="T0" y="T1"/>
              </a:cxn>
              <a:cxn ang="0">
                <a:pos x="T2" y="T3"/>
              </a:cxn>
              <a:cxn ang="0">
                <a:pos x="T4" y="T5"/>
              </a:cxn>
              <a:cxn ang="0">
                <a:pos x="T6" y="T7"/>
              </a:cxn>
              <a:cxn ang="0">
                <a:pos x="T8" y="T9"/>
              </a:cxn>
            </a:cxnLst>
            <a:rect l="0" t="0" r="r" b="b"/>
            <a:pathLst>
              <a:path w="176" h="514">
                <a:moveTo>
                  <a:pt x="0" y="410"/>
                </a:moveTo>
                <a:lnTo>
                  <a:pt x="0" y="514"/>
                </a:lnTo>
                <a:lnTo>
                  <a:pt x="176" y="99"/>
                </a:lnTo>
                <a:lnTo>
                  <a:pt x="176" y="0"/>
                </a:lnTo>
                <a:lnTo>
                  <a:pt x="0" y="410"/>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5" name="Freeform 52"/>
          <p:cNvSpPr>
            <a:spLocks noEditPoints="1"/>
          </p:cNvSpPr>
          <p:nvPr>
            <p:custDataLst>
              <p:tags r:id="rId9"/>
            </p:custDataLst>
          </p:nvPr>
        </p:nvSpPr>
        <p:spPr bwMode="auto">
          <a:xfrm>
            <a:off x="1990203" y="4823011"/>
            <a:ext cx="290439" cy="290439"/>
          </a:xfrm>
          <a:custGeom>
            <a:avLst/>
            <a:gdLst/>
            <a:ahLst/>
            <a:cxnLst>
              <a:cxn ang="0">
                <a:pos x="224" y="12"/>
              </a:cxn>
              <a:cxn ang="0">
                <a:pos x="188" y="0"/>
              </a:cxn>
              <a:cxn ang="0">
                <a:pos x="168" y="4"/>
              </a:cxn>
              <a:cxn ang="0">
                <a:pos x="112" y="54"/>
              </a:cxn>
              <a:cxn ang="0">
                <a:pos x="110" y="54"/>
              </a:cxn>
              <a:cxn ang="0">
                <a:pos x="28" y="138"/>
              </a:cxn>
              <a:cxn ang="0">
                <a:pos x="20" y="152"/>
              </a:cxn>
              <a:cxn ang="0">
                <a:pos x="0" y="228"/>
              </a:cxn>
              <a:cxn ang="0">
                <a:pos x="8" y="248"/>
              </a:cxn>
              <a:cxn ang="0">
                <a:pos x="28" y="256"/>
              </a:cxn>
              <a:cxn ang="0">
                <a:pos x="106" y="236"/>
              </a:cxn>
              <a:cxn ang="0">
                <a:pos x="240" y="106"/>
              </a:cxn>
              <a:cxn ang="0">
                <a:pos x="252" y="86"/>
              </a:cxn>
              <a:cxn ang="0">
                <a:pos x="254" y="52"/>
              </a:cxn>
              <a:cxn ang="0">
                <a:pos x="236" y="20"/>
              </a:cxn>
              <a:cxn ang="0">
                <a:pos x="126" y="180"/>
              </a:cxn>
              <a:cxn ang="0">
                <a:pos x="198" y="94"/>
              </a:cxn>
              <a:cxn ang="0">
                <a:pos x="196" y="126"/>
              </a:cxn>
              <a:cxn ang="0">
                <a:pos x="190" y="134"/>
              </a:cxn>
              <a:cxn ang="0">
                <a:pos x="128" y="196"/>
              </a:cxn>
              <a:cxn ang="0">
                <a:pos x="118" y="162"/>
              </a:cxn>
              <a:cxn ang="0">
                <a:pos x="100" y="142"/>
              </a:cxn>
              <a:cxn ang="0">
                <a:pos x="168" y="60"/>
              </a:cxn>
              <a:cxn ang="0">
                <a:pos x="184" y="72"/>
              </a:cxn>
              <a:cxn ang="0">
                <a:pos x="118" y="162"/>
              </a:cxn>
              <a:cxn ang="0">
                <a:pos x="72" y="130"/>
              </a:cxn>
              <a:cxn ang="0">
                <a:pos x="122" y="66"/>
              </a:cxn>
              <a:cxn ang="0">
                <a:pos x="150" y="56"/>
              </a:cxn>
              <a:cxn ang="0">
                <a:pos x="34" y="238"/>
              </a:cxn>
              <a:cxn ang="0">
                <a:pos x="28" y="240"/>
              </a:cxn>
              <a:cxn ang="0">
                <a:pos x="16" y="232"/>
              </a:cxn>
              <a:cxn ang="0">
                <a:pos x="16" y="224"/>
              </a:cxn>
              <a:cxn ang="0">
                <a:pos x="32" y="194"/>
              </a:cxn>
              <a:cxn ang="0">
                <a:pos x="52" y="204"/>
              </a:cxn>
              <a:cxn ang="0">
                <a:pos x="60" y="218"/>
              </a:cxn>
              <a:cxn ang="0">
                <a:pos x="34" y="238"/>
              </a:cxn>
              <a:cxn ang="0">
                <a:pos x="70" y="222"/>
              </a:cxn>
              <a:cxn ang="0">
                <a:pos x="58" y="198"/>
              </a:cxn>
              <a:cxn ang="0">
                <a:pos x="44" y="188"/>
              </a:cxn>
              <a:cxn ang="0">
                <a:pos x="36" y="156"/>
              </a:cxn>
              <a:cxn ang="0">
                <a:pos x="38" y="150"/>
              </a:cxn>
              <a:cxn ang="0">
                <a:pos x="60" y="144"/>
              </a:cxn>
              <a:cxn ang="0">
                <a:pos x="82" y="150"/>
              </a:cxn>
              <a:cxn ang="0">
                <a:pos x="96" y="160"/>
              </a:cxn>
              <a:cxn ang="0">
                <a:pos x="110" y="182"/>
              </a:cxn>
              <a:cxn ang="0">
                <a:pos x="110" y="206"/>
              </a:cxn>
              <a:cxn ang="0">
                <a:pos x="104" y="220"/>
              </a:cxn>
              <a:cxn ang="0">
                <a:pos x="230" y="94"/>
              </a:cxn>
              <a:cxn ang="0">
                <a:pos x="216" y="102"/>
              </a:cxn>
              <a:cxn ang="0">
                <a:pos x="210" y="80"/>
              </a:cxn>
              <a:cxn ang="0">
                <a:pos x="196" y="60"/>
              </a:cxn>
              <a:cxn ang="0">
                <a:pos x="162" y="42"/>
              </a:cxn>
              <a:cxn ang="0">
                <a:pos x="162" y="26"/>
              </a:cxn>
              <a:cxn ang="0">
                <a:pos x="180" y="16"/>
              </a:cxn>
              <a:cxn ang="0">
                <a:pos x="198" y="18"/>
              </a:cxn>
              <a:cxn ang="0">
                <a:pos x="224" y="32"/>
              </a:cxn>
              <a:cxn ang="0">
                <a:pos x="236" y="48"/>
              </a:cxn>
              <a:cxn ang="0">
                <a:pos x="240" y="66"/>
              </a:cxn>
              <a:cxn ang="0">
                <a:pos x="234" y="88"/>
              </a:cxn>
            </a:cxnLst>
            <a:rect l="0" t="0" r="r" b="b"/>
            <a:pathLst>
              <a:path w="256" h="256">
                <a:moveTo>
                  <a:pt x="236" y="20"/>
                </a:moveTo>
                <a:lnTo>
                  <a:pt x="236" y="20"/>
                </a:lnTo>
                <a:lnTo>
                  <a:pt x="224" y="12"/>
                </a:lnTo>
                <a:lnTo>
                  <a:pt x="212" y="6"/>
                </a:lnTo>
                <a:lnTo>
                  <a:pt x="200" y="2"/>
                </a:lnTo>
                <a:lnTo>
                  <a:pt x="188" y="0"/>
                </a:lnTo>
                <a:lnTo>
                  <a:pt x="188" y="0"/>
                </a:lnTo>
                <a:lnTo>
                  <a:pt x="178" y="0"/>
                </a:lnTo>
                <a:lnTo>
                  <a:pt x="168" y="4"/>
                </a:lnTo>
                <a:lnTo>
                  <a:pt x="158" y="8"/>
                </a:lnTo>
                <a:lnTo>
                  <a:pt x="150" y="16"/>
                </a:lnTo>
                <a:lnTo>
                  <a:pt x="112" y="54"/>
                </a:lnTo>
                <a:lnTo>
                  <a:pt x="112" y="54"/>
                </a:lnTo>
                <a:lnTo>
                  <a:pt x="110" y="54"/>
                </a:lnTo>
                <a:lnTo>
                  <a:pt x="110" y="54"/>
                </a:lnTo>
                <a:lnTo>
                  <a:pt x="110" y="54"/>
                </a:lnTo>
                <a:lnTo>
                  <a:pt x="110" y="54"/>
                </a:lnTo>
                <a:lnTo>
                  <a:pt x="28" y="138"/>
                </a:lnTo>
                <a:lnTo>
                  <a:pt x="28" y="138"/>
                </a:lnTo>
                <a:lnTo>
                  <a:pt x="24" y="144"/>
                </a:lnTo>
                <a:lnTo>
                  <a:pt x="20" y="152"/>
                </a:lnTo>
                <a:lnTo>
                  <a:pt x="2" y="220"/>
                </a:lnTo>
                <a:lnTo>
                  <a:pt x="2" y="220"/>
                </a:lnTo>
                <a:lnTo>
                  <a:pt x="0" y="228"/>
                </a:lnTo>
                <a:lnTo>
                  <a:pt x="0" y="228"/>
                </a:lnTo>
                <a:lnTo>
                  <a:pt x="2" y="238"/>
                </a:lnTo>
                <a:lnTo>
                  <a:pt x="8" y="248"/>
                </a:lnTo>
                <a:lnTo>
                  <a:pt x="18" y="254"/>
                </a:lnTo>
                <a:lnTo>
                  <a:pt x="28" y="256"/>
                </a:lnTo>
                <a:lnTo>
                  <a:pt x="28" y="256"/>
                </a:lnTo>
                <a:lnTo>
                  <a:pt x="38" y="254"/>
                </a:lnTo>
                <a:lnTo>
                  <a:pt x="106" y="236"/>
                </a:lnTo>
                <a:lnTo>
                  <a:pt x="106" y="236"/>
                </a:lnTo>
                <a:lnTo>
                  <a:pt x="112" y="234"/>
                </a:lnTo>
                <a:lnTo>
                  <a:pt x="118" y="228"/>
                </a:lnTo>
                <a:lnTo>
                  <a:pt x="240" y="106"/>
                </a:lnTo>
                <a:lnTo>
                  <a:pt x="240" y="106"/>
                </a:lnTo>
                <a:lnTo>
                  <a:pt x="248" y="96"/>
                </a:lnTo>
                <a:lnTo>
                  <a:pt x="252" y="86"/>
                </a:lnTo>
                <a:lnTo>
                  <a:pt x="256" y="76"/>
                </a:lnTo>
                <a:lnTo>
                  <a:pt x="256" y="64"/>
                </a:lnTo>
                <a:lnTo>
                  <a:pt x="254" y="52"/>
                </a:lnTo>
                <a:lnTo>
                  <a:pt x="250" y="42"/>
                </a:lnTo>
                <a:lnTo>
                  <a:pt x="244" y="30"/>
                </a:lnTo>
                <a:lnTo>
                  <a:pt x="236" y="20"/>
                </a:lnTo>
                <a:close/>
                <a:moveTo>
                  <a:pt x="128" y="190"/>
                </a:moveTo>
                <a:lnTo>
                  <a:pt x="128" y="190"/>
                </a:lnTo>
                <a:lnTo>
                  <a:pt x="126" y="180"/>
                </a:lnTo>
                <a:lnTo>
                  <a:pt x="122" y="170"/>
                </a:lnTo>
                <a:lnTo>
                  <a:pt x="198" y="94"/>
                </a:lnTo>
                <a:lnTo>
                  <a:pt x="198" y="94"/>
                </a:lnTo>
                <a:lnTo>
                  <a:pt x="200" y="104"/>
                </a:lnTo>
                <a:lnTo>
                  <a:pt x="200" y="116"/>
                </a:lnTo>
                <a:lnTo>
                  <a:pt x="196" y="126"/>
                </a:lnTo>
                <a:lnTo>
                  <a:pt x="190" y="134"/>
                </a:lnTo>
                <a:lnTo>
                  <a:pt x="190" y="134"/>
                </a:lnTo>
                <a:lnTo>
                  <a:pt x="190" y="134"/>
                </a:lnTo>
                <a:lnTo>
                  <a:pt x="190" y="134"/>
                </a:lnTo>
                <a:lnTo>
                  <a:pt x="128" y="196"/>
                </a:lnTo>
                <a:lnTo>
                  <a:pt x="128" y="196"/>
                </a:lnTo>
                <a:lnTo>
                  <a:pt x="128" y="190"/>
                </a:lnTo>
                <a:close/>
                <a:moveTo>
                  <a:pt x="118" y="162"/>
                </a:moveTo>
                <a:lnTo>
                  <a:pt x="118" y="162"/>
                </a:lnTo>
                <a:lnTo>
                  <a:pt x="108" y="148"/>
                </a:lnTo>
                <a:lnTo>
                  <a:pt x="108" y="148"/>
                </a:lnTo>
                <a:lnTo>
                  <a:pt x="100" y="142"/>
                </a:lnTo>
                <a:lnTo>
                  <a:pt x="92" y="136"/>
                </a:lnTo>
                <a:lnTo>
                  <a:pt x="168" y="60"/>
                </a:lnTo>
                <a:lnTo>
                  <a:pt x="168" y="60"/>
                </a:lnTo>
                <a:lnTo>
                  <a:pt x="176" y="64"/>
                </a:lnTo>
                <a:lnTo>
                  <a:pt x="184" y="72"/>
                </a:lnTo>
                <a:lnTo>
                  <a:pt x="184" y="72"/>
                </a:lnTo>
                <a:lnTo>
                  <a:pt x="190" y="78"/>
                </a:lnTo>
                <a:lnTo>
                  <a:pt x="194" y="86"/>
                </a:lnTo>
                <a:lnTo>
                  <a:pt x="118" y="162"/>
                </a:lnTo>
                <a:close/>
                <a:moveTo>
                  <a:pt x="84" y="132"/>
                </a:moveTo>
                <a:lnTo>
                  <a:pt x="84" y="132"/>
                </a:lnTo>
                <a:lnTo>
                  <a:pt x="72" y="130"/>
                </a:lnTo>
                <a:lnTo>
                  <a:pt x="60" y="128"/>
                </a:lnTo>
                <a:lnTo>
                  <a:pt x="122" y="66"/>
                </a:lnTo>
                <a:lnTo>
                  <a:pt x="122" y="66"/>
                </a:lnTo>
                <a:lnTo>
                  <a:pt x="130" y="60"/>
                </a:lnTo>
                <a:lnTo>
                  <a:pt x="140" y="56"/>
                </a:lnTo>
                <a:lnTo>
                  <a:pt x="150" y="56"/>
                </a:lnTo>
                <a:lnTo>
                  <a:pt x="160" y="58"/>
                </a:lnTo>
                <a:lnTo>
                  <a:pt x="84" y="132"/>
                </a:lnTo>
                <a:close/>
                <a:moveTo>
                  <a:pt x="34" y="238"/>
                </a:moveTo>
                <a:lnTo>
                  <a:pt x="34" y="238"/>
                </a:lnTo>
                <a:lnTo>
                  <a:pt x="28" y="240"/>
                </a:lnTo>
                <a:lnTo>
                  <a:pt x="28" y="240"/>
                </a:lnTo>
                <a:lnTo>
                  <a:pt x="24" y="240"/>
                </a:lnTo>
                <a:lnTo>
                  <a:pt x="20" y="236"/>
                </a:lnTo>
                <a:lnTo>
                  <a:pt x="16" y="232"/>
                </a:lnTo>
                <a:lnTo>
                  <a:pt x="16" y="228"/>
                </a:lnTo>
                <a:lnTo>
                  <a:pt x="16" y="228"/>
                </a:lnTo>
                <a:lnTo>
                  <a:pt x="16" y="224"/>
                </a:lnTo>
                <a:lnTo>
                  <a:pt x="26" y="192"/>
                </a:lnTo>
                <a:lnTo>
                  <a:pt x="26" y="192"/>
                </a:lnTo>
                <a:lnTo>
                  <a:pt x="32" y="194"/>
                </a:lnTo>
                <a:lnTo>
                  <a:pt x="40" y="196"/>
                </a:lnTo>
                <a:lnTo>
                  <a:pt x="46" y="200"/>
                </a:lnTo>
                <a:lnTo>
                  <a:pt x="52" y="204"/>
                </a:lnTo>
                <a:lnTo>
                  <a:pt x="52" y="204"/>
                </a:lnTo>
                <a:lnTo>
                  <a:pt x="58" y="210"/>
                </a:lnTo>
                <a:lnTo>
                  <a:pt x="60" y="218"/>
                </a:lnTo>
                <a:lnTo>
                  <a:pt x="62" y="224"/>
                </a:lnTo>
                <a:lnTo>
                  <a:pt x="64" y="232"/>
                </a:lnTo>
                <a:lnTo>
                  <a:pt x="34" y="238"/>
                </a:lnTo>
                <a:close/>
                <a:moveTo>
                  <a:pt x="70" y="230"/>
                </a:moveTo>
                <a:lnTo>
                  <a:pt x="70" y="230"/>
                </a:lnTo>
                <a:lnTo>
                  <a:pt x="70" y="222"/>
                </a:lnTo>
                <a:lnTo>
                  <a:pt x="68" y="214"/>
                </a:lnTo>
                <a:lnTo>
                  <a:pt x="64" y="206"/>
                </a:lnTo>
                <a:lnTo>
                  <a:pt x="58" y="198"/>
                </a:lnTo>
                <a:lnTo>
                  <a:pt x="58" y="198"/>
                </a:lnTo>
                <a:lnTo>
                  <a:pt x="50" y="192"/>
                </a:lnTo>
                <a:lnTo>
                  <a:pt x="44" y="188"/>
                </a:lnTo>
                <a:lnTo>
                  <a:pt x="36" y="186"/>
                </a:lnTo>
                <a:lnTo>
                  <a:pt x="28" y="184"/>
                </a:lnTo>
                <a:lnTo>
                  <a:pt x="36" y="156"/>
                </a:lnTo>
                <a:lnTo>
                  <a:pt x="36" y="156"/>
                </a:lnTo>
                <a:lnTo>
                  <a:pt x="38" y="150"/>
                </a:lnTo>
                <a:lnTo>
                  <a:pt x="38" y="150"/>
                </a:lnTo>
                <a:lnTo>
                  <a:pt x="44" y="146"/>
                </a:lnTo>
                <a:lnTo>
                  <a:pt x="52" y="144"/>
                </a:lnTo>
                <a:lnTo>
                  <a:pt x="60" y="144"/>
                </a:lnTo>
                <a:lnTo>
                  <a:pt x="68" y="144"/>
                </a:lnTo>
                <a:lnTo>
                  <a:pt x="74" y="146"/>
                </a:lnTo>
                <a:lnTo>
                  <a:pt x="82" y="150"/>
                </a:lnTo>
                <a:lnTo>
                  <a:pt x="90" y="154"/>
                </a:lnTo>
                <a:lnTo>
                  <a:pt x="96" y="160"/>
                </a:lnTo>
                <a:lnTo>
                  <a:pt x="96" y="160"/>
                </a:lnTo>
                <a:lnTo>
                  <a:pt x="102" y="166"/>
                </a:lnTo>
                <a:lnTo>
                  <a:pt x="108" y="174"/>
                </a:lnTo>
                <a:lnTo>
                  <a:pt x="110" y="182"/>
                </a:lnTo>
                <a:lnTo>
                  <a:pt x="112" y="190"/>
                </a:lnTo>
                <a:lnTo>
                  <a:pt x="112" y="198"/>
                </a:lnTo>
                <a:lnTo>
                  <a:pt x="110" y="206"/>
                </a:lnTo>
                <a:lnTo>
                  <a:pt x="108" y="214"/>
                </a:lnTo>
                <a:lnTo>
                  <a:pt x="104" y="220"/>
                </a:lnTo>
                <a:lnTo>
                  <a:pt x="104" y="220"/>
                </a:lnTo>
                <a:lnTo>
                  <a:pt x="100" y="222"/>
                </a:lnTo>
                <a:lnTo>
                  <a:pt x="70" y="230"/>
                </a:lnTo>
                <a:close/>
                <a:moveTo>
                  <a:pt x="230" y="94"/>
                </a:moveTo>
                <a:lnTo>
                  <a:pt x="216" y="108"/>
                </a:lnTo>
                <a:lnTo>
                  <a:pt x="216" y="108"/>
                </a:lnTo>
                <a:lnTo>
                  <a:pt x="216" y="102"/>
                </a:lnTo>
                <a:lnTo>
                  <a:pt x="216" y="102"/>
                </a:lnTo>
                <a:lnTo>
                  <a:pt x="214" y="90"/>
                </a:lnTo>
                <a:lnTo>
                  <a:pt x="210" y="80"/>
                </a:lnTo>
                <a:lnTo>
                  <a:pt x="204" y="70"/>
                </a:lnTo>
                <a:lnTo>
                  <a:pt x="196" y="60"/>
                </a:lnTo>
                <a:lnTo>
                  <a:pt x="196" y="60"/>
                </a:lnTo>
                <a:lnTo>
                  <a:pt x="186" y="52"/>
                </a:lnTo>
                <a:lnTo>
                  <a:pt x="174" y="46"/>
                </a:lnTo>
                <a:lnTo>
                  <a:pt x="162" y="42"/>
                </a:lnTo>
                <a:lnTo>
                  <a:pt x="148" y="40"/>
                </a:lnTo>
                <a:lnTo>
                  <a:pt x="162" y="26"/>
                </a:lnTo>
                <a:lnTo>
                  <a:pt x="162" y="26"/>
                </a:lnTo>
                <a:lnTo>
                  <a:pt x="168" y="22"/>
                </a:lnTo>
                <a:lnTo>
                  <a:pt x="174" y="18"/>
                </a:lnTo>
                <a:lnTo>
                  <a:pt x="180" y="16"/>
                </a:lnTo>
                <a:lnTo>
                  <a:pt x="188" y="16"/>
                </a:lnTo>
                <a:lnTo>
                  <a:pt x="188" y="16"/>
                </a:lnTo>
                <a:lnTo>
                  <a:pt x="198" y="18"/>
                </a:lnTo>
                <a:lnTo>
                  <a:pt x="206" y="20"/>
                </a:lnTo>
                <a:lnTo>
                  <a:pt x="216" y="26"/>
                </a:lnTo>
                <a:lnTo>
                  <a:pt x="224" y="32"/>
                </a:lnTo>
                <a:lnTo>
                  <a:pt x="224" y="32"/>
                </a:lnTo>
                <a:lnTo>
                  <a:pt x="230" y="40"/>
                </a:lnTo>
                <a:lnTo>
                  <a:pt x="236" y="48"/>
                </a:lnTo>
                <a:lnTo>
                  <a:pt x="238" y="56"/>
                </a:lnTo>
                <a:lnTo>
                  <a:pt x="240" y="66"/>
                </a:lnTo>
                <a:lnTo>
                  <a:pt x="240" y="66"/>
                </a:lnTo>
                <a:lnTo>
                  <a:pt x="240" y="74"/>
                </a:lnTo>
                <a:lnTo>
                  <a:pt x="238" y="82"/>
                </a:lnTo>
                <a:lnTo>
                  <a:pt x="234" y="88"/>
                </a:lnTo>
                <a:lnTo>
                  <a:pt x="230" y="94"/>
                </a:lnTo>
                <a:close/>
              </a:path>
            </a:pathLst>
          </a:custGeom>
          <a:solidFill>
            <a:schemeClr val="bg1"/>
          </a:solidFill>
          <a:ln w="9525">
            <a:noFill/>
            <a:round/>
          </a:ln>
          <a:effectLst>
            <a:outerShdw blurRad="76200" dir="18900000" sy="23000" kx="-1200000" algn="bl" rotWithShape="0">
              <a:prstClr val="black">
                <a:alpha val="20000"/>
              </a:prstClr>
            </a:outerShdw>
          </a:effectLst>
        </p:spPr>
        <p:txBody>
          <a:bodyPr vert="horz" wrap="square" lIns="55418" tIns="27709" rIns="55418" bIns="27709" numCol="1" anchor="t" anchorCtr="0" compatLnSpc="1">
            <a:normAutofit fontScale="7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ar-SA" sz="1780" b="0" i="0" u="none" strike="noStrike" kern="1200" cap="none" spc="0" normalizeH="0" baseline="0" noProof="0">
              <a:ln>
                <a:noFill/>
              </a:ln>
              <a:solidFill>
                <a:prstClr val="black"/>
              </a:solidFill>
              <a:effectLst/>
              <a:uLnTx/>
              <a:uFillTx/>
              <a:cs typeface="+mn-ea"/>
              <a:sym typeface="+mn-lt"/>
            </a:endParaRPr>
          </a:p>
        </p:txBody>
      </p:sp>
      <p:sp>
        <p:nvSpPr>
          <p:cNvPr id="16" name="Freeform 8"/>
          <p:cNvSpPr/>
          <p:nvPr>
            <p:custDataLst>
              <p:tags r:id="rId10"/>
            </p:custDataLst>
          </p:nvPr>
        </p:nvSpPr>
        <p:spPr bwMode="auto">
          <a:xfrm>
            <a:off x="3339247" y="3920332"/>
            <a:ext cx="1631570" cy="580431"/>
          </a:xfrm>
          <a:custGeom>
            <a:avLst/>
            <a:gdLst>
              <a:gd name="T0" fmla="*/ 1026 w 1026"/>
              <a:gd name="T1" fmla="*/ 0 h 365"/>
              <a:gd name="T2" fmla="*/ 1026 w 1026"/>
              <a:gd name="T3" fmla="*/ 365 h 365"/>
              <a:gd name="T4" fmla="*/ 0 w 1026"/>
              <a:gd name="T5" fmla="*/ 365 h 365"/>
              <a:gd name="T6" fmla="*/ 153 w 1026"/>
              <a:gd name="T7" fmla="*/ 0 h 365"/>
              <a:gd name="T8" fmla="*/ 1026 w 1026"/>
              <a:gd name="T9" fmla="*/ 0 h 365"/>
            </a:gdLst>
            <a:ahLst/>
            <a:cxnLst>
              <a:cxn ang="0">
                <a:pos x="T0" y="T1"/>
              </a:cxn>
              <a:cxn ang="0">
                <a:pos x="T2" y="T3"/>
              </a:cxn>
              <a:cxn ang="0">
                <a:pos x="T4" y="T5"/>
              </a:cxn>
              <a:cxn ang="0">
                <a:pos x="T6" y="T7"/>
              </a:cxn>
              <a:cxn ang="0">
                <a:pos x="T8" y="T9"/>
              </a:cxn>
            </a:cxnLst>
            <a:rect l="0" t="0" r="r" b="b"/>
            <a:pathLst>
              <a:path w="1026" h="365">
                <a:moveTo>
                  <a:pt x="1026" y="0"/>
                </a:moveTo>
                <a:lnTo>
                  <a:pt x="1026" y="365"/>
                </a:lnTo>
                <a:lnTo>
                  <a:pt x="0" y="365"/>
                </a:lnTo>
                <a:lnTo>
                  <a:pt x="153" y="0"/>
                </a:lnTo>
                <a:lnTo>
                  <a:pt x="1026"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7" name="Rectangle 9"/>
          <p:cNvSpPr>
            <a:spLocks noChangeArrowheads="1"/>
          </p:cNvSpPr>
          <p:nvPr>
            <p:custDataLst>
              <p:tags r:id="rId11"/>
            </p:custDataLst>
          </p:nvPr>
        </p:nvSpPr>
        <p:spPr bwMode="auto">
          <a:xfrm>
            <a:off x="3339247" y="4500763"/>
            <a:ext cx="1631570" cy="151071"/>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8" name="Freeform 13"/>
          <p:cNvSpPr/>
          <p:nvPr>
            <p:custDataLst>
              <p:tags r:id="rId12"/>
            </p:custDataLst>
          </p:nvPr>
        </p:nvSpPr>
        <p:spPr bwMode="auto">
          <a:xfrm>
            <a:off x="5269277" y="3206533"/>
            <a:ext cx="1633161" cy="551807"/>
          </a:xfrm>
          <a:custGeom>
            <a:avLst/>
            <a:gdLst>
              <a:gd name="T0" fmla="*/ 0 w 1027"/>
              <a:gd name="T1" fmla="*/ 0 h 347"/>
              <a:gd name="T2" fmla="*/ 0 w 1027"/>
              <a:gd name="T3" fmla="*/ 347 h 347"/>
              <a:gd name="T4" fmla="*/ 1027 w 1027"/>
              <a:gd name="T5" fmla="*/ 347 h 347"/>
              <a:gd name="T6" fmla="*/ 869 w 1027"/>
              <a:gd name="T7" fmla="*/ 0 h 347"/>
              <a:gd name="T8" fmla="*/ 0 w 1027"/>
              <a:gd name="T9" fmla="*/ 0 h 347"/>
            </a:gdLst>
            <a:ahLst/>
            <a:cxnLst>
              <a:cxn ang="0">
                <a:pos x="T0" y="T1"/>
              </a:cxn>
              <a:cxn ang="0">
                <a:pos x="T2" y="T3"/>
              </a:cxn>
              <a:cxn ang="0">
                <a:pos x="T4" y="T5"/>
              </a:cxn>
              <a:cxn ang="0">
                <a:pos x="T6" y="T7"/>
              </a:cxn>
              <a:cxn ang="0">
                <a:pos x="T8" y="T9"/>
              </a:cxn>
            </a:cxnLst>
            <a:rect l="0" t="0" r="r" b="b"/>
            <a:pathLst>
              <a:path w="1027" h="347">
                <a:moveTo>
                  <a:pt x="0" y="0"/>
                </a:moveTo>
                <a:lnTo>
                  <a:pt x="0" y="347"/>
                </a:lnTo>
                <a:lnTo>
                  <a:pt x="1027" y="347"/>
                </a:lnTo>
                <a:lnTo>
                  <a:pt x="869" y="0"/>
                </a:lnTo>
                <a:lnTo>
                  <a:pt x="0" y="0"/>
                </a:lnTo>
                <a:close/>
              </a:path>
            </a:pathLst>
          </a:custGeom>
          <a:solidFill>
            <a:schemeClr val="accent1"/>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9" name="Rectangle 14"/>
          <p:cNvSpPr>
            <a:spLocks noChangeArrowheads="1"/>
          </p:cNvSpPr>
          <p:nvPr>
            <p:custDataLst>
              <p:tags r:id="rId13"/>
            </p:custDataLst>
          </p:nvPr>
        </p:nvSpPr>
        <p:spPr bwMode="auto">
          <a:xfrm>
            <a:off x="5269277" y="3752650"/>
            <a:ext cx="1633161" cy="151071"/>
          </a:xfrm>
          <a:prstGeom prst="rect">
            <a:avLst/>
          </a:prstGeom>
          <a:solidFill>
            <a:schemeClr val="accent1">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0" name="Freeform 10"/>
          <p:cNvSpPr/>
          <p:nvPr>
            <p:custDataLst>
              <p:tags r:id="rId14"/>
            </p:custDataLst>
          </p:nvPr>
        </p:nvSpPr>
        <p:spPr bwMode="auto">
          <a:xfrm>
            <a:off x="6918579" y="2567678"/>
            <a:ext cx="1903499" cy="508872"/>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1" name="Rectangle 11"/>
          <p:cNvSpPr>
            <a:spLocks noChangeArrowheads="1"/>
          </p:cNvSpPr>
          <p:nvPr>
            <p:custDataLst>
              <p:tags r:id="rId15"/>
            </p:custDataLst>
          </p:nvPr>
        </p:nvSpPr>
        <p:spPr bwMode="auto">
          <a:xfrm>
            <a:off x="7182556" y="3076550"/>
            <a:ext cx="1639522" cy="130398"/>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2" name="Freeform 12"/>
          <p:cNvSpPr/>
          <p:nvPr>
            <p:custDataLst>
              <p:tags r:id="rId16"/>
            </p:custDataLst>
          </p:nvPr>
        </p:nvSpPr>
        <p:spPr bwMode="auto">
          <a:xfrm>
            <a:off x="6918579" y="2567678"/>
            <a:ext cx="263977" cy="639270"/>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Lst>
            <a:ahLst/>
            <a:cxnLst>
              <a:cxn ang="0">
                <a:pos x="T0" y="T1"/>
              </a:cxn>
              <a:cxn ang="0">
                <a:pos x="T2" y="T3"/>
              </a:cxn>
              <a:cxn ang="0">
                <a:pos x="T4" y="T5"/>
              </a:cxn>
              <a:cxn ang="0">
                <a:pos x="T6" y="T7"/>
              </a:cxn>
              <a:cxn ang="0">
                <a:pos x="T8" y="T9"/>
              </a:cxn>
            </a:cxnLst>
            <a:rect l="0" t="0" r="r" b="b"/>
            <a:pathLst>
              <a:path w="166" h="402">
                <a:moveTo>
                  <a:pt x="166" y="320"/>
                </a:moveTo>
                <a:lnTo>
                  <a:pt x="166" y="402"/>
                </a:lnTo>
                <a:lnTo>
                  <a:pt x="0" y="77"/>
                </a:lnTo>
                <a:lnTo>
                  <a:pt x="0" y="0"/>
                </a:lnTo>
                <a:lnTo>
                  <a:pt x="166" y="320"/>
                </a:lnTo>
                <a:close/>
              </a:path>
            </a:pathLst>
          </a:custGeom>
          <a:solidFill>
            <a:schemeClr val="accent2">
              <a:lumMod val="60000"/>
              <a:lumOff val="40000"/>
            </a:schemeClr>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3" name="TextBox 49"/>
          <p:cNvSpPr txBox="1"/>
          <p:nvPr>
            <p:custDataLst>
              <p:tags r:id="rId17"/>
            </p:custDataLst>
          </p:nvPr>
        </p:nvSpPr>
        <p:spPr>
          <a:xfrm>
            <a:off x="1687440" y="382062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01.</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4" name="TextBox 50"/>
          <p:cNvSpPr txBox="1"/>
          <p:nvPr>
            <p:custDataLst>
              <p:tags r:id="rId18"/>
            </p:custDataLst>
          </p:nvPr>
        </p:nvSpPr>
        <p:spPr>
          <a:xfrm>
            <a:off x="3603129" y="311521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02.</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5" name="TextBox 52"/>
          <p:cNvSpPr txBox="1"/>
          <p:nvPr>
            <p:custDataLst>
              <p:tags r:id="rId19"/>
            </p:custDataLst>
          </p:nvPr>
        </p:nvSpPr>
        <p:spPr>
          <a:xfrm>
            <a:off x="5211551" y="2479061"/>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03.</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6" name="TextBox 53"/>
          <p:cNvSpPr txBox="1"/>
          <p:nvPr>
            <p:custDataLst>
              <p:tags r:id="rId20"/>
            </p:custDataLst>
          </p:nvPr>
        </p:nvSpPr>
        <p:spPr>
          <a:xfrm>
            <a:off x="6855594" y="1825887"/>
            <a:ext cx="947695"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04</a:t>
            </a:r>
            <a:r>
              <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rPr>
              <a:t>.</a:t>
            </a:r>
            <a:endPar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endParaRPr>
          </a:p>
        </p:txBody>
      </p:sp>
      <p:pic>
        <p:nvPicPr>
          <p:cNvPr id="27" name="图形 26"/>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680651" y="2681377"/>
            <a:ext cx="295275" cy="285750"/>
          </a:xfrm>
          <a:prstGeom prst="rect">
            <a:avLst/>
          </a:prstGeom>
        </p:spPr>
      </p:pic>
      <p:pic>
        <p:nvPicPr>
          <p:cNvPr id="28" name="图形 27"/>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902350" y="3354307"/>
            <a:ext cx="285750" cy="285750"/>
          </a:xfrm>
          <a:prstGeom prst="rect">
            <a:avLst/>
          </a:prstGeom>
        </p:spPr>
      </p:pic>
      <p:pic>
        <p:nvPicPr>
          <p:cNvPr id="29" name="图形 28"/>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4091404" y="4070786"/>
            <a:ext cx="200025" cy="295275"/>
          </a:xfrm>
          <a:prstGeom prst="rect">
            <a:avLst/>
          </a:prstGeom>
        </p:spPr>
      </p:pic>
    </p:spTree>
    <p:custDataLst>
      <p:tags r:id="rId3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智慧物流分拣机器人的物品识别效率优化研究</a:t>
            </a:r>
            <a:r>
              <a:rPr lang="zh-CN" altLang="en-US"/>
              <a:t>意义</a:t>
            </a:r>
            <a:endParaRPr lang="zh-CN" altLang="en-US"/>
          </a:p>
        </p:txBody>
      </p:sp>
      <p:grpSp>
        <p:nvGrpSpPr>
          <p:cNvPr id="31" name="组合 30"/>
          <p:cNvGrpSpPr/>
          <p:nvPr/>
        </p:nvGrpSpPr>
        <p:grpSpPr>
          <a:xfrm>
            <a:off x="278765" y="1901825"/>
            <a:ext cx="11632565" cy="3512820"/>
            <a:chOff x="-20" y="2995"/>
            <a:chExt cx="19220" cy="5804"/>
          </a:xfrm>
        </p:grpSpPr>
        <p:sp>
          <p:nvSpPr>
            <p:cNvPr id="20" name="任意多边形: 形状 1"/>
            <p:cNvSpPr/>
            <p:nvPr/>
          </p:nvSpPr>
          <p:spPr>
            <a:xfrm>
              <a:off x="-20"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accent1"/>
            </a:solidFill>
            <a:ln>
              <a:noFill/>
            </a:ln>
            <a:effectLst>
              <a:outerShdw blurRad="304800" dist="304800" dir="5400000" sx="98000" sy="9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任意多边形: 形状 2"/>
            <p:cNvSpPr/>
            <p:nvPr/>
          </p:nvSpPr>
          <p:spPr>
            <a:xfrm flipH="1">
              <a:off x="11983"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20" y="3629"/>
              <a:ext cx="812" cy="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18388" y="3629"/>
              <a:ext cx="812" cy="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PA-文本框 12"/>
            <p:cNvSpPr txBox="1"/>
            <p:nvPr>
              <p:custDataLst>
                <p:tags r:id="rId2"/>
              </p:custDataLst>
            </p:nvPr>
          </p:nvSpPr>
          <p:spPr>
            <a:xfrm>
              <a:off x="1568" y="3692"/>
              <a:ext cx="3444" cy="559"/>
            </a:xfrm>
            <a:prstGeom prst="rect">
              <a:avLst/>
            </a:prstGeom>
            <a:noFill/>
          </p:spPr>
          <p:txBody>
            <a:bodyPr vert="horz" wrap="square" lIns="0" tIns="0" rIns="0" bIns="0" rtlCol="0">
              <a:spAutoFit/>
            </a:bodyPr>
            <a:lstStyle/>
            <a:p>
              <a:pPr algn="l"/>
              <a:r>
                <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提升单日处理量</a:t>
              </a:r>
              <a:endPar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PA-文本框 13"/>
            <p:cNvSpPr txBox="1"/>
            <p:nvPr>
              <p:custDataLst>
                <p:tags r:id="rId3"/>
              </p:custDataLst>
            </p:nvPr>
          </p:nvSpPr>
          <p:spPr>
            <a:xfrm>
              <a:off x="1568" y="4759"/>
              <a:ext cx="4374" cy="2643"/>
            </a:xfrm>
            <a:prstGeom prst="rect">
              <a:avLst/>
            </a:prstGeom>
            <a:noFill/>
          </p:spPr>
          <p:txBody>
            <a:bodyPr vert="horz" wrap="square" lIns="0" tIns="0" rIns="0" bIns="0" rtlCol="0">
              <a:spAutoFit/>
            </a:bodyPr>
            <a:lstStyle/>
            <a:p>
              <a:pPr algn="just">
                <a:lnSpc>
                  <a:spcPct val="130000"/>
                </a:lnSpc>
              </a:pP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现有分拣机器人单小时物品识别分拣约</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件，本研究可将识别速度提升</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50%</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，单台机器人单日处理量突破</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3600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件，缓解物流高峰期分拣压力。</a:t>
              </a:r>
              <a:endPar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PA-文本框 12"/>
            <p:cNvSpPr txBox="1"/>
            <p:nvPr>
              <p:custDataLst>
                <p:tags r:id="rId4"/>
              </p:custDataLst>
            </p:nvPr>
          </p:nvSpPr>
          <p:spPr>
            <a:xfrm>
              <a:off x="14841" y="3692"/>
              <a:ext cx="2792" cy="559"/>
            </a:xfrm>
            <a:prstGeom prst="rect">
              <a:avLst/>
            </a:prstGeom>
            <a:noFill/>
          </p:spPr>
          <p:txBody>
            <a:bodyPr vert="horz" wrap="square" lIns="0" tIns="0" rIns="0" bIns="0" rtlCol="0">
              <a:spAutoFit/>
            </a:bodyPr>
            <a:lstStyle/>
            <a:p>
              <a:pPr algn="r"/>
              <a:r>
                <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降低错误成本</a:t>
              </a:r>
              <a:endPar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PA-文本框 13"/>
            <p:cNvSpPr txBox="1"/>
            <p:nvPr>
              <p:custDataLst>
                <p:tags r:id="rId5"/>
              </p:custDataLst>
            </p:nvPr>
          </p:nvSpPr>
          <p:spPr>
            <a:xfrm>
              <a:off x="13013" y="4743"/>
              <a:ext cx="4619" cy="3172"/>
            </a:xfrm>
            <a:prstGeom prst="rect">
              <a:avLst/>
            </a:prstGeom>
            <a:noFill/>
          </p:spPr>
          <p:txBody>
            <a:bodyPr vert="horz" wrap="square" lIns="0" tIns="0" rIns="0" bIns="0" rtlCol="0">
              <a:spAutoFit/>
            </a:bodyPr>
            <a:lstStyle/>
            <a:p>
              <a:pPr algn="r">
                <a:lnSpc>
                  <a:spcPct val="130000"/>
                </a:lnSpc>
              </a:pP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当前机器人对异形、易混淆包装（如相似快递盒）的误识率超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5%</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，单月因分拣错误产生的返工成本约</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万元，本研究能将误识率降至</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以下，月均节省成本超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a:t>
              </a:r>
              <a:endPar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椭圆 27"/>
            <p:cNvSpPr/>
            <p:nvPr/>
          </p:nvSpPr>
          <p:spPr>
            <a:xfrm>
              <a:off x="7143" y="3440"/>
              <a:ext cx="4914" cy="49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PA-文本框 12"/>
            <p:cNvSpPr txBox="1"/>
            <p:nvPr>
              <p:custDataLst>
                <p:tags r:id="rId6"/>
              </p:custDataLst>
            </p:nvPr>
          </p:nvSpPr>
          <p:spPr>
            <a:xfrm>
              <a:off x="8177" y="6275"/>
              <a:ext cx="2847" cy="711"/>
            </a:xfrm>
            <a:prstGeom prst="rect">
              <a:avLst/>
            </a:prstGeom>
            <a:noFill/>
          </p:spPr>
          <p:txBody>
            <a:bodyPr vert="horz" wrap="square" lIns="0" tIns="0" rIns="0" bIns="0" rtlCol="0">
              <a:spAutoFit/>
            </a:bodyPr>
            <a:lstStyle/>
            <a:p>
              <a:pPr algn="ctr"/>
              <a:r>
                <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pic>
          <p:nvPicPr>
            <p:cNvPr id="30" name="图形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6" y="4562"/>
              <a:ext cx="1268" cy="1268"/>
            </a:xfrm>
            <a:prstGeom prst="rect">
              <a:avLst/>
            </a:prstGeom>
          </p:spPr>
        </p:pic>
      </p:grpSp>
    </p:spTree>
    <p:custDataLst>
      <p:tags r:id="rId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初中道德与法治</a:t>
            </a:r>
            <a:r>
              <a:rPr lang="en-US" altLang="zh-CN"/>
              <a:t> “</a:t>
            </a:r>
            <a:r>
              <a:rPr lang="zh-CN" altLang="en-US"/>
              <a:t>生活情境</a:t>
            </a:r>
            <a:r>
              <a:rPr lang="en-US" altLang="zh-CN"/>
              <a:t>-</a:t>
            </a:r>
            <a:r>
              <a:rPr lang="zh-CN" altLang="en-US"/>
              <a:t>价值引领</a:t>
            </a:r>
            <a:r>
              <a:rPr lang="en-US" altLang="zh-CN"/>
              <a:t>” </a:t>
            </a:r>
            <a:r>
              <a:rPr lang="zh-CN" altLang="en-US"/>
              <a:t>教研融合研究</a:t>
            </a:r>
            <a:r>
              <a:rPr lang="zh-CN" altLang="en-US"/>
              <a:t>意义</a:t>
            </a:r>
            <a:endParaRPr lang="zh-CN" altLang="en-US"/>
          </a:p>
        </p:txBody>
      </p:sp>
      <p:sp>
        <p:nvSpPr>
          <p:cNvPr id="3" name="矩形: 圆角 1"/>
          <p:cNvSpPr/>
          <p:nvPr/>
        </p:nvSpPr>
        <p:spPr>
          <a:xfrm>
            <a:off x="66992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2"/>
          <p:cNvSpPr/>
          <p:nvPr/>
        </p:nvSpPr>
        <p:spPr>
          <a:xfrm>
            <a:off x="4530150"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圆角 3"/>
          <p:cNvSpPr/>
          <p:nvPr/>
        </p:nvSpPr>
        <p:spPr>
          <a:xfrm>
            <a:off x="839037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圆角 4"/>
          <p:cNvSpPr/>
          <p:nvPr/>
        </p:nvSpPr>
        <p:spPr>
          <a:xfrm>
            <a:off x="66992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圆角 5"/>
          <p:cNvSpPr/>
          <p:nvPr/>
        </p:nvSpPr>
        <p:spPr>
          <a:xfrm>
            <a:off x="4530150"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圆角 6"/>
          <p:cNvSpPr/>
          <p:nvPr/>
        </p:nvSpPr>
        <p:spPr>
          <a:xfrm>
            <a:off x="839037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任意多边形: 形状 7"/>
          <p:cNvSpPr/>
          <p:nvPr/>
        </p:nvSpPr>
        <p:spPr>
          <a:xfrm>
            <a:off x="66859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任意多边形: 形状 9"/>
          <p:cNvSpPr/>
          <p:nvPr/>
        </p:nvSpPr>
        <p:spPr>
          <a:xfrm>
            <a:off x="275988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1" name="任意多边形: 形状 10"/>
          <p:cNvSpPr/>
          <p:nvPr/>
        </p:nvSpPr>
        <p:spPr>
          <a:xfrm>
            <a:off x="4530150"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p:nvSpPr>
        <p:spPr>
          <a:xfrm>
            <a:off x="6621441"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3" name="任意多边形: 形状 12"/>
          <p:cNvSpPr/>
          <p:nvPr/>
        </p:nvSpPr>
        <p:spPr>
          <a:xfrm>
            <a:off x="839170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 name="任意多边形: 形状 13"/>
          <p:cNvSpPr/>
          <p:nvPr/>
        </p:nvSpPr>
        <p:spPr>
          <a:xfrm>
            <a:off x="1048299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5" name="任意多边形: 形状 14"/>
          <p:cNvSpPr/>
          <p:nvPr/>
        </p:nvSpPr>
        <p:spPr>
          <a:xfrm>
            <a:off x="66859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6" name="任意多边形: 形状 15"/>
          <p:cNvSpPr/>
          <p:nvPr/>
        </p:nvSpPr>
        <p:spPr>
          <a:xfrm>
            <a:off x="275988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p:nvSpPr>
        <p:spPr>
          <a:xfrm>
            <a:off x="4530150"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8" name="任意多边形: 形状 17"/>
          <p:cNvSpPr/>
          <p:nvPr/>
        </p:nvSpPr>
        <p:spPr>
          <a:xfrm>
            <a:off x="6621441"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9" name="任意多边形: 形状 18"/>
          <p:cNvSpPr/>
          <p:nvPr/>
        </p:nvSpPr>
        <p:spPr>
          <a:xfrm>
            <a:off x="839170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0" name="任意多边形: 形状 19"/>
          <p:cNvSpPr/>
          <p:nvPr/>
        </p:nvSpPr>
        <p:spPr>
          <a:xfrm>
            <a:off x="1048299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1" name="文本框 20"/>
          <p:cNvSpPr txBox="1"/>
          <p:nvPr/>
        </p:nvSpPr>
        <p:spPr>
          <a:xfrm>
            <a:off x="964982"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帮助教师突破</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生活情境与教学脱节、价值引领难落地</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的困境，提供可操作策略。</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2" name="文本框 21"/>
          <p:cNvSpPr txBox="1"/>
          <p:nvPr/>
        </p:nvSpPr>
        <p:spPr>
          <a:xfrm>
            <a:off x="964982"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以教研融合优化课堂互动，改善学习体验，切实提升教学的整体效果。</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3" name="文本框 22"/>
          <p:cNvSpPr txBox="1"/>
          <p:nvPr/>
        </p:nvSpPr>
        <p:spPr>
          <a:xfrm>
            <a:off x="4826000"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将抽象道德知识融入生活场景，降低理解难度，助力形成正确价值观，提升素养。</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4" name="文本框 23"/>
          <p:cNvSpPr txBox="1"/>
          <p:nvPr/>
        </p:nvSpPr>
        <p:spPr>
          <a:xfrm>
            <a:off x="4826000"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通过生活化教研设计，避免德育内容空洞说教，充分凸显学科的育人功能。</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5" name="文本框 24"/>
          <p:cNvSpPr txBox="1"/>
          <p:nvPr/>
        </p:nvSpPr>
        <p:spPr>
          <a:xfrm>
            <a:off x="8687018" y="2536964"/>
            <a:ext cx="2540000" cy="127952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推动教研聚焦</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情境创设</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的真实教学需求，避免教研流于形式。</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a:p>
            <a:pPr algn="ctr">
              <a:lnSpc>
                <a:spcPct val="130000"/>
              </a:lnSpc>
            </a:pP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6" name="文本框 25"/>
          <p:cNvSpPr txBox="1"/>
          <p:nvPr/>
        </p:nvSpPr>
        <p:spPr>
          <a:xfrm>
            <a:off x="8687018"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构建</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的教研融合模式，提供可复制的实践框架。</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pic>
        <p:nvPicPr>
          <p:cNvPr id="27" name="图形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89138" y="1851203"/>
            <a:ext cx="535248" cy="535248"/>
          </a:xfrm>
          <a:prstGeom prst="rect">
            <a:avLst/>
          </a:prstGeom>
        </p:spPr>
      </p:pic>
      <p:pic>
        <p:nvPicPr>
          <p:cNvPr id="28" name="图形 2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7263" y="1855167"/>
            <a:ext cx="535248" cy="535248"/>
          </a:xfrm>
          <a:prstGeom prst="rect">
            <a:avLst/>
          </a:prstGeom>
        </p:spPr>
      </p:pic>
      <p:pic>
        <p:nvPicPr>
          <p:cNvPr id="29" name="图形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45708" y="1845771"/>
            <a:ext cx="535248" cy="535248"/>
          </a:xfrm>
          <a:prstGeom prst="rect">
            <a:avLst/>
          </a:prstGeom>
        </p:spPr>
      </p:pic>
      <p:pic>
        <p:nvPicPr>
          <p:cNvPr id="30" name="图形 2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45708" y="4127941"/>
            <a:ext cx="535248" cy="535248"/>
          </a:xfrm>
          <a:prstGeom prst="rect">
            <a:avLst/>
          </a:prstGeom>
        </p:spPr>
      </p:pic>
      <p:pic>
        <p:nvPicPr>
          <p:cNvPr id="31" name="图形 3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58083" y="4165043"/>
            <a:ext cx="535248" cy="535248"/>
          </a:xfrm>
          <a:prstGeom prst="rect">
            <a:avLst/>
          </a:prstGeom>
        </p:spPr>
      </p:pic>
      <p:pic>
        <p:nvPicPr>
          <p:cNvPr id="32" name="图形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87808" y="4127941"/>
            <a:ext cx="535248" cy="535248"/>
          </a:xfrm>
          <a:prstGeom prst="rect">
            <a:avLst/>
          </a:prstGeom>
        </p:spPr>
      </p:pic>
    </p:spTree>
    <p:custDataLst>
      <p:tags r:id="rId1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中小学劳动教育与学科教学融合的实践路径研究</a:t>
            </a:r>
            <a:r>
              <a:rPr lang="zh-CN" altLang="en-US"/>
              <a:t>意义</a:t>
            </a:r>
            <a:endParaRPr lang="zh-CN" altLang="en-US"/>
          </a:p>
        </p:txBody>
      </p:sp>
      <p:grpSp>
        <p:nvGrpSpPr>
          <p:cNvPr id="46" name="组合 45"/>
          <p:cNvGrpSpPr/>
          <p:nvPr/>
        </p:nvGrpSpPr>
        <p:grpSpPr>
          <a:xfrm>
            <a:off x="273685" y="1379858"/>
            <a:ext cx="11642711" cy="5080391"/>
            <a:chOff x="626" y="2342"/>
            <a:chExt cx="17948" cy="7819"/>
          </a:xfrm>
        </p:grpSpPr>
        <p:sp>
          <p:nvSpPr>
            <p:cNvPr id="3" name="îṣ1íḋe"/>
            <p:cNvSpPr/>
            <p:nvPr/>
          </p:nvSpPr>
          <p:spPr bwMode="auto">
            <a:xfrm>
              <a:off x="7316" y="5512"/>
              <a:ext cx="1298" cy="932"/>
            </a:xfrm>
            <a:custGeom>
              <a:avLst/>
              <a:gdLst>
                <a:gd name="T0" fmla="*/ 0 w 213"/>
                <a:gd name="T1" fmla="*/ 12 h 152"/>
                <a:gd name="T2" fmla="*/ 68 w 213"/>
                <a:gd name="T3" fmla="*/ 25 h 152"/>
                <a:gd name="T4" fmla="*/ 142 w 213"/>
                <a:gd name="T5" fmla="*/ 78 h 152"/>
                <a:gd name="T6" fmla="*/ 203 w 213"/>
                <a:gd name="T7" fmla="*/ 152 h 152"/>
                <a:gd name="T8" fmla="*/ 213 w 213"/>
                <a:gd name="T9" fmla="*/ 144 h 152"/>
                <a:gd name="T10" fmla="*/ 128 w 213"/>
                <a:gd name="T11" fmla="*/ 48 h 152"/>
                <a:gd name="T12" fmla="*/ 72 w 213"/>
                <a:gd name="T13" fmla="*/ 13 h 152"/>
                <a:gd name="T14" fmla="*/ 0 w 213"/>
                <a:gd name="T15" fmla="*/ 0 h 152"/>
                <a:gd name="T16" fmla="*/ 0 w 213"/>
                <a:gd name="T17" fmla="*/ 1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52">
                  <a:moveTo>
                    <a:pt x="0" y="12"/>
                  </a:moveTo>
                  <a:cubicBezTo>
                    <a:pt x="26" y="12"/>
                    <a:pt x="48" y="17"/>
                    <a:pt x="68" y="25"/>
                  </a:cubicBezTo>
                  <a:cubicBezTo>
                    <a:pt x="97" y="36"/>
                    <a:pt x="121" y="56"/>
                    <a:pt x="142" y="78"/>
                  </a:cubicBezTo>
                  <a:cubicBezTo>
                    <a:pt x="163" y="101"/>
                    <a:pt x="183" y="127"/>
                    <a:pt x="203" y="152"/>
                  </a:cubicBezTo>
                  <a:cubicBezTo>
                    <a:pt x="213" y="144"/>
                    <a:pt x="213" y="144"/>
                    <a:pt x="213" y="144"/>
                  </a:cubicBezTo>
                  <a:cubicBezTo>
                    <a:pt x="185" y="111"/>
                    <a:pt x="160" y="76"/>
                    <a:pt x="128" y="48"/>
                  </a:cubicBezTo>
                  <a:cubicBezTo>
                    <a:pt x="111" y="34"/>
                    <a:pt x="93" y="22"/>
                    <a:pt x="72" y="13"/>
                  </a:cubicBezTo>
                  <a:cubicBezTo>
                    <a:pt x="51" y="5"/>
                    <a:pt x="28"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ïṣḷiḍé"/>
            <p:cNvSpPr/>
            <p:nvPr/>
          </p:nvSpPr>
          <p:spPr bwMode="auto">
            <a:xfrm>
              <a:off x="6320" y="5512"/>
              <a:ext cx="996" cy="559"/>
            </a:xfrm>
            <a:custGeom>
              <a:avLst/>
              <a:gdLst>
                <a:gd name="T0" fmla="*/ 9 w 163"/>
                <a:gd name="T1" fmla="*/ 91 h 91"/>
                <a:gd name="T2" fmla="*/ 74 w 163"/>
                <a:gd name="T3" fmla="*/ 35 h 91"/>
                <a:gd name="T4" fmla="*/ 163 w 163"/>
                <a:gd name="T5" fmla="*/ 12 h 91"/>
                <a:gd name="T6" fmla="*/ 163 w 163"/>
                <a:gd name="T7" fmla="*/ 0 h 91"/>
                <a:gd name="T8" fmla="*/ 68 w 163"/>
                <a:gd name="T9" fmla="*/ 25 h 91"/>
                <a:gd name="T10" fmla="*/ 0 w 163"/>
                <a:gd name="T11" fmla="*/ 83 h 91"/>
                <a:gd name="T12" fmla="*/ 9 w 163"/>
                <a:gd name="T13" fmla="*/ 91 h 91"/>
              </a:gdLst>
              <a:ahLst/>
              <a:cxnLst>
                <a:cxn ang="0">
                  <a:pos x="T0" y="T1"/>
                </a:cxn>
                <a:cxn ang="0">
                  <a:pos x="T2" y="T3"/>
                </a:cxn>
                <a:cxn ang="0">
                  <a:pos x="T4" y="T5"/>
                </a:cxn>
                <a:cxn ang="0">
                  <a:pos x="T6" y="T7"/>
                </a:cxn>
                <a:cxn ang="0">
                  <a:pos x="T8" y="T9"/>
                </a:cxn>
                <a:cxn ang="0">
                  <a:pos x="T10" y="T11"/>
                </a:cxn>
                <a:cxn ang="0">
                  <a:pos x="T12" y="T13"/>
                </a:cxn>
              </a:cxnLst>
              <a:rect l="0" t="0" r="r" b="b"/>
              <a:pathLst>
                <a:path w="163" h="91">
                  <a:moveTo>
                    <a:pt x="9" y="91"/>
                  </a:moveTo>
                  <a:cubicBezTo>
                    <a:pt x="29" y="69"/>
                    <a:pt x="49" y="49"/>
                    <a:pt x="74" y="35"/>
                  </a:cubicBezTo>
                  <a:cubicBezTo>
                    <a:pt x="98" y="21"/>
                    <a:pt x="127" y="12"/>
                    <a:pt x="163" y="12"/>
                  </a:cubicBezTo>
                  <a:cubicBezTo>
                    <a:pt x="163" y="0"/>
                    <a:pt x="163" y="0"/>
                    <a:pt x="163" y="0"/>
                  </a:cubicBezTo>
                  <a:cubicBezTo>
                    <a:pt x="125" y="0"/>
                    <a:pt x="94" y="10"/>
                    <a:pt x="68" y="25"/>
                  </a:cubicBezTo>
                  <a:cubicBezTo>
                    <a:pt x="41" y="40"/>
                    <a:pt x="20" y="61"/>
                    <a:pt x="0" y="83"/>
                  </a:cubicBezTo>
                  <a:cubicBezTo>
                    <a:pt x="9" y="91"/>
                    <a:pt x="9" y="91"/>
                    <a:pt x="9" y="91"/>
                  </a:cubicBezTo>
                  <a:close/>
                </a:path>
              </a:pathLst>
            </a:custGeom>
            <a:solidFill>
              <a:schemeClr val="accent1"/>
            </a:solidFill>
            <a:ln>
              <a:noFill/>
            </a:ln>
          </p:spPr>
          <p:txBody>
            <a:bodyPr vert="horz" wrap="square" lIns="91440" tIns="45720" rIns="91440" bIns="45720" numCol="1" anchor="t" anchorCtr="0" compatLnSpc="1">
              <a:normAutofit fontScale="90000"/>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ïṥḻíḍé"/>
            <p:cNvSpPr/>
            <p:nvPr/>
          </p:nvSpPr>
          <p:spPr bwMode="auto">
            <a:xfrm>
              <a:off x="6443" y="5799"/>
              <a:ext cx="1764"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íślîḑè"/>
            <p:cNvSpPr/>
            <p:nvPr/>
          </p:nvSpPr>
          <p:spPr bwMode="auto">
            <a:xfrm>
              <a:off x="8554" y="6169"/>
              <a:ext cx="2260" cy="839"/>
            </a:xfrm>
            <a:custGeom>
              <a:avLst/>
              <a:gdLst>
                <a:gd name="T0" fmla="*/ 0 w 371"/>
                <a:gd name="T1" fmla="*/ 45 h 137"/>
                <a:gd name="T2" fmla="*/ 70 w 371"/>
                <a:gd name="T3" fmla="*/ 109 h 137"/>
                <a:gd name="T4" fmla="*/ 171 w 371"/>
                <a:gd name="T5" fmla="*/ 137 h 137"/>
                <a:gd name="T6" fmla="*/ 239 w 371"/>
                <a:gd name="T7" fmla="*/ 125 h 137"/>
                <a:gd name="T8" fmla="*/ 313 w 371"/>
                <a:gd name="T9" fmla="*/ 76 h 137"/>
                <a:gd name="T10" fmla="*/ 371 w 371"/>
                <a:gd name="T11" fmla="*/ 8 h 137"/>
                <a:gd name="T12" fmla="*/ 362 w 371"/>
                <a:gd name="T13" fmla="*/ 0 h 137"/>
                <a:gd name="T14" fmla="*/ 284 w 371"/>
                <a:gd name="T15" fmla="*/ 86 h 137"/>
                <a:gd name="T16" fmla="*/ 234 w 371"/>
                <a:gd name="T17" fmla="*/ 114 h 137"/>
                <a:gd name="T18" fmla="*/ 171 w 371"/>
                <a:gd name="T19" fmla="*/ 125 h 137"/>
                <a:gd name="T20" fmla="*/ 77 w 371"/>
                <a:gd name="T21" fmla="*/ 99 h 137"/>
                <a:gd name="T22" fmla="*/ 10 w 371"/>
                <a:gd name="T23" fmla="*/ 37 h 137"/>
                <a:gd name="T24" fmla="*/ 0 w 371"/>
                <a:gd name="T25" fmla="*/ 4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1" h="137">
                  <a:moveTo>
                    <a:pt x="0" y="45"/>
                  </a:moveTo>
                  <a:cubicBezTo>
                    <a:pt x="21" y="69"/>
                    <a:pt x="43" y="92"/>
                    <a:pt x="70" y="109"/>
                  </a:cubicBezTo>
                  <a:cubicBezTo>
                    <a:pt x="97" y="126"/>
                    <a:pt x="130" y="137"/>
                    <a:pt x="171" y="137"/>
                  </a:cubicBezTo>
                  <a:cubicBezTo>
                    <a:pt x="196" y="137"/>
                    <a:pt x="219" y="133"/>
                    <a:pt x="239" y="125"/>
                  </a:cubicBezTo>
                  <a:cubicBezTo>
                    <a:pt x="268" y="114"/>
                    <a:pt x="292" y="96"/>
                    <a:pt x="313" y="76"/>
                  </a:cubicBezTo>
                  <a:cubicBezTo>
                    <a:pt x="334" y="55"/>
                    <a:pt x="353" y="31"/>
                    <a:pt x="371" y="8"/>
                  </a:cubicBezTo>
                  <a:cubicBezTo>
                    <a:pt x="362" y="0"/>
                    <a:pt x="362" y="0"/>
                    <a:pt x="362" y="0"/>
                  </a:cubicBezTo>
                  <a:cubicBezTo>
                    <a:pt x="337" y="31"/>
                    <a:pt x="313" y="63"/>
                    <a:pt x="284" y="86"/>
                  </a:cubicBezTo>
                  <a:cubicBezTo>
                    <a:pt x="269" y="98"/>
                    <a:pt x="253" y="107"/>
                    <a:pt x="234" y="114"/>
                  </a:cubicBezTo>
                  <a:cubicBezTo>
                    <a:pt x="216" y="121"/>
                    <a:pt x="195" y="125"/>
                    <a:pt x="171" y="125"/>
                  </a:cubicBezTo>
                  <a:cubicBezTo>
                    <a:pt x="132" y="125"/>
                    <a:pt x="102" y="115"/>
                    <a:pt x="77" y="99"/>
                  </a:cubicBezTo>
                  <a:cubicBezTo>
                    <a:pt x="51" y="83"/>
                    <a:pt x="30" y="61"/>
                    <a:pt x="10" y="37"/>
                  </a:cubicBezTo>
                  <a:cubicBezTo>
                    <a:pt x="0" y="45"/>
                    <a:pt x="0" y="45"/>
                    <a:pt x="0" y="4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isļiḓe"/>
            <p:cNvSpPr/>
            <p:nvPr/>
          </p:nvSpPr>
          <p:spPr bwMode="auto">
            <a:xfrm>
              <a:off x="10762" y="5512"/>
              <a:ext cx="2372" cy="877"/>
            </a:xfrm>
            <a:custGeom>
              <a:avLst/>
              <a:gdLst>
                <a:gd name="T0" fmla="*/ 9 w 389"/>
                <a:gd name="T1" fmla="*/ 115 h 143"/>
                <a:gd name="T2" fmla="*/ 81 w 389"/>
                <a:gd name="T3" fmla="*/ 43 h 143"/>
                <a:gd name="T4" fmla="*/ 183 w 389"/>
                <a:gd name="T5" fmla="*/ 12 h 143"/>
                <a:gd name="T6" fmla="*/ 248 w 389"/>
                <a:gd name="T7" fmla="*/ 24 h 143"/>
                <a:gd name="T8" fmla="*/ 320 w 389"/>
                <a:gd name="T9" fmla="*/ 74 h 143"/>
                <a:gd name="T10" fmla="*/ 379 w 389"/>
                <a:gd name="T11" fmla="*/ 143 h 143"/>
                <a:gd name="T12" fmla="*/ 389 w 389"/>
                <a:gd name="T13" fmla="*/ 136 h 143"/>
                <a:gd name="T14" fmla="*/ 306 w 389"/>
                <a:gd name="T15" fmla="*/ 44 h 143"/>
                <a:gd name="T16" fmla="*/ 253 w 389"/>
                <a:gd name="T17" fmla="*/ 12 h 143"/>
                <a:gd name="T18" fmla="*/ 183 w 389"/>
                <a:gd name="T19" fmla="*/ 0 h 143"/>
                <a:gd name="T20" fmla="*/ 74 w 389"/>
                <a:gd name="T21" fmla="*/ 33 h 143"/>
                <a:gd name="T22" fmla="*/ 0 w 389"/>
                <a:gd name="T23" fmla="*/ 107 h 143"/>
                <a:gd name="T24" fmla="*/ 9 w 389"/>
                <a:gd name="T2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 h="143">
                  <a:moveTo>
                    <a:pt x="9" y="115"/>
                  </a:moveTo>
                  <a:cubicBezTo>
                    <a:pt x="31" y="88"/>
                    <a:pt x="54" y="62"/>
                    <a:pt x="81" y="43"/>
                  </a:cubicBezTo>
                  <a:cubicBezTo>
                    <a:pt x="108" y="24"/>
                    <a:pt x="140" y="12"/>
                    <a:pt x="183" y="12"/>
                  </a:cubicBezTo>
                  <a:cubicBezTo>
                    <a:pt x="208" y="12"/>
                    <a:pt x="229" y="16"/>
                    <a:pt x="248" y="24"/>
                  </a:cubicBezTo>
                  <a:cubicBezTo>
                    <a:pt x="277" y="35"/>
                    <a:pt x="300" y="52"/>
                    <a:pt x="320" y="74"/>
                  </a:cubicBezTo>
                  <a:cubicBezTo>
                    <a:pt x="341" y="95"/>
                    <a:pt x="360" y="119"/>
                    <a:pt x="379" y="143"/>
                  </a:cubicBezTo>
                  <a:cubicBezTo>
                    <a:pt x="389" y="136"/>
                    <a:pt x="389" y="136"/>
                    <a:pt x="389" y="136"/>
                  </a:cubicBezTo>
                  <a:cubicBezTo>
                    <a:pt x="363" y="104"/>
                    <a:pt x="338" y="71"/>
                    <a:pt x="306" y="44"/>
                  </a:cubicBezTo>
                  <a:cubicBezTo>
                    <a:pt x="291" y="31"/>
                    <a:pt x="273" y="20"/>
                    <a:pt x="253" y="12"/>
                  </a:cubicBezTo>
                  <a:cubicBezTo>
                    <a:pt x="232" y="5"/>
                    <a:pt x="209" y="0"/>
                    <a:pt x="183" y="0"/>
                  </a:cubicBezTo>
                  <a:cubicBezTo>
                    <a:pt x="138" y="0"/>
                    <a:pt x="103" y="13"/>
                    <a:pt x="74" y="33"/>
                  </a:cubicBezTo>
                  <a:cubicBezTo>
                    <a:pt x="45" y="53"/>
                    <a:pt x="22" y="80"/>
                    <a:pt x="0" y="107"/>
                  </a:cubicBezTo>
                  <a:cubicBezTo>
                    <a:pt x="9" y="115"/>
                    <a:pt x="9" y="115"/>
                    <a:pt x="9" y="11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îSḻiďe"/>
            <p:cNvSpPr/>
            <p:nvPr/>
          </p:nvSpPr>
          <p:spPr bwMode="auto">
            <a:xfrm>
              <a:off x="11053" y="579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ïṥļiḓe"/>
            <p:cNvSpPr/>
            <p:nvPr/>
          </p:nvSpPr>
          <p:spPr bwMode="auto">
            <a:xfrm>
              <a:off x="2777" y="5498"/>
              <a:ext cx="3618" cy="1496"/>
            </a:xfrm>
            <a:custGeom>
              <a:avLst/>
              <a:gdLst>
                <a:gd name="T0" fmla="*/ 0 w 593"/>
                <a:gd name="T1" fmla="*/ 12 h 244"/>
                <a:gd name="T2" fmla="*/ 107 w 593"/>
                <a:gd name="T3" fmla="*/ 47 h 244"/>
                <a:gd name="T4" fmla="*/ 165 w 593"/>
                <a:gd name="T5" fmla="*/ 104 h 244"/>
                <a:gd name="T6" fmla="*/ 248 w 593"/>
                <a:gd name="T7" fmla="*/ 198 h 244"/>
                <a:gd name="T8" fmla="*/ 303 w 593"/>
                <a:gd name="T9" fmla="*/ 231 h 244"/>
                <a:gd name="T10" fmla="*/ 373 w 593"/>
                <a:gd name="T11" fmla="*/ 244 h 244"/>
                <a:gd name="T12" fmla="*/ 449 w 593"/>
                <a:gd name="T13" fmla="*/ 229 h 244"/>
                <a:gd name="T14" fmla="*/ 529 w 593"/>
                <a:gd name="T15" fmla="*/ 168 h 244"/>
                <a:gd name="T16" fmla="*/ 593 w 593"/>
                <a:gd name="T17" fmla="*/ 91 h 244"/>
                <a:gd name="T18" fmla="*/ 584 w 593"/>
                <a:gd name="T19" fmla="*/ 83 h 244"/>
                <a:gd name="T20" fmla="*/ 497 w 593"/>
                <a:gd name="T21" fmla="*/ 183 h 244"/>
                <a:gd name="T22" fmla="*/ 444 w 593"/>
                <a:gd name="T23" fmla="*/ 218 h 244"/>
                <a:gd name="T24" fmla="*/ 373 w 593"/>
                <a:gd name="T25" fmla="*/ 232 h 244"/>
                <a:gd name="T26" fmla="*/ 266 w 593"/>
                <a:gd name="T27" fmla="*/ 197 h 244"/>
                <a:gd name="T28" fmla="*/ 209 w 593"/>
                <a:gd name="T29" fmla="*/ 140 h 244"/>
                <a:gd name="T30" fmla="*/ 126 w 593"/>
                <a:gd name="T31" fmla="*/ 46 h 244"/>
                <a:gd name="T32" fmla="*/ 71 w 593"/>
                <a:gd name="T33" fmla="*/ 13 h 244"/>
                <a:gd name="T34" fmla="*/ 0 w 593"/>
                <a:gd name="T35" fmla="*/ 0 h 244"/>
                <a:gd name="T36" fmla="*/ 0 w 593"/>
                <a:gd name="T37" fmla="*/ 1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3" h="244">
                  <a:moveTo>
                    <a:pt x="0" y="12"/>
                  </a:moveTo>
                  <a:cubicBezTo>
                    <a:pt x="46" y="12"/>
                    <a:pt x="79" y="26"/>
                    <a:pt x="107" y="47"/>
                  </a:cubicBezTo>
                  <a:cubicBezTo>
                    <a:pt x="129" y="63"/>
                    <a:pt x="147" y="83"/>
                    <a:pt x="165" y="104"/>
                  </a:cubicBezTo>
                  <a:cubicBezTo>
                    <a:pt x="191" y="136"/>
                    <a:pt x="216" y="171"/>
                    <a:pt x="248" y="198"/>
                  </a:cubicBezTo>
                  <a:cubicBezTo>
                    <a:pt x="264" y="211"/>
                    <a:pt x="282" y="223"/>
                    <a:pt x="303" y="231"/>
                  </a:cubicBezTo>
                  <a:cubicBezTo>
                    <a:pt x="323" y="239"/>
                    <a:pt x="347" y="244"/>
                    <a:pt x="373" y="244"/>
                  </a:cubicBezTo>
                  <a:cubicBezTo>
                    <a:pt x="402" y="244"/>
                    <a:pt x="427" y="239"/>
                    <a:pt x="449" y="229"/>
                  </a:cubicBezTo>
                  <a:cubicBezTo>
                    <a:pt x="481" y="216"/>
                    <a:pt x="506" y="193"/>
                    <a:pt x="529" y="168"/>
                  </a:cubicBezTo>
                  <a:cubicBezTo>
                    <a:pt x="552" y="143"/>
                    <a:pt x="572" y="116"/>
                    <a:pt x="593" y="91"/>
                  </a:cubicBezTo>
                  <a:cubicBezTo>
                    <a:pt x="584" y="83"/>
                    <a:pt x="584" y="83"/>
                    <a:pt x="584" y="83"/>
                  </a:cubicBezTo>
                  <a:cubicBezTo>
                    <a:pt x="555" y="117"/>
                    <a:pt x="529" y="155"/>
                    <a:pt x="497" y="183"/>
                  </a:cubicBezTo>
                  <a:cubicBezTo>
                    <a:pt x="481" y="198"/>
                    <a:pt x="464" y="210"/>
                    <a:pt x="444" y="218"/>
                  </a:cubicBezTo>
                  <a:cubicBezTo>
                    <a:pt x="424" y="227"/>
                    <a:pt x="401" y="232"/>
                    <a:pt x="373" y="232"/>
                  </a:cubicBezTo>
                  <a:cubicBezTo>
                    <a:pt x="328" y="232"/>
                    <a:pt x="295" y="218"/>
                    <a:pt x="266" y="197"/>
                  </a:cubicBezTo>
                  <a:cubicBezTo>
                    <a:pt x="245" y="181"/>
                    <a:pt x="227" y="161"/>
                    <a:pt x="209" y="140"/>
                  </a:cubicBezTo>
                  <a:cubicBezTo>
                    <a:pt x="183" y="108"/>
                    <a:pt x="158" y="73"/>
                    <a:pt x="126" y="46"/>
                  </a:cubicBezTo>
                  <a:cubicBezTo>
                    <a:pt x="110" y="33"/>
                    <a:pt x="92" y="21"/>
                    <a:pt x="71" y="13"/>
                  </a:cubicBezTo>
                  <a:cubicBezTo>
                    <a:pt x="51" y="5"/>
                    <a:pt x="27"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ïṣļiḑê"/>
            <p:cNvSpPr/>
            <p:nvPr/>
          </p:nvSpPr>
          <p:spPr bwMode="auto">
            <a:xfrm>
              <a:off x="13063" y="5512"/>
              <a:ext cx="3361" cy="1496"/>
            </a:xfrm>
            <a:custGeom>
              <a:avLst/>
              <a:gdLst>
                <a:gd name="T0" fmla="*/ 0 w 551"/>
                <a:gd name="T1" fmla="*/ 143 h 244"/>
                <a:gd name="T2" fmla="*/ 72 w 551"/>
                <a:gd name="T3" fmla="*/ 213 h 244"/>
                <a:gd name="T4" fmla="*/ 177 w 551"/>
                <a:gd name="T5" fmla="*/ 244 h 244"/>
                <a:gd name="T6" fmla="*/ 292 w 551"/>
                <a:gd name="T7" fmla="*/ 207 h 244"/>
                <a:gd name="T8" fmla="*/ 351 w 551"/>
                <a:gd name="T9" fmla="*/ 147 h 244"/>
                <a:gd name="T10" fmla="*/ 433 w 551"/>
                <a:gd name="T11" fmla="*/ 55 h 244"/>
                <a:gd name="T12" fmla="*/ 484 w 551"/>
                <a:gd name="T13" fmla="*/ 24 h 244"/>
                <a:gd name="T14" fmla="*/ 551 w 551"/>
                <a:gd name="T15" fmla="*/ 12 h 244"/>
                <a:gd name="T16" fmla="*/ 551 w 551"/>
                <a:gd name="T17" fmla="*/ 0 h 244"/>
                <a:gd name="T18" fmla="*/ 436 w 551"/>
                <a:gd name="T19" fmla="*/ 37 h 244"/>
                <a:gd name="T20" fmla="*/ 377 w 551"/>
                <a:gd name="T21" fmla="*/ 97 h 244"/>
                <a:gd name="T22" fmla="*/ 295 w 551"/>
                <a:gd name="T23" fmla="*/ 189 h 244"/>
                <a:gd name="T24" fmla="*/ 244 w 551"/>
                <a:gd name="T25" fmla="*/ 220 h 244"/>
                <a:gd name="T26" fmla="*/ 177 w 551"/>
                <a:gd name="T27" fmla="*/ 232 h 244"/>
                <a:gd name="T28" fmla="*/ 79 w 551"/>
                <a:gd name="T29" fmla="*/ 203 h 244"/>
                <a:gd name="T30" fmla="*/ 10 w 551"/>
                <a:gd name="T31" fmla="*/ 136 h 244"/>
                <a:gd name="T32" fmla="*/ 0 w 551"/>
                <a:gd name="T33" fmla="*/ 143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244">
                  <a:moveTo>
                    <a:pt x="0" y="143"/>
                  </a:moveTo>
                  <a:cubicBezTo>
                    <a:pt x="22" y="169"/>
                    <a:pt x="44" y="194"/>
                    <a:pt x="72" y="213"/>
                  </a:cubicBezTo>
                  <a:cubicBezTo>
                    <a:pt x="100" y="232"/>
                    <a:pt x="134" y="244"/>
                    <a:pt x="177" y="244"/>
                  </a:cubicBezTo>
                  <a:cubicBezTo>
                    <a:pt x="225" y="244"/>
                    <a:pt x="262" y="229"/>
                    <a:pt x="292" y="207"/>
                  </a:cubicBezTo>
                  <a:cubicBezTo>
                    <a:pt x="314" y="190"/>
                    <a:pt x="333" y="169"/>
                    <a:pt x="351" y="147"/>
                  </a:cubicBezTo>
                  <a:cubicBezTo>
                    <a:pt x="378" y="115"/>
                    <a:pt x="403" y="81"/>
                    <a:pt x="433" y="55"/>
                  </a:cubicBezTo>
                  <a:cubicBezTo>
                    <a:pt x="448" y="42"/>
                    <a:pt x="465" y="32"/>
                    <a:pt x="484" y="24"/>
                  </a:cubicBezTo>
                  <a:cubicBezTo>
                    <a:pt x="503" y="16"/>
                    <a:pt x="525" y="12"/>
                    <a:pt x="551" y="12"/>
                  </a:cubicBezTo>
                  <a:cubicBezTo>
                    <a:pt x="551" y="0"/>
                    <a:pt x="551" y="0"/>
                    <a:pt x="551" y="0"/>
                  </a:cubicBezTo>
                  <a:cubicBezTo>
                    <a:pt x="503" y="0"/>
                    <a:pt x="466" y="15"/>
                    <a:pt x="436" y="37"/>
                  </a:cubicBezTo>
                  <a:cubicBezTo>
                    <a:pt x="414" y="54"/>
                    <a:pt x="395" y="75"/>
                    <a:pt x="377" y="97"/>
                  </a:cubicBezTo>
                  <a:cubicBezTo>
                    <a:pt x="350" y="129"/>
                    <a:pt x="326" y="163"/>
                    <a:pt x="295" y="189"/>
                  </a:cubicBezTo>
                  <a:cubicBezTo>
                    <a:pt x="280" y="202"/>
                    <a:pt x="263" y="212"/>
                    <a:pt x="244" y="220"/>
                  </a:cubicBezTo>
                  <a:cubicBezTo>
                    <a:pt x="225" y="228"/>
                    <a:pt x="203" y="232"/>
                    <a:pt x="177" y="232"/>
                  </a:cubicBezTo>
                  <a:cubicBezTo>
                    <a:pt x="137" y="232"/>
                    <a:pt x="105" y="221"/>
                    <a:pt x="79" y="203"/>
                  </a:cubicBezTo>
                  <a:cubicBezTo>
                    <a:pt x="52" y="185"/>
                    <a:pt x="31" y="161"/>
                    <a:pt x="10" y="136"/>
                  </a:cubicBezTo>
                  <a:cubicBezTo>
                    <a:pt x="0" y="143"/>
                    <a:pt x="0" y="143"/>
                    <a:pt x="0" y="143"/>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iŝlîďe"/>
            <p:cNvSpPr/>
            <p:nvPr/>
          </p:nvSpPr>
          <p:spPr bwMode="auto">
            <a:xfrm>
              <a:off x="13280" y="4919"/>
              <a:ext cx="1757"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ís1îḋe"/>
            <p:cNvSpPr/>
            <p:nvPr/>
          </p:nvSpPr>
          <p:spPr bwMode="auto">
            <a:xfrm>
              <a:off x="13820" y="5466"/>
              <a:ext cx="677" cy="67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îṣḻîḍè"/>
            <p:cNvSpPr/>
            <p:nvPr/>
          </p:nvSpPr>
          <p:spPr bwMode="auto">
            <a:xfrm>
              <a:off x="4149" y="4796"/>
              <a:ext cx="1757"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ïšļîḑê"/>
            <p:cNvSpPr/>
            <p:nvPr/>
          </p:nvSpPr>
          <p:spPr bwMode="auto">
            <a:xfrm>
              <a:off x="4697" y="5352"/>
              <a:ext cx="662" cy="661"/>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649" h="594741">
                  <a:moveTo>
                    <a:pt x="411175" y="315251"/>
                  </a:moveTo>
                  <a:cubicBezTo>
                    <a:pt x="392328" y="315251"/>
                    <a:pt x="373301" y="322420"/>
                    <a:pt x="358940" y="336757"/>
                  </a:cubicBezTo>
                  <a:cubicBezTo>
                    <a:pt x="330220" y="365432"/>
                    <a:pt x="330220" y="411311"/>
                    <a:pt x="358940" y="439986"/>
                  </a:cubicBezTo>
                  <a:cubicBezTo>
                    <a:pt x="387661" y="468660"/>
                    <a:pt x="435049" y="468660"/>
                    <a:pt x="462333" y="439986"/>
                  </a:cubicBezTo>
                  <a:cubicBezTo>
                    <a:pt x="491053" y="411311"/>
                    <a:pt x="491053" y="365432"/>
                    <a:pt x="462333" y="336757"/>
                  </a:cubicBezTo>
                  <a:cubicBezTo>
                    <a:pt x="448691" y="322420"/>
                    <a:pt x="430023" y="315251"/>
                    <a:pt x="411175" y="315251"/>
                  </a:cubicBezTo>
                  <a:close/>
                  <a:moveTo>
                    <a:pt x="410816" y="276182"/>
                  </a:moveTo>
                  <a:cubicBezTo>
                    <a:pt x="439716" y="276182"/>
                    <a:pt x="468795" y="287293"/>
                    <a:pt x="491053" y="309516"/>
                  </a:cubicBezTo>
                  <a:cubicBezTo>
                    <a:pt x="525517" y="342492"/>
                    <a:pt x="532697" y="394106"/>
                    <a:pt x="514029" y="435685"/>
                  </a:cubicBezTo>
                  <a:lnTo>
                    <a:pt x="578649" y="500203"/>
                  </a:lnTo>
                  <a:lnTo>
                    <a:pt x="522645" y="556118"/>
                  </a:lnTo>
                  <a:lnTo>
                    <a:pt x="458025" y="491600"/>
                  </a:lnTo>
                  <a:cubicBezTo>
                    <a:pt x="416381" y="510239"/>
                    <a:pt x="366121" y="503070"/>
                    <a:pt x="331656" y="468660"/>
                  </a:cubicBezTo>
                  <a:cubicBezTo>
                    <a:pt x="287140" y="424215"/>
                    <a:pt x="287140" y="352528"/>
                    <a:pt x="331656" y="309516"/>
                  </a:cubicBezTo>
                  <a:cubicBezTo>
                    <a:pt x="353197" y="287293"/>
                    <a:pt x="381917" y="276182"/>
                    <a:pt x="410816" y="276182"/>
                  </a:cubicBezTo>
                  <a:close/>
                  <a:moveTo>
                    <a:pt x="134949" y="20001"/>
                  </a:moveTo>
                  <a:lnTo>
                    <a:pt x="134949" y="144835"/>
                  </a:lnTo>
                  <a:lnTo>
                    <a:pt x="17242" y="144835"/>
                  </a:lnTo>
                  <a:close/>
                  <a:moveTo>
                    <a:pt x="172278" y="0"/>
                  </a:moveTo>
                  <a:lnTo>
                    <a:pt x="480943" y="0"/>
                  </a:lnTo>
                  <a:lnTo>
                    <a:pt x="480943" y="276591"/>
                  </a:lnTo>
                  <a:cubicBezTo>
                    <a:pt x="460844" y="263693"/>
                    <a:pt x="436438" y="256527"/>
                    <a:pt x="410596" y="256527"/>
                  </a:cubicBezTo>
                  <a:cubicBezTo>
                    <a:pt x="381883" y="256527"/>
                    <a:pt x="354606" y="265126"/>
                    <a:pt x="331636" y="282323"/>
                  </a:cubicBezTo>
                  <a:lnTo>
                    <a:pt x="81832" y="282323"/>
                  </a:lnTo>
                  <a:lnTo>
                    <a:pt x="81832" y="322450"/>
                  </a:lnTo>
                  <a:lnTo>
                    <a:pt x="295744" y="322450"/>
                  </a:lnTo>
                  <a:cubicBezTo>
                    <a:pt x="288566" y="335348"/>
                    <a:pt x="282823" y="351112"/>
                    <a:pt x="279952" y="366877"/>
                  </a:cubicBezTo>
                  <a:lnTo>
                    <a:pt x="81832" y="366877"/>
                  </a:lnTo>
                  <a:lnTo>
                    <a:pt x="81832" y="407004"/>
                  </a:lnTo>
                  <a:lnTo>
                    <a:pt x="279952" y="407004"/>
                  </a:lnTo>
                  <a:cubicBezTo>
                    <a:pt x="281388" y="422768"/>
                    <a:pt x="287130" y="438532"/>
                    <a:pt x="294309" y="451430"/>
                  </a:cubicBezTo>
                  <a:lnTo>
                    <a:pt x="81832" y="451430"/>
                  </a:lnTo>
                  <a:lnTo>
                    <a:pt x="81832" y="491557"/>
                  </a:lnTo>
                  <a:lnTo>
                    <a:pt x="327329" y="491557"/>
                  </a:lnTo>
                  <a:cubicBezTo>
                    <a:pt x="350299" y="511621"/>
                    <a:pt x="380448" y="521653"/>
                    <a:pt x="410596" y="521653"/>
                  </a:cubicBezTo>
                  <a:cubicBezTo>
                    <a:pt x="424953" y="521653"/>
                    <a:pt x="439309" y="518786"/>
                    <a:pt x="453666" y="514487"/>
                  </a:cubicBezTo>
                  <a:lnTo>
                    <a:pt x="480943" y="543149"/>
                  </a:lnTo>
                  <a:lnTo>
                    <a:pt x="480943" y="594741"/>
                  </a:lnTo>
                  <a:lnTo>
                    <a:pt x="0" y="594741"/>
                  </a:lnTo>
                  <a:lnTo>
                    <a:pt x="0" y="180572"/>
                  </a:lnTo>
                  <a:lnTo>
                    <a:pt x="172278" y="180572"/>
                  </a:lnTo>
                  <a:close/>
                </a:path>
              </a:pathLst>
            </a:custGeom>
            <a:solidFill>
              <a:schemeClr val="bg1"/>
            </a:solidFill>
            <a:ln>
              <a:noFill/>
            </a:ln>
          </p:spPr>
          <p:txBody>
            <a:bodyPr wrap="square" lIns="91440" tIns="45720" rIns="91440" bIns="45720">
              <a:normAutofit/>
            </a:bodyPr>
            <a:lstStyle/>
            <a:p>
              <a:endParaRPr lang="zh-CN" altLang="en-US">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i$ļiḑê"/>
            <p:cNvSpPr/>
            <p:nvPr/>
          </p:nvSpPr>
          <p:spPr bwMode="auto">
            <a:xfrm>
              <a:off x="8711" y="491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ïSľîde"/>
            <p:cNvSpPr/>
            <p:nvPr/>
          </p:nvSpPr>
          <p:spPr>
            <a:xfrm>
              <a:off x="9234" y="5378"/>
              <a:ext cx="717" cy="716"/>
            </a:xfrm>
            <a:custGeom>
              <a:avLst/>
              <a:gdLst>
                <a:gd name="connsiteX0" fmla="*/ 481551 w 608627"/>
                <a:gd name="connsiteY0" fmla="*/ 444844 h 607780"/>
                <a:gd name="connsiteX1" fmla="*/ 572887 w 608627"/>
                <a:gd name="connsiteY1" fmla="*/ 444844 h 607780"/>
                <a:gd name="connsiteX2" fmla="*/ 608627 w 608627"/>
                <a:gd name="connsiteY2" fmla="*/ 480868 h 607780"/>
                <a:gd name="connsiteX3" fmla="*/ 608627 w 608627"/>
                <a:gd name="connsiteY3" fmla="*/ 572086 h 607780"/>
                <a:gd name="connsiteX4" fmla="*/ 572887 w 608627"/>
                <a:gd name="connsiteY4" fmla="*/ 607780 h 607780"/>
                <a:gd name="connsiteX5" fmla="*/ 481551 w 608627"/>
                <a:gd name="connsiteY5" fmla="*/ 607780 h 607780"/>
                <a:gd name="connsiteX6" fmla="*/ 445480 w 608627"/>
                <a:gd name="connsiteY6" fmla="*/ 572086 h 607780"/>
                <a:gd name="connsiteX7" fmla="*/ 445480 w 608627"/>
                <a:gd name="connsiteY7" fmla="*/ 480868 h 607780"/>
                <a:gd name="connsiteX8" fmla="*/ 481551 w 608627"/>
                <a:gd name="connsiteY8" fmla="*/ 444844 h 607780"/>
                <a:gd name="connsiteX9" fmla="*/ 238947 w 608627"/>
                <a:gd name="connsiteY9" fmla="*/ 405187 h 607780"/>
                <a:gd name="connsiteX10" fmla="*/ 329952 w 608627"/>
                <a:gd name="connsiteY10" fmla="*/ 405187 h 607780"/>
                <a:gd name="connsiteX11" fmla="*/ 366023 w 608627"/>
                <a:gd name="connsiteY11" fmla="*/ 441211 h 607780"/>
                <a:gd name="connsiteX12" fmla="*/ 366023 w 608627"/>
                <a:gd name="connsiteY12" fmla="*/ 532429 h 607780"/>
                <a:gd name="connsiteX13" fmla="*/ 329952 w 608627"/>
                <a:gd name="connsiteY13" fmla="*/ 568123 h 607780"/>
                <a:gd name="connsiteX14" fmla="*/ 238947 w 608627"/>
                <a:gd name="connsiteY14" fmla="*/ 568123 h 607780"/>
                <a:gd name="connsiteX15" fmla="*/ 202876 w 608627"/>
                <a:gd name="connsiteY15" fmla="*/ 532429 h 607780"/>
                <a:gd name="connsiteX16" fmla="*/ 202876 w 608627"/>
                <a:gd name="connsiteY16" fmla="*/ 441211 h 607780"/>
                <a:gd name="connsiteX17" fmla="*/ 238947 w 608627"/>
                <a:gd name="connsiteY17" fmla="*/ 405187 h 607780"/>
                <a:gd name="connsiteX18" fmla="*/ 36071 w 608627"/>
                <a:gd name="connsiteY18" fmla="*/ 405187 h 607780"/>
                <a:gd name="connsiteX19" fmla="*/ 127407 w 608627"/>
                <a:gd name="connsiteY19" fmla="*/ 405187 h 607780"/>
                <a:gd name="connsiteX20" fmla="*/ 163147 w 608627"/>
                <a:gd name="connsiteY20" fmla="*/ 441211 h 607780"/>
                <a:gd name="connsiteX21" fmla="*/ 163147 w 608627"/>
                <a:gd name="connsiteY21" fmla="*/ 532429 h 607780"/>
                <a:gd name="connsiteX22" fmla="*/ 127407 w 608627"/>
                <a:gd name="connsiteY22" fmla="*/ 568123 h 607780"/>
                <a:gd name="connsiteX23" fmla="*/ 36071 w 608627"/>
                <a:gd name="connsiteY23" fmla="*/ 568123 h 607780"/>
                <a:gd name="connsiteX24" fmla="*/ 0 w 608627"/>
                <a:gd name="connsiteY24" fmla="*/ 532429 h 607780"/>
                <a:gd name="connsiteX25" fmla="*/ 0 w 608627"/>
                <a:gd name="connsiteY25" fmla="*/ 441211 h 607780"/>
                <a:gd name="connsiteX26" fmla="*/ 36071 w 608627"/>
                <a:gd name="connsiteY26" fmla="*/ 405187 h 607780"/>
                <a:gd name="connsiteX27" fmla="*/ 441506 w 608627"/>
                <a:gd name="connsiteY27" fmla="*/ 202593 h 607780"/>
                <a:gd name="connsiteX28" fmla="*/ 532883 w 608627"/>
                <a:gd name="connsiteY28" fmla="*/ 202593 h 607780"/>
                <a:gd name="connsiteX29" fmla="*/ 568969 w 608627"/>
                <a:gd name="connsiteY29" fmla="*/ 238617 h 607780"/>
                <a:gd name="connsiteX30" fmla="*/ 568969 w 608627"/>
                <a:gd name="connsiteY30" fmla="*/ 329505 h 607780"/>
                <a:gd name="connsiteX31" fmla="*/ 532883 w 608627"/>
                <a:gd name="connsiteY31" fmla="*/ 365529 h 607780"/>
                <a:gd name="connsiteX32" fmla="*/ 441506 w 608627"/>
                <a:gd name="connsiteY32" fmla="*/ 365529 h 607780"/>
                <a:gd name="connsiteX33" fmla="*/ 405751 w 608627"/>
                <a:gd name="connsiteY33" fmla="*/ 329505 h 607780"/>
                <a:gd name="connsiteX34" fmla="*/ 405751 w 608627"/>
                <a:gd name="connsiteY34" fmla="*/ 238617 h 607780"/>
                <a:gd name="connsiteX35" fmla="*/ 441506 w 608627"/>
                <a:gd name="connsiteY35" fmla="*/ 202593 h 607780"/>
                <a:gd name="connsiteX36" fmla="*/ 238947 w 608627"/>
                <a:gd name="connsiteY36" fmla="*/ 202593 h 607780"/>
                <a:gd name="connsiteX37" fmla="*/ 329952 w 608627"/>
                <a:gd name="connsiteY37" fmla="*/ 202593 h 607780"/>
                <a:gd name="connsiteX38" fmla="*/ 366023 w 608627"/>
                <a:gd name="connsiteY38" fmla="*/ 238617 h 607780"/>
                <a:gd name="connsiteX39" fmla="*/ 366023 w 608627"/>
                <a:gd name="connsiteY39" fmla="*/ 329505 h 607780"/>
                <a:gd name="connsiteX40" fmla="*/ 329952 w 608627"/>
                <a:gd name="connsiteY40" fmla="*/ 365529 h 607780"/>
                <a:gd name="connsiteX41" fmla="*/ 238947 w 608627"/>
                <a:gd name="connsiteY41" fmla="*/ 365529 h 607780"/>
                <a:gd name="connsiteX42" fmla="*/ 202876 w 608627"/>
                <a:gd name="connsiteY42" fmla="*/ 329505 h 607780"/>
                <a:gd name="connsiteX43" fmla="*/ 202876 w 608627"/>
                <a:gd name="connsiteY43" fmla="*/ 238617 h 607780"/>
                <a:gd name="connsiteX44" fmla="*/ 238947 w 608627"/>
                <a:gd name="connsiteY44" fmla="*/ 202593 h 607780"/>
                <a:gd name="connsiteX45" fmla="*/ 36071 w 608627"/>
                <a:gd name="connsiteY45" fmla="*/ 202593 h 607780"/>
                <a:gd name="connsiteX46" fmla="*/ 127407 w 608627"/>
                <a:gd name="connsiteY46" fmla="*/ 202593 h 607780"/>
                <a:gd name="connsiteX47" fmla="*/ 163147 w 608627"/>
                <a:gd name="connsiteY47" fmla="*/ 238617 h 607780"/>
                <a:gd name="connsiteX48" fmla="*/ 163147 w 608627"/>
                <a:gd name="connsiteY48" fmla="*/ 329505 h 607780"/>
                <a:gd name="connsiteX49" fmla="*/ 127407 w 608627"/>
                <a:gd name="connsiteY49" fmla="*/ 365529 h 607780"/>
                <a:gd name="connsiteX50" fmla="*/ 36071 w 608627"/>
                <a:gd name="connsiteY50" fmla="*/ 365529 h 607780"/>
                <a:gd name="connsiteX51" fmla="*/ 0 w 608627"/>
                <a:gd name="connsiteY51" fmla="*/ 329505 h 607780"/>
                <a:gd name="connsiteX52" fmla="*/ 0 w 608627"/>
                <a:gd name="connsiteY52" fmla="*/ 238617 h 607780"/>
                <a:gd name="connsiteX53" fmla="*/ 36071 w 608627"/>
                <a:gd name="connsiteY53" fmla="*/ 202593 h 607780"/>
                <a:gd name="connsiteX54" fmla="*/ 441506 w 608627"/>
                <a:gd name="connsiteY54" fmla="*/ 0 h 607780"/>
                <a:gd name="connsiteX55" fmla="*/ 532883 w 608627"/>
                <a:gd name="connsiteY55" fmla="*/ 0 h 607780"/>
                <a:gd name="connsiteX56" fmla="*/ 568969 w 608627"/>
                <a:gd name="connsiteY56" fmla="*/ 36024 h 607780"/>
                <a:gd name="connsiteX57" fmla="*/ 568969 w 608627"/>
                <a:gd name="connsiteY57" fmla="*/ 126912 h 607780"/>
                <a:gd name="connsiteX58" fmla="*/ 532883 w 608627"/>
                <a:gd name="connsiteY58" fmla="*/ 162936 h 607780"/>
                <a:gd name="connsiteX59" fmla="*/ 441506 w 608627"/>
                <a:gd name="connsiteY59" fmla="*/ 162936 h 607780"/>
                <a:gd name="connsiteX60" fmla="*/ 405751 w 608627"/>
                <a:gd name="connsiteY60" fmla="*/ 126912 h 607780"/>
                <a:gd name="connsiteX61" fmla="*/ 405751 w 608627"/>
                <a:gd name="connsiteY61" fmla="*/ 36024 h 607780"/>
                <a:gd name="connsiteX62" fmla="*/ 441506 w 608627"/>
                <a:gd name="connsiteY62" fmla="*/ 0 h 607780"/>
                <a:gd name="connsiteX63" fmla="*/ 238947 w 608627"/>
                <a:gd name="connsiteY63" fmla="*/ 0 h 607780"/>
                <a:gd name="connsiteX64" fmla="*/ 329952 w 608627"/>
                <a:gd name="connsiteY64" fmla="*/ 0 h 607780"/>
                <a:gd name="connsiteX65" fmla="*/ 366023 w 608627"/>
                <a:gd name="connsiteY65" fmla="*/ 36024 h 607780"/>
                <a:gd name="connsiteX66" fmla="*/ 366023 w 608627"/>
                <a:gd name="connsiteY66" fmla="*/ 126912 h 607780"/>
                <a:gd name="connsiteX67" fmla="*/ 329952 w 608627"/>
                <a:gd name="connsiteY67" fmla="*/ 162936 h 607780"/>
                <a:gd name="connsiteX68" fmla="*/ 238947 w 608627"/>
                <a:gd name="connsiteY68" fmla="*/ 162936 h 607780"/>
                <a:gd name="connsiteX69" fmla="*/ 202876 w 608627"/>
                <a:gd name="connsiteY69" fmla="*/ 126912 h 607780"/>
                <a:gd name="connsiteX70" fmla="*/ 202876 w 608627"/>
                <a:gd name="connsiteY70" fmla="*/ 36024 h 607780"/>
                <a:gd name="connsiteX71" fmla="*/ 238947 w 608627"/>
                <a:gd name="connsiteY71" fmla="*/ 0 h 607780"/>
                <a:gd name="connsiteX72" fmla="*/ 36071 w 608627"/>
                <a:gd name="connsiteY72" fmla="*/ 0 h 607780"/>
                <a:gd name="connsiteX73" fmla="*/ 127407 w 608627"/>
                <a:gd name="connsiteY73" fmla="*/ 0 h 607780"/>
                <a:gd name="connsiteX74" fmla="*/ 163147 w 608627"/>
                <a:gd name="connsiteY74" fmla="*/ 36024 h 607780"/>
                <a:gd name="connsiteX75" fmla="*/ 163147 w 608627"/>
                <a:gd name="connsiteY75" fmla="*/ 126912 h 607780"/>
                <a:gd name="connsiteX76" fmla="*/ 127407 w 608627"/>
                <a:gd name="connsiteY76" fmla="*/ 162936 h 607780"/>
                <a:gd name="connsiteX77" fmla="*/ 36071 w 608627"/>
                <a:gd name="connsiteY77" fmla="*/ 162936 h 607780"/>
                <a:gd name="connsiteX78" fmla="*/ 0 w 608627"/>
                <a:gd name="connsiteY78" fmla="*/ 126912 h 607780"/>
                <a:gd name="connsiteX79" fmla="*/ 0 w 608627"/>
                <a:gd name="connsiteY79" fmla="*/ 36024 h 607780"/>
                <a:gd name="connsiteX80" fmla="*/ 36071 w 608627"/>
                <a:gd name="connsiteY80"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8627" h="607780">
                  <a:moveTo>
                    <a:pt x="481551" y="444844"/>
                  </a:moveTo>
                  <a:lnTo>
                    <a:pt x="572887" y="444844"/>
                  </a:lnTo>
                  <a:cubicBezTo>
                    <a:pt x="592412" y="444844"/>
                    <a:pt x="608627" y="461038"/>
                    <a:pt x="608627" y="480868"/>
                  </a:cubicBezTo>
                  <a:lnTo>
                    <a:pt x="608627" y="572086"/>
                  </a:lnTo>
                  <a:cubicBezTo>
                    <a:pt x="608627" y="591586"/>
                    <a:pt x="592412" y="607780"/>
                    <a:pt x="572887" y="607780"/>
                  </a:cubicBezTo>
                  <a:lnTo>
                    <a:pt x="481551" y="607780"/>
                  </a:lnTo>
                  <a:cubicBezTo>
                    <a:pt x="461696" y="607780"/>
                    <a:pt x="445480" y="591586"/>
                    <a:pt x="445480" y="572086"/>
                  </a:cubicBezTo>
                  <a:lnTo>
                    <a:pt x="445480" y="480868"/>
                  </a:lnTo>
                  <a:cubicBezTo>
                    <a:pt x="445480" y="461038"/>
                    <a:pt x="461696" y="444844"/>
                    <a:pt x="481551" y="444844"/>
                  </a:cubicBezTo>
                  <a:close/>
                  <a:moveTo>
                    <a:pt x="238947" y="405187"/>
                  </a:moveTo>
                  <a:lnTo>
                    <a:pt x="329952" y="405187"/>
                  </a:lnTo>
                  <a:cubicBezTo>
                    <a:pt x="349807" y="405187"/>
                    <a:pt x="366023" y="421381"/>
                    <a:pt x="366023" y="441211"/>
                  </a:cubicBezTo>
                  <a:lnTo>
                    <a:pt x="366023" y="532429"/>
                  </a:lnTo>
                  <a:cubicBezTo>
                    <a:pt x="366023" y="551929"/>
                    <a:pt x="349807" y="568123"/>
                    <a:pt x="329952" y="568123"/>
                  </a:cubicBezTo>
                  <a:lnTo>
                    <a:pt x="238947" y="568123"/>
                  </a:lnTo>
                  <a:cubicBezTo>
                    <a:pt x="219091" y="568123"/>
                    <a:pt x="202876" y="551929"/>
                    <a:pt x="202876" y="532429"/>
                  </a:cubicBezTo>
                  <a:lnTo>
                    <a:pt x="202876" y="441211"/>
                  </a:lnTo>
                  <a:cubicBezTo>
                    <a:pt x="202876" y="421381"/>
                    <a:pt x="219091" y="405187"/>
                    <a:pt x="238947" y="405187"/>
                  </a:cubicBezTo>
                  <a:close/>
                  <a:moveTo>
                    <a:pt x="36071" y="405187"/>
                  </a:moveTo>
                  <a:lnTo>
                    <a:pt x="127407" y="405187"/>
                  </a:lnTo>
                  <a:cubicBezTo>
                    <a:pt x="146931" y="405187"/>
                    <a:pt x="163147" y="421381"/>
                    <a:pt x="163147" y="441211"/>
                  </a:cubicBezTo>
                  <a:lnTo>
                    <a:pt x="163147" y="532429"/>
                  </a:lnTo>
                  <a:cubicBezTo>
                    <a:pt x="163147" y="551929"/>
                    <a:pt x="146931" y="568123"/>
                    <a:pt x="127407" y="568123"/>
                  </a:cubicBezTo>
                  <a:lnTo>
                    <a:pt x="36071" y="568123"/>
                  </a:lnTo>
                  <a:cubicBezTo>
                    <a:pt x="16215" y="568123"/>
                    <a:pt x="0" y="551929"/>
                    <a:pt x="0" y="532429"/>
                  </a:cubicBezTo>
                  <a:lnTo>
                    <a:pt x="0" y="441211"/>
                  </a:lnTo>
                  <a:cubicBezTo>
                    <a:pt x="0" y="421381"/>
                    <a:pt x="16215" y="405187"/>
                    <a:pt x="36071" y="405187"/>
                  </a:cubicBezTo>
                  <a:close/>
                  <a:moveTo>
                    <a:pt x="441506" y="202593"/>
                  </a:moveTo>
                  <a:lnTo>
                    <a:pt x="532883" y="202593"/>
                  </a:lnTo>
                  <a:cubicBezTo>
                    <a:pt x="552747" y="202593"/>
                    <a:pt x="568969" y="218787"/>
                    <a:pt x="568969" y="238617"/>
                  </a:cubicBezTo>
                  <a:lnTo>
                    <a:pt x="568969" y="329505"/>
                  </a:lnTo>
                  <a:cubicBezTo>
                    <a:pt x="568969" y="349335"/>
                    <a:pt x="552747" y="365529"/>
                    <a:pt x="532883" y="365529"/>
                  </a:cubicBezTo>
                  <a:lnTo>
                    <a:pt x="441506" y="365529"/>
                  </a:lnTo>
                  <a:cubicBezTo>
                    <a:pt x="421973" y="365529"/>
                    <a:pt x="405751" y="349335"/>
                    <a:pt x="405751" y="329505"/>
                  </a:cubicBezTo>
                  <a:lnTo>
                    <a:pt x="405751" y="238617"/>
                  </a:lnTo>
                  <a:cubicBezTo>
                    <a:pt x="405751" y="218787"/>
                    <a:pt x="421973" y="202593"/>
                    <a:pt x="441506" y="202593"/>
                  </a:cubicBezTo>
                  <a:close/>
                  <a:moveTo>
                    <a:pt x="238947" y="202593"/>
                  </a:moveTo>
                  <a:lnTo>
                    <a:pt x="329952" y="202593"/>
                  </a:lnTo>
                  <a:cubicBezTo>
                    <a:pt x="349807" y="202593"/>
                    <a:pt x="366023" y="218787"/>
                    <a:pt x="366023" y="238617"/>
                  </a:cubicBezTo>
                  <a:lnTo>
                    <a:pt x="366023" y="329505"/>
                  </a:lnTo>
                  <a:cubicBezTo>
                    <a:pt x="366023" y="349335"/>
                    <a:pt x="349807" y="365529"/>
                    <a:pt x="329952" y="365529"/>
                  </a:cubicBezTo>
                  <a:lnTo>
                    <a:pt x="238947" y="365529"/>
                  </a:lnTo>
                  <a:cubicBezTo>
                    <a:pt x="219091" y="365529"/>
                    <a:pt x="202876" y="349335"/>
                    <a:pt x="202876" y="329505"/>
                  </a:cubicBezTo>
                  <a:lnTo>
                    <a:pt x="202876" y="238617"/>
                  </a:lnTo>
                  <a:cubicBezTo>
                    <a:pt x="202876" y="218787"/>
                    <a:pt x="219091" y="202593"/>
                    <a:pt x="238947" y="202593"/>
                  </a:cubicBezTo>
                  <a:close/>
                  <a:moveTo>
                    <a:pt x="36071" y="202593"/>
                  </a:moveTo>
                  <a:lnTo>
                    <a:pt x="127407" y="202593"/>
                  </a:lnTo>
                  <a:cubicBezTo>
                    <a:pt x="146931" y="202593"/>
                    <a:pt x="163147" y="218787"/>
                    <a:pt x="163147" y="238617"/>
                  </a:cubicBezTo>
                  <a:lnTo>
                    <a:pt x="163147" y="329505"/>
                  </a:lnTo>
                  <a:cubicBezTo>
                    <a:pt x="163147" y="349335"/>
                    <a:pt x="146931" y="365529"/>
                    <a:pt x="127407" y="365529"/>
                  </a:cubicBezTo>
                  <a:lnTo>
                    <a:pt x="36071" y="365529"/>
                  </a:lnTo>
                  <a:cubicBezTo>
                    <a:pt x="16215" y="365529"/>
                    <a:pt x="0" y="349335"/>
                    <a:pt x="0" y="329505"/>
                  </a:cubicBezTo>
                  <a:lnTo>
                    <a:pt x="0" y="238617"/>
                  </a:lnTo>
                  <a:cubicBezTo>
                    <a:pt x="0" y="218787"/>
                    <a:pt x="16215" y="202593"/>
                    <a:pt x="36071" y="202593"/>
                  </a:cubicBezTo>
                  <a:close/>
                  <a:moveTo>
                    <a:pt x="441506" y="0"/>
                  </a:moveTo>
                  <a:lnTo>
                    <a:pt x="532883" y="0"/>
                  </a:lnTo>
                  <a:cubicBezTo>
                    <a:pt x="552747" y="0"/>
                    <a:pt x="568969" y="16194"/>
                    <a:pt x="568969" y="36024"/>
                  </a:cubicBezTo>
                  <a:lnTo>
                    <a:pt x="568969" y="126912"/>
                  </a:lnTo>
                  <a:cubicBezTo>
                    <a:pt x="568969" y="146742"/>
                    <a:pt x="552747" y="162936"/>
                    <a:pt x="532883" y="162936"/>
                  </a:cubicBezTo>
                  <a:lnTo>
                    <a:pt x="441506" y="162936"/>
                  </a:lnTo>
                  <a:cubicBezTo>
                    <a:pt x="421973" y="162936"/>
                    <a:pt x="405751" y="146742"/>
                    <a:pt x="405751" y="126912"/>
                  </a:cubicBezTo>
                  <a:lnTo>
                    <a:pt x="405751" y="36024"/>
                  </a:lnTo>
                  <a:cubicBezTo>
                    <a:pt x="405751" y="16194"/>
                    <a:pt x="421973" y="0"/>
                    <a:pt x="441506" y="0"/>
                  </a:cubicBezTo>
                  <a:close/>
                  <a:moveTo>
                    <a:pt x="238947" y="0"/>
                  </a:moveTo>
                  <a:lnTo>
                    <a:pt x="329952" y="0"/>
                  </a:lnTo>
                  <a:cubicBezTo>
                    <a:pt x="349807" y="0"/>
                    <a:pt x="366023" y="16194"/>
                    <a:pt x="366023" y="36024"/>
                  </a:cubicBezTo>
                  <a:lnTo>
                    <a:pt x="366023" y="126912"/>
                  </a:lnTo>
                  <a:cubicBezTo>
                    <a:pt x="366023" y="146742"/>
                    <a:pt x="349807" y="162936"/>
                    <a:pt x="329952" y="162936"/>
                  </a:cubicBezTo>
                  <a:lnTo>
                    <a:pt x="238947" y="162936"/>
                  </a:lnTo>
                  <a:cubicBezTo>
                    <a:pt x="219091" y="162936"/>
                    <a:pt x="202876" y="146742"/>
                    <a:pt x="202876" y="126912"/>
                  </a:cubicBezTo>
                  <a:lnTo>
                    <a:pt x="202876" y="36024"/>
                  </a:lnTo>
                  <a:cubicBezTo>
                    <a:pt x="202876" y="16194"/>
                    <a:pt x="219091" y="0"/>
                    <a:pt x="238947" y="0"/>
                  </a:cubicBezTo>
                  <a:close/>
                  <a:moveTo>
                    <a:pt x="36071" y="0"/>
                  </a:moveTo>
                  <a:lnTo>
                    <a:pt x="127407" y="0"/>
                  </a:lnTo>
                  <a:cubicBezTo>
                    <a:pt x="146931" y="0"/>
                    <a:pt x="163147" y="16194"/>
                    <a:pt x="163147" y="36024"/>
                  </a:cubicBezTo>
                  <a:lnTo>
                    <a:pt x="163147" y="126912"/>
                  </a:lnTo>
                  <a:cubicBezTo>
                    <a:pt x="163147" y="146742"/>
                    <a:pt x="146931" y="162936"/>
                    <a:pt x="127407" y="162936"/>
                  </a:cubicBezTo>
                  <a:lnTo>
                    <a:pt x="36071" y="162936"/>
                  </a:lnTo>
                  <a:cubicBezTo>
                    <a:pt x="16215" y="162936"/>
                    <a:pt x="0" y="146742"/>
                    <a:pt x="0" y="126912"/>
                  </a:cubicBezTo>
                  <a:lnTo>
                    <a:pt x="0" y="36024"/>
                  </a:lnTo>
                  <a:cubicBezTo>
                    <a:pt x="0" y="16194"/>
                    <a:pt x="16215" y="0"/>
                    <a:pt x="3607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ïṧ1ïḑê"/>
            <p:cNvSpPr/>
            <p:nvPr/>
          </p:nvSpPr>
          <p:spPr>
            <a:xfrm>
              <a:off x="6963" y="6359"/>
              <a:ext cx="724" cy="653"/>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islíḓe"/>
            <p:cNvSpPr/>
            <p:nvPr/>
          </p:nvSpPr>
          <p:spPr>
            <a:xfrm>
              <a:off x="11575" y="6357"/>
              <a:ext cx="720" cy="652"/>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îṣḷîḑe"/>
            <p:cNvSpPr/>
            <p:nvPr/>
          </p:nvSpPr>
          <p:spPr>
            <a:xfrm>
              <a:off x="626" y="5496"/>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iś1ïḋe"/>
            <p:cNvSpPr/>
            <p:nvPr/>
          </p:nvSpPr>
          <p:spPr>
            <a:xfrm>
              <a:off x="16412" y="5515"/>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1" name="组合 20"/>
            <p:cNvGrpSpPr/>
            <p:nvPr/>
          </p:nvGrpSpPr>
          <p:grpSpPr>
            <a:xfrm>
              <a:off x="3083" y="2344"/>
              <a:ext cx="3890" cy="2496"/>
              <a:chOff x="1893359" y="1410939"/>
              <a:chExt cx="2470308" cy="1584623"/>
            </a:xfrm>
          </p:grpSpPr>
          <p:grpSp>
            <p:nvGrpSpPr>
              <p:cNvPr id="22" name="组合 21"/>
              <p:cNvGrpSpPr/>
              <p:nvPr/>
            </p:nvGrpSpPr>
            <p:grpSpPr>
              <a:xfrm>
                <a:off x="1893359" y="1410939"/>
                <a:ext cx="2470308" cy="649130"/>
                <a:chOff x="1108004" y="1816148"/>
                <a:chExt cx="2470308" cy="649130"/>
              </a:xfrm>
            </p:grpSpPr>
            <p:sp>
              <p:nvSpPr>
                <p:cNvPr id="24" name="文本框 23"/>
                <p:cNvSpPr txBox="1"/>
                <p:nvPr/>
              </p:nvSpPr>
              <p:spPr>
                <a:xfrm>
                  <a:off x="1108004" y="2150067"/>
                  <a:ext cx="2470308" cy="315211"/>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助力素养提升</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文本框 24"/>
                <p:cNvSpPr txBox="1"/>
                <p:nvPr/>
              </p:nvSpPr>
              <p:spPr>
                <a:xfrm>
                  <a:off x="1303956" y="1816148"/>
                  <a:ext cx="2078405" cy="360507"/>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01</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3" name="矩形 22"/>
              <p:cNvSpPr/>
              <p:nvPr/>
            </p:nvSpPr>
            <p:spPr>
              <a:xfrm>
                <a:off x="2054971" y="2086539"/>
                <a:ext cx="2147084" cy="909023"/>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将劳动教育理念融入学科教学，能让学生在知识学习中同步培养劳动意识与实践能力，全面提升劳动素养。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26" name="组合 25"/>
            <p:cNvGrpSpPr/>
            <p:nvPr/>
          </p:nvGrpSpPr>
          <p:grpSpPr>
            <a:xfrm>
              <a:off x="12315" y="2342"/>
              <a:ext cx="3890" cy="2488"/>
              <a:chOff x="1893359" y="1409779"/>
              <a:chExt cx="2470308" cy="1579844"/>
            </a:xfrm>
          </p:grpSpPr>
          <p:grpSp>
            <p:nvGrpSpPr>
              <p:cNvPr id="27" name="组合 26"/>
              <p:cNvGrpSpPr/>
              <p:nvPr/>
            </p:nvGrpSpPr>
            <p:grpSpPr>
              <a:xfrm>
                <a:off x="1893359" y="1409779"/>
                <a:ext cx="2470308" cy="644079"/>
                <a:chOff x="1108004" y="1814988"/>
                <a:chExt cx="2470308" cy="644079"/>
              </a:xfrm>
            </p:grpSpPr>
            <p:sp>
              <p:nvSpPr>
                <p:cNvPr id="29" name="文本框 28"/>
                <p:cNvSpPr txBox="1"/>
                <p:nvPr/>
              </p:nvSpPr>
              <p:spPr>
                <a:xfrm>
                  <a:off x="1108004" y="2143813"/>
                  <a:ext cx="2470308" cy="31525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填补研究空白</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文本框 29"/>
                <p:cNvSpPr txBox="1"/>
                <p:nvPr/>
              </p:nvSpPr>
              <p:spPr>
                <a:xfrm>
                  <a:off x="1303956" y="1814988"/>
                  <a:ext cx="2078405" cy="360556"/>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05</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8" name="矩形 27"/>
              <p:cNvSpPr/>
              <p:nvPr/>
            </p:nvSpPr>
            <p:spPr>
              <a:xfrm>
                <a:off x="2054971" y="2080476"/>
                <a:ext cx="2147084" cy="90914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当前研究多侧重劳动教育独立实施，针对</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与学科教学融合</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的实践路径研究较少，本研究可完善相关研究体系。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1" name="组合 30"/>
            <p:cNvGrpSpPr/>
            <p:nvPr/>
          </p:nvGrpSpPr>
          <p:grpSpPr>
            <a:xfrm>
              <a:off x="7648" y="2342"/>
              <a:ext cx="3890" cy="2439"/>
              <a:chOff x="1893359" y="1409779"/>
              <a:chExt cx="2470308" cy="1549351"/>
            </a:xfrm>
          </p:grpSpPr>
          <p:grpSp>
            <p:nvGrpSpPr>
              <p:cNvPr id="32" name="组合 31"/>
              <p:cNvGrpSpPr/>
              <p:nvPr/>
            </p:nvGrpSpPr>
            <p:grpSpPr>
              <a:xfrm>
                <a:off x="1893359" y="1409779"/>
                <a:ext cx="2470308" cy="611953"/>
                <a:chOff x="1108004" y="1814988"/>
                <a:chExt cx="2470308" cy="611953"/>
              </a:xfrm>
            </p:grpSpPr>
            <p:sp>
              <p:nvSpPr>
                <p:cNvPr id="34" name="文本框 33"/>
                <p:cNvSpPr txBox="1"/>
                <p:nvPr/>
              </p:nvSpPr>
              <p:spPr>
                <a:xfrm>
                  <a:off x="1108004" y="2111597"/>
                  <a:ext cx="2470308" cy="31534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推动政策落地</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文本框 34"/>
                <p:cNvSpPr txBox="1"/>
                <p:nvPr/>
              </p:nvSpPr>
              <p:spPr>
                <a:xfrm>
                  <a:off x="1303956" y="1814988"/>
                  <a:ext cx="2078405" cy="360659"/>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03</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3" name="矩形 32"/>
              <p:cNvSpPr/>
              <p:nvPr/>
            </p:nvSpPr>
            <p:spPr>
              <a:xfrm>
                <a:off x="2054971" y="2049723"/>
                <a:ext cx="2147084" cy="90940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让国家劳动教育相关政策从</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宏观要求</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转化为</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学科教学具体行动</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，助力政策在中小学日常教学中落地见效。</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6" name="组合 35"/>
            <p:cNvGrpSpPr/>
            <p:nvPr/>
          </p:nvGrpSpPr>
          <p:grpSpPr>
            <a:xfrm>
              <a:off x="9990" y="7664"/>
              <a:ext cx="3890" cy="2157"/>
              <a:chOff x="1893359" y="1484245"/>
              <a:chExt cx="2470308" cy="1370108"/>
            </a:xfrm>
          </p:grpSpPr>
          <p:grpSp>
            <p:nvGrpSpPr>
              <p:cNvPr id="37" name="组合 36"/>
              <p:cNvGrpSpPr/>
              <p:nvPr/>
            </p:nvGrpSpPr>
            <p:grpSpPr>
              <a:xfrm>
                <a:off x="1893359" y="1484245"/>
                <a:ext cx="2470308" cy="650407"/>
                <a:chOff x="1108004" y="1889454"/>
                <a:chExt cx="2470308" cy="650407"/>
              </a:xfrm>
            </p:grpSpPr>
            <p:sp>
              <p:nvSpPr>
                <p:cNvPr id="39" name="文本框 38"/>
                <p:cNvSpPr txBox="1"/>
                <p:nvPr/>
              </p:nvSpPr>
              <p:spPr>
                <a:xfrm>
                  <a:off x="1108004" y="2224533"/>
                  <a:ext cx="2470308" cy="31532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拓展价值边界</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0" name="文本框 39"/>
                <p:cNvSpPr txBox="1"/>
                <p:nvPr/>
              </p:nvSpPr>
              <p:spPr>
                <a:xfrm>
                  <a:off x="1303956" y="1889454"/>
                  <a:ext cx="2078405" cy="360640"/>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04</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8" name="矩形 37"/>
              <p:cNvSpPr/>
              <p:nvPr/>
            </p:nvSpPr>
            <p:spPr>
              <a:xfrm>
                <a:off x="2054971" y="2161005"/>
                <a:ext cx="2147084" cy="693348"/>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打破学科教学</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重知识传授</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的单一定位，通过劳动教育融合，丰富学科的育人维度与价值内涵。</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41" name="组合 40"/>
            <p:cNvGrpSpPr/>
            <p:nvPr/>
          </p:nvGrpSpPr>
          <p:grpSpPr>
            <a:xfrm>
              <a:off x="5389" y="7664"/>
              <a:ext cx="3890" cy="2497"/>
              <a:chOff x="1893359" y="1484245"/>
              <a:chExt cx="2470308" cy="1586151"/>
            </a:xfrm>
          </p:grpSpPr>
          <p:grpSp>
            <p:nvGrpSpPr>
              <p:cNvPr id="42" name="组合 41"/>
              <p:cNvGrpSpPr/>
              <p:nvPr/>
            </p:nvGrpSpPr>
            <p:grpSpPr>
              <a:xfrm>
                <a:off x="1893359" y="1484245"/>
                <a:ext cx="2470308" cy="650417"/>
                <a:chOff x="1108004" y="1889454"/>
                <a:chExt cx="2470308" cy="650417"/>
              </a:xfrm>
            </p:grpSpPr>
            <p:sp>
              <p:nvSpPr>
                <p:cNvPr id="44" name="文本框 43"/>
                <p:cNvSpPr txBox="1"/>
                <p:nvPr/>
              </p:nvSpPr>
              <p:spPr>
                <a:xfrm>
                  <a:off x="1108004" y="2224533"/>
                  <a:ext cx="2470308" cy="31533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破解教学困境</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文本框 44"/>
                <p:cNvSpPr txBox="1"/>
                <p:nvPr/>
              </p:nvSpPr>
              <p:spPr>
                <a:xfrm>
                  <a:off x="1303956" y="1889454"/>
                  <a:ext cx="2078405" cy="360653"/>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02</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3" name="矩形 42"/>
              <p:cNvSpPr/>
              <p:nvPr/>
            </p:nvSpPr>
            <p:spPr>
              <a:xfrm>
                <a:off x="2054971" y="2161005"/>
                <a:ext cx="2147084" cy="909391"/>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为中小学教师提供具体的劳动教育与学科融合路径，解决其</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想融合却不知如何落地</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的教学难题。</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居家老年高血压患者家庭照护者血压监测规范执行研究</a:t>
            </a:r>
            <a:r>
              <a:rPr lang="zh-CN" altLang="en-US"/>
              <a:t>意义</a:t>
            </a:r>
            <a:endParaRPr lang="zh-CN" altLang="en-US"/>
          </a:p>
        </p:txBody>
      </p:sp>
      <p:sp>
        <p:nvSpPr>
          <p:cNvPr id="3" name="矩形: 圆角 1"/>
          <p:cNvSpPr/>
          <p:nvPr/>
        </p:nvSpPr>
        <p:spPr>
          <a:xfrm>
            <a:off x="695325" y="1628802"/>
            <a:ext cx="5798465" cy="4146534"/>
          </a:xfrm>
          <a:prstGeom prst="roundRect">
            <a:avLst>
              <a:gd name="adj" fmla="val 5484"/>
            </a:avLst>
          </a:prstGeom>
          <a:solidFill>
            <a:schemeClr val="bg1"/>
          </a:solidFill>
          <a:ln>
            <a:noFill/>
          </a:ln>
          <a:effectLst>
            <a:outerShdw blurRad="279400" dist="12700" dir="2700000" algn="ctr" rotWithShape="0">
              <a:schemeClr val="accent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文本框 3"/>
          <p:cNvSpPr txBox="1"/>
          <p:nvPr/>
        </p:nvSpPr>
        <p:spPr>
          <a:xfrm>
            <a:off x="6974238" y="1628802"/>
            <a:ext cx="4013194" cy="1919605"/>
          </a:xfrm>
          <a:prstGeom prst="rect">
            <a:avLst/>
          </a:prstGeom>
          <a:noFill/>
        </p:spPr>
        <p:txBody>
          <a:bodyPr wrap="square" lIns="0" tIns="0" rIns="0" bIns="0" rtlCol="0">
            <a:spAutoFit/>
          </a:bodyPr>
          <a:lstStyle/>
          <a:p>
            <a:pPr algn="just" hangingPunct="0">
              <a:lnSpc>
                <a:spcPct val="130000"/>
              </a:lnSpc>
              <a:buClr>
                <a:schemeClr val="accent1"/>
              </a:buClr>
              <a:buSzPct val="90000"/>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该选题聚焦居家老年高血压患者家庭照护者，针对其血压监测操作不规范</a:t>
            </a:r>
            <a:r>
              <a:rPr lang="en-US" sz="1600" dirty="0">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的问题，探究影响因素并设计干预方案，旨在提升监测规范率，减少</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脑卒中风险，降低</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非必要复诊，减轻基层医疗负担与家庭成本。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graphicFrame>
        <p:nvGraphicFramePr>
          <p:cNvPr id="5" name="图表 4"/>
          <p:cNvGraphicFramePr/>
          <p:nvPr/>
        </p:nvGraphicFramePr>
        <p:xfrm>
          <a:off x="1134170" y="1936816"/>
          <a:ext cx="4920775" cy="3651009"/>
        </p:xfrm>
        <a:graphic>
          <a:graphicData uri="http://schemas.openxmlformats.org/drawingml/2006/chart">
            <c:chart xmlns:c="http://schemas.openxmlformats.org/drawingml/2006/chart" xmlns:r="http://schemas.openxmlformats.org/officeDocument/2006/relationships" r:id="rId1"/>
          </a:graphicData>
        </a:graphic>
      </p:graphicFrame>
      <p:sp>
        <p:nvSpPr>
          <p:cNvPr id="6" name="文本框 5"/>
          <p:cNvSpPr txBox="1"/>
          <p:nvPr/>
        </p:nvSpPr>
        <p:spPr>
          <a:xfrm>
            <a:off x="6974238" y="4164470"/>
            <a:ext cx="4013194" cy="63944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我国居家老年高血压照护者规范监测率不足</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，本研究预计降</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6974238" y="4896930"/>
            <a:ext cx="4013194" cy="95948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监测不规范致老年高血压非必要复诊率超</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，本研究可减复诊，缓解基层压力、降家庭成本。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8" name="直接连接符 7"/>
          <p:cNvCxnSpPr/>
          <p:nvPr/>
        </p:nvCxnSpPr>
        <p:spPr>
          <a:xfrm>
            <a:off x="7019654" y="3762320"/>
            <a:ext cx="3922362" cy="0"/>
          </a:xfrm>
          <a:prstGeom prst="line">
            <a:avLst/>
          </a:prstGeom>
          <a:ln w="31750" cap="rnd">
            <a:solidFill>
              <a:schemeClr val="accent1">
                <a:alpha val="74000"/>
              </a:schemeClr>
            </a:solidFill>
            <a:prstDash val="dash"/>
          </a:ln>
          <a:effectLst/>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备用</a:t>
            </a:r>
            <a:r>
              <a:rPr lang="zh-CN" altLang="en-US"/>
              <a:t/>
            </a:r>
            <a:endParaRPr lang="zh-CN" altLang="en-US"/>
          </a:p>
        </p:txBody>
      </p:sp>
      <p:sp>
        <p:nvSpPr>
          <p:cNvPr id="4" name="文本占位符 3"/>
          <p:cNvSpPr>
            <a:spLocks noGrp="1"/>
          </p:cNvSpPr>
          <p:nvPr>
            <p:ph type="body" idx="1"/>
            <p:custDataLst>
              <p:tags r:id="rId2"/>
            </p:custDataLst>
          </p:nvPr>
        </p:nvSpPr>
        <p:spPr/>
        <p:txBody>
          <a:bodyPr/>
          <a:p>
            <a:r>
              <a:rPr lang="en-US" altLang="zh-CN"/>
              <a:t>BACKUP</a:t>
            </a:r>
            <a:endParaRPr lang="en-US" altLang="zh-CN"/>
          </a:p>
        </p:txBody>
      </p:sp>
      <p:sp>
        <p:nvSpPr>
          <p:cNvPr id="5" name="文本占位符 4"/>
          <p:cNvSpPr>
            <a:spLocks noGrp="1"/>
          </p:cNvSpPr>
          <p:nvPr>
            <p:ph type="body" idx="13"/>
          </p:nvPr>
        </p:nvSpPr>
        <p:spPr/>
        <p:txBody>
          <a:bodyPr/>
          <a:p>
            <a:r>
              <a:rPr lang="en-US" altLang="zh-CN"/>
              <a:t>03</a:t>
            </a:r>
            <a:endParaRPr lang="en-US" altLang="zh-CN"/>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QKD </a:t>
            </a:r>
            <a:r>
              <a:rPr lang="zh-CN" altLang="en-US"/>
              <a:t>网络动态路由与密钥协商协同优化研究</a:t>
            </a:r>
            <a:r>
              <a:rPr lang="zh-CN" altLang="en-US"/>
              <a:t>现状</a:t>
            </a:r>
            <a:endParaRPr lang="zh-CN" altLang="en-US"/>
          </a:p>
        </p:txBody>
      </p:sp>
      <p:cxnSp>
        <p:nvCxnSpPr>
          <p:cNvPr id="3" name="直接连接符 2"/>
          <p:cNvCxnSpPr/>
          <p:nvPr/>
        </p:nvCxnSpPr>
        <p:spPr>
          <a:xfrm>
            <a:off x="1842565" y="3354893"/>
            <a:ext cx="5770476" cy="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809712" y="3235271"/>
            <a:ext cx="0" cy="357229"/>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629712" y="3585639"/>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1</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6" name="椭圆 5"/>
          <p:cNvSpPr/>
          <p:nvPr/>
        </p:nvSpPr>
        <p:spPr>
          <a:xfrm>
            <a:off x="1629712" y="4522425"/>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2</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7" name="椭圆 6"/>
          <p:cNvSpPr/>
          <p:nvPr/>
        </p:nvSpPr>
        <p:spPr>
          <a:xfrm>
            <a:off x="1629712" y="5459210"/>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3</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8" name="圆角矩形 36"/>
          <p:cNvSpPr/>
          <p:nvPr/>
        </p:nvSpPr>
        <p:spPr>
          <a:xfrm>
            <a:off x="8393095" y="2802304"/>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圆角矩形 42"/>
          <p:cNvSpPr/>
          <p:nvPr/>
        </p:nvSpPr>
        <p:spPr>
          <a:xfrm>
            <a:off x="8381416" y="3984177"/>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圆角矩形 45"/>
          <p:cNvSpPr/>
          <p:nvPr/>
        </p:nvSpPr>
        <p:spPr>
          <a:xfrm>
            <a:off x="8381415" y="5160279"/>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椭圆 10"/>
          <p:cNvSpPr/>
          <p:nvPr/>
        </p:nvSpPr>
        <p:spPr>
          <a:xfrm>
            <a:off x="1122565" y="1789944"/>
            <a:ext cx="1440000" cy="144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连接符 11"/>
          <p:cNvCxnSpPr/>
          <p:nvPr/>
        </p:nvCxnSpPr>
        <p:spPr>
          <a:xfrm>
            <a:off x="1809712" y="395494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809712" y="488820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4" name="文本框 62"/>
          <p:cNvSpPr txBox="1"/>
          <p:nvPr/>
        </p:nvSpPr>
        <p:spPr>
          <a:xfrm>
            <a:off x="2750185" y="2482215"/>
            <a:ext cx="5027295" cy="7448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700"/>
              </a:lnSpc>
            </a:pP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OKD</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是红帽推出的开源</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发行版，基于</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构建，主要用于免费构建、部署和管理容器化应用，提供开源的容器编排与应用生命周期管理能力。</a:t>
            </a:r>
            <a:endPar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p:cNvSpPr/>
          <p:nvPr/>
        </p:nvSpPr>
        <p:spPr>
          <a:xfrm>
            <a:off x="2750185" y="2059305"/>
            <a:ext cx="2293620" cy="39878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200">
              <a:defRPr/>
            </a:pPr>
            <a:r>
              <a:rPr lang="zh-CN" altLang="en-US"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何为</a:t>
            </a:r>
            <a:r>
              <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 OKD</a:t>
            </a:r>
            <a:endPar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文本框 60"/>
          <p:cNvSpPr txBox="1"/>
          <p:nvPr/>
        </p:nvSpPr>
        <p:spPr>
          <a:xfrm>
            <a:off x="2102700" y="3567108"/>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现有</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网络动态路由多依赖静态拓扑规划，未充分耦合量子信道衰减特性，密钥生成率在信道波动场景下下降超</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60"/>
          <p:cNvSpPr txBox="1"/>
          <p:nvPr/>
        </p:nvSpPr>
        <p:spPr>
          <a:xfrm>
            <a:off x="2099686" y="4486981"/>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密钥协商与路由优化多独立开展，缺乏协同机制，导致网络密钥分发时延较理论最优值高</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25%-40%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60"/>
          <p:cNvSpPr txBox="1"/>
          <p:nvPr/>
        </p:nvSpPr>
        <p:spPr>
          <a:xfrm>
            <a:off x="2099686" y="5423766"/>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多用户并发场景下，资源分配算法复杂度随节点数增长呈指数级上升，实时性难以满足大规模</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网络（节点数＞</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50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）部署需求。</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矩形 18"/>
          <p:cNvSpPr/>
          <p:nvPr/>
        </p:nvSpPr>
        <p:spPr>
          <a:xfrm>
            <a:off x="9050934" y="2760086"/>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动态路由</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矩形 19"/>
          <p:cNvSpPr/>
          <p:nvPr/>
        </p:nvSpPr>
        <p:spPr>
          <a:xfrm>
            <a:off x="9050934" y="3081200"/>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未耦合信道衰减</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矩形 20"/>
          <p:cNvSpPr/>
          <p:nvPr/>
        </p:nvSpPr>
        <p:spPr>
          <a:xfrm>
            <a:off x="9050934" y="3945639"/>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协同机制</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9050934" y="4266753"/>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协商与路由缺失</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9050934" y="5089878"/>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资源分配</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9050934" y="5410992"/>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多用户算法复杂</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cogwheels_376015"/>
          <p:cNvSpPr>
            <a:spLocks noChangeAspect="1"/>
          </p:cNvSpPr>
          <p:nvPr/>
        </p:nvSpPr>
        <p:spPr bwMode="auto">
          <a:xfrm>
            <a:off x="1490001" y="2294031"/>
            <a:ext cx="609685" cy="571876"/>
          </a:xfrm>
          <a:custGeom>
            <a:avLst/>
            <a:gdLst>
              <a:gd name="connsiteX0" fmla="*/ 414334 w 607639"/>
              <a:gd name="connsiteY0" fmla="*/ 393413 h 569957"/>
              <a:gd name="connsiteX1" fmla="*/ 375616 w 607639"/>
              <a:gd name="connsiteY1" fmla="*/ 431993 h 569957"/>
              <a:gd name="connsiteX2" fmla="*/ 414334 w 607639"/>
              <a:gd name="connsiteY2" fmla="*/ 470662 h 569957"/>
              <a:gd name="connsiteX3" fmla="*/ 452964 w 607639"/>
              <a:gd name="connsiteY3" fmla="*/ 431993 h 569957"/>
              <a:gd name="connsiteX4" fmla="*/ 414334 w 607639"/>
              <a:gd name="connsiteY4" fmla="*/ 393413 h 569957"/>
              <a:gd name="connsiteX5" fmla="*/ 414334 w 607639"/>
              <a:gd name="connsiteY5" fmla="*/ 294117 h 569957"/>
              <a:gd name="connsiteX6" fmla="*/ 441927 w 607639"/>
              <a:gd name="connsiteY6" fmla="*/ 321675 h 569957"/>
              <a:gd name="connsiteX7" fmla="*/ 441927 w 607639"/>
              <a:gd name="connsiteY7" fmla="*/ 342387 h 569957"/>
              <a:gd name="connsiteX8" fmla="*/ 458215 w 607639"/>
              <a:gd name="connsiteY8" fmla="*/ 349143 h 569957"/>
              <a:gd name="connsiteX9" fmla="*/ 472902 w 607639"/>
              <a:gd name="connsiteY9" fmla="*/ 334475 h 569957"/>
              <a:gd name="connsiteX10" fmla="*/ 511976 w 607639"/>
              <a:gd name="connsiteY10" fmla="*/ 334475 h 569957"/>
              <a:gd name="connsiteX11" fmla="*/ 511976 w 607639"/>
              <a:gd name="connsiteY11" fmla="*/ 373500 h 569957"/>
              <a:gd name="connsiteX12" fmla="*/ 497290 w 607639"/>
              <a:gd name="connsiteY12" fmla="*/ 388168 h 569957"/>
              <a:gd name="connsiteX13" fmla="*/ 504055 w 607639"/>
              <a:gd name="connsiteY13" fmla="*/ 404435 h 569957"/>
              <a:gd name="connsiteX14" fmla="*/ 524794 w 607639"/>
              <a:gd name="connsiteY14" fmla="*/ 404435 h 569957"/>
              <a:gd name="connsiteX15" fmla="*/ 552386 w 607639"/>
              <a:gd name="connsiteY15" fmla="*/ 431993 h 569957"/>
              <a:gd name="connsiteX16" fmla="*/ 524794 w 607639"/>
              <a:gd name="connsiteY16" fmla="*/ 459639 h 569957"/>
              <a:gd name="connsiteX17" fmla="*/ 504055 w 607639"/>
              <a:gd name="connsiteY17" fmla="*/ 459639 h 569957"/>
              <a:gd name="connsiteX18" fmla="*/ 497290 w 607639"/>
              <a:gd name="connsiteY18" fmla="*/ 475907 h 569957"/>
              <a:gd name="connsiteX19" fmla="*/ 511976 w 607639"/>
              <a:gd name="connsiteY19" fmla="*/ 490574 h 569957"/>
              <a:gd name="connsiteX20" fmla="*/ 511976 w 607639"/>
              <a:gd name="connsiteY20" fmla="*/ 529510 h 569957"/>
              <a:gd name="connsiteX21" fmla="*/ 492395 w 607639"/>
              <a:gd name="connsiteY21" fmla="*/ 537600 h 569957"/>
              <a:gd name="connsiteX22" fmla="*/ 472902 w 607639"/>
              <a:gd name="connsiteY22" fmla="*/ 529510 h 569957"/>
              <a:gd name="connsiteX23" fmla="*/ 458215 w 607639"/>
              <a:gd name="connsiteY23" fmla="*/ 514843 h 569957"/>
              <a:gd name="connsiteX24" fmla="*/ 441927 w 607639"/>
              <a:gd name="connsiteY24" fmla="*/ 521687 h 569957"/>
              <a:gd name="connsiteX25" fmla="*/ 441927 w 607639"/>
              <a:gd name="connsiteY25" fmla="*/ 542400 h 569957"/>
              <a:gd name="connsiteX26" fmla="*/ 414334 w 607639"/>
              <a:gd name="connsiteY26" fmla="*/ 569957 h 569957"/>
              <a:gd name="connsiteX27" fmla="*/ 386653 w 607639"/>
              <a:gd name="connsiteY27" fmla="*/ 542400 h 569957"/>
              <a:gd name="connsiteX28" fmla="*/ 386653 w 607639"/>
              <a:gd name="connsiteY28" fmla="*/ 521687 h 569957"/>
              <a:gd name="connsiteX29" fmla="*/ 370364 w 607639"/>
              <a:gd name="connsiteY29" fmla="*/ 514931 h 569957"/>
              <a:gd name="connsiteX30" fmla="*/ 355677 w 607639"/>
              <a:gd name="connsiteY30" fmla="*/ 529510 h 569957"/>
              <a:gd name="connsiteX31" fmla="*/ 336184 w 607639"/>
              <a:gd name="connsiteY31" fmla="*/ 537600 h 569957"/>
              <a:gd name="connsiteX32" fmla="*/ 316603 w 607639"/>
              <a:gd name="connsiteY32" fmla="*/ 529510 h 569957"/>
              <a:gd name="connsiteX33" fmla="*/ 316603 w 607639"/>
              <a:gd name="connsiteY33" fmla="*/ 490574 h 569957"/>
              <a:gd name="connsiteX34" fmla="*/ 331289 w 607639"/>
              <a:gd name="connsiteY34" fmla="*/ 475907 h 569957"/>
              <a:gd name="connsiteX35" fmla="*/ 324524 w 607639"/>
              <a:gd name="connsiteY35" fmla="*/ 459639 h 569957"/>
              <a:gd name="connsiteX36" fmla="*/ 303785 w 607639"/>
              <a:gd name="connsiteY36" fmla="*/ 459639 h 569957"/>
              <a:gd name="connsiteX37" fmla="*/ 276193 w 607639"/>
              <a:gd name="connsiteY37" fmla="*/ 431993 h 569957"/>
              <a:gd name="connsiteX38" fmla="*/ 303785 w 607639"/>
              <a:gd name="connsiteY38" fmla="*/ 404435 h 569957"/>
              <a:gd name="connsiteX39" fmla="*/ 324524 w 607639"/>
              <a:gd name="connsiteY39" fmla="*/ 404435 h 569957"/>
              <a:gd name="connsiteX40" fmla="*/ 331289 w 607639"/>
              <a:gd name="connsiteY40" fmla="*/ 388168 h 569957"/>
              <a:gd name="connsiteX41" fmla="*/ 316603 w 607639"/>
              <a:gd name="connsiteY41" fmla="*/ 373500 h 569957"/>
              <a:gd name="connsiteX42" fmla="*/ 316603 w 607639"/>
              <a:gd name="connsiteY42" fmla="*/ 334475 h 569957"/>
              <a:gd name="connsiteX43" fmla="*/ 355677 w 607639"/>
              <a:gd name="connsiteY43" fmla="*/ 334475 h 569957"/>
              <a:gd name="connsiteX44" fmla="*/ 370364 w 607639"/>
              <a:gd name="connsiteY44" fmla="*/ 349143 h 569957"/>
              <a:gd name="connsiteX45" fmla="*/ 386653 w 607639"/>
              <a:gd name="connsiteY45" fmla="*/ 342387 h 569957"/>
              <a:gd name="connsiteX46" fmla="*/ 386653 w 607639"/>
              <a:gd name="connsiteY46" fmla="*/ 321675 h 569957"/>
              <a:gd name="connsiteX47" fmla="*/ 414334 w 607639"/>
              <a:gd name="connsiteY47" fmla="*/ 294117 h 569957"/>
              <a:gd name="connsiteX48" fmla="*/ 165723 w 607639"/>
              <a:gd name="connsiteY48" fmla="*/ 110288 h 569957"/>
              <a:gd name="connsiteX49" fmla="*/ 110452 w 607639"/>
              <a:gd name="connsiteY49" fmla="*/ 165476 h 569957"/>
              <a:gd name="connsiteX50" fmla="*/ 165723 w 607639"/>
              <a:gd name="connsiteY50" fmla="*/ 220576 h 569957"/>
              <a:gd name="connsiteX51" fmla="*/ 220904 w 607639"/>
              <a:gd name="connsiteY51" fmla="*/ 165476 h 569957"/>
              <a:gd name="connsiteX52" fmla="*/ 165723 w 607639"/>
              <a:gd name="connsiteY52" fmla="*/ 110288 h 569957"/>
              <a:gd name="connsiteX53" fmla="*/ 487925 w 607639"/>
              <a:gd name="connsiteY53" fmla="*/ 91878 h 569957"/>
              <a:gd name="connsiteX54" fmla="*/ 460333 w 607639"/>
              <a:gd name="connsiteY54" fmla="*/ 119512 h 569957"/>
              <a:gd name="connsiteX55" fmla="*/ 487925 w 607639"/>
              <a:gd name="connsiteY55" fmla="*/ 147058 h 569957"/>
              <a:gd name="connsiteX56" fmla="*/ 515517 w 607639"/>
              <a:gd name="connsiteY56" fmla="*/ 119512 h 569957"/>
              <a:gd name="connsiteX57" fmla="*/ 487925 w 607639"/>
              <a:gd name="connsiteY57" fmla="*/ 91878 h 569957"/>
              <a:gd name="connsiteX58" fmla="*/ 487925 w 607639"/>
              <a:gd name="connsiteY58" fmla="*/ 0 h 569957"/>
              <a:gd name="connsiteX59" fmla="*/ 515517 w 607639"/>
              <a:gd name="connsiteY59" fmla="*/ 27546 h 569957"/>
              <a:gd name="connsiteX60" fmla="*/ 515517 w 607639"/>
              <a:gd name="connsiteY60" fmla="*/ 41496 h 569957"/>
              <a:gd name="connsiteX61" fmla="*/ 523617 w 607639"/>
              <a:gd name="connsiteY61" fmla="*/ 44873 h 569957"/>
              <a:gd name="connsiteX62" fmla="*/ 533496 w 607639"/>
              <a:gd name="connsiteY62" fmla="*/ 35010 h 569957"/>
              <a:gd name="connsiteX63" fmla="*/ 572570 w 607639"/>
              <a:gd name="connsiteY63" fmla="*/ 35010 h 569957"/>
              <a:gd name="connsiteX64" fmla="*/ 572570 w 607639"/>
              <a:gd name="connsiteY64" fmla="*/ 74018 h 569957"/>
              <a:gd name="connsiteX65" fmla="*/ 562691 w 607639"/>
              <a:gd name="connsiteY65" fmla="*/ 83792 h 569957"/>
              <a:gd name="connsiteX66" fmla="*/ 566073 w 607639"/>
              <a:gd name="connsiteY66" fmla="*/ 91878 h 569957"/>
              <a:gd name="connsiteX67" fmla="*/ 579958 w 607639"/>
              <a:gd name="connsiteY67" fmla="*/ 91878 h 569957"/>
              <a:gd name="connsiteX68" fmla="*/ 607639 w 607639"/>
              <a:gd name="connsiteY68" fmla="*/ 119512 h 569957"/>
              <a:gd name="connsiteX69" fmla="*/ 579958 w 607639"/>
              <a:gd name="connsiteY69" fmla="*/ 147058 h 569957"/>
              <a:gd name="connsiteX70" fmla="*/ 565984 w 607639"/>
              <a:gd name="connsiteY70" fmla="*/ 147058 h 569957"/>
              <a:gd name="connsiteX71" fmla="*/ 562691 w 607639"/>
              <a:gd name="connsiteY71" fmla="*/ 155144 h 569957"/>
              <a:gd name="connsiteX72" fmla="*/ 572570 w 607639"/>
              <a:gd name="connsiteY72" fmla="*/ 164918 h 569957"/>
              <a:gd name="connsiteX73" fmla="*/ 572570 w 607639"/>
              <a:gd name="connsiteY73" fmla="*/ 203926 h 569957"/>
              <a:gd name="connsiteX74" fmla="*/ 552989 w 607639"/>
              <a:gd name="connsiteY74" fmla="*/ 212012 h 569957"/>
              <a:gd name="connsiteX75" fmla="*/ 533496 w 607639"/>
              <a:gd name="connsiteY75" fmla="*/ 203926 h 569957"/>
              <a:gd name="connsiteX76" fmla="*/ 523617 w 607639"/>
              <a:gd name="connsiteY76" fmla="*/ 194063 h 569957"/>
              <a:gd name="connsiteX77" fmla="*/ 515517 w 607639"/>
              <a:gd name="connsiteY77" fmla="*/ 197439 h 569957"/>
              <a:gd name="connsiteX78" fmla="*/ 515517 w 607639"/>
              <a:gd name="connsiteY78" fmla="*/ 211390 h 569957"/>
              <a:gd name="connsiteX79" fmla="*/ 487925 w 607639"/>
              <a:gd name="connsiteY79" fmla="*/ 238935 h 569957"/>
              <a:gd name="connsiteX80" fmla="*/ 460333 w 607639"/>
              <a:gd name="connsiteY80" fmla="*/ 211390 h 569957"/>
              <a:gd name="connsiteX81" fmla="*/ 460333 w 607639"/>
              <a:gd name="connsiteY81" fmla="*/ 197439 h 569957"/>
              <a:gd name="connsiteX82" fmla="*/ 452233 w 607639"/>
              <a:gd name="connsiteY82" fmla="*/ 194063 h 569957"/>
              <a:gd name="connsiteX83" fmla="*/ 442353 w 607639"/>
              <a:gd name="connsiteY83" fmla="*/ 203926 h 569957"/>
              <a:gd name="connsiteX84" fmla="*/ 422861 w 607639"/>
              <a:gd name="connsiteY84" fmla="*/ 212012 h 569957"/>
              <a:gd name="connsiteX85" fmla="*/ 403279 w 607639"/>
              <a:gd name="connsiteY85" fmla="*/ 203926 h 569957"/>
              <a:gd name="connsiteX86" fmla="*/ 403279 w 607639"/>
              <a:gd name="connsiteY86" fmla="*/ 164918 h 569957"/>
              <a:gd name="connsiteX87" fmla="*/ 413159 w 607639"/>
              <a:gd name="connsiteY87" fmla="*/ 155144 h 569957"/>
              <a:gd name="connsiteX88" fmla="*/ 409777 w 607639"/>
              <a:gd name="connsiteY88" fmla="*/ 147058 h 569957"/>
              <a:gd name="connsiteX89" fmla="*/ 395891 w 607639"/>
              <a:gd name="connsiteY89" fmla="*/ 147058 h 569957"/>
              <a:gd name="connsiteX90" fmla="*/ 368210 w 607639"/>
              <a:gd name="connsiteY90" fmla="*/ 119512 h 569957"/>
              <a:gd name="connsiteX91" fmla="*/ 395891 w 607639"/>
              <a:gd name="connsiteY91" fmla="*/ 91878 h 569957"/>
              <a:gd name="connsiteX92" fmla="*/ 409777 w 607639"/>
              <a:gd name="connsiteY92" fmla="*/ 91878 h 569957"/>
              <a:gd name="connsiteX93" fmla="*/ 413159 w 607639"/>
              <a:gd name="connsiteY93" fmla="*/ 83792 h 569957"/>
              <a:gd name="connsiteX94" fmla="*/ 403279 w 607639"/>
              <a:gd name="connsiteY94" fmla="*/ 74018 h 569957"/>
              <a:gd name="connsiteX95" fmla="*/ 403279 w 607639"/>
              <a:gd name="connsiteY95" fmla="*/ 35010 h 569957"/>
              <a:gd name="connsiteX96" fmla="*/ 442353 w 607639"/>
              <a:gd name="connsiteY96" fmla="*/ 35010 h 569957"/>
              <a:gd name="connsiteX97" fmla="*/ 452233 w 607639"/>
              <a:gd name="connsiteY97" fmla="*/ 44873 h 569957"/>
              <a:gd name="connsiteX98" fmla="*/ 460333 w 607639"/>
              <a:gd name="connsiteY98" fmla="*/ 41496 h 569957"/>
              <a:gd name="connsiteX99" fmla="*/ 460333 w 607639"/>
              <a:gd name="connsiteY99" fmla="*/ 27546 h 569957"/>
              <a:gd name="connsiteX100" fmla="*/ 487925 w 607639"/>
              <a:gd name="connsiteY100" fmla="*/ 0 h 569957"/>
              <a:gd name="connsiteX101" fmla="*/ 165723 w 607639"/>
              <a:gd name="connsiteY101" fmla="*/ 0 h 569957"/>
              <a:gd name="connsiteX102" fmla="*/ 193314 w 607639"/>
              <a:gd name="connsiteY102" fmla="*/ 27550 h 569957"/>
              <a:gd name="connsiteX103" fmla="*/ 193314 w 607639"/>
              <a:gd name="connsiteY103" fmla="*/ 58654 h 569957"/>
              <a:gd name="connsiteX104" fmla="*/ 221794 w 607639"/>
              <a:gd name="connsiteY104" fmla="*/ 70474 h 569957"/>
              <a:gd name="connsiteX105" fmla="*/ 243867 w 607639"/>
              <a:gd name="connsiteY105" fmla="*/ 48434 h 569957"/>
              <a:gd name="connsiteX106" fmla="*/ 282850 w 607639"/>
              <a:gd name="connsiteY106" fmla="*/ 48434 h 569957"/>
              <a:gd name="connsiteX107" fmla="*/ 282850 w 607639"/>
              <a:gd name="connsiteY107" fmla="*/ 87448 h 569957"/>
              <a:gd name="connsiteX108" fmla="*/ 260867 w 607639"/>
              <a:gd name="connsiteY108" fmla="*/ 109488 h 569957"/>
              <a:gd name="connsiteX109" fmla="*/ 272704 w 607639"/>
              <a:gd name="connsiteY109" fmla="*/ 137838 h 569957"/>
              <a:gd name="connsiteX110" fmla="*/ 303766 w 607639"/>
              <a:gd name="connsiteY110" fmla="*/ 137838 h 569957"/>
              <a:gd name="connsiteX111" fmla="*/ 331446 w 607639"/>
              <a:gd name="connsiteY111" fmla="*/ 165476 h 569957"/>
              <a:gd name="connsiteX112" fmla="*/ 303766 w 607639"/>
              <a:gd name="connsiteY112" fmla="*/ 193026 h 569957"/>
              <a:gd name="connsiteX113" fmla="*/ 272704 w 607639"/>
              <a:gd name="connsiteY113" fmla="*/ 193026 h 569957"/>
              <a:gd name="connsiteX114" fmla="*/ 260867 w 607639"/>
              <a:gd name="connsiteY114" fmla="*/ 221464 h 569957"/>
              <a:gd name="connsiteX115" fmla="*/ 282850 w 607639"/>
              <a:gd name="connsiteY115" fmla="*/ 243415 h 569957"/>
              <a:gd name="connsiteX116" fmla="*/ 282850 w 607639"/>
              <a:gd name="connsiteY116" fmla="*/ 282429 h 569957"/>
              <a:gd name="connsiteX117" fmla="*/ 263359 w 607639"/>
              <a:gd name="connsiteY117" fmla="*/ 290516 h 569957"/>
              <a:gd name="connsiteX118" fmla="*/ 243867 w 607639"/>
              <a:gd name="connsiteY118" fmla="*/ 282429 h 569957"/>
              <a:gd name="connsiteX119" fmla="*/ 221794 w 607639"/>
              <a:gd name="connsiteY119" fmla="*/ 260478 h 569957"/>
              <a:gd name="connsiteX120" fmla="*/ 193314 w 607639"/>
              <a:gd name="connsiteY120" fmla="*/ 272298 h 569957"/>
              <a:gd name="connsiteX121" fmla="*/ 193314 w 607639"/>
              <a:gd name="connsiteY121" fmla="*/ 303314 h 569957"/>
              <a:gd name="connsiteX122" fmla="*/ 165723 w 607639"/>
              <a:gd name="connsiteY122" fmla="*/ 330952 h 569957"/>
              <a:gd name="connsiteX123" fmla="*/ 138132 w 607639"/>
              <a:gd name="connsiteY123" fmla="*/ 303314 h 569957"/>
              <a:gd name="connsiteX124" fmla="*/ 138132 w 607639"/>
              <a:gd name="connsiteY124" fmla="*/ 272298 h 569957"/>
              <a:gd name="connsiteX125" fmla="*/ 109651 w 607639"/>
              <a:gd name="connsiteY125" fmla="*/ 260478 h 569957"/>
              <a:gd name="connsiteX126" fmla="*/ 87578 w 607639"/>
              <a:gd name="connsiteY126" fmla="*/ 282429 h 569957"/>
              <a:gd name="connsiteX127" fmla="*/ 68087 w 607639"/>
              <a:gd name="connsiteY127" fmla="*/ 290516 h 569957"/>
              <a:gd name="connsiteX128" fmla="*/ 48506 w 607639"/>
              <a:gd name="connsiteY128" fmla="*/ 282429 h 569957"/>
              <a:gd name="connsiteX129" fmla="*/ 48506 w 607639"/>
              <a:gd name="connsiteY129" fmla="*/ 243415 h 569957"/>
              <a:gd name="connsiteX130" fmla="*/ 70579 w 607639"/>
              <a:gd name="connsiteY130" fmla="*/ 221464 h 569957"/>
              <a:gd name="connsiteX131" fmla="*/ 58742 w 607639"/>
              <a:gd name="connsiteY131" fmla="*/ 193026 h 569957"/>
              <a:gd name="connsiteX132" fmla="*/ 27591 w 607639"/>
              <a:gd name="connsiteY132" fmla="*/ 193026 h 569957"/>
              <a:gd name="connsiteX133" fmla="*/ 0 w 607639"/>
              <a:gd name="connsiteY133" fmla="*/ 165476 h 569957"/>
              <a:gd name="connsiteX134" fmla="*/ 27591 w 607639"/>
              <a:gd name="connsiteY134" fmla="*/ 137838 h 569957"/>
              <a:gd name="connsiteX135" fmla="*/ 58742 w 607639"/>
              <a:gd name="connsiteY135" fmla="*/ 137838 h 569957"/>
              <a:gd name="connsiteX136" fmla="*/ 70579 w 607639"/>
              <a:gd name="connsiteY136" fmla="*/ 109488 h 569957"/>
              <a:gd name="connsiteX137" fmla="*/ 48506 w 607639"/>
              <a:gd name="connsiteY137" fmla="*/ 87448 h 569957"/>
              <a:gd name="connsiteX138" fmla="*/ 48506 w 607639"/>
              <a:gd name="connsiteY138" fmla="*/ 48434 h 569957"/>
              <a:gd name="connsiteX139" fmla="*/ 87578 w 607639"/>
              <a:gd name="connsiteY139" fmla="*/ 48434 h 569957"/>
              <a:gd name="connsiteX140" fmla="*/ 109651 w 607639"/>
              <a:gd name="connsiteY140" fmla="*/ 70474 h 569957"/>
              <a:gd name="connsiteX141" fmla="*/ 138132 w 607639"/>
              <a:gd name="connsiteY141" fmla="*/ 58654 h 569957"/>
              <a:gd name="connsiteX142" fmla="*/ 138132 w 607639"/>
              <a:gd name="connsiteY142" fmla="*/ 27550 h 569957"/>
              <a:gd name="connsiteX143" fmla="*/ 165723 w 607639"/>
              <a:gd name="connsiteY143" fmla="*/ 0 h 569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07639" h="569957">
                <a:moveTo>
                  <a:pt x="414334" y="393413"/>
                </a:moveTo>
                <a:cubicBezTo>
                  <a:pt x="392972" y="393413"/>
                  <a:pt x="375616" y="410747"/>
                  <a:pt x="375616" y="431993"/>
                </a:cubicBezTo>
                <a:cubicBezTo>
                  <a:pt x="375616" y="453328"/>
                  <a:pt x="392972" y="470662"/>
                  <a:pt x="414334" y="470662"/>
                </a:cubicBezTo>
                <a:cubicBezTo>
                  <a:pt x="435607" y="470662"/>
                  <a:pt x="452964" y="453328"/>
                  <a:pt x="452964" y="431993"/>
                </a:cubicBezTo>
                <a:cubicBezTo>
                  <a:pt x="452964" y="410747"/>
                  <a:pt x="435607" y="393413"/>
                  <a:pt x="414334" y="393413"/>
                </a:cubicBezTo>
                <a:close/>
                <a:moveTo>
                  <a:pt x="414334" y="294117"/>
                </a:moveTo>
                <a:cubicBezTo>
                  <a:pt x="429555" y="294117"/>
                  <a:pt x="441927" y="306474"/>
                  <a:pt x="441927" y="321675"/>
                </a:cubicBezTo>
                <a:lnTo>
                  <a:pt x="441927" y="342387"/>
                </a:lnTo>
                <a:cubicBezTo>
                  <a:pt x="447623" y="344165"/>
                  <a:pt x="453053" y="346387"/>
                  <a:pt x="458215" y="349143"/>
                </a:cubicBezTo>
                <a:lnTo>
                  <a:pt x="472902" y="334475"/>
                </a:lnTo>
                <a:cubicBezTo>
                  <a:pt x="483672" y="323719"/>
                  <a:pt x="501117" y="323719"/>
                  <a:pt x="511976" y="334475"/>
                </a:cubicBezTo>
                <a:cubicBezTo>
                  <a:pt x="522746" y="345232"/>
                  <a:pt x="522746" y="362744"/>
                  <a:pt x="511976" y="373500"/>
                </a:cubicBezTo>
                <a:lnTo>
                  <a:pt x="497290" y="388168"/>
                </a:lnTo>
                <a:cubicBezTo>
                  <a:pt x="500049" y="393324"/>
                  <a:pt x="502275" y="398746"/>
                  <a:pt x="504055" y="404435"/>
                </a:cubicBezTo>
                <a:lnTo>
                  <a:pt x="524794" y="404435"/>
                </a:lnTo>
                <a:cubicBezTo>
                  <a:pt x="540014" y="404435"/>
                  <a:pt x="552386" y="416792"/>
                  <a:pt x="552386" y="431993"/>
                </a:cubicBezTo>
                <a:cubicBezTo>
                  <a:pt x="552386" y="447283"/>
                  <a:pt x="540014" y="459639"/>
                  <a:pt x="524794" y="459639"/>
                </a:cubicBezTo>
                <a:lnTo>
                  <a:pt x="504055" y="459639"/>
                </a:lnTo>
                <a:cubicBezTo>
                  <a:pt x="502275" y="465239"/>
                  <a:pt x="500049" y="470751"/>
                  <a:pt x="497290" y="475907"/>
                </a:cubicBezTo>
                <a:lnTo>
                  <a:pt x="511976" y="490574"/>
                </a:lnTo>
                <a:cubicBezTo>
                  <a:pt x="522746" y="501331"/>
                  <a:pt x="522746" y="518754"/>
                  <a:pt x="511976" y="529510"/>
                </a:cubicBezTo>
                <a:cubicBezTo>
                  <a:pt x="506547" y="534933"/>
                  <a:pt x="499515" y="537600"/>
                  <a:pt x="492395" y="537600"/>
                </a:cubicBezTo>
                <a:cubicBezTo>
                  <a:pt x="485363" y="537600"/>
                  <a:pt x="478242" y="534933"/>
                  <a:pt x="472902" y="529510"/>
                </a:cubicBezTo>
                <a:lnTo>
                  <a:pt x="458215" y="514843"/>
                </a:lnTo>
                <a:cubicBezTo>
                  <a:pt x="453053" y="517598"/>
                  <a:pt x="447623" y="519910"/>
                  <a:pt x="441927" y="521687"/>
                </a:cubicBezTo>
                <a:lnTo>
                  <a:pt x="441927" y="542400"/>
                </a:lnTo>
                <a:cubicBezTo>
                  <a:pt x="441927" y="557601"/>
                  <a:pt x="429555" y="569957"/>
                  <a:pt x="414334" y="569957"/>
                </a:cubicBezTo>
                <a:cubicBezTo>
                  <a:pt x="399025" y="569957"/>
                  <a:pt x="386653" y="557601"/>
                  <a:pt x="386653" y="542400"/>
                </a:cubicBezTo>
                <a:lnTo>
                  <a:pt x="386653" y="521687"/>
                </a:lnTo>
                <a:cubicBezTo>
                  <a:pt x="380956" y="519910"/>
                  <a:pt x="375527" y="517598"/>
                  <a:pt x="370364" y="514931"/>
                </a:cubicBezTo>
                <a:lnTo>
                  <a:pt x="355677" y="529510"/>
                </a:lnTo>
                <a:cubicBezTo>
                  <a:pt x="350337" y="534933"/>
                  <a:pt x="343216" y="537600"/>
                  <a:pt x="336184" y="537600"/>
                </a:cubicBezTo>
                <a:cubicBezTo>
                  <a:pt x="329064" y="537600"/>
                  <a:pt x="322032" y="534933"/>
                  <a:pt x="316603" y="529510"/>
                </a:cubicBezTo>
                <a:cubicBezTo>
                  <a:pt x="305833" y="518754"/>
                  <a:pt x="305833" y="501331"/>
                  <a:pt x="316603" y="490574"/>
                </a:cubicBezTo>
                <a:lnTo>
                  <a:pt x="331289" y="475907"/>
                </a:lnTo>
                <a:cubicBezTo>
                  <a:pt x="328619" y="470751"/>
                  <a:pt x="326304" y="465239"/>
                  <a:pt x="324524" y="459639"/>
                </a:cubicBezTo>
                <a:lnTo>
                  <a:pt x="303785" y="459639"/>
                </a:lnTo>
                <a:cubicBezTo>
                  <a:pt x="288565" y="459639"/>
                  <a:pt x="276193" y="447283"/>
                  <a:pt x="276193" y="431993"/>
                </a:cubicBezTo>
                <a:cubicBezTo>
                  <a:pt x="276193" y="416792"/>
                  <a:pt x="288565" y="404435"/>
                  <a:pt x="303785" y="404435"/>
                </a:cubicBezTo>
                <a:lnTo>
                  <a:pt x="324524" y="404435"/>
                </a:lnTo>
                <a:cubicBezTo>
                  <a:pt x="326304" y="398746"/>
                  <a:pt x="328619" y="393324"/>
                  <a:pt x="331289" y="388168"/>
                </a:cubicBezTo>
                <a:lnTo>
                  <a:pt x="316603" y="373500"/>
                </a:lnTo>
                <a:cubicBezTo>
                  <a:pt x="305833" y="362744"/>
                  <a:pt x="305833" y="345232"/>
                  <a:pt x="316603" y="334475"/>
                </a:cubicBezTo>
                <a:cubicBezTo>
                  <a:pt x="327462" y="323719"/>
                  <a:pt x="344907" y="323719"/>
                  <a:pt x="355677" y="334475"/>
                </a:cubicBezTo>
                <a:lnTo>
                  <a:pt x="370364" y="349143"/>
                </a:lnTo>
                <a:cubicBezTo>
                  <a:pt x="375527" y="346387"/>
                  <a:pt x="380956" y="344165"/>
                  <a:pt x="386653" y="342387"/>
                </a:cubicBezTo>
                <a:lnTo>
                  <a:pt x="386653" y="321675"/>
                </a:lnTo>
                <a:cubicBezTo>
                  <a:pt x="386653" y="306474"/>
                  <a:pt x="399025" y="294117"/>
                  <a:pt x="414334" y="294117"/>
                </a:cubicBezTo>
                <a:close/>
                <a:moveTo>
                  <a:pt x="165723" y="110288"/>
                </a:moveTo>
                <a:cubicBezTo>
                  <a:pt x="135284" y="110288"/>
                  <a:pt x="110452" y="134994"/>
                  <a:pt x="110452" y="165476"/>
                </a:cubicBezTo>
                <a:cubicBezTo>
                  <a:pt x="110452" y="195870"/>
                  <a:pt x="135284" y="220576"/>
                  <a:pt x="165723" y="220576"/>
                </a:cubicBezTo>
                <a:cubicBezTo>
                  <a:pt x="196162" y="220576"/>
                  <a:pt x="220904" y="195870"/>
                  <a:pt x="220904" y="165476"/>
                </a:cubicBezTo>
                <a:cubicBezTo>
                  <a:pt x="220904" y="134994"/>
                  <a:pt x="196162" y="110288"/>
                  <a:pt x="165723" y="110288"/>
                </a:cubicBezTo>
                <a:close/>
                <a:moveTo>
                  <a:pt x="487925" y="91878"/>
                </a:moveTo>
                <a:cubicBezTo>
                  <a:pt x="472705" y="91878"/>
                  <a:pt x="460333" y="104229"/>
                  <a:pt x="460333" y="119512"/>
                </a:cubicBezTo>
                <a:cubicBezTo>
                  <a:pt x="460333" y="134707"/>
                  <a:pt x="472705" y="147058"/>
                  <a:pt x="487925" y="147058"/>
                </a:cubicBezTo>
                <a:cubicBezTo>
                  <a:pt x="503145" y="147058"/>
                  <a:pt x="515517" y="134707"/>
                  <a:pt x="515517" y="119512"/>
                </a:cubicBezTo>
                <a:cubicBezTo>
                  <a:pt x="515517" y="104229"/>
                  <a:pt x="503145" y="91878"/>
                  <a:pt x="487925" y="91878"/>
                </a:cubicBezTo>
                <a:close/>
                <a:moveTo>
                  <a:pt x="487925" y="0"/>
                </a:moveTo>
                <a:cubicBezTo>
                  <a:pt x="503145" y="0"/>
                  <a:pt x="515517" y="12351"/>
                  <a:pt x="515517" y="27546"/>
                </a:cubicBezTo>
                <a:lnTo>
                  <a:pt x="515517" y="41496"/>
                </a:lnTo>
                <a:cubicBezTo>
                  <a:pt x="518276" y="42474"/>
                  <a:pt x="521035" y="43540"/>
                  <a:pt x="523617" y="44873"/>
                </a:cubicBezTo>
                <a:lnTo>
                  <a:pt x="533496" y="35010"/>
                </a:lnTo>
                <a:cubicBezTo>
                  <a:pt x="544266" y="24258"/>
                  <a:pt x="561801" y="24258"/>
                  <a:pt x="572570" y="35010"/>
                </a:cubicBezTo>
                <a:cubicBezTo>
                  <a:pt x="583340" y="45761"/>
                  <a:pt x="583340" y="63177"/>
                  <a:pt x="572570" y="74018"/>
                </a:cubicBezTo>
                <a:lnTo>
                  <a:pt x="562691" y="83792"/>
                </a:lnTo>
                <a:cubicBezTo>
                  <a:pt x="563937" y="86458"/>
                  <a:pt x="565094" y="89123"/>
                  <a:pt x="566073" y="91878"/>
                </a:cubicBezTo>
                <a:lnTo>
                  <a:pt x="579958" y="91878"/>
                </a:lnTo>
                <a:cubicBezTo>
                  <a:pt x="595267" y="91878"/>
                  <a:pt x="607639" y="104229"/>
                  <a:pt x="607639" y="119512"/>
                </a:cubicBezTo>
                <a:cubicBezTo>
                  <a:pt x="607639" y="134707"/>
                  <a:pt x="595267" y="147058"/>
                  <a:pt x="579958" y="147058"/>
                </a:cubicBezTo>
                <a:lnTo>
                  <a:pt x="565984" y="147058"/>
                </a:lnTo>
                <a:cubicBezTo>
                  <a:pt x="565005" y="149812"/>
                  <a:pt x="563937" y="152478"/>
                  <a:pt x="562691" y="155144"/>
                </a:cubicBezTo>
                <a:lnTo>
                  <a:pt x="572570" y="164918"/>
                </a:lnTo>
                <a:cubicBezTo>
                  <a:pt x="583340" y="175758"/>
                  <a:pt x="583340" y="193174"/>
                  <a:pt x="572570" y="203926"/>
                </a:cubicBezTo>
                <a:cubicBezTo>
                  <a:pt x="567141" y="209346"/>
                  <a:pt x="560109" y="212012"/>
                  <a:pt x="552989" y="212012"/>
                </a:cubicBezTo>
                <a:cubicBezTo>
                  <a:pt x="545957" y="212012"/>
                  <a:pt x="538926" y="209346"/>
                  <a:pt x="533496" y="203926"/>
                </a:cubicBezTo>
                <a:lnTo>
                  <a:pt x="523617" y="194063"/>
                </a:lnTo>
                <a:cubicBezTo>
                  <a:pt x="521035" y="195396"/>
                  <a:pt x="518276" y="196462"/>
                  <a:pt x="515517" y="197439"/>
                </a:cubicBezTo>
                <a:lnTo>
                  <a:pt x="515517" y="211390"/>
                </a:lnTo>
                <a:cubicBezTo>
                  <a:pt x="515517" y="226584"/>
                  <a:pt x="503145" y="238935"/>
                  <a:pt x="487925" y="238935"/>
                </a:cubicBezTo>
                <a:cubicBezTo>
                  <a:pt x="472705" y="238935"/>
                  <a:pt x="460333" y="226584"/>
                  <a:pt x="460333" y="211390"/>
                </a:cubicBezTo>
                <a:lnTo>
                  <a:pt x="460333" y="197439"/>
                </a:lnTo>
                <a:cubicBezTo>
                  <a:pt x="457573" y="196462"/>
                  <a:pt x="454814" y="195396"/>
                  <a:pt x="452233" y="194063"/>
                </a:cubicBezTo>
                <a:lnTo>
                  <a:pt x="442353" y="203926"/>
                </a:lnTo>
                <a:cubicBezTo>
                  <a:pt x="436924" y="209346"/>
                  <a:pt x="429892" y="212012"/>
                  <a:pt x="422861" y="212012"/>
                </a:cubicBezTo>
                <a:cubicBezTo>
                  <a:pt x="415740" y="212012"/>
                  <a:pt x="408708" y="209346"/>
                  <a:pt x="403279" y="203926"/>
                </a:cubicBezTo>
                <a:cubicBezTo>
                  <a:pt x="392509" y="193174"/>
                  <a:pt x="392509" y="175758"/>
                  <a:pt x="403279" y="164918"/>
                </a:cubicBezTo>
                <a:lnTo>
                  <a:pt x="413159" y="155144"/>
                </a:lnTo>
                <a:cubicBezTo>
                  <a:pt x="411913" y="152478"/>
                  <a:pt x="410756" y="149812"/>
                  <a:pt x="409777" y="147058"/>
                </a:cubicBezTo>
                <a:lnTo>
                  <a:pt x="395891" y="147058"/>
                </a:lnTo>
                <a:cubicBezTo>
                  <a:pt x="380582" y="147058"/>
                  <a:pt x="368210" y="134707"/>
                  <a:pt x="368210" y="119512"/>
                </a:cubicBezTo>
                <a:cubicBezTo>
                  <a:pt x="368210" y="104229"/>
                  <a:pt x="380582" y="91878"/>
                  <a:pt x="395891" y="91878"/>
                </a:cubicBezTo>
                <a:lnTo>
                  <a:pt x="409777" y="91878"/>
                </a:lnTo>
                <a:cubicBezTo>
                  <a:pt x="410756" y="89123"/>
                  <a:pt x="411913" y="86458"/>
                  <a:pt x="413159" y="83792"/>
                </a:cubicBezTo>
                <a:lnTo>
                  <a:pt x="403279" y="74018"/>
                </a:lnTo>
                <a:cubicBezTo>
                  <a:pt x="392509" y="63177"/>
                  <a:pt x="392509" y="45761"/>
                  <a:pt x="403279" y="35010"/>
                </a:cubicBezTo>
                <a:cubicBezTo>
                  <a:pt x="414049" y="24258"/>
                  <a:pt x="431583" y="24258"/>
                  <a:pt x="442353" y="35010"/>
                </a:cubicBezTo>
                <a:lnTo>
                  <a:pt x="452233" y="44873"/>
                </a:lnTo>
                <a:cubicBezTo>
                  <a:pt x="454814" y="43540"/>
                  <a:pt x="457573" y="42474"/>
                  <a:pt x="460333" y="41496"/>
                </a:cubicBezTo>
                <a:lnTo>
                  <a:pt x="460333" y="27546"/>
                </a:lnTo>
                <a:cubicBezTo>
                  <a:pt x="460333" y="12351"/>
                  <a:pt x="472705" y="0"/>
                  <a:pt x="487925" y="0"/>
                </a:cubicBezTo>
                <a:close/>
                <a:moveTo>
                  <a:pt x="165723" y="0"/>
                </a:moveTo>
                <a:cubicBezTo>
                  <a:pt x="180942" y="0"/>
                  <a:pt x="193314" y="12353"/>
                  <a:pt x="193314" y="27550"/>
                </a:cubicBezTo>
                <a:lnTo>
                  <a:pt x="193314" y="58654"/>
                </a:lnTo>
                <a:cubicBezTo>
                  <a:pt x="203460" y="61232"/>
                  <a:pt x="212983" y="65231"/>
                  <a:pt x="221794" y="70474"/>
                </a:cubicBezTo>
                <a:lnTo>
                  <a:pt x="243867" y="48434"/>
                </a:lnTo>
                <a:cubicBezTo>
                  <a:pt x="254636" y="37681"/>
                  <a:pt x="272081" y="37681"/>
                  <a:pt x="282850" y="48434"/>
                </a:cubicBezTo>
                <a:cubicBezTo>
                  <a:pt x="293620" y="59188"/>
                  <a:pt x="293620" y="76695"/>
                  <a:pt x="282850" y="87448"/>
                </a:cubicBezTo>
                <a:lnTo>
                  <a:pt x="260867" y="109488"/>
                </a:lnTo>
                <a:cubicBezTo>
                  <a:pt x="266029" y="118197"/>
                  <a:pt x="270034" y="127795"/>
                  <a:pt x="272704" y="137838"/>
                </a:cubicBezTo>
                <a:lnTo>
                  <a:pt x="303766" y="137838"/>
                </a:lnTo>
                <a:cubicBezTo>
                  <a:pt x="319074" y="137838"/>
                  <a:pt x="331446" y="150191"/>
                  <a:pt x="331446" y="165476"/>
                </a:cubicBezTo>
                <a:cubicBezTo>
                  <a:pt x="331446" y="180673"/>
                  <a:pt x="319074" y="193026"/>
                  <a:pt x="303766" y="193026"/>
                </a:cubicBezTo>
                <a:lnTo>
                  <a:pt x="272704" y="193026"/>
                </a:lnTo>
                <a:cubicBezTo>
                  <a:pt x="270034" y="203157"/>
                  <a:pt x="266029" y="212666"/>
                  <a:pt x="260867" y="221464"/>
                </a:cubicBezTo>
                <a:lnTo>
                  <a:pt x="282850" y="243415"/>
                </a:lnTo>
                <a:cubicBezTo>
                  <a:pt x="293709" y="254257"/>
                  <a:pt x="293709" y="271676"/>
                  <a:pt x="282850" y="282429"/>
                </a:cubicBezTo>
                <a:cubicBezTo>
                  <a:pt x="277510" y="287850"/>
                  <a:pt x="270390" y="290516"/>
                  <a:pt x="263359" y="290516"/>
                </a:cubicBezTo>
                <a:cubicBezTo>
                  <a:pt x="256327" y="290516"/>
                  <a:pt x="249207" y="287850"/>
                  <a:pt x="243867" y="282429"/>
                </a:cubicBezTo>
                <a:lnTo>
                  <a:pt x="221794" y="260478"/>
                </a:lnTo>
                <a:cubicBezTo>
                  <a:pt x="212983" y="265633"/>
                  <a:pt x="203460" y="269632"/>
                  <a:pt x="193314" y="272298"/>
                </a:cubicBezTo>
                <a:lnTo>
                  <a:pt x="193314" y="303314"/>
                </a:lnTo>
                <a:cubicBezTo>
                  <a:pt x="193314" y="318599"/>
                  <a:pt x="180942" y="330952"/>
                  <a:pt x="165723" y="330952"/>
                </a:cubicBezTo>
                <a:cubicBezTo>
                  <a:pt x="150414" y="330952"/>
                  <a:pt x="138132" y="318599"/>
                  <a:pt x="138132" y="303314"/>
                </a:cubicBezTo>
                <a:lnTo>
                  <a:pt x="138132" y="272298"/>
                </a:lnTo>
                <a:cubicBezTo>
                  <a:pt x="127986" y="269632"/>
                  <a:pt x="118462" y="265633"/>
                  <a:pt x="109651" y="260478"/>
                </a:cubicBezTo>
                <a:lnTo>
                  <a:pt x="87578" y="282429"/>
                </a:lnTo>
                <a:cubicBezTo>
                  <a:pt x="82238" y="287850"/>
                  <a:pt x="75118" y="290516"/>
                  <a:pt x="68087" y="290516"/>
                </a:cubicBezTo>
                <a:cubicBezTo>
                  <a:pt x="60967" y="290516"/>
                  <a:pt x="53935" y="287850"/>
                  <a:pt x="48506" y="282429"/>
                </a:cubicBezTo>
                <a:cubicBezTo>
                  <a:pt x="37737" y="271676"/>
                  <a:pt x="37737" y="254257"/>
                  <a:pt x="48506" y="243415"/>
                </a:cubicBezTo>
                <a:lnTo>
                  <a:pt x="70579" y="221464"/>
                </a:lnTo>
                <a:cubicBezTo>
                  <a:pt x="65417" y="212666"/>
                  <a:pt x="61323" y="203157"/>
                  <a:pt x="58742" y="193026"/>
                </a:cubicBezTo>
                <a:lnTo>
                  <a:pt x="27591" y="193026"/>
                </a:lnTo>
                <a:cubicBezTo>
                  <a:pt x="12371" y="193026"/>
                  <a:pt x="0" y="180673"/>
                  <a:pt x="0" y="165476"/>
                </a:cubicBezTo>
                <a:cubicBezTo>
                  <a:pt x="0" y="150191"/>
                  <a:pt x="12371" y="137838"/>
                  <a:pt x="27591" y="137838"/>
                </a:cubicBezTo>
                <a:lnTo>
                  <a:pt x="58742" y="137838"/>
                </a:lnTo>
                <a:cubicBezTo>
                  <a:pt x="61323" y="127795"/>
                  <a:pt x="65417" y="118197"/>
                  <a:pt x="70579" y="109488"/>
                </a:cubicBezTo>
                <a:lnTo>
                  <a:pt x="48506" y="87448"/>
                </a:lnTo>
                <a:cubicBezTo>
                  <a:pt x="37737" y="76695"/>
                  <a:pt x="37737" y="59188"/>
                  <a:pt x="48506" y="48434"/>
                </a:cubicBezTo>
                <a:cubicBezTo>
                  <a:pt x="59276" y="37681"/>
                  <a:pt x="76809" y="37681"/>
                  <a:pt x="87578" y="48434"/>
                </a:cubicBezTo>
                <a:lnTo>
                  <a:pt x="109651" y="70474"/>
                </a:lnTo>
                <a:cubicBezTo>
                  <a:pt x="118462" y="65231"/>
                  <a:pt x="127986" y="61232"/>
                  <a:pt x="138132" y="58654"/>
                </a:cubicBezTo>
                <a:lnTo>
                  <a:pt x="138132" y="27550"/>
                </a:lnTo>
                <a:cubicBezTo>
                  <a:pt x="138132" y="12353"/>
                  <a:pt x="150414" y="0"/>
                  <a:pt x="165723" y="0"/>
                </a:cubicBezTo>
                <a:close/>
              </a:path>
            </a:pathLst>
          </a:custGeom>
          <a:solidFill>
            <a:schemeClr val="accent1">
              <a:lumMod val="75000"/>
            </a:schemeClr>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bar-chart_163061"/>
          <p:cNvSpPr>
            <a:spLocks noChangeAspect="1"/>
          </p:cNvSpPr>
          <p:nvPr/>
        </p:nvSpPr>
        <p:spPr bwMode="auto">
          <a:xfrm>
            <a:off x="8468694" y="2895022"/>
            <a:ext cx="393332" cy="392751"/>
          </a:xfrm>
          <a:custGeom>
            <a:avLst/>
            <a:gdLst>
              <a:gd name="connsiteX0" fmla="*/ 414666 w 606487"/>
              <a:gd name="connsiteY0" fmla="*/ 244368 h 605592"/>
              <a:gd name="connsiteX1" fmla="*/ 440469 w 606487"/>
              <a:gd name="connsiteY1" fmla="*/ 270042 h 605592"/>
              <a:gd name="connsiteX2" fmla="*/ 440469 w 606487"/>
              <a:gd name="connsiteY2" fmla="*/ 381912 h 605592"/>
              <a:gd name="connsiteX3" fmla="*/ 414666 w 606487"/>
              <a:gd name="connsiteY3" fmla="*/ 407586 h 605592"/>
              <a:gd name="connsiteX4" fmla="*/ 388956 w 606487"/>
              <a:gd name="connsiteY4" fmla="*/ 381912 h 605592"/>
              <a:gd name="connsiteX5" fmla="*/ 388956 w 606487"/>
              <a:gd name="connsiteY5" fmla="*/ 270042 h 605592"/>
              <a:gd name="connsiteX6" fmla="*/ 414666 w 606487"/>
              <a:gd name="connsiteY6" fmla="*/ 244368 h 605592"/>
              <a:gd name="connsiteX7" fmla="*/ 302702 w 606487"/>
              <a:gd name="connsiteY7" fmla="*/ 167240 h 605592"/>
              <a:gd name="connsiteX8" fmla="*/ 328412 w 606487"/>
              <a:gd name="connsiteY8" fmla="*/ 192915 h 605592"/>
              <a:gd name="connsiteX9" fmla="*/ 328412 w 606487"/>
              <a:gd name="connsiteY9" fmla="*/ 381911 h 605592"/>
              <a:gd name="connsiteX10" fmla="*/ 302702 w 606487"/>
              <a:gd name="connsiteY10" fmla="*/ 407586 h 605592"/>
              <a:gd name="connsiteX11" fmla="*/ 276899 w 606487"/>
              <a:gd name="connsiteY11" fmla="*/ 381911 h 605592"/>
              <a:gd name="connsiteX12" fmla="*/ 276899 w 606487"/>
              <a:gd name="connsiteY12" fmla="*/ 192915 h 605592"/>
              <a:gd name="connsiteX13" fmla="*/ 302702 w 606487"/>
              <a:gd name="connsiteY13" fmla="*/ 167240 h 605592"/>
              <a:gd name="connsiteX14" fmla="*/ 190632 w 606487"/>
              <a:gd name="connsiteY14" fmla="*/ 107965 h 605592"/>
              <a:gd name="connsiteX15" fmla="*/ 216353 w 606487"/>
              <a:gd name="connsiteY15" fmla="*/ 133737 h 605592"/>
              <a:gd name="connsiteX16" fmla="*/ 216353 w 606487"/>
              <a:gd name="connsiteY16" fmla="*/ 381907 h 605592"/>
              <a:gd name="connsiteX17" fmla="*/ 190632 w 606487"/>
              <a:gd name="connsiteY17" fmla="*/ 407586 h 605592"/>
              <a:gd name="connsiteX18" fmla="*/ 164911 w 606487"/>
              <a:gd name="connsiteY18" fmla="*/ 381907 h 605592"/>
              <a:gd name="connsiteX19" fmla="*/ 164911 w 606487"/>
              <a:gd name="connsiteY19" fmla="*/ 133737 h 605592"/>
              <a:gd name="connsiteX20" fmla="*/ 190632 w 606487"/>
              <a:gd name="connsiteY20" fmla="*/ 107965 h 605592"/>
              <a:gd name="connsiteX21" fmla="*/ 86256 w 606487"/>
              <a:gd name="connsiteY21" fmla="*/ 51447 h 605592"/>
              <a:gd name="connsiteX22" fmla="*/ 86256 w 606487"/>
              <a:gd name="connsiteY22" fmla="*/ 464229 h 605592"/>
              <a:gd name="connsiteX23" fmla="*/ 517724 w 606487"/>
              <a:gd name="connsiteY23" fmla="*/ 464229 h 605592"/>
              <a:gd name="connsiteX24" fmla="*/ 517724 w 606487"/>
              <a:gd name="connsiteY24" fmla="*/ 51447 h 605592"/>
              <a:gd name="connsiteX25" fmla="*/ 25719 w 606487"/>
              <a:gd name="connsiteY25" fmla="*/ 0 h 605592"/>
              <a:gd name="connsiteX26" fmla="*/ 580861 w 606487"/>
              <a:gd name="connsiteY26" fmla="*/ 0 h 605592"/>
              <a:gd name="connsiteX27" fmla="*/ 606487 w 606487"/>
              <a:gd name="connsiteY27" fmla="*/ 25677 h 605592"/>
              <a:gd name="connsiteX28" fmla="*/ 579468 w 606487"/>
              <a:gd name="connsiteY28" fmla="*/ 51447 h 605592"/>
              <a:gd name="connsiteX29" fmla="*/ 569162 w 606487"/>
              <a:gd name="connsiteY29" fmla="*/ 51447 h 605592"/>
              <a:gd name="connsiteX30" fmla="*/ 569162 w 606487"/>
              <a:gd name="connsiteY30" fmla="*/ 488608 h 605592"/>
              <a:gd name="connsiteX31" fmla="*/ 543443 w 606487"/>
              <a:gd name="connsiteY31" fmla="*/ 514285 h 605592"/>
              <a:gd name="connsiteX32" fmla="*/ 476499 w 606487"/>
              <a:gd name="connsiteY32" fmla="*/ 514285 h 605592"/>
              <a:gd name="connsiteX33" fmla="*/ 476499 w 606487"/>
              <a:gd name="connsiteY33" fmla="*/ 579915 h 605592"/>
              <a:gd name="connsiteX34" fmla="*/ 450687 w 606487"/>
              <a:gd name="connsiteY34" fmla="*/ 605592 h 605592"/>
              <a:gd name="connsiteX35" fmla="*/ 424968 w 606487"/>
              <a:gd name="connsiteY35" fmla="*/ 579915 h 605592"/>
              <a:gd name="connsiteX36" fmla="*/ 424968 w 606487"/>
              <a:gd name="connsiteY36" fmla="*/ 514285 h 605592"/>
              <a:gd name="connsiteX37" fmla="*/ 180219 w 606487"/>
              <a:gd name="connsiteY37" fmla="*/ 514285 h 605592"/>
              <a:gd name="connsiteX38" fmla="*/ 180219 w 606487"/>
              <a:gd name="connsiteY38" fmla="*/ 579915 h 605592"/>
              <a:gd name="connsiteX39" fmla="*/ 154500 w 606487"/>
              <a:gd name="connsiteY39" fmla="*/ 605592 h 605592"/>
              <a:gd name="connsiteX40" fmla="*/ 128688 w 606487"/>
              <a:gd name="connsiteY40" fmla="*/ 579915 h 605592"/>
              <a:gd name="connsiteX41" fmla="*/ 128688 w 606487"/>
              <a:gd name="connsiteY41" fmla="*/ 514285 h 605592"/>
              <a:gd name="connsiteX42" fmla="*/ 61744 w 606487"/>
              <a:gd name="connsiteY42" fmla="*/ 514285 h 605592"/>
              <a:gd name="connsiteX43" fmla="*/ 36025 w 606487"/>
              <a:gd name="connsiteY43" fmla="*/ 488608 h 605592"/>
              <a:gd name="connsiteX44" fmla="*/ 36025 w 606487"/>
              <a:gd name="connsiteY44" fmla="*/ 51447 h 605592"/>
              <a:gd name="connsiteX45" fmla="*/ 25719 w 606487"/>
              <a:gd name="connsiteY45" fmla="*/ 51447 h 605592"/>
              <a:gd name="connsiteX46" fmla="*/ 0 w 606487"/>
              <a:gd name="connsiteY46" fmla="*/ 25677 h 605592"/>
              <a:gd name="connsiteX47" fmla="*/ 25719 w 606487"/>
              <a:gd name="connsiteY47"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6487" h="605592">
                <a:moveTo>
                  <a:pt x="414666" y="244368"/>
                </a:moveTo>
                <a:cubicBezTo>
                  <a:pt x="428774" y="244368"/>
                  <a:pt x="440469" y="255954"/>
                  <a:pt x="440469" y="270042"/>
                </a:cubicBezTo>
                <a:lnTo>
                  <a:pt x="440469" y="381912"/>
                </a:lnTo>
                <a:cubicBezTo>
                  <a:pt x="439170" y="396000"/>
                  <a:pt x="428774" y="407586"/>
                  <a:pt x="414666" y="407586"/>
                </a:cubicBezTo>
                <a:cubicBezTo>
                  <a:pt x="400465" y="407586"/>
                  <a:pt x="388956" y="396000"/>
                  <a:pt x="388956" y="381912"/>
                </a:cubicBezTo>
                <a:lnTo>
                  <a:pt x="388956" y="270042"/>
                </a:lnTo>
                <a:cubicBezTo>
                  <a:pt x="388956" y="255954"/>
                  <a:pt x="400558" y="244368"/>
                  <a:pt x="414666" y="244368"/>
                </a:cubicBezTo>
                <a:close/>
                <a:moveTo>
                  <a:pt x="302702" y="167240"/>
                </a:moveTo>
                <a:cubicBezTo>
                  <a:pt x="316810" y="167240"/>
                  <a:pt x="328412" y="178826"/>
                  <a:pt x="328412" y="192915"/>
                </a:cubicBezTo>
                <a:lnTo>
                  <a:pt x="328412" y="381911"/>
                </a:lnTo>
                <a:cubicBezTo>
                  <a:pt x="328412" y="396000"/>
                  <a:pt x="316810" y="407586"/>
                  <a:pt x="302702" y="407586"/>
                </a:cubicBezTo>
                <a:cubicBezTo>
                  <a:pt x="288408" y="407586"/>
                  <a:pt x="276899" y="396000"/>
                  <a:pt x="276899" y="381911"/>
                </a:cubicBezTo>
                <a:lnTo>
                  <a:pt x="276899" y="192915"/>
                </a:lnTo>
                <a:cubicBezTo>
                  <a:pt x="276899" y="178826"/>
                  <a:pt x="288594" y="167240"/>
                  <a:pt x="302702" y="167240"/>
                </a:cubicBezTo>
                <a:close/>
                <a:moveTo>
                  <a:pt x="190632" y="107965"/>
                </a:moveTo>
                <a:cubicBezTo>
                  <a:pt x="204746" y="107965"/>
                  <a:pt x="216353" y="119646"/>
                  <a:pt x="216353" y="133737"/>
                </a:cubicBezTo>
                <a:lnTo>
                  <a:pt x="216353" y="381907"/>
                </a:lnTo>
                <a:cubicBezTo>
                  <a:pt x="216353" y="395998"/>
                  <a:pt x="204746" y="407586"/>
                  <a:pt x="190632" y="407586"/>
                </a:cubicBezTo>
                <a:cubicBezTo>
                  <a:pt x="176425" y="407586"/>
                  <a:pt x="164911" y="395998"/>
                  <a:pt x="164911" y="381907"/>
                </a:cubicBezTo>
                <a:lnTo>
                  <a:pt x="164911" y="133737"/>
                </a:lnTo>
                <a:cubicBezTo>
                  <a:pt x="164911" y="119646"/>
                  <a:pt x="176518" y="107965"/>
                  <a:pt x="190632" y="107965"/>
                </a:cubicBezTo>
                <a:close/>
                <a:moveTo>
                  <a:pt x="86256" y="51447"/>
                </a:moveTo>
                <a:lnTo>
                  <a:pt x="86256" y="464229"/>
                </a:lnTo>
                <a:lnTo>
                  <a:pt x="517724" y="464229"/>
                </a:lnTo>
                <a:lnTo>
                  <a:pt x="517724" y="51447"/>
                </a:lnTo>
                <a:close/>
                <a:moveTo>
                  <a:pt x="25719" y="0"/>
                </a:moveTo>
                <a:lnTo>
                  <a:pt x="580861" y="0"/>
                </a:lnTo>
                <a:cubicBezTo>
                  <a:pt x="594974" y="0"/>
                  <a:pt x="606580" y="11587"/>
                  <a:pt x="606487" y="25677"/>
                </a:cubicBezTo>
                <a:cubicBezTo>
                  <a:pt x="606487" y="39767"/>
                  <a:pt x="593581" y="51447"/>
                  <a:pt x="579468" y="51447"/>
                </a:cubicBezTo>
                <a:lnTo>
                  <a:pt x="569162" y="51447"/>
                </a:lnTo>
                <a:lnTo>
                  <a:pt x="569162" y="488608"/>
                </a:lnTo>
                <a:cubicBezTo>
                  <a:pt x="569162" y="503996"/>
                  <a:pt x="557556" y="514285"/>
                  <a:pt x="543443" y="514285"/>
                </a:cubicBezTo>
                <a:lnTo>
                  <a:pt x="476499" y="514285"/>
                </a:lnTo>
                <a:lnTo>
                  <a:pt x="476499" y="579915"/>
                </a:lnTo>
                <a:cubicBezTo>
                  <a:pt x="476499" y="594005"/>
                  <a:pt x="464800" y="605592"/>
                  <a:pt x="450687" y="605592"/>
                </a:cubicBezTo>
                <a:cubicBezTo>
                  <a:pt x="436574" y="605592"/>
                  <a:pt x="424968" y="594005"/>
                  <a:pt x="424968" y="579915"/>
                </a:cubicBezTo>
                <a:lnTo>
                  <a:pt x="424968" y="514285"/>
                </a:lnTo>
                <a:lnTo>
                  <a:pt x="180219" y="514285"/>
                </a:lnTo>
                <a:lnTo>
                  <a:pt x="180219" y="579915"/>
                </a:lnTo>
                <a:cubicBezTo>
                  <a:pt x="180219" y="594005"/>
                  <a:pt x="168613" y="605592"/>
                  <a:pt x="154500" y="605592"/>
                </a:cubicBezTo>
                <a:cubicBezTo>
                  <a:pt x="140387" y="605592"/>
                  <a:pt x="128688" y="594005"/>
                  <a:pt x="128688" y="579915"/>
                </a:cubicBezTo>
                <a:lnTo>
                  <a:pt x="128688" y="514285"/>
                </a:lnTo>
                <a:lnTo>
                  <a:pt x="61744" y="514285"/>
                </a:lnTo>
                <a:cubicBezTo>
                  <a:pt x="47631" y="514285"/>
                  <a:pt x="36025" y="502698"/>
                  <a:pt x="36025" y="488608"/>
                </a:cubicBezTo>
                <a:lnTo>
                  <a:pt x="36025" y="51447"/>
                </a:lnTo>
                <a:lnTo>
                  <a:pt x="25719" y="51447"/>
                </a:lnTo>
                <a:cubicBezTo>
                  <a:pt x="11606" y="51447"/>
                  <a:pt x="0" y="39767"/>
                  <a:pt x="0" y="25677"/>
                </a:cubicBezTo>
                <a:cubicBezTo>
                  <a:pt x="0" y="11587"/>
                  <a:pt x="11606" y="0"/>
                  <a:pt x="25719" y="0"/>
                </a:cubicBezTo>
                <a:close/>
              </a:path>
            </a:pathLst>
          </a:custGeom>
          <a:solidFill>
            <a:schemeClr val="accent1"/>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bar-chart_163061"/>
          <p:cNvSpPr>
            <a:spLocks noChangeAspect="1"/>
          </p:cNvSpPr>
          <p:nvPr/>
        </p:nvSpPr>
        <p:spPr bwMode="auto">
          <a:xfrm>
            <a:off x="8452136" y="4126026"/>
            <a:ext cx="393332" cy="260829"/>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8769" h="390430">
                <a:moveTo>
                  <a:pt x="294385" y="290122"/>
                </a:moveTo>
                <a:cubicBezTo>
                  <a:pt x="322411" y="290122"/>
                  <a:pt x="345131" y="312577"/>
                  <a:pt x="345131" y="340276"/>
                </a:cubicBezTo>
                <a:cubicBezTo>
                  <a:pt x="345131" y="367975"/>
                  <a:pt x="322411" y="390430"/>
                  <a:pt x="294385" y="390430"/>
                </a:cubicBezTo>
                <a:cubicBezTo>
                  <a:pt x="266359" y="390430"/>
                  <a:pt x="243639" y="367975"/>
                  <a:pt x="243639" y="340276"/>
                </a:cubicBezTo>
                <a:cubicBezTo>
                  <a:pt x="243639" y="312577"/>
                  <a:pt x="266359" y="290122"/>
                  <a:pt x="294385" y="290122"/>
                </a:cubicBezTo>
                <a:close/>
                <a:moveTo>
                  <a:pt x="294384" y="139069"/>
                </a:moveTo>
                <a:cubicBezTo>
                  <a:pt x="364500" y="139069"/>
                  <a:pt x="428157" y="174994"/>
                  <a:pt x="465060" y="233949"/>
                </a:cubicBezTo>
                <a:cubicBezTo>
                  <a:pt x="474286" y="248688"/>
                  <a:pt x="469673" y="267111"/>
                  <a:pt x="455835" y="276323"/>
                </a:cubicBezTo>
                <a:cubicBezTo>
                  <a:pt x="450299" y="280008"/>
                  <a:pt x="444764" y="280929"/>
                  <a:pt x="439228" y="280929"/>
                </a:cubicBezTo>
                <a:cubicBezTo>
                  <a:pt x="429080" y="280929"/>
                  <a:pt x="418932" y="276323"/>
                  <a:pt x="413396" y="267111"/>
                </a:cubicBezTo>
                <a:cubicBezTo>
                  <a:pt x="387564" y="225659"/>
                  <a:pt x="343280" y="200787"/>
                  <a:pt x="294384" y="200787"/>
                </a:cubicBezTo>
                <a:cubicBezTo>
                  <a:pt x="246410" y="200787"/>
                  <a:pt x="201204" y="225659"/>
                  <a:pt x="175372" y="267111"/>
                </a:cubicBezTo>
                <a:cubicBezTo>
                  <a:pt x="167069" y="280929"/>
                  <a:pt x="147695" y="285535"/>
                  <a:pt x="133856" y="276323"/>
                </a:cubicBezTo>
                <a:cubicBezTo>
                  <a:pt x="119095" y="267111"/>
                  <a:pt x="114482" y="248688"/>
                  <a:pt x="123708" y="233949"/>
                </a:cubicBezTo>
                <a:cubicBezTo>
                  <a:pt x="160611" y="174994"/>
                  <a:pt x="224268" y="139069"/>
                  <a:pt x="294384" y="139069"/>
                </a:cubicBezTo>
                <a:close/>
                <a:moveTo>
                  <a:pt x="294385" y="0"/>
                </a:moveTo>
                <a:cubicBezTo>
                  <a:pt x="412449" y="0"/>
                  <a:pt x="521290" y="59873"/>
                  <a:pt x="584011" y="160275"/>
                </a:cubicBezTo>
                <a:cubicBezTo>
                  <a:pt x="593235" y="175013"/>
                  <a:pt x="588623" y="193435"/>
                  <a:pt x="573865" y="202647"/>
                </a:cubicBezTo>
                <a:cubicBezTo>
                  <a:pt x="569253" y="205410"/>
                  <a:pt x="563719" y="207252"/>
                  <a:pt x="558185" y="207252"/>
                </a:cubicBezTo>
                <a:cubicBezTo>
                  <a:pt x="548039" y="207252"/>
                  <a:pt x="537892" y="201725"/>
                  <a:pt x="531436" y="192514"/>
                </a:cubicBezTo>
                <a:cubicBezTo>
                  <a:pt x="480705" y="110534"/>
                  <a:pt x="391234" y="60794"/>
                  <a:pt x="294385" y="60794"/>
                </a:cubicBezTo>
                <a:cubicBezTo>
                  <a:pt x="197535" y="60794"/>
                  <a:pt x="108987" y="110534"/>
                  <a:pt x="57333" y="192514"/>
                </a:cubicBezTo>
                <a:cubicBezTo>
                  <a:pt x="48110" y="207252"/>
                  <a:pt x="28740" y="211858"/>
                  <a:pt x="14904" y="202647"/>
                </a:cubicBezTo>
                <a:cubicBezTo>
                  <a:pt x="146" y="193435"/>
                  <a:pt x="-4466" y="175013"/>
                  <a:pt x="4758" y="160275"/>
                </a:cubicBezTo>
                <a:cubicBezTo>
                  <a:pt x="67480" y="59873"/>
                  <a:pt x="176320" y="0"/>
                  <a:pt x="294385"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bar-chart_163061"/>
          <p:cNvSpPr>
            <a:spLocks noChangeAspect="1"/>
          </p:cNvSpPr>
          <p:nvPr/>
        </p:nvSpPr>
        <p:spPr bwMode="auto">
          <a:xfrm>
            <a:off x="8495813" y="5235878"/>
            <a:ext cx="305980" cy="393332"/>
          </a:xfrm>
          <a:custGeom>
            <a:avLst/>
            <a:gdLst>
              <a:gd name="T0" fmla="*/ 4401 w 4401"/>
              <a:gd name="T1" fmla="*/ 2201 h 5666"/>
              <a:gd name="T2" fmla="*/ 2201 w 4401"/>
              <a:gd name="T3" fmla="*/ 0 h 5666"/>
              <a:gd name="T4" fmla="*/ 0 w 4401"/>
              <a:gd name="T5" fmla="*/ 2201 h 5666"/>
              <a:gd name="T6" fmla="*/ 1913 w 4401"/>
              <a:gd name="T7" fmla="*/ 5121 h 5666"/>
              <a:gd name="T8" fmla="*/ 1151 w 4401"/>
              <a:gd name="T9" fmla="*/ 5388 h 5666"/>
              <a:gd name="T10" fmla="*/ 2201 w 4401"/>
              <a:gd name="T11" fmla="*/ 5666 h 5666"/>
              <a:gd name="T12" fmla="*/ 3251 w 4401"/>
              <a:gd name="T13" fmla="*/ 5388 h 5666"/>
              <a:gd name="T14" fmla="*/ 2488 w 4401"/>
              <a:gd name="T15" fmla="*/ 5121 h 5666"/>
              <a:gd name="T16" fmla="*/ 4401 w 4401"/>
              <a:gd name="T17" fmla="*/ 2201 h 5666"/>
              <a:gd name="T18" fmla="*/ 2201 w 4401"/>
              <a:gd name="T19" fmla="*/ 3594 h 5666"/>
              <a:gd name="T20" fmla="*/ 738 w 4401"/>
              <a:gd name="T21" fmla="*/ 2132 h 5666"/>
              <a:gd name="T22" fmla="*/ 2201 w 4401"/>
              <a:gd name="T23" fmla="*/ 670 h 5666"/>
              <a:gd name="T24" fmla="*/ 3663 w 4401"/>
              <a:gd name="T25" fmla="*/ 2132 h 5666"/>
              <a:gd name="T26" fmla="*/ 2201 w 4401"/>
              <a:gd name="T27" fmla="*/ 3594 h 5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01" h="5666">
                <a:moveTo>
                  <a:pt x="4401" y="2201"/>
                </a:moveTo>
                <a:cubicBezTo>
                  <a:pt x="4401" y="1028"/>
                  <a:pt x="3373" y="0"/>
                  <a:pt x="2201" y="0"/>
                </a:cubicBezTo>
                <a:cubicBezTo>
                  <a:pt x="1029" y="0"/>
                  <a:pt x="0" y="1028"/>
                  <a:pt x="0" y="2201"/>
                </a:cubicBezTo>
                <a:cubicBezTo>
                  <a:pt x="0" y="3128"/>
                  <a:pt x="1308" y="4524"/>
                  <a:pt x="1913" y="5121"/>
                </a:cubicBezTo>
                <a:cubicBezTo>
                  <a:pt x="1473" y="5154"/>
                  <a:pt x="1151" y="5261"/>
                  <a:pt x="1151" y="5388"/>
                </a:cubicBezTo>
                <a:cubicBezTo>
                  <a:pt x="1151" y="5541"/>
                  <a:pt x="1621" y="5666"/>
                  <a:pt x="2201" y="5666"/>
                </a:cubicBezTo>
                <a:cubicBezTo>
                  <a:pt x="2781" y="5666"/>
                  <a:pt x="3251" y="5541"/>
                  <a:pt x="3251" y="5388"/>
                </a:cubicBezTo>
                <a:cubicBezTo>
                  <a:pt x="3251" y="5261"/>
                  <a:pt x="2928" y="5154"/>
                  <a:pt x="2488" y="5121"/>
                </a:cubicBezTo>
                <a:cubicBezTo>
                  <a:pt x="3093" y="4524"/>
                  <a:pt x="4401" y="3128"/>
                  <a:pt x="4401" y="2201"/>
                </a:cubicBezTo>
                <a:close/>
                <a:moveTo>
                  <a:pt x="2201" y="3594"/>
                </a:moveTo>
                <a:cubicBezTo>
                  <a:pt x="1394" y="3594"/>
                  <a:pt x="738" y="2938"/>
                  <a:pt x="738" y="2132"/>
                </a:cubicBezTo>
                <a:cubicBezTo>
                  <a:pt x="738" y="1326"/>
                  <a:pt x="1394" y="670"/>
                  <a:pt x="2201" y="670"/>
                </a:cubicBezTo>
                <a:cubicBezTo>
                  <a:pt x="3007" y="670"/>
                  <a:pt x="3663" y="1326"/>
                  <a:pt x="3663" y="2132"/>
                </a:cubicBezTo>
                <a:cubicBezTo>
                  <a:pt x="3663" y="2938"/>
                  <a:pt x="3007" y="3594"/>
                  <a:pt x="2201" y="3594"/>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中小学核心素养下跨学科学习评价的元认知支持研究</a:t>
            </a:r>
            <a:r>
              <a:rPr lang="zh-CN" altLang="en-US"/>
              <a:t>现状</a:t>
            </a:r>
            <a:endParaRPr lang="zh-CN" altLang="en-US"/>
          </a:p>
        </p:txBody>
      </p:sp>
      <p:sp>
        <p:nvSpPr>
          <p:cNvPr id="3" name="菱形 2"/>
          <p:cNvSpPr/>
          <p:nvPr/>
        </p:nvSpPr>
        <p:spPr>
          <a:xfrm>
            <a:off x="4751070" y="2338713"/>
            <a:ext cx="2689860" cy="2689860"/>
          </a:xfrm>
          <a:prstGeom prst="diamond">
            <a:avLst/>
          </a:prstGeom>
          <a:solidFill>
            <a:schemeClr val="accent1">
              <a:alpha val="19000"/>
            </a:schemeClr>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4" name="菱形 3"/>
          <p:cNvSpPr/>
          <p:nvPr/>
        </p:nvSpPr>
        <p:spPr>
          <a:xfrm>
            <a:off x="5006340" y="2593983"/>
            <a:ext cx="2179955" cy="2179955"/>
          </a:xfrm>
          <a:prstGeom prst="diamond">
            <a:avLst/>
          </a:prstGeom>
          <a:gradFill flip="none" rotWithShape="1">
            <a:gsLst>
              <a:gs pos="0">
                <a:schemeClr val="accent1"/>
              </a:gs>
              <a:gs pos="100000">
                <a:schemeClr val="accent1"/>
              </a:gs>
            </a:gsLst>
            <a:lin ang="5400000" scaled="1"/>
            <a:tileRect/>
          </a:gra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5" name="矩形 4"/>
          <p:cNvSpPr/>
          <p:nvPr/>
        </p:nvSpPr>
        <p:spPr>
          <a:xfrm>
            <a:off x="9726295" y="25158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6" name="TextBox 21"/>
          <p:cNvSpPr txBox="1"/>
          <p:nvPr/>
        </p:nvSpPr>
        <p:spPr>
          <a:xfrm flipH="1">
            <a:off x="7137400" y="265176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相关研究多采用量化方法统计评价结果，缺乏对元认知支持过程的质性分析与动态追踪，难以揭示支持机制的深层逻辑。</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7" name="Rectangle 29"/>
          <p:cNvSpPr/>
          <p:nvPr/>
        </p:nvSpPr>
        <p:spPr>
          <a:xfrm flipH="1">
            <a:off x="6718300" y="2170430"/>
            <a:ext cx="2904490" cy="456565"/>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重量化方法，缺质性追踪</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8" name="矩形 7"/>
          <p:cNvSpPr/>
          <p:nvPr/>
        </p:nvSpPr>
        <p:spPr>
          <a:xfrm>
            <a:off x="9726295" y="43180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9" name="TextBox 21"/>
          <p:cNvSpPr txBox="1"/>
          <p:nvPr/>
        </p:nvSpPr>
        <p:spPr>
          <a:xfrm flipH="1">
            <a:off x="7137400" y="4501523"/>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现有成果多停留在元认知支持的理论构想层面，针对中小学跨学科学习评价的具体元认知干预策略与实施路径研究稀缺。</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0" name="Rectangle 29"/>
          <p:cNvSpPr/>
          <p:nvPr/>
        </p:nvSpPr>
        <p:spPr>
          <a:xfrm flipH="1">
            <a:off x="6932930" y="3991618"/>
            <a:ext cx="2689860" cy="456565"/>
          </a:xfrm>
          <a:prstGeom prst="rect">
            <a:avLst/>
          </a:prstGeom>
        </p:spPr>
        <p:txBody>
          <a:bodyPr wrap="square" anchor="ctr">
            <a:norm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重理论，缺落地路径</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1" name="矩形 10"/>
          <p:cNvSpPr/>
          <p:nvPr/>
        </p:nvSpPr>
        <p:spPr>
          <a:xfrm flipH="1">
            <a:off x="1513205" y="24650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2" name="TextBox 21"/>
          <p:cNvSpPr txBox="1"/>
          <p:nvPr/>
        </p:nvSpPr>
        <p:spPr>
          <a:xfrm>
            <a:off x="2493010" y="268605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现有研究多侧重跨学科学习评价体系构建，鲜少探讨元认知策略对评价有效性的支持作用，存在评价与认知支持脱节问题。</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3" name="Rectangle 29"/>
          <p:cNvSpPr/>
          <p:nvPr/>
        </p:nvSpPr>
        <p:spPr>
          <a:xfrm>
            <a:off x="2493010" y="217615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重评价设计，缺元认知</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4" name="矩形 13"/>
          <p:cNvSpPr/>
          <p:nvPr/>
        </p:nvSpPr>
        <p:spPr>
          <a:xfrm flipH="1">
            <a:off x="1513205" y="42672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5" name="TextBox 21"/>
          <p:cNvSpPr txBox="1"/>
          <p:nvPr/>
        </p:nvSpPr>
        <p:spPr>
          <a:xfrm>
            <a:off x="2493010" y="448818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多数研究未区分小学、初中不同学段学生的元认知发展水平，对跨学科学习评价中元认知支持的学段适配性研究不足。</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6" name="Rectangle 29"/>
          <p:cNvSpPr/>
          <p:nvPr/>
        </p:nvSpPr>
        <p:spPr>
          <a:xfrm>
            <a:off x="2493010" y="397828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学段泛化，缺差异分析</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7"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2575568"/>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01</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8"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43783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03</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9"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262700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02</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0"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44291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04</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1" name="Shape"/>
          <p:cNvSpPr/>
          <p:nvPr/>
        </p:nvSpPr>
        <p:spPr>
          <a:xfrm>
            <a:off x="5762625" y="3425198"/>
            <a:ext cx="666750" cy="516890"/>
          </a:xfrm>
          <a:custGeom>
            <a:avLst/>
            <a:gdLst/>
            <a:ahLst/>
            <a:cxnLst>
              <a:cxn ang="0">
                <a:pos x="wd2" y="hd2"/>
              </a:cxn>
              <a:cxn ang="5400000">
                <a:pos x="wd2" y="hd2"/>
              </a:cxn>
              <a:cxn ang="10800000">
                <a:pos x="wd2" y="hd2"/>
              </a:cxn>
              <a:cxn ang="16200000">
                <a:pos x="wd2" y="hd2"/>
              </a:cxn>
            </a:cxnLst>
            <a:rect l="0" t="0" r="r" b="b"/>
            <a:pathLst>
              <a:path w="21600" h="21600" extrusionOk="0">
                <a:moveTo>
                  <a:pt x="19800" y="6557"/>
                </a:moveTo>
                <a:cubicBezTo>
                  <a:pt x="17700" y="8100"/>
                  <a:pt x="15900" y="10029"/>
                  <a:pt x="14100" y="11571"/>
                </a:cubicBezTo>
                <a:cubicBezTo>
                  <a:pt x="13200" y="12343"/>
                  <a:pt x="12000" y="13886"/>
                  <a:pt x="11100" y="13886"/>
                </a:cubicBezTo>
                <a:cubicBezTo>
                  <a:pt x="10800" y="13886"/>
                  <a:pt x="10800" y="13886"/>
                  <a:pt x="10800" y="13886"/>
                </a:cubicBezTo>
                <a:cubicBezTo>
                  <a:pt x="10800" y="13886"/>
                  <a:pt x="10800" y="13886"/>
                  <a:pt x="10800" y="13886"/>
                </a:cubicBezTo>
                <a:cubicBezTo>
                  <a:pt x="9900" y="13886"/>
                  <a:pt x="8700" y="12343"/>
                  <a:pt x="7800" y="11571"/>
                </a:cubicBezTo>
                <a:cubicBezTo>
                  <a:pt x="6000" y="10029"/>
                  <a:pt x="4200" y="8100"/>
                  <a:pt x="2100" y="6557"/>
                </a:cubicBezTo>
                <a:cubicBezTo>
                  <a:pt x="1500" y="5786"/>
                  <a:pt x="0" y="4243"/>
                  <a:pt x="0" y="2700"/>
                </a:cubicBezTo>
                <a:cubicBezTo>
                  <a:pt x="0" y="1157"/>
                  <a:pt x="900" y="0"/>
                  <a:pt x="2100" y="0"/>
                </a:cubicBezTo>
                <a:cubicBezTo>
                  <a:pt x="19800" y="0"/>
                  <a:pt x="19800" y="0"/>
                  <a:pt x="19800" y="0"/>
                </a:cubicBezTo>
                <a:cubicBezTo>
                  <a:pt x="21000" y="0"/>
                  <a:pt x="21600" y="771"/>
                  <a:pt x="21600" y="2314"/>
                </a:cubicBezTo>
                <a:cubicBezTo>
                  <a:pt x="21600" y="4243"/>
                  <a:pt x="20700" y="5786"/>
                  <a:pt x="19800" y="6557"/>
                </a:cubicBezTo>
                <a:close/>
                <a:moveTo>
                  <a:pt x="21600" y="19286"/>
                </a:moveTo>
                <a:cubicBezTo>
                  <a:pt x="21600" y="20443"/>
                  <a:pt x="21000" y="21600"/>
                  <a:pt x="19800" y="21600"/>
                </a:cubicBezTo>
                <a:cubicBezTo>
                  <a:pt x="2100" y="21600"/>
                  <a:pt x="2100" y="21600"/>
                  <a:pt x="2100" y="21600"/>
                </a:cubicBezTo>
                <a:cubicBezTo>
                  <a:pt x="900" y="21600"/>
                  <a:pt x="0" y="20443"/>
                  <a:pt x="0" y="19286"/>
                </a:cubicBezTo>
                <a:cubicBezTo>
                  <a:pt x="0" y="6943"/>
                  <a:pt x="0" y="6943"/>
                  <a:pt x="0" y="6943"/>
                </a:cubicBezTo>
                <a:cubicBezTo>
                  <a:pt x="600" y="7329"/>
                  <a:pt x="900" y="7714"/>
                  <a:pt x="1500" y="8100"/>
                </a:cubicBezTo>
                <a:cubicBezTo>
                  <a:pt x="3300" y="10029"/>
                  <a:pt x="5400" y="11571"/>
                  <a:pt x="7200" y="13500"/>
                </a:cubicBezTo>
                <a:cubicBezTo>
                  <a:pt x="8400" y="14657"/>
                  <a:pt x="9600" y="15814"/>
                  <a:pt x="10800" y="15814"/>
                </a:cubicBezTo>
                <a:cubicBezTo>
                  <a:pt x="10800" y="15814"/>
                  <a:pt x="10800" y="15814"/>
                  <a:pt x="10800" y="15814"/>
                </a:cubicBezTo>
                <a:cubicBezTo>
                  <a:pt x="11100" y="15814"/>
                  <a:pt x="11100" y="15814"/>
                  <a:pt x="11100" y="15814"/>
                </a:cubicBezTo>
                <a:cubicBezTo>
                  <a:pt x="12300" y="15814"/>
                  <a:pt x="13500" y="14657"/>
                  <a:pt x="14400" y="13500"/>
                </a:cubicBezTo>
                <a:cubicBezTo>
                  <a:pt x="16500" y="11571"/>
                  <a:pt x="18600" y="10029"/>
                  <a:pt x="20400" y="8100"/>
                </a:cubicBezTo>
                <a:cubicBezTo>
                  <a:pt x="21000" y="7714"/>
                  <a:pt x="21300" y="7329"/>
                  <a:pt x="21600" y="6943"/>
                </a:cubicBezTo>
                <a:lnTo>
                  <a:pt x="21600" y="19286"/>
                </a:lnTo>
                <a:close/>
              </a:path>
            </a:pathLst>
          </a:custGeom>
          <a:solidFill>
            <a:srgbClr val="FFFFFF"/>
          </a:solidFill>
          <a:ln w="12700" cap="flat">
            <a:noFill/>
            <a:miter lim="400000"/>
          </a:ln>
          <a:effectLst/>
        </p:spPr>
        <p:txBody>
          <a:bodyPr wrap="square" lIns="91426" tIns="91426" rIns="91426" bIns="91426"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sz="2400">
                <a:solidFill>
                  <a:srgbClr val="000000"/>
                </a:solidFill>
                <a:latin typeface="Calibri" panose="020F0502020204030204"/>
                <a:ea typeface="Calibri" panose="020F0502020204030204"/>
                <a:cs typeface="Calibri" panose="020F0502020204030204"/>
                <a:sym typeface="Calibri" panose="020F0502020204030204"/>
              </a:defRPr>
            </a:pPr>
            <a:endParaRPr sz="4800">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MCI </a:t>
            </a:r>
            <a:r>
              <a:rPr lang="zh-CN" altLang="en-US"/>
              <a:t>老人数字干预照护协同研究</a:t>
            </a:r>
            <a:r>
              <a:rPr lang="zh-CN" altLang="en-US"/>
              <a:t>现状</a:t>
            </a:r>
            <a:endParaRPr lang="zh-CN" altLang="en-US"/>
          </a:p>
        </p:txBody>
      </p:sp>
      <p:grpSp>
        <p:nvGrpSpPr>
          <p:cNvPr id="3" name="组合 2"/>
          <p:cNvGrpSpPr/>
          <p:nvPr/>
        </p:nvGrpSpPr>
        <p:grpSpPr>
          <a:xfrm>
            <a:off x="551815" y="1520190"/>
            <a:ext cx="10844529" cy="4871085"/>
            <a:chOff x="287338" y="1360869"/>
            <a:chExt cx="11454182" cy="5144706"/>
          </a:xfrm>
        </p:grpSpPr>
        <p:sp>
          <p:nvSpPr>
            <p:cNvPr id="4" name="熊猫儿小白白(http://dwz.cn/Wu2UP)"/>
            <p:cNvSpPr/>
            <p:nvPr/>
          </p:nvSpPr>
          <p:spPr bwMode="auto">
            <a:xfrm>
              <a:off x="287338" y="2287668"/>
              <a:ext cx="10140950" cy="4170282"/>
            </a:xfrm>
            <a:custGeom>
              <a:avLst/>
              <a:gdLst>
                <a:gd name="T0" fmla="*/ 2147483646 w 1735"/>
                <a:gd name="T1" fmla="*/ 2147483646 h 784"/>
                <a:gd name="T2" fmla="*/ 2147483646 w 1735"/>
                <a:gd name="T3" fmla="*/ 2147483646 h 784"/>
                <a:gd name="T4" fmla="*/ 2147483646 w 1735"/>
                <a:gd name="T5" fmla="*/ 2147483646 h 784"/>
                <a:gd name="T6" fmla="*/ 2147483646 w 1735"/>
                <a:gd name="T7" fmla="*/ 2147483646 h 784"/>
                <a:gd name="T8" fmla="*/ 2147483646 w 1735"/>
                <a:gd name="T9" fmla="*/ 2147483646 h 784"/>
                <a:gd name="T10" fmla="*/ 2147483646 w 1735"/>
                <a:gd name="T11" fmla="*/ 2147483646 h 784"/>
                <a:gd name="T12" fmla="*/ 2147483646 w 1735"/>
                <a:gd name="T13" fmla="*/ 2147483646 h 784"/>
                <a:gd name="T14" fmla="*/ 2147483646 w 1735"/>
                <a:gd name="T15" fmla="*/ 2147483646 h 784"/>
                <a:gd name="T16" fmla="*/ 2147483646 w 1735"/>
                <a:gd name="T17" fmla="*/ 2147483646 h 784"/>
                <a:gd name="T18" fmla="*/ 2147483646 w 1735"/>
                <a:gd name="T19" fmla="*/ 2147483646 h 784"/>
                <a:gd name="T20" fmla="*/ 0 w 1735"/>
                <a:gd name="T21" fmla="*/ 0 h 784"/>
                <a:gd name="T22" fmla="*/ 2147483646 w 1735"/>
                <a:gd name="T23" fmla="*/ 2147483646 h 784"/>
                <a:gd name="T24" fmla="*/ 2147483646 w 1735"/>
                <a:gd name="T25" fmla="*/ 2147483646 h 784"/>
                <a:gd name="T26" fmla="*/ 2147483646 w 1735"/>
                <a:gd name="T27" fmla="*/ 2147483646 h 784"/>
                <a:gd name="T28" fmla="*/ 2147483646 w 1735"/>
                <a:gd name="T29" fmla="*/ 2147483646 h 784"/>
                <a:gd name="T30" fmla="*/ 2147483646 w 1735"/>
                <a:gd name="T31" fmla="*/ 2147483646 h 7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2"/>
            </a:solidFill>
            <a:ln>
              <a:noFill/>
            </a:ln>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5" name="组合 4"/>
            <p:cNvGrpSpPr/>
            <p:nvPr/>
          </p:nvGrpSpPr>
          <p:grpSpPr>
            <a:xfrm>
              <a:off x="7778749" y="4237038"/>
              <a:ext cx="1522414" cy="2268537"/>
              <a:chOff x="7778749" y="4237038"/>
              <a:chExt cx="1522414" cy="2268537"/>
            </a:xfrm>
          </p:grpSpPr>
          <p:grpSp>
            <p:nvGrpSpPr>
              <p:cNvPr id="40" name="组合 39"/>
              <p:cNvGrpSpPr/>
              <p:nvPr/>
            </p:nvGrpSpPr>
            <p:grpSpPr>
              <a:xfrm>
                <a:off x="7778749" y="4237038"/>
                <a:ext cx="1522414" cy="2268537"/>
                <a:chOff x="7642224" y="2703513"/>
                <a:chExt cx="1522414" cy="2268537"/>
              </a:xfrm>
            </p:grpSpPr>
            <p:sp>
              <p:nvSpPr>
                <p:cNvPr id="42" name="流程图: 磁盘 4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波形 4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4" name="矩形 4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1" name="熊猫儿小白白(http://dwz.cn/Wu2UP)"/>
              <p:cNvSpPr>
                <a:spLocks noEditPoints="1"/>
              </p:cNvSpPr>
              <p:nvPr/>
            </p:nvSpPr>
            <p:spPr bwMode="auto">
              <a:xfrm>
                <a:off x="8392317" y="4551363"/>
                <a:ext cx="376238" cy="376238"/>
              </a:xfrm>
              <a:custGeom>
                <a:avLst/>
                <a:gdLst>
                  <a:gd name="T0" fmla="*/ 1263468770 w 55"/>
                  <a:gd name="T1" fmla="*/ 2147483646 h 55"/>
                  <a:gd name="T2" fmla="*/ 0 w 55"/>
                  <a:gd name="T3" fmla="*/ 1263468770 h 55"/>
                  <a:gd name="T4" fmla="*/ 1263468770 w 55"/>
                  <a:gd name="T5" fmla="*/ 0 h 55"/>
                  <a:gd name="T6" fmla="*/ 2147483646 w 55"/>
                  <a:gd name="T7" fmla="*/ 1263468770 h 55"/>
                  <a:gd name="T8" fmla="*/ 1263468770 w 55"/>
                  <a:gd name="T9" fmla="*/ 2147483646 h 55"/>
                  <a:gd name="T10" fmla="*/ 2105776723 w 55"/>
                  <a:gd name="T11" fmla="*/ 935902286 h 55"/>
                  <a:gd name="T12" fmla="*/ 1965392064 w 55"/>
                  <a:gd name="T13" fmla="*/ 795517627 h 55"/>
                  <a:gd name="T14" fmla="*/ 1871804572 w 55"/>
                  <a:gd name="T15" fmla="*/ 748720461 h 55"/>
                  <a:gd name="T16" fmla="*/ 1778210239 w 55"/>
                  <a:gd name="T17" fmla="*/ 795517627 h 55"/>
                  <a:gd name="T18" fmla="*/ 1123084111 w 55"/>
                  <a:gd name="T19" fmla="*/ 1450643755 h 55"/>
                  <a:gd name="T20" fmla="*/ 748720461 w 55"/>
                  <a:gd name="T21" fmla="*/ 1076286945 h 55"/>
                  <a:gd name="T22" fmla="*/ 655132968 w 55"/>
                  <a:gd name="T23" fmla="*/ 1029489778 h 55"/>
                  <a:gd name="T24" fmla="*/ 608335802 w 55"/>
                  <a:gd name="T25" fmla="*/ 1076286945 h 55"/>
                  <a:gd name="T26" fmla="*/ 421153977 w 55"/>
                  <a:gd name="T27" fmla="*/ 1216671604 h 55"/>
                  <a:gd name="T28" fmla="*/ 421153977 w 55"/>
                  <a:gd name="T29" fmla="*/ 1310259096 h 55"/>
                  <a:gd name="T30" fmla="*/ 421153977 w 55"/>
                  <a:gd name="T31" fmla="*/ 1403853429 h 55"/>
                  <a:gd name="T32" fmla="*/ 1029489778 w 55"/>
                  <a:gd name="T33" fmla="*/ 2012189231 h 55"/>
                  <a:gd name="T34" fmla="*/ 1123084111 w 55"/>
                  <a:gd name="T35" fmla="*/ 2012189231 h 55"/>
                  <a:gd name="T36" fmla="*/ 1216671604 w 55"/>
                  <a:gd name="T37" fmla="*/ 2012189231 h 55"/>
                  <a:gd name="T38" fmla="*/ 2105776723 w 55"/>
                  <a:gd name="T39" fmla="*/ 1076286945 h 55"/>
                  <a:gd name="T40" fmla="*/ 2147483646 w 55"/>
                  <a:gd name="T41" fmla="*/ 1029489778 h 55"/>
                  <a:gd name="T42" fmla="*/ 2105776723 w 55"/>
                  <a:gd name="T43" fmla="*/ 935902286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4726383" y="4068858"/>
              <a:ext cx="1431134" cy="2066773"/>
              <a:chOff x="4726383" y="4068858"/>
              <a:chExt cx="1431134" cy="2066773"/>
            </a:xfrm>
          </p:grpSpPr>
          <p:grpSp>
            <p:nvGrpSpPr>
              <p:cNvPr id="35" name="组合 34"/>
              <p:cNvGrpSpPr/>
              <p:nvPr/>
            </p:nvGrpSpPr>
            <p:grpSpPr>
              <a:xfrm>
                <a:off x="4726383" y="4068858"/>
                <a:ext cx="1431134" cy="2066773"/>
                <a:chOff x="7638839" y="2703350"/>
                <a:chExt cx="1525799" cy="2203484"/>
              </a:xfrm>
              <a:solidFill>
                <a:srgbClr val="00B0F0"/>
              </a:solidFill>
            </p:grpSpPr>
            <p:sp>
              <p:nvSpPr>
                <p:cNvPr id="37" name="流程图: 磁盘 36"/>
                <p:cNvSpPr/>
                <p:nvPr/>
              </p:nvSpPr>
              <p:spPr>
                <a:xfrm>
                  <a:off x="7638839" y="4642509"/>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8" name="波形 37"/>
                <p:cNvSpPr/>
                <p:nvPr/>
              </p:nvSpPr>
              <p:spPr>
                <a:xfrm>
                  <a:off x="7880350" y="2703350"/>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9" name="矩形 3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6" name="熊猫儿小白白(http://dwz.cn/Wu2UP)"/>
              <p:cNvSpPr>
                <a:spLocks noChangeAspect="1" noEditPoints="1"/>
              </p:cNvSpPr>
              <p:nvPr/>
            </p:nvSpPr>
            <p:spPr bwMode="auto">
              <a:xfrm>
                <a:off x="5301319" y="4375944"/>
                <a:ext cx="409575" cy="411162"/>
              </a:xfrm>
              <a:custGeom>
                <a:avLst/>
                <a:gdLst>
                  <a:gd name="T0" fmla="*/ 2147483646 w 58"/>
                  <a:gd name="T1" fmla="*/ 1658379393 h 58"/>
                  <a:gd name="T2" fmla="*/ 2147483646 w 58"/>
                  <a:gd name="T3" fmla="*/ 1708633314 h 58"/>
                  <a:gd name="T4" fmla="*/ 2147483646 w 58"/>
                  <a:gd name="T5" fmla="*/ 1758887235 h 58"/>
                  <a:gd name="T6" fmla="*/ 2147483646 w 58"/>
                  <a:gd name="T7" fmla="*/ 1959902919 h 58"/>
                  <a:gd name="T8" fmla="*/ 2147483646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1944803333 w 58"/>
                  <a:gd name="T19" fmla="*/ 2147483646 h 58"/>
                  <a:gd name="T20" fmla="*/ 1795202533 w 58"/>
                  <a:gd name="T21" fmla="*/ 2147483646 h 58"/>
                  <a:gd name="T22" fmla="*/ 1695471021 w 58"/>
                  <a:gd name="T23" fmla="*/ 2147483646 h 58"/>
                  <a:gd name="T24" fmla="*/ 1645601734 w 58"/>
                  <a:gd name="T25" fmla="*/ 2147483646 h 58"/>
                  <a:gd name="T26" fmla="*/ 1246668622 w 58"/>
                  <a:gd name="T27" fmla="*/ 2147483646 h 58"/>
                  <a:gd name="T28" fmla="*/ 1146937109 w 58"/>
                  <a:gd name="T29" fmla="*/ 2147483646 h 58"/>
                  <a:gd name="T30" fmla="*/ 1097067822 w 58"/>
                  <a:gd name="T31" fmla="*/ 2147483646 h 58"/>
                  <a:gd name="T32" fmla="*/ 947467023 w 58"/>
                  <a:gd name="T33" fmla="*/ 2147483646 h 58"/>
                  <a:gd name="T34" fmla="*/ 698134711 w 58"/>
                  <a:gd name="T35" fmla="*/ 2147483646 h 58"/>
                  <a:gd name="T36" fmla="*/ 648265424 w 58"/>
                  <a:gd name="T37" fmla="*/ 2147483646 h 58"/>
                  <a:gd name="T38" fmla="*/ 598403198 w 58"/>
                  <a:gd name="T39" fmla="*/ 2147483646 h 58"/>
                  <a:gd name="T40" fmla="*/ 249332312 w 58"/>
                  <a:gd name="T41" fmla="*/ 2147483646 h 58"/>
                  <a:gd name="T42" fmla="*/ 249332312 w 58"/>
                  <a:gd name="T43" fmla="*/ 2147483646 h 58"/>
                  <a:gd name="T44" fmla="*/ 249332312 w 58"/>
                  <a:gd name="T45" fmla="*/ 2147483646 h 58"/>
                  <a:gd name="T46" fmla="*/ 448802399 w 58"/>
                  <a:gd name="T47" fmla="*/ 1959902919 h 58"/>
                  <a:gd name="T48" fmla="*/ 398933112 w 58"/>
                  <a:gd name="T49" fmla="*/ 1758887235 h 58"/>
                  <a:gd name="T50" fmla="*/ 49869287 w 58"/>
                  <a:gd name="T51" fmla="*/ 1708633314 h 58"/>
                  <a:gd name="T52" fmla="*/ 0 w 58"/>
                  <a:gd name="T53" fmla="*/ 1658379393 h 58"/>
                  <a:gd name="T54" fmla="*/ 0 w 58"/>
                  <a:gd name="T55" fmla="*/ 1206094104 h 58"/>
                  <a:gd name="T56" fmla="*/ 49869287 w 58"/>
                  <a:gd name="T57" fmla="*/ 1155840183 h 58"/>
                  <a:gd name="T58" fmla="*/ 398933112 w 58"/>
                  <a:gd name="T59" fmla="*/ 1105586262 h 58"/>
                  <a:gd name="T60" fmla="*/ 448802399 w 58"/>
                  <a:gd name="T61" fmla="*/ 904570578 h 58"/>
                  <a:gd name="T62" fmla="*/ 249332312 w 58"/>
                  <a:gd name="T63" fmla="*/ 653300973 h 58"/>
                  <a:gd name="T64" fmla="*/ 249332312 w 58"/>
                  <a:gd name="T65" fmla="*/ 603047052 h 58"/>
                  <a:gd name="T66" fmla="*/ 249332312 w 58"/>
                  <a:gd name="T67" fmla="*/ 552793131 h 58"/>
                  <a:gd name="T68" fmla="*/ 648265424 w 58"/>
                  <a:gd name="T69" fmla="*/ 251269605 h 58"/>
                  <a:gd name="T70" fmla="*/ 698134711 w 58"/>
                  <a:gd name="T71" fmla="*/ 251269605 h 58"/>
                  <a:gd name="T72" fmla="*/ 947467023 w 58"/>
                  <a:gd name="T73" fmla="*/ 452285289 h 58"/>
                  <a:gd name="T74" fmla="*/ 1097067822 w 58"/>
                  <a:gd name="T75" fmla="*/ 402031368 h 58"/>
                  <a:gd name="T76" fmla="*/ 1146937109 w 58"/>
                  <a:gd name="T77" fmla="*/ 50253921 h 58"/>
                  <a:gd name="T78" fmla="*/ 1246668622 w 58"/>
                  <a:gd name="T79" fmla="*/ 0 h 58"/>
                  <a:gd name="T80" fmla="*/ 1645601734 w 58"/>
                  <a:gd name="T81" fmla="*/ 0 h 58"/>
                  <a:gd name="T82" fmla="*/ 1695471021 w 58"/>
                  <a:gd name="T83" fmla="*/ 50253921 h 58"/>
                  <a:gd name="T84" fmla="*/ 1795202533 w 58"/>
                  <a:gd name="T85" fmla="*/ 402031368 h 58"/>
                  <a:gd name="T86" fmla="*/ 1944803333 w 58"/>
                  <a:gd name="T87" fmla="*/ 452285289 h 58"/>
                  <a:gd name="T88" fmla="*/ 2147483646 w 58"/>
                  <a:gd name="T89" fmla="*/ 251269605 h 58"/>
                  <a:gd name="T90" fmla="*/ 2147483646 w 58"/>
                  <a:gd name="T91" fmla="*/ 251269605 h 58"/>
                  <a:gd name="T92" fmla="*/ 2147483646 w 58"/>
                  <a:gd name="T93" fmla="*/ 251269605 h 58"/>
                  <a:gd name="T94" fmla="*/ 2147483646 w 58"/>
                  <a:gd name="T95" fmla="*/ 603047052 h 58"/>
                  <a:gd name="T96" fmla="*/ 2147483646 w 58"/>
                  <a:gd name="T97" fmla="*/ 603047052 h 58"/>
                  <a:gd name="T98" fmla="*/ 2147483646 w 58"/>
                  <a:gd name="T99" fmla="*/ 653300973 h 58"/>
                  <a:gd name="T100" fmla="*/ 2147483646 w 58"/>
                  <a:gd name="T101" fmla="*/ 904570578 h 58"/>
                  <a:gd name="T102" fmla="*/ 2147483646 w 58"/>
                  <a:gd name="T103" fmla="*/ 1105586262 h 58"/>
                  <a:gd name="T104" fmla="*/ 2147483646 w 58"/>
                  <a:gd name="T105" fmla="*/ 1155840183 h 58"/>
                  <a:gd name="T106" fmla="*/ 2147483646 w 58"/>
                  <a:gd name="T107" fmla="*/ 1256348025 h 58"/>
                  <a:gd name="T108" fmla="*/ 2147483646 w 58"/>
                  <a:gd name="T109" fmla="*/ 1658379393 h 58"/>
                  <a:gd name="T110" fmla="*/ 1446138709 w 58"/>
                  <a:gd name="T111" fmla="*/ 954824499 h 58"/>
                  <a:gd name="T112" fmla="*/ 947467023 w 58"/>
                  <a:gd name="T113" fmla="*/ 1457363709 h 58"/>
                  <a:gd name="T114" fmla="*/ 1446138709 w 58"/>
                  <a:gd name="T115" fmla="*/ 1909648998 h 58"/>
                  <a:gd name="T116" fmla="*/ 1944803333 w 58"/>
                  <a:gd name="T117" fmla="*/ 1457363709 h 58"/>
                  <a:gd name="T118" fmla="*/ 1446138709 w 58"/>
                  <a:gd name="T119" fmla="*/ 954824499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7" name="组合 6"/>
            <p:cNvGrpSpPr/>
            <p:nvPr/>
          </p:nvGrpSpPr>
          <p:grpSpPr>
            <a:xfrm>
              <a:off x="1707949" y="1360869"/>
              <a:ext cx="1049650" cy="1564075"/>
              <a:chOff x="1707949" y="1360869"/>
              <a:chExt cx="1049650" cy="1564075"/>
            </a:xfrm>
          </p:grpSpPr>
          <p:grpSp>
            <p:nvGrpSpPr>
              <p:cNvPr id="30" name="组合 29"/>
              <p:cNvGrpSpPr/>
              <p:nvPr/>
            </p:nvGrpSpPr>
            <p:grpSpPr>
              <a:xfrm>
                <a:off x="1707949" y="1360869"/>
                <a:ext cx="1049650" cy="1564075"/>
                <a:chOff x="7642224" y="2703513"/>
                <a:chExt cx="1522414" cy="2268537"/>
              </a:xfrm>
              <a:solidFill>
                <a:srgbClr val="04A85A"/>
              </a:solidFill>
            </p:grpSpPr>
            <p:sp>
              <p:nvSpPr>
                <p:cNvPr id="32" name="流程图: 磁盘 3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波形 3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1" name="熊猫儿小白白(http://dwz.cn/Wu2UP)"/>
              <p:cNvSpPr>
                <a:spLocks noEditPoints="1"/>
              </p:cNvSpPr>
              <p:nvPr/>
            </p:nvSpPr>
            <p:spPr bwMode="auto">
              <a:xfrm>
                <a:off x="2068513" y="1535262"/>
                <a:ext cx="384175" cy="309562"/>
              </a:xfrm>
              <a:custGeom>
                <a:avLst/>
                <a:gdLst>
                  <a:gd name="T0" fmla="*/ 2147483646 w 57"/>
                  <a:gd name="T1" fmla="*/ 1222763170 h 46"/>
                  <a:gd name="T2" fmla="*/ 2147483646 w 57"/>
                  <a:gd name="T3" fmla="*/ 1222763170 h 46"/>
                  <a:gd name="T4" fmla="*/ 2147483646 w 57"/>
                  <a:gd name="T5" fmla="*/ 1222763170 h 46"/>
                  <a:gd name="T6" fmla="*/ 2147483646 w 57"/>
                  <a:gd name="T7" fmla="*/ 1222763170 h 46"/>
                  <a:gd name="T8" fmla="*/ 1271942766 w 57"/>
                  <a:gd name="T9" fmla="*/ 271728140 h 46"/>
                  <a:gd name="T10" fmla="*/ 181708035 w 57"/>
                  <a:gd name="T11" fmla="*/ 1222763170 h 46"/>
                  <a:gd name="T12" fmla="*/ 136281026 w 57"/>
                  <a:gd name="T13" fmla="*/ 1222763170 h 46"/>
                  <a:gd name="T14" fmla="*/ 90854018 w 57"/>
                  <a:gd name="T15" fmla="*/ 1222763170 h 46"/>
                  <a:gd name="T16" fmla="*/ 0 w 57"/>
                  <a:gd name="T17" fmla="*/ 1086905830 h 46"/>
                  <a:gd name="T18" fmla="*/ 0 w 57"/>
                  <a:gd name="T19" fmla="*/ 1041615564 h 46"/>
                  <a:gd name="T20" fmla="*/ 1181088748 w 57"/>
                  <a:gd name="T21" fmla="*/ 45290267 h 46"/>
                  <a:gd name="T22" fmla="*/ 1408217052 w 57"/>
                  <a:gd name="T23" fmla="*/ 45290267 h 46"/>
                  <a:gd name="T24" fmla="*/ 1817053391 w 57"/>
                  <a:gd name="T25" fmla="*/ 362301943 h 46"/>
                  <a:gd name="T26" fmla="*/ 1817053391 w 57"/>
                  <a:gd name="T27" fmla="*/ 45290267 h 46"/>
                  <a:gd name="T28" fmla="*/ 1862480400 w 57"/>
                  <a:gd name="T29" fmla="*/ 0 h 46"/>
                  <a:gd name="T30" fmla="*/ 2147483646 w 57"/>
                  <a:gd name="T31" fmla="*/ 0 h 46"/>
                  <a:gd name="T32" fmla="*/ 2147483646 w 57"/>
                  <a:gd name="T33" fmla="*/ 45290267 h 46"/>
                  <a:gd name="T34" fmla="*/ 2147483646 w 57"/>
                  <a:gd name="T35" fmla="*/ 724603887 h 46"/>
                  <a:gd name="T36" fmla="*/ 2147483646 w 57"/>
                  <a:gd name="T37" fmla="*/ 1041615564 h 46"/>
                  <a:gd name="T38" fmla="*/ 2147483646 w 57"/>
                  <a:gd name="T39" fmla="*/ 1086905830 h 46"/>
                  <a:gd name="T40" fmla="*/ 2147483646 w 57"/>
                  <a:gd name="T41" fmla="*/ 1222763170 h 46"/>
                  <a:gd name="T42" fmla="*/ 2147483646 w 57"/>
                  <a:gd name="T43" fmla="*/ 1992657324 h 46"/>
                  <a:gd name="T44" fmla="*/ 2135042453 w 57"/>
                  <a:gd name="T45" fmla="*/ 2083231127 h 46"/>
                  <a:gd name="T46" fmla="*/ 1499071070 w 57"/>
                  <a:gd name="T47" fmla="*/ 2083231127 h 46"/>
                  <a:gd name="T48" fmla="*/ 1499071070 w 57"/>
                  <a:gd name="T49" fmla="*/ 1449201044 h 46"/>
                  <a:gd name="T50" fmla="*/ 1090234731 w 57"/>
                  <a:gd name="T51" fmla="*/ 1449201044 h 46"/>
                  <a:gd name="T52" fmla="*/ 1090234731 w 57"/>
                  <a:gd name="T53" fmla="*/ 2083231127 h 46"/>
                  <a:gd name="T54" fmla="*/ 454263348 w 57"/>
                  <a:gd name="T55" fmla="*/ 2083231127 h 46"/>
                  <a:gd name="T56" fmla="*/ 363409330 w 57"/>
                  <a:gd name="T57" fmla="*/ 1992657324 h 46"/>
                  <a:gd name="T58" fmla="*/ 363409330 w 57"/>
                  <a:gd name="T59" fmla="*/ 1222763170 h 46"/>
                  <a:gd name="T60" fmla="*/ 363409330 w 57"/>
                  <a:gd name="T61" fmla="*/ 1177479633 h 46"/>
                  <a:gd name="T62" fmla="*/ 1271942766 w 57"/>
                  <a:gd name="T63" fmla="*/ 407585480 h 46"/>
                  <a:gd name="T64" fmla="*/ 2147483646 w 57"/>
                  <a:gd name="T65" fmla="*/ 1177479633 h 46"/>
                  <a:gd name="T66" fmla="*/ 2147483646 w 57"/>
                  <a:gd name="T67" fmla="*/ 1222763170 h 46"/>
                  <a:gd name="T68" fmla="*/ 2147483646 w 57"/>
                  <a:gd name="T69" fmla="*/ 1992657324 h 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8" name="组合 7"/>
            <p:cNvGrpSpPr/>
            <p:nvPr/>
          </p:nvGrpSpPr>
          <p:grpSpPr>
            <a:xfrm>
              <a:off x="4914842" y="1783467"/>
              <a:ext cx="1152641" cy="1717541"/>
              <a:chOff x="4914842" y="1783467"/>
              <a:chExt cx="1152641" cy="1717541"/>
            </a:xfrm>
          </p:grpSpPr>
          <p:grpSp>
            <p:nvGrpSpPr>
              <p:cNvPr id="25" name="组合 24"/>
              <p:cNvGrpSpPr/>
              <p:nvPr/>
            </p:nvGrpSpPr>
            <p:grpSpPr>
              <a:xfrm>
                <a:off x="4914842" y="1783467"/>
                <a:ext cx="1152641" cy="1717541"/>
                <a:chOff x="7642224" y="2703513"/>
                <a:chExt cx="1522414" cy="2268537"/>
              </a:xfrm>
              <a:solidFill>
                <a:srgbClr val="E1B833"/>
              </a:solidFill>
            </p:grpSpPr>
            <p:sp>
              <p:nvSpPr>
                <p:cNvPr id="27" name="流程图: 磁盘 26"/>
                <p:cNvSpPr/>
                <p:nvPr/>
              </p:nvSpPr>
              <p:spPr>
                <a:xfrm>
                  <a:off x="7642224" y="4707725"/>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波形 27"/>
                <p:cNvSpPr/>
                <p:nvPr/>
              </p:nvSpPr>
              <p:spPr>
                <a:xfrm>
                  <a:off x="7880350" y="2703632"/>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6" name="熊猫儿小白白(http://dwz.cn/Wu2UP)"/>
              <p:cNvSpPr>
                <a:spLocks noEditPoints="1"/>
              </p:cNvSpPr>
              <p:nvPr/>
            </p:nvSpPr>
            <p:spPr bwMode="auto">
              <a:xfrm>
                <a:off x="5296556" y="2009725"/>
                <a:ext cx="419100" cy="411163"/>
              </a:xfrm>
              <a:custGeom>
                <a:avLst/>
                <a:gdLst>
                  <a:gd name="T0" fmla="*/ 2147483646 w 64"/>
                  <a:gd name="T1" fmla="*/ 2147483646 h 63"/>
                  <a:gd name="T2" fmla="*/ 2147483646 w 64"/>
                  <a:gd name="T3" fmla="*/ 2147483646 h 63"/>
                  <a:gd name="T4" fmla="*/ 1801042959 w 64"/>
                  <a:gd name="T5" fmla="*/ 2044504754 h 63"/>
                  <a:gd name="T6" fmla="*/ 1157816138 w 64"/>
                  <a:gd name="T7" fmla="*/ 2147483646 h 63"/>
                  <a:gd name="T8" fmla="*/ 0 w 64"/>
                  <a:gd name="T9" fmla="*/ 1107438172 h 63"/>
                  <a:gd name="T10" fmla="*/ 1157816138 w 64"/>
                  <a:gd name="T11" fmla="*/ 0 h 63"/>
                  <a:gd name="T12" fmla="*/ 2147483646 w 64"/>
                  <a:gd name="T13" fmla="*/ 1107438172 h 63"/>
                  <a:gd name="T14" fmla="*/ 2101216786 w 64"/>
                  <a:gd name="T15" fmla="*/ 1746346315 h 63"/>
                  <a:gd name="T16" fmla="*/ 2147483646 w 64"/>
                  <a:gd name="T17" fmla="*/ 2147483646 h 63"/>
                  <a:gd name="T18" fmla="*/ 2147483646 w 64"/>
                  <a:gd name="T19" fmla="*/ 2147483646 h 63"/>
                  <a:gd name="T20" fmla="*/ 2147483646 w 64"/>
                  <a:gd name="T21" fmla="*/ 2147483646 h 63"/>
                  <a:gd name="T22" fmla="*/ 1157816138 w 64"/>
                  <a:gd name="T23" fmla="*/ 383347497 h 63"/>
                  <a:gd name="T24" fmla="*/ 428817881 w 64"/>
                  <a:gd name="T25" fmla="*/ 1107438172 h 63"/>
                  <a:gd name="T26" fmla="*/ 1157816138 w 64"/>
                  <a:gd name="T27" fmla="*/ 1831535373 h 63"/>
                  <a:gd name="T28" fmla="*/ 1886807845 w 64"/>
                  <a:gd name="T29" fmla="*/ 1107438172 h 63"/>
                  <a:gd name="T30" fmla="*/ 1157816138 w 64"/>
                  <a:gd name="T31" fmla="*/ 383347497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9" name="组合 8"/>
            <p:cNvGrpSpPr/>
            <p:nvPr/>
          </p:nvGrpSpPr>
          <p:grpSpPr>
            <a:xfrm>
              <a:off x="3031087" y="2948897"/>
              <a:ext cx="1261580" cy="1879870"/>
              <a:chOff x="3031087" y="2948897"/>
              <a:chExt cx="1261580" cy="1879870"/>
            </a:xfrm>
          </p:grpSpPr>
          <p:grpSp>
            <p:nvGrpSpPr>
              <p:cNvPr id="20" name="组合 19"/>
              <p:cNvGrpSpPr/>
              <p:nvPr/>
            </p:nvGrpSpPr>
            <p:grpSpPr>
              <a:xfrm>
                <a:off x="3031087" y="2948897"/>
                <a:ext cx="1261580" cy="1879870"/>
                <a:chOff x="7642224" y="2703513"/>
                <a:chExt cx="1522414" cy="2268537"/>
              </a:xfrm>
              <a:solidFill>
                <a:srgbClr val="DF8813"/>
              </a:solidFill>
            </p:grpSpPr>
            <p:sp>
              <p:nvSpPr>
                <p:cNvPr id="22" name="流程图: 磁盘 2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波形 2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1" name="熊猫儿小白白(http://dwz.cn/Wu2UP)"/>
              <p:cNvSpPr>
                <a:spLocks noEditPoints="1"/>
              </p:cNvSpPr>
              <p:nvPr/>
            </p:nvSpPr>
            <p:spPr bwMode="auto">
              <a:xfrm>
                <a:off x="3509963" y="3186113"/>
                <a:ext cx="498475" cy="374650"/>
              </a:xfrm>
              <a:custGeom>
                <a:avLst/>
                <a:gdLst>
                  <a:gd name="T0" fmla="*/ 1572641301 w 158"/>
                  <a:gd name="T1" fmla="*/ 1179517836 h 119"/>
                  <a:gd name="T2" fmla="*/ 0 w 158"/>
                  <a:gd name="T3" fmla="*/ 1179517836 h 119"/>
                  <a:gd name="T4" fmla="*/ 0 w 158"/>
                  <a:gd name="T5" fmla="*/ 0 h 119"/>
                  <a:gd name="T6" fmla="*/ 89580374 w 158"/>
                  <a:gd name="T7" fmla="*/ 0 h 119"/>
                  <a:gd name="T8" fmla="*/ 89580374 w 158"/>
                  <a:gd name="T9" fmla="*/ 1070485241 h 119"/>
                  <a:gd name="T10" fmla="*/ 1572641301 w 158"/>
                  <a:gd name="T11" fmla="*/ 1070485241 h 119"/>
                  <a:gd name="T12" fmla="*/ 1572641301 w 158"/>
                  <a:gd name="T13" fmla="*/ 1179517836 h 119"/>
                  <a:gd name="T14" fmla="*/ 497670499 w 158"/>
                  <a:gd name="T15" fmla="*/ 981280761 h 119"/>
                  <a:gd name="T16" fmla="*/ 288648574 w 158"/>
                  <a:gd name="T17" fmla="*/ 981280761 h 119"/>
                  <a:gd name="T18" fmla="*/ 288648574 w 158"/>
                  <a:gd name="T19" fmla="*/ 594714373 h 119"/>
                  <a:gd name="T20" fmla="*/ 497670499 w 158"/>
                  <a:gd name="T21" fmla="*/ 594714373 h 119"/>
                  <a:gd name="T22" fmla="*/ 497670499 w 158"/>
                  <a:gd name="T23" fmla="*/ 981280761 h 119"/>
                  <a:gd name="T24" fmla="*/ 776368503 w 158"/>
                  <a:gd name="T25" fmla="*/ 981280761 h 119"/>
                  <a:gd name="T26" fmla="*/ 587250874 w 158"/>
                  <a:gd name="T27" fmla="*/ 981280761 h 119"/>
                  <a:gd name="T28" fmla="*/ 587250874 w 158"/>
                  <a:gd name="T29" fmla="*/ 188326166 h 119"/>
                  <a:gd name="T30" fmla="*/ 776368503 w 158"/>
                  <a:gd name="T31" fmla="*/ 188326166 h 119"/>
                  <a:gd name="T32" fmla="*/ 776368503 w 158"/>
                  <a:gd name="T33" fmla="*/ 981280761 h 119"/>
                  <a:gd name="T34" fmla="*/ 1084924528 w 158"/>
                  <a:gd name="T35" fmla="*/ 981280761 h 119"/>
                  <a:gd name="T36" fmla="*/ 885856328 w 158"/>
                  <a:gd name="T37" fmla="*/ 981280761 h 119"/>
                  <a:gd name="T38" fmla="*/ 885856328 w 158"/>
                  <a:gd name="T39" fmla="*/ 386563240 h 119"/>
                  <a:gd name="T40" fmla="*/ 1084924528 w 158"/>
                  <a:gd name="T41" fmla="*/ 386563240 h 119"/>
                  <a:gd name="T42" fmla="*/ 1084924528 w 158"/>
                  <a:gd name="T43" fmla="*/ 981280761 h 119"/>
                  <a:gd name="T44" fmla="*/ 1383526827 w 158"/>
                  <a:gd name="T45" fmla="*/ 981280761 h 119"/>
                  <a:gd name="T46" fmla="*/ 1184458628 w 158"/>
                  <a:gd name="T47" fmla="*/ 981280761 h 119"/>
                  <a:gd name="T48" fmla="*/ 1184458628 w 158"/>
                  <a:gd name="T49" fmla="*/ 109032595 h 119"/>
                  <a:gd name="T50" fmla="*/ 1383526827 w 158"/>
                  <a:gd name="T51" fmla="*/ 109032595 h 119"/>
                  <a:gd name="T52" fmla="*/ 1383526827 w 158"/>
                  <a:gd name="T53" fmla="*/ 981280761 h 11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0" name="熊猫儿小白白(http://dwz.cn/Wu2UP)"/>
            <p:cNvSpPr txBox="1">
              <a:spLocks noChangeArrowheads="1"/>
            </p:cNvSpPr>
            <p:nvPr/>
          </p:nvSpPr>
          <p:spPr bwMode="auto">
            <a:xfrm>
              <a:off x="9720263" y="3949764"/>
              <a:ext cx="182943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政策衔接不足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熊猫儿小白白(http://dwz.cn/Wu2UP)"/>
            <p:cNvSpPr txBox="1">
              <a:spLocks noChangeArrowheads="1"/>
            </p:cNvSpPr>
            <p:nvPr/>
          </p:nvSpPr>
          <p:spPr bwMode="auto">
            <a:xfrm>
              <a:off x="1792923" y="5163884"/>
              <a:ext cx="238633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评价维度局限</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熊猫儿小白白(http://dwz.cn/Wu2UP)"/>
            <p:cNvSpPr txBox="1">
              <a:spLocks noChangeArrowheads="1"/>
            </p:cNvSpPr>
            <p:nvPr/>
          </p:nvSpPr>
          <p:spPr bwMode="auto">
            <a:xfrm>
              <a:off x="684848" y="3246184"/>
              <a:ext cx="176720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干预模式单一</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熊猫儿小白白(http://dwz.cn/Wu2UP)"/>
            <p:cNvSpPr txBox="1">
              <a:spLocks noChangeArrowheads="1"/>
            </p:cNvSpPr>
            <p:nvPr/>
          </p:nvSpPr>
          <p:spPr bwMode="auto">
            <a:xfrm>
              <a:off x="6406198" y="1904429"/>
              <a:ext cx="174498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数字素养不足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熊猫儿小白白(http://dwz.cn/Wu2UP)"/>
            <p:cNvSpPr txBox="1">
              <a:spLocks noChangeArrowheads="1"/>
            </p:cNvSpPr>
            <p:nvPr/>
          </p:nvSpPr>
          <p:spPr bwMode="auto">
            <a:xfrm>
              <a:off x="2998300" y="1376965"/>
              <a:ext cx="2052336"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协同意识薄弱</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9638211" y="4289683"/>
              <a:ext cx="2103309"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地方政策提照护者协同角色，缺乏落地支持措施。</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6" name="文本框 15"/>
            <p:cNvSpPr txBox="1"/>
            <p:nvPr/>
          </p:nvSpPr>
          <p:spPr>
            <a:xfrm>
              <a:off x="6318256" y="2282369"/>
              <a:ext cx="221129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65%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照护者存设备操作障碍，现有研究少关注其数字素养提升。</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7" name="文本框 16"/>
            <p:cNvSpPr txBox="1"/>
            <p:nvPr/>
          </p:nvSpPr>
          <p:spPr>
            <a:xfrm>
              <a:off x="2831441" y="1709496"/>
              <a:ext cx="2215776"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22%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社区</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MCI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家庭照护者主动参与数字干预，多被动配合，缺乏主导意识。</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8" name="文本框 17"/>
            <p:cNvSpPr txBox="1"/>
            <p:nvPr/>
          </p:nvSpPr>
          <p:spPr>
            <a:xfrm>
              <a:off x="563666" y="3596211"/>
              <a:ext cx="2250863"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18%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研究构建照护者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专业人员</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平台的三方协同框架，多单向推送。</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9" name="文本框 18"/>
            <p:cNvSpPr txBox="1"/>
            <p:nvPr/>
          </p:nvSpPr>
          <p:spPr>
            <a:xfrm>
              <a:off x="1707877" y="5524385"/>
              <a:ext cx="214422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70%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研究仅评老人认知改善，缺照护者满意度、负担缓解评价。</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gr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pPr lvl="0"/>
            <a:r>
              <a:rPr lang="zh-CN" altLang="en-US"/>
              <a:t>小学高段语文群文阅读高阶思维教研融合研究</a:t>
            </a:r>
            <a:r>
              <a:rPr lang="zh-CN" altLang="en-US"/>
              <a:t>现状</a:t>
            </a:r>
            <a:endParaRPr lang="zh-CN" altLang="en-US"/>
          </a:p>
        </p:txBody>
      </p:sp>
      <p:grpSp>
        <p:nvGrpSpPr>
          <p:cNvPr id="25" name="组合 24"/>
          <p:cNvGrpSpPr/>
          <p:nvPr/>
        </p:nvGrpSpPr>
        <p:grpSpPr>
          <a:xfrm>
            <a:off x="276620" y="1874738"/>
            <a:ext cx="11636856" cy="3472931"/>
            <a:chOff x="-2" y="3207"/>
            <a:chExt cx="19205" cy="5732"/>
          </a:xfrm>
        </p:grpSpPr>
        <p:sp>
          <p:nvSpPr>
            <p:cNvPr id="3" name="任意多边形 36"/>
            <p:cNvSpPr/>
            <p:nvPr/>
          </p:nvSpPr>
          <p:spPr>
            <a:xfrm>
              <a:off x="1345"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cxnSp>
          <p:nvCxnSpPr>
            <p:cNvPr id="4" name="直接连接符 3"/>
            <p:cNvCxnSpPr/>
            <p:nvPr/>
          </p:nvCxnSpPr>
          <p:spPr>
            <a:xfrm flipV="1">
              <a:off x="1977"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5" name="椭圆 4"/>
            <p:cNvSpPr/>
            <p:nvPr/>
          </p:nvSpPr>
          <p:spPr>
            <a:xfrm>
              <a:off x="1902"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6" name="文本框 58"/>
            <p:cNvSpPr txBox="1"/>
            <p:nvPr/>
          </p:nvSpPr>
          <p:spPr>
            <a:xfrm>
              <a:off x="2149"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7" name="文本框 6"/>
            <p:cNvSpPr txBox="1"/>
            <p:nvPr/>
          </p:nvSpPr>
          <p:spPr>
            <a:xfrm>
              <a:off x="2203" y="3686"/>
              <a:ext cx="4356"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现有小学群文阅读教研研究中，仅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20%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涉及高阶思维培养的认知机制分析，多停留在教学策略表层探讨。</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8" name="文本框 25"/>
            <p:cNvSpPr txBox="1"/>
            <p:nvPr/>
          </p:nvSpPr>
          <p:spPr>
            <a:xfrm>
              <a:off x="2203"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理论研究聚焦不足</a:t>
              </a:r>
              <a:endParaRPr lang="zh-CN" altLang="en-US" sz="1700" b="1" spc="120">
                <a:latin typeface="思源黑体 CN Medium" panose="020B0600000000000000" charset="-122"/>
                <a:ea typeface="思源黑体 CN Medium" panose="020B0600000000000000" charset="-122"/>
              </a:endParaRPr>
            </a:p>
          </p:txBody>
        </p:sp>
        <p:sp>
          <p:nvSpPr>
            <p:cNvPr id="9" name="任意多边形 36"/>
            <p:cNvSpPr/>
            <p:nvPr/>
          </p:nvSpPr>
          <p:spPr>
            <a:xfrm>
              <a:off x="5461"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0" name="直接连接符 9"/>
            <p:cNvCxnSpPr/>
            <p:nvPr/>
          </p:nvCxnSpPr>
          <p:spPr>
            <a:xfrm flipV="1">
              <a:off x="6093" y="6130"/>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1" name="椭圆 10"/>
            <p:cNvSpPr/>
            <p:nvPr/>
          </p:nvSpPr>
          <p:spPr>
            <a:xfrm>
              <a:off x="6018" y="8333"/>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2" name="文本框 58"/>
            <p:cNvSpPr txBox="1"/>
            <p:nvPr/>
          </p:nvSpPr>
          <p:spPr>
            <a:xfrm>
              <a:off x="6266"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3" name="文本框 48"/>
            <p:cNvSpPr txBox="1"/>
            <p:nvPr/>
          </p:nvSpPr>
          <p:spPr>
            <a:xfrm>
              <a:off x="6320" y="7835"/>
              <a:ext cx="411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65%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小学高段群文阅读教研仅聚焦文本整合，未将批判性、创造性思维培养与教研流程深度绑定。</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14" name="文本框 49"/>
            <p:cNvSpPr txBox="1"/>
            <p:nvPr/>
          </p:nvSpPr>
          <p:spPr>
            <a:xfrm>
              <a:off x="6320" y="7356"/>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实践融合存在断层</a:t>
              </a:r>
              <a:endParaRPr lang="zh-CN" altLang="en-US" sz="1700" b="1" spc="120">
                <a:latin typeface="思源黑体 CN Medium" panose="020B0600000000000000" charset="-122"/>
                <a:ea typeface="思源黑体 CN Medium" panose="020B0600000000000000" charset="-122"/>
              </a:endParaRPr>
            </a:p>
          </p:txBody>
        </p:sp>
        <p:sp>
          <p:nvSpPr>
            <p:cNvPr id="15" name="任意多边形 36"/>
            <p:cNvSpPr/>
            <p:nvPr/>
          </p:nvSpPr>
          <p:spPr>
            <a:xfrm>
              <a:off x="9578"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6" name="直接连接符 15"/>
            <p:cNvCxnSpPr/>
            <p:nvPr/>
          </p:nvCxnSpPr>
          <p:spPr>
            <a:xfrm flipV="1">
              <a:off x="10210"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7" name="椭圆 16"/>
            <p:cNvSpPr/>
            <p:nvPr/>
          </p:nvSpPr>
          <p:spPr>
            <a:xfrm>
              <a:off x="10135"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8" name="文本框 58"/>
            <p:cNvSpPr txBox="1"/>
            <p:nvPr/>
          </p:nvSpPr>
          <p:spPr>
            <a:xfrm>
              <a:off x="10382"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9" name="文本框 55"/>
            <p:cNvSpPr txBox="1"/>
            <p:nvPr/>
          </p:nvSpPr>
          <p:spPr>
            <a:xfrm>
              <a:off x="10436" y="3686"/>
              <a:ext cx="3855" cy="1103"/>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15%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学校构建了群文阅读教研中高阶思维培养的专项评价指标，难以量化教研融合效果。</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a:p>
              <a:pPr>
                <a:lnSpc>
                  <a:spcPct val="150000"/>
                </a:lnSpc>
              </a:pP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0" name="文本框 56"/>
            <p:cNvSpPr txBox="1"/>
            <p:nvPr/>
          </p:nvSpPr>
          <p:spPr>
            <a:xfrm>
              <a:off x="10436"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评价体系尚未健全</a:t>
              </a:r>
              <a:endParaRPr lang="zh-CN" altLang="en-US" sz="1700" b="1" spc="120">
                <a:latin typeface="思源黑体 CN Medium" panose="020B0600000000000000" charset="-122"/>
                <a:ea typeface="思源黑体 CN Medium" panose="020B0600000000000000" charset="-122"/>
              </a:endParaRPr>
            </a:p>
          </p:txBody>
        </p:sp>
        <p:sp>
          <p:nvSpPr>
            <p:cNvPr id="21" name="任意多边形 36"/>
            <p:cNvSpPr/>
            <p:nvPr/>
          </p:nvSpPr>
          <p:spPr>
            <a:xfrm>
              <a:off x="13694" y="5395"/>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22" name="直接连接符 21"/>
            <p:cNvCxnSpPr/>
            <p:nvPr/>
          </p:nvCxnSpPr>
          <p:spPr>
            <a:xfrm flipV="1">
              <a:off x="14326" y="6125"/>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23" name="椭圆 22"/>
            <p:cNvSpPr/>
            <p:nvPr/>
          </p:nvSpPr>
          <p:spPr>
            <a:xfrm>
              <a:off x="14251" y="8328"/>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4" name="文本框 58"/>
            <p:cNvSpPr txBox="1"/>
            <p:nvPr/>
          </p:nvSpPr>
          <p:spPr>
            <a:xfrm>
              <a:off x="14499" y="5498"/>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26" name="文本框 30"/>
            <p:cNvSpPr txBox="1"/>
            <p:nvPr/>
          </p:nvSpPr>
          <p:spPr>
            <a:xfrm>
              <a:off x="14552" y="7829"/>
              <a:ext cx="409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调研显示仅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30%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小学高段语文教师系统掌握</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群文阅读</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高阶思维</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的教研融合认知策略，能力匹配度低。</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7" name="文本框 31"/>
            <p:cNvSpPr txBox="1"/>
            <p:nvPr/>
          </p:nvSpPr>
          <p:spPr>
            <a:xfrm>
              <a:off x="14553" y="7351"/>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教师认知储备欠缺</a:t>
              </a:r>
              <a:endParaRPr lang="zh-CN" altLang="en-US" sz="1700" b="1" spc="120">
                <a:latin typeface="思源黑体 CN Medium" panose="020B0600000000000000" charset="-122"/>
                <a:ea typeface="思源黑体 CN Medium" panose="020B0600000000000000" charset="-122"/>
              </a:endParaRPr>
            </a:p>
          </p:txBody>
        </p:sp>
        <p:sp>
          <p:nvSpPr>
            <p:cNvPr id="28" name="任意多边形: 形状 27"/>
            <p:cNvSpPr/>
            <p:nvPr/>
          </p:nvSpPr>
          <p:spPr>
            <a:xfrm>
              <a:off x="17890" y="5390"/>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9" name="任意多边形: 形状 28"/>
            <p:cNvSpPr/>
            <p:nvPr/>
          </p:nvSpPr>
          <p:spPr>
            <a:xfrm rot="10800000">
              <a:off x="-2" y="5421"/>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gr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智能电网用户侧储能充放电优化与负荷平抑研究</a:t>
            </a:r>
            <a:r>
              <a:rPr lang="zh-CN" altLang="en-US"/>
              <a:t>现状</a:t>
            </a:r>
            <a:endParaRPr lang="zh-CN" altLang="en-US"/>
          </a:p>
        </p:txBody>
      </p:sp>
      <p:grpSp>
        <p:nvGrpSpPr>
          <p:cNvPr id="3" name="组合 2"/>
          <p:cNvGrpSpPr/>
          <p:nvPr/>
        </p:nvGrpSpPr>
        <p:grpSpPr>
          <a:xfrm>
            <a:off x="968216" y="1459127"/>
            <a:ext cx="10610023" cy="4936208"/>
            <a:chOff x="936307" y="1518285"/>
            <a:chExt cx="10610023" cy="4936208"/>
          </a:xfrm>
        </p:grpSpPr>
        <p:grpSp>
          <p:nvGrpSpPr>
            <p:cNvPr id="4" name="图形 1"/>
            <p:cNvGrpSpPr/>
            <p:nvPr/>
          </p:nvGrpSpPr>
          <p:grpSpPr>
            <a:xfrm>
              <a:off x="1886902" y="3462337"/>
              <a:ext cx="165735" cy="331469"/>
              <a:chOff x="1917382" y="3462337"/>
              <a:chExt cx="165735" cy="331469"/>
            </a:xfrm>
            <a:solidFill>
              <a:schemeClr val="accent1"/>
            </a:solidFill>
          </p:grpSpPr>
          <p:sp>
            <p:nvSpPr>
              <p:cNvPr id="102" name="任意多边形: 形状 101"/>
              <p:cNvSpPr/>
              <p:nvPr/>
            </p:nvSpPr>
            <p:spPr>
              <a:xfrm>
                <a:off x="1917382"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任意多边形: 形状 102"/>
              <p:cNvSpPr/>
              <p:nvPr/>
            </p:nvSpPr>
            <p:spPr>
              <a:xfrm>
                <a:off x="1947862" y="3687127"/>
                <a:ext cx="106679" cy="106679"/>
              </a:xfrm>
              <a:custGeom>
                <a:avLst/>
                <a:gdLst>
                  <a:gd name="connsiteX0" fmla="*/ 106680 w 106679"/>
                  <a:gd name="connsiteY0" fmla="*/ 53340 h 106679"/>
                  <a:gd name="connsiteX1" fmla="*/ 53340 w 106679"/>
                  <a:gd name="connsiteY1" fmla="*/ 0 h 106679"/>
                  <a:gd name="connsiteX2" fmla="*/ 0 w 106679"/>
                  <a:gd name="connsiteY2" fmla="*/ 53340 h 106679"/>
                  <a:gd name="connsiteX3" fmla="*/ 53340 w 106679"/>
                  <a:gd name="connsiteY3" fmla="*/ 106680 h 106679"/>
                  <a:gd name="connsiteX4" fmla="*/ 106680 w 106679"/>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9" h="106679">
                    <a:moveTo>
                      <a:pt x="106680" y="53340"/>
                    </a:moveTo>
                    <a:cubicBezTo>
                      <a:pt x="106680" y="23813"/>
                      <a:pt x="82867"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 name="图形 1"/>
            <p:cNvGrpSpPr/>
            <p:nvPr/>
          </p:nvGrpSpPr>
          <p:grpSpPr>
            <a:xfrm>
              <a:off x="1104899" y="1518285"/>
              <a:ext cx="1796415" cy="1862137"/>
              <a:chOff x="1135379" y="1518285"/>
              <a:chExt cx="1796415" cy="1862137"/>
            </a:xfrm>
            <a:solidFill>
              <a:schemeClr val="accent1"/>
            </a:solidFill>
          </p:grpSpPr>
          <p:sp>
            <p:nvSpPr>
              <p:cNvPr id="98" name="任意多边形: 形状 97"/>
              <p:cNvSpPr/>
              <p:nvPr/>
            </p:nvSpPr>
            <p:spPr>
              <a:xfrm>
                <a:off x="113537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7" y="431482"/>
                      <a:pt x="79057" y="864870"/>
                    </a:cubicBezTo>
                    <a:cubicBezTo>
                      <a:pt x="79057" y="1298258"/>
                      <a:pt x="431483" y="1650683"/>
                      <a:pt x="864870" y="1650683"/>
                    </a:cubicBezTo>
                    <a:cubicBezTo>
                      <a:pt x="1298258" y="1650683"/>
                      <a:pt x="1650683" y="1298258"/>
                      <a:pt x="1650683" y="864870"/>
                    </a:cubicBezTo>
                    <a:cubicBezTo>
                      <a:pt x="1651635" y="431482"/>
                      <a:pt x="1298258" y="79057"/>
                      <a:pt x="864870" y="79057"/>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任意多边形: 形状 98"/>
              <p:cNvSpPr/>
              <p:nvPr/>
            </p:nvSpPr>
            <p:spPr>
              <a:xfrm>
                <a:off x="200024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任意多边形: 形状 99"/>
              <p:cNvSpPr/>
              <p:nvPr/>
            </p:nvSpPr>
            <p:spPr>
              <a:xfrm>
                <a:off x="2001201"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1" name="任意多边形: 形状 100"/>
              <p:cNvSpPr/>
              <p:nvPr/>
            </p:nvSpPr>
            <p:spPr>
              <a:xfrm>
                <a:off x="1283969"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 name="图形 1"/>
            <p:cNvGrpSpPr/>
            <p:nvPr/>
          </p:nvGrpSpPr>
          <p:grpSpPr>
            <a:xfrm>
              <a:off x="936307" y="3904297"/>
              <a:ext cx="2067877" cy="381952"/>
              <a:chOff x="966787" y="3904297"/>
              <a:chExt cx="2067877" cy="381952"/>
            </a:xfrm>
            <a:solidFill>
              <a:schemeClr val="accent1"/>
            </a:solidFill>
          </p:grpSpPr>
          <p:sp>
            <p:nvSpPr>
              <p:cNvPr id="95" name="任意多边形: 形状 94"/>
              <p:cNvSpPr/>
              <p:nvPr/>
            </p:nvSpPr>
            <p:spPr>
              <a:xfrm>
                <a:off x="1042987" y="3954779"/>
                <a:ext cx="1916429" cy="331470"/>
              </a:xfrm>
              <a:custGeom>
                <a:avLst/>
                <a:gdLst>
                  <a:gd name="connsiteX0" fmla="*/ 1816418 w 1916429"/>
                  <a:gd name="connsiteY0" fmla="*/ 331470 h 331470"/>
                  <a:gd name="connsiteX1" fmla="*/ 98107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6418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6418" y="331470"/>
                    </a:moveTo>
                    <a:lnTo>
                      <a:pt x="98107" y="331470"/>
                    </a:lnTo>
                    <a:cubicBezTo>
                      <a:pt x="43815"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8" y="287655"/>
                      <a:pt x="1871663" y="331470"/>
                      <a:pt x="1816418"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任意多边形: 形状 95"/>
              <p:cNvSpPr/>
              <p:nvPr/>
            </p:nvSpPr>
            <p:spPr>
              <a:xfrm>
                <a:off x="966787"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任意多边形: 形状 96"/>
              <p:cNvSpPr/>
              <p:nvPr/>
            </p:nvSpPr>
            <p:spPr>
              <a:xfrm>
                <a:off x="966787"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 name="图形 1"/>
            <p:cNvGrpSpPr/>
            <p:nvPr/>
          </p:nvGrpSpPr>
          <p:grpSpPr>
            <a:xfrm>
              <a:off x="3954779" y="3462337"/>
              <a:ext cx="165734" cy="331469"/>
              <a:chOff x="3985259" y="3462337"/>
              <a:chExt cx="165734" cy="331469"/>
            </a:xfrm>
            <a:solidFill>
              <a:schemeClr val="accent2"/>
            </a:solidFill>
          </p:grpSpPr>
          <p:sp>
            <p:nvSpPr>
              <p:cNvPr id="93" name="任意多边形: 形状 92"/>
              <p:cNvSpPr/>
              <p:nvPr/>
            </p:nvSpPr>
            <p:spPr>
              <a:xfrm>
                <a:off x="3985259" y="3462337"/>
                <a:ext cx="165734" cy="165734"/>
              </a:xfrm>
              <a:custGeom>
                <a:avLst/>
                <a:gdLst>
                  <a:gd name="connsiteX0" fmla="*/ 165735 w 165734"/>
                  <a:gd name="connsiteY0" fmla="*/ 82867 h 165734"/>
                  <a:gd name="connsiteX1" fmla="*/ 82867 w 165734"/>
                  <a:gd name="connsiteY1" fmla="*/ 165735 h 165734"/>
                  <a:gd name="connsiteX2" fmla="*/ 0 w 165734"/>
                  <a:gd name="connsiteY2" fmla="*/ 82867 h 165734"/>
                  <a:gd name="connsiteX3" fmla="*/ 82867 w 165734"/>
                  <a:gd name="connsiteY3" fmla="*/ 0 h 165734"/>
                  <a:gd name="connsiteX4" fmla="*/ 165735 w 165734"/>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4"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任意多边形: 形状 93"/>
              <p:cNvSpPr/>
              <p:nvPr/>
            </p:nvSpPr>
            <p:spPr>
              <a:xfrm>
                <a:off x="4014787"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8" name="图形 1"/>
            <p:cNvGrpSpPr/>
            <p:nvPr/>
          </p:nvGrpSpPr>
          <p:grpSpPr>
            <a:xfrm>
              <a:off x="3172777" y="1518285"/>
              <a:ext cx="1796414" cy="1862137"/>
              <a:chOff x="3203257" y="1518285"/>
              <a:chExt cx="1796414" cy="1862137"/>
            </a:xfrm>
            <a:solidFill>
              <a:schemeClr val="accent1"/>
            </a:solidFill>
          </p:grpSpPr>
          <p:sp>
            <p:nvSpPr>
              <p:cNvPr id="89" name="任意多边形: 形状 88"/>
              <p:cNvSpPr/>
              <p:nvPr/>
            </p:nvSpPr>
            <p:spPr>
              <a:xfrm>
                <a:off x="3203257" y="1584007"/>
                <a:ext cx="1729739" cy="1729739"/>
              </a:xfrm>
              <a:custGeom>
                <a:avLst/>
                <a:gdLst>
                  <a:gd name="connsiteX0" fmla="*/ 864870 w 1729739"/>
                  <a:gd name="connsiteY0" fmla="*/ 1729740 h 1729739"/>
                  <a:gd name="connsiteX1" fmla="*/ 0 w 1729739"/>
                  <a:gd name="connsiteY1" fmla="*/ 864870 h 1729739"/>
                  <a:gd name="connsiteX2" fmla="*/ 864870 w 1729739"/>
                  <a:gd name="connsiteY2" fmla="*/ 0 h 1729739"/>
                  <a:gd name="connsiteX3" fmla="*/ 1729740 w 1729739"/>
                  <a:gd name="connsiteY3" fmla="*/ 864870 h 1729739"/>
                  <a:gd name="connsiteX4" fmla="*/ 864870 w 1729739"/>
                  <a:gd name="connsiteY4" fmla="*/ 1729740 h 1729739"/>
                  <a:gd name="connsiteX5" fmla="*/ 864870 w 1729739"/>
                  <a:gd name="connsiteY5" fmla="*/ 79057 h 1729739"/>
                  <a:gd name="connsiteX6" fmla="*/ 79058 w 1729739"/>
                  <a:gd name="connsiteY6" fmla="*/ 864870 h 1729739"/>
                  <a:gd name="connsiteX7" fmla="*/ 864870 w 1729739"/>
                  <a:gd name="connsiteY7" fmla="*/ 1650683 h 1729739"/>
                  <a:gd name="connsiteX8" fmla="*/ 1650683 w 1729739"/>
                  <a:gd name="connsiteY8" fmla="*/ 864870 h 1729739"/>
                  <a:gd name="connsiteX9" fmla="*/ 864870 w 1729739"/>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39" h="1729739">
                    <a:moveTo>
                      <a:pt x="864870" y="1729740"/>
                    </a:moveTo>
                    <a:cubicBezTo>
                      <a:pt x="388620" y="1729740"/>
                      <a:pt x="0" y="1342073"/>
                      <a:pt x="0" y="864870"/>
                    </a:cubicBezTo>
                    <a:cubicBezTo>
                      <a:pt x="0" y="387668"/>
                      <a:pt x="387667"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任意多边形: 形状 89"/>
              <p:cNvSpPr/>
              <p:nvPr/>
            </p:nvSpPr>
            <p:spPr>
              <a:xfrm>
                <a:off x="4068127"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任意多边形: 形状 90"/>
              <p:cNvSpPr/>
              <p:nvPr/>
            </p:nvSpPr>
            <p:spPr>
              <a:xfrm>
                <a:off x="4068127"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任意多边形: 形状 91"/>
              <p:cNvSpPr/>
              <p:nvPr/>
            </p:nvSpPr>
            <p:spPr>
              <a:xfrm>
                <a:off x="3351847"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9" name="图形 1"/>
            <p:cNvGrpSpPr/>
            <p:nvPr/>
          </p:nvGrpSpPr>
          <p:grpSpPr>
            <a:xfrm>
              <a:off x="3004184" y="3904297"/>
              <a:ext cx="2067877" cy="381952"/>
              <a:chOff x="3034664" y="3904297"/>
              <a:chExt cx="2067877" cy="381952"/>
            </a:xfrm>
            <a:solidFill>
              <a:schemeClr val="accent1"/>
            </a:solidFill>
          </p:grpSpPr>
          <p:sp>
            <p:nvSpPr>
              <p:cNvPr id="86" name="任意多边形: 形状 85"/>
              <p:cNvSpPr/>
              <p:nvPr/>
            </p:nvSpPr>
            <p:spPr>
              <a:xfrm>
                <a:off x="3109912"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6430"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任意多边形: 形状 86"/>
              <p:cNvSpPr/>
              <p:nvPr/>
            </p:nvSpPr>
            <p:spPr>
              <a:xfrm>
                <a:off x="3034664"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任意多边形: 形状 87"/>
              <p:cNvSpPr/>
              <p:nvPr/>
            </p:nvSpPr>
            <p:spPr>
              <a:xfrm>
                <a:off x="3034664"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 name="图形 1"/>
            <p:cNvGrpSpPr/>
            <p:nvPr/>
          </p:nvGrpSpPr>
          <p:grpSpPr>
            <a:xfrm>
              <a:off x="10074592" y="3462337"/>
              <a:ext cx="165735" cy="331469"/>
              <a:chOff x="10105072" y="3462337"/>
              <a:chExt cx="165735" cy="331469"/>
            </a:xfrm>
            <a:solidFill>
              <a:schemeClr val="accent5"/>
            </a:solidFill>
          </p:grpSpPr>
          <p:sp>
            <p:nvSpPr>
              <p:cNvPr id="84" name="任意多边形: 形状 83"/>
              <p:cNvSpPr/>
              <p:nvPr/>
            </p:nvSpPr>
            <p:spPr>
              <a:xfrm>
                <a:off x="1010507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任意多边形: 形状 84"/>
              <p:cNvSpPr/>
              <p:nvPr/>
            </p:nvSpPr>
            <p:spPr>
              <a:xfrm>
                <a:off x="10135551"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1" name="图形 1"/>
            <p:cNvGrpSpPr/>
            <p:nvPr/>
          </p:nvGrpSpPr>
          <p:grpSpPr>
            <a:xfrm>
              <a:off x="9292589" y="1518285"/>
              <a:ext cx="1796415" cy="1862137"/>
              <a:chOff x="9323069" y="1518285"/>
              <a:chExt cx="1796415" cy="1862137"/>
            </a:xfrm>
            <a:solidFill>
              <a:schemeClr val="accent1"/>
            </a:solidFill>
          </p:grpSpPr>
          <p:sp>
            <p:nvSpPr>
              <p:cNvPr id="80" name="任意多边形: 形状 79"/>
              <p:cNvSpPr/>
              <p:nvPr/>
            </p:nvSpPr>
            <p:spPr>
              <a:xfrm>
                <a:off x="932306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1635" y="431482"/>
                      <a:pt x="1298257" y="79057"/>
                      <a:pt x="864870" y="79057"/>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任意多边形: 形状 80"/>
              <p:cNvSpPr/>
              <p:nvPr/>
            </p:nvSpPr>
            <p:spPr>
              <a:xfrm>
                <a:off x="1018793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任意多边形: 形状 81"/>
              <p:cNvSpPr/>
              <p:nvPr/>
            </p:nvSpPr>
            <p:spPr>
              <a:xfrm>
                <a:off x="10188892" y="1663064"/>
                <a:ext cx="785811" cy="1572577"/>
              </a:xfrm>
              <a:custGeom>
                <a:avLst/>
                <a:gdLst>
                  <a:gd name="connsiteX0" fmla="*/ 785812 w 785811"/>
                  <a:gd name="connsiteY0" fmla="*/ 785813 h 1572577"/>
                  <a:gd name="connsiteX1" fmla="*/ 0 w 785811"/>
                  <a:gd name="connsiteY1" fmla="*/ 0 h 1572577"/>
                  <a:gd name="connsiteX2" fmla="*/ 0 w 785811"/>
                  <a:gd name="connsiteY2" fmla="*/ 1572577 h 1572577"/>
                  <a:gd name="connsiteX3" fmla="*/ 785812 w 785811"/>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1" h="1572577">
                    <a:moveTo>
                      <a:pt x="785812" y="785813"/>
                    </a:moveTo>
                    <a:cubicBezTo>
                      <a:pt x="785812" y="351473"/>
                      <a:pt x="433388" y="0"/>
                      <a:pt x="0" y="0"/>
                    </a:cubicBezTo>
                    <a:lnTo>
                      <a:pt x="0" y="1572577"/>
                    </a:lnTo>
                    <a:cubicBezTo>
                      <a:pt x="433388" y="1571625"/>
                      <a:pt x="785812" y="1220153"/>
                      <a:pt x="785812" y="785813"/>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任意多边形: 形状 82"/>
              <p:cNvSpPr/>
              <p:nvPr/>
            </p:nvSpPr>
            <p:spPr>
              <a:xfrm>
                <a:off x="9471659" y="1732597"/>
                <a:ext cx="1432559" cy="1432559"/>
              </a:xfrm>
              <a:custGeom>
                <a:avLst/>
                <a:gdLst>
                  <a:gd name="connsiteX0" fmla="*/ 1432561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1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1" y="716280"/>
                    </a:moveTo>
                    <a:cubicBezTo>
                      <a:pt x="1432561" y="1111871"/>
                      <a:pt x="1111871" y="1432560"/>
                      <a:pt x="716280" y="1432560"/>
                    </a:cubicBezTo>
                    <a:cubicBezTo>
                      <a:pt x="320690" y="1432560"/>
                      <a:pt x="0" y="1111871"/>
                      <a:pt x="0" y="716280"/>
                    </a:cubicBezTo>
                    <a:cubicBezTo>
                      <a:pt x="0" y="320689"/>
                      <a:pt x="320690" y="0"/>
                      <a:pt x="716280" y="0"/>
                    </a:cubicBezTo>
                    <a:cubicBezTo>
                      <a:pt x="1111871" y="0"/>
                      <a:pt x="1432561" y="320689"/>
                      <a:pt x="1432561"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2" name="图形 1"/>
            <p:cNvGrpSpPr/>
            <p:nvPr/>
          </p:nvGrpSpPr>
          <p:grpSpPr>
            <a:xfrm>
              <a:off x="9123997" y="3904297"/>
              <a:ext cx="2067877" cy="381952"/>
              <a:chOff x="9154477" y="3904297"/>
              <a:chExt cx="2067877" cy="381952"/>
            </a:xfrm>
            <a:solidFill>
              <a:schemeClr val="accent1"/>
            </a:solidFill>
          </p:grpSpPr>
          <p:sp>
            <p:nvSpPr>
              <p:cNvPr id="77" name="任意多边形: 形状 76"/>
              <p:cNvSpPr/>
              <p:nvPr/>
            </p:nvSpPr>
            <p:spPr>
              <a:xfrm>
                <a:off x="9229724" y="3954779"/>
                <a:ext cx="1916429" cy="331470"/>
              </a:xfrm>
              <a:custGeom>
                <a:avLst/>
                <a:gdLst>
                  <a:gd name="connsiteX0" fmla="*/ 1817371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1 w 1916429"/>
                  <a:gd name="connsiteY5" fmla="*/ 0 h 331470"/>
                  <a:gd name="connsiteX6" fmla="*/ 1916430 w 1916429"/>
                  <a:gd name="connsiteY6" fmla="*/ 99060 h 331470"/>
                  <a:gd name="connsiteX7" fmla="*/ 1916430 w 1916429"/>
                  <a:gd name="connsiteY7" fmla="*/ 232410 h 331470"/>
                  <a:gd name="connsiteX8" fmla="*/ 1817371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1" y="331470"/>
                    </a:moveTo>
                    <a:lnTo>
                      <a:pt x="99060" y="331470"/>
                    </a:lnTo>
                    <a:cubicBezTo>
                      <a:pt x="44768" y="331470"/>
                      <a:pt x="0" y="287655"/>
                      <a:pt x="0" y="232410"/>
                    </a:cubicBezTo>
                    <a:lnTo>
                      <a:pt x="0" y="99060"/>
                    </a:lnTo>
                    <a:cubicBezTo>
                      <a:pt x="0" y="44768"/>
                      <a:pt x="43815" y="0"/>
                      <a:pt x="99060" y="0"/>
                    </a:cubicBezTo>
                    <a:lnTo>
                      <a:pt x="1817371" y="0"/>
                    </a:lnTo>
                    <a:cubicBezTo>
                      <a:pt x="1871663" y="0"/>
                      <a:pt x="1916430" y="43815"/>
                      <a:pt x="1916430" y="99060"/>
                    </a:cubicBezTo>
                    <a:lnTo>
                      <a:pt x="1916430" y="232410"/>
                    </a:lnTo>
                    <a:cubicBezTo>
                      <a:pt x="1916430" y="287655"/>
                      <a:pt x="1872615" y="331470"/>
                      <a:pt x="1817371"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任意多边形: 形状 77"/>
              <p:cNvSpPr/>
              <p:nvPr/>
            </p:nvSpPr>
            <p:spPr>
              <a:xfrm>
                <a:off x="9154477"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任意多边形: 形状 78"/>
              <p:cNvSpPr/>
              <p:nvPr/>
            </p:nvSpPr>
            <p:spPr>
              <a:xfrm>
                <a:off x="9154477"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 name="图形 1"/>
            <p:cNvGrpSpPr/>
            <p:nvPr/>
          </p:nvGrpSpPr>
          <p:grpSpPr>
            <a:xfrm>
              <a:off x="6022657" y="3462337"/>
              <a:ext cx="165735" cy="331469"/>
              <a:chOff x="6053137" y="3462337"/>
              <a:chExt cx="165735" cy="331469"/>
            </a:xfrm>
            <a:solidFill>
              <a:srgbClr val="7863F7"/>
            </a:solidFill>
          </p:grpSpPr>
          <p:sp>
            <p:nvSpPr>
              <p:cNvPr id="75" name="任意多边形: 形状 74"/>
              <p:cNvSpPr/>
              <p:nvPr/>
            </p:nvSpPr>
            <p:spPr>
              <a:xfrm>
                <a:off x="6053137"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任意多边形: 形状 75"/>
              <p:cNvSpPr/>
              <p:nvPr/>
            </p:nvSpPr>
            <p:spPr>
              <a:xfrm>
                <a:off x="6082664"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图形 1"/>
            <p:cNvGrpSpPr/>
            <p:nvPr/>
          </p:nvGrpSpPr>
          <p:grpSpPr>
            <a:xfrm>
              <a:off x="5240654" y="1518285"/>
              <a:ext cx="1796414" cy="1862137"/>
              <a:chOff x="5271134" y="1518285"/>
              <a:chExt cx="1796414" cy="1862137"/>
            </a:xfrm>
            <a:solidFill>
              <a:schemeClr val="accent1"/>
            </a:solidFill>
          </p:grpSpPr>
          <p:sp>
            <p:nvSpPr>
              <p:cNvPr id="71" name="任意多边形: 形状 70"/>
              <p:cNvSpPr/>
              <p:nvPr/>
            </p:nvSpPr>
            <p:spPr>
              <a:xfrm>
                <a:off x="5271134"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8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任意多边形: 形状 71"/>
              <p:cNvSpPr/>
              <p:nvPr/>
            </p:nvSpPr>
            <p:spPr>
              <a:xfrm>
                <a:off x="6136004"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0593" y="416242"/>
                      <a:pt x="514350" y="0"/>
                      <a:pt x="0" y="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任意多边形: 形状 72"/>
              <p:cNvSpPr/>
              <p:nvPr/>
            </p:nvSpPr>
            <p:spPr>
              <a:xfrm>
                <a:off x="6136004"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任意多边形: 形状 73"/>
              <p:cNvSpPr/>
              <p:nvPr/>
            </p:nvSpPr>
            <p:spPr>
              <a:xfrm>
                <a:off x="5419724"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1" y="1432560"/>
                      <a:pt x="716280" y="1432560"/>
                    </a:cubicBezTo>
                    <a:cubicBezTo>
                      <a:pt x="320690"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5" name="图形 1"/>
            <p:cNvGrpSpPr/>
            <p:nvPr/>
          </p:nvGrpSpPr>
          <p:grpSpPr>
            <a:xfrm>
              <a:off x="5071109" y="3904297"/>
              <a:ext cx="2067877" cy="381952"/>
              <a:chOff x="5101589" y="3904297"/>
              <a:chExt cx="2067877" cy="381952"/>
            </a:xfrm>
            <a:solidFill>
              <a:schemeClr val="accent1"/>
            </a:solidFill>
          </p:grpSpPr>
          <p:sp>
            <p:nvSpPr>
              <p:cNvPr id="68" name="任意多边形: 形状 67"/>
              <p:cNvSpPr/>
              <p:nvPr/>
            </p:nvSpPr>
            <p:spPr>
              <a:xfrm>
                <a:off x="5177789" y="3954779"/>
                <a:ext cx="1916429" cy="331470"/>
              </a:xfrm>
              <a:custGeom>
                <a:avLst/>
                <a:gdLst>
                  <a:gd name="connsiteX0" fmla="*/ 1817370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7370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2" y="0"/>
                      <a:pt x="1916430" y="43815"/>
                      <a:pt x="1916430" y="99060"/>
                    </a:cubicBezTo>
                    <a:lnTo>
                      <a:pt x="1916430" y="232410"/>
                    </a:lnTo>
                    <a:cubicBezTo>
                      <a:pt x="1916430" y="287655"/>
                      <a:pt x="1871662"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任意多边形: 形状 68"/>
              <p:cNvSpPr/>
              <p:nvPr/>
            </p:nvSpPr>
            <p:spPr>
              <a:xfrm>
                <a:off x="5101589"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任意多边形: 形状 69"/>
              <p:cNvSpPr/>
              <p:nvPr/>
            </p:nvSpPr>
            <p:spPr>
              <a:xfrm>
                <a:off x="5101589"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6" name="图形 1"/>
            <p:cNvGrpSpPr/>
            <p:nvPr/>
          </p:nvGrpSpPr>
          <p:grpSpPr>
            <a:xfrm>
              <a:off x="8074342" y="3462337"/>
              <a:ext cx="165735" cy="331469"/>
              <a:chOff x="8104822" y="3462337"/>
              <a:chExt cx="165735" cy="331469"/>
            </a:xfrm>
            <a:solidFill>
              <a:schemeClr val="accent4"/>
            </a:solidFill>
          </p:grpSpPr>
          <p:sp>
            <p:nvSpPr>
              <p:cNvPr id="66" name="任意多边形: 形状 65"/>
              <p:cNvSpPr/>
              <p:nvPr/>
            </p:nvSpPr>
            <p:spPr>
              <a:xfrm>
                <a:off x="810482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任意多边形: 形状 66"/>
              <p:cNvSpPr/>
              <p:nvPr/>
            </p:nvSpPr>
            <p:spPr>
              <a:xfrm>
                <a:off x="8134349"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7" name="图形 1"/>
            <p:cNvGrpSpPr/>
            <p:nvPr/>
          </p:nvGrpSpPr>
          <p:grpSpPr>
            <a:xfrm>
              <a:off x="7292339" y="1518285"/>
              <a:ext cx="1796415" cy="1862137"/>
              <a:chOff x="7322819" y="1518285"/>
              <a:chExt cx="1796415" cy="1862137"/>
            </a:xfrm>
            <a:solidFill>
              <a:schemeClr val="accent1"/>
            </a:solidFill>
          </p:grpSpPr>
          <p:sp>
            <p:nvSpPr>
              <p:cNvPr id="62" name="任意多边形: 形状 61"/>
              <p:cNvSpPr/>
              <p:nvPr/>
            </p:nvSpPr>
            <p:spPr>
              <a:xfrm>
                <a:off x="732281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0682" y="431482"/>
                      <a:pt x="1298257" y="79057"/>
                      <a:pt x="864870" y="79057"/>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任意多边形: 形状 62"/>
              <p:cNvSpPr/>
              <p:nvPr/>
            </p:nvSpPr>
            <p:spPr>
              <a:xfrm>
                <a:off x="818768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0593" y="416242"/>
                      <a:pt x="513398" y="0"/>
                      <a:pt x="0" y="0"/>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8187689"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任意多边形: 形状 64"/>
              <p:cNvSpPr/>
              <p:nvPr/>
            </p:nvSpPr>
            <p:spPr>
              <a:xfrm>
                <a:off x="7471409"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0"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图形 1"/>
            <p:cNvGrpSpPr/>
            <p:nvPr/>
          </p:nvGrpSpPr>
          <p:grpSpPr>
            <a:xfrm>
              <a:off x="7122794" y="3904297"/>
              <a:ext cx="2067877" cy="381952"/>
              <a:chOff x="7153274" y="3904297"/>
              <a:chExt cx="2067877" cy="381952"/>
            </a:xfrm>
            <a:solidFill>
              <a:schemeClr val="accent1"/>
            </a:solidFill>
          </p:grpSpPr>
          <p:sp>
            <p:nvSpPr>
              <p:cNvPr id="59" name="任意多边形: 形状 58"/>
              <p:cNvSpPr/>
              <p:nvPr/>
            </p:nvSpPr>
            <p:spPr>
              <a:xfrm>
                <a:off x="7229474"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8"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7"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7153274"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任意多边形: 形状 60"/>
              <p:cNvSpPr/>
              <p:nvPr/>
            </p:nvSpPr>
            <p:spPr>
              <a:xfrm>
                <a:off x="7153274"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9" name="图形 3"/>
            <p:cNvGrpSpPr/>
            <p:nvPr/>
          </p:nvGrpSpPr>
          <p:grpSpPr>
            <a:xfrm>
              <a:off x="9983447" y="1958368"/>
              <a:ext cx="337133" cy="302976"/>
              <a:chOff x="6330348" y="5742654"/>
              <a:chExt cx="626646" cy="563155"/>
            </a:xfrm>
            <a:solidFill>
              <a:schemeClr val="accent5"/>
            </a:solidFill>
          </p:grpSpPr>
          <p:sp>
            <p:nvSpPr>
              <p:cNvPr id="57" name="任意多边形: 形状 5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8" name="任意多边形: 形状 5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0" name="图形 3"/>
            <p:cNvGrpSpPr/>
            <p:nvPr/>
          </p:nvGrpSpPr>
          <p:grpSpPr>
            <a:xfrm>
              <a:off x="5967485" y="2008279"/>
              <a:ext cx="306119" cy="265338"/>
              <a:chOff x="3127918" y="4707102"/>
              <a:chExt cx="548467" cy="475401"/>
            </a:xfrm>
            <a:solidFill>
              <a:schemeClr val="accent3"/>
            </a:solidFill>
          </p:grpSpPr>
          <p:sp>
            <p:nvSpPr>
              <p:cNvPr id="55" name="任意多边形: 形状 54"/>
              <p:cNvSpPr/>
              <p:nvPr/>
            </p:nvSpPr>
            <p:spPr>
              <a:xfrm>
                <a:off x="3294843" y="4707102"/>
                <a:ext cx="381542" cy="475401"/>
              </a:xfrm>
              <a:custGeom>
                <a:avLst/>
                <a:gdLst>
                  <a:gd name="connsiteX0" fmla="*/ 349747 w 381542"/>
                  <a:gd name="connsiteY0" fmla="*/ 276681 h 475401"/>
                  <a:gd name="connsiteX1" fmla="*/ 349747 w 381542"/>
                  <a:gd name="connsiteY1" fmla="*/ 278271 h 475401"/>
                  <a:gd name="connsiteX2" fmla="*/ 349747 w 381542"/>
                  <a:gd name="connsiteY2" fmla="*/ 279861 h 475401"/>
                  <a:gd name="connsiteX3" fmla="*/ 349747 w 381542"/>
                  <a:gd name="connsiteY3" fmla="*/ 276681 h 475401"/>
                  <a:gd name="connsiteX4" fmla="*/ 335439 w 381542"/>
                  <a:gd name="connsiteY4" fmla="*/ 155860 h 475401"/>
                  <a:gd name="connsiteX5" fmla="*/ 190771 w 381542"/>
                  <a:gd name="connsiteY5" fmla="*/ 155860 h 475401"/>
                  <a:gd name="connsiteX6" fmla="*/ 158976 w 381542"/>
                  <a:gd name="connsiteY6" fmla="*/ 124065 h 475401"/>
                  <a:gd name="connsiteX7" fmla="*/ 158976 w 381542"/>
                  <a:gd name="connsiteY7" fmla="*/ 63654 h 475401"/>
                  <a:gd name="connsiteX8" fmla="*/ 93796 w 381542"/>
                  <a:gd name="connsiteY8" fmla="*/ 63 h 475401"/>
                  <a:gd name="connsiteX9" fmla="*/ 63590 w 381542"/>
                  <a:gd name="connsiteY9" fmla="*/ 31858 h 475401"/>
                  <a:gd name="connsiteX10" fmla="*/ 63590 w 381542"/>
                  <a:gd name="connsiteY10" fmla="*/ 95449 h 475401"/>
                  <a:gd name="connsiteX11" fmla="*/ 0 w 381542"/>
                  <a:gd name="connsiteY11" fmla="*/ 203553 h 475401"/>
                  <a:gd name="connsiteX12" fmla="*/ 0 w 381542"/>
                  <a:gd name="connsiteY12" fmla="*/ 407042 h 475401"/>
                  <a:gd name="connsiteX13" fmla="*/ 17487 w 381542"/>
                  <a:gd name="connsiteY13" fmla="*/ 435657 h 475401"/>
                  <a:gd name="connsiteX14" fmla="*/ 36564 w 381542"/>
                  <a:gd name="connsiteY14" fmla="*/ 446786 h 475401"/>
                  <a:gd name="connsiteX15" fmla="*/ 149437 w 381542"/>
                  <a:gd name="connsiteY15" fmla="*/ 475401 h 475401"/>
                  <a:gd name="connsiteX16" fmla="*/ 271849 w 381542"/>
                  <a:gd name="connsiteY16" fmla="*/ 475401 h 475401"/>
                  <a:gd name="connsiteX17" fmla="*/ 317952 w 381542"/>
                  <a:gd name="connsiteY17" fmla="*/ 429298 h 475401"/>
                  <a:gd name="connsiteX18" fmla="*/ 317952 w 381542"/>
                  <a:gd name="connsiteY18" fmla="*/ 422939 h 475401"/>
                  <a:gd name="connsiteX19" fmla="*/ 313183 w 381542"/>
                  <a:gd name="connsiteY19" fmla="*/ 402273 h 475401"/>
                  <a:gd name="connsiteX20" fmla="*/ 333850 w 381542"/>
                  <a:gd name="connsiteY20" fmla="*/ 364118 h 475401"/>
                  <a:gd name="connsiteX21" fmla="*/ 333850 w 381542"/>
                  <a:gd name="connsiteY21" fmla="*/ 351400 h 475401"/>
                  <a:gd name="connsiteX22" fmla="*/ 319542 w 381542"/>
                  <a:gd name="connsiteY22" fmla="*/ 318015 h 475401"/>
                  <a:gd name="connsiteX23" fmla="*/ 349747 w 381542"/>
                  <a:gd name="connsiteY23" fmla="*/ 276681 h 475401"/>
                  <a:gd name="connsiteX24" fmla="*/ 338619 w 381542"/>
                  <a:gd name="connsiteY24" fmla="*/ 248066 h 475401"/>
                  <a:gd name="connsiteX25" fmla="*/ 381542 w 381542"/>
                  <a:gd name="connsiteY25" fmla="*/ 201963 h 475401"/>
                  <a:gd name="connsiteX26" fmla="*/ 381542 w 381542"/>
                  <a:gd name="connsiteY26" fmla="*/ 200373 h 475401"/>
                  <a:gd name="connsiteX27" fmla="*/ 335439 w 381542"/>
                  <a:gd name="connsiteY27" fmla="*/ 155860 h 47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1542" h="475401">
                    <a:moveTo>
                      <a:pt x="349747" y="276681"/>
                    </a:moveTo>
                    <a:cubicBezTo>
                      <a:pt x="349747" y="276681"/>
                      <a:pt x="349747" y="278271"/>
                      <a:pt x="349747" y="278271"/>
                    </a:cubicBezTo>
                    <a:cubicBezTo>
                      <a:pt x="349747" y="278271"/>
                      <a:pt x="349747" y="279861"/>
                      <a:pt x="349747" y="279861"/>
                    </a:cubicBezTo>
                    <a:lnTo>
                      <a:pt x="349747" y="276681"/>
                    </a:lnTo>
                    <a:close/>
                    <a:moveTo>
                      <a:pt x="335439" y="155860"/>
                    </a:moveTo>
                    <a:lnTo>
                      <a:pt x="190771" y="155860"/>
                    </a:lnTo>
                    <a:cubicBezTo>
                      <a:pt x="173284" y="155860"/>
                      <a:pt x="158976" y="141552"/>
                      <a:pt x="158976" y="124065"/>
                    </a:cubicBezTo>
                    <a:lnTo>
                      <a:pt x="158976" y="63654"/>
                    </a:lnTo>
                    <a:cubicBezTo>
                      <a:pt x="158976" y="27089"/>
                      <a:pt x="128771" y="-1527"/>
                      <a:pt x="93796" y="63"/>
                    </a:cubicBezTo>
                    <a:cubicBezTo>
                      <a:pt x="76308" y="63"/>
                      <a:pt x="63590" y="14371"/>
                      <a:pt x="63590" y="31858"/>
                    </a:cubicBezTo>
                    <a:lnTo>
                      <a:pt x="63590" y="95449"/>
                    </a:lnTo>
                    <a:cubicBezTo>
                      <a:pt x="63590" y="139962"/>
                      <a:pt x="0" y="171758"/>
                      <a:pt x="0" y="203553"/>
                    </a:cubicBezTo>
                    <a:lnTo>
                      <a:pt x="0" y="407042"/>
                    </a:lnTo>
                    <a:cubicBezTo>
                      <a:pt x="0" y="418170"/>
                      <a:pt x="6359" y="429298"/>
                      <a:pt x="17487" y="435657"/>
                    </a:cubicBezTo>
                    <a:cubicBezTo>
                      <a:pt x="23846" y="438837"/>
                      <a:pt x="30205" y="442017"/>
                      <a:pt x="36564" y="446786"/>
                    </a:cubicBezTo>
                    <a:cubicBezTo>
                      <a:pt x="71539" y="465863"/>
                      <a:pt x="109693" y="475401"/>
                      <a:pt x="149437" y="475401"/>
                    </a:cubicBezTo>
                    <a:lnTo>
                      <a:pt x="271849" y="475401"/>
                    </a:lnTo>
                    <a:cubicBezTo>
                      <a:pt x="297285" y="475401"/>
                      <a:pt x="317952" y="454735"/>
                      <a:pt x="317952" y="429298"/>
                    </a:cubicBezTo>
                    <a:lnTo>
                      <a:pt x="317952" y="422939"/>
                    </a:lnTo>
                    <a:cubicBezTo>
                      <a:pt x="317952" y="414991"/>
                      <a:pt x="316362" y="408632"/>
                      <a:pt x="313183" y="402273"/>
                    </a:cubicBezTo>
                    <a:cubicBezTo>
                      <a:pt x="325901" y="394324"/>
                      <a:pt x="333850" y="380016"/>
                      <a:pt x="333850" y="364118"/>
                    </a:cubicBezTo>
                    <a:lnTo>
                      <a:pt x="333850" y="351400"/>
                    </a:lnTo>
                    <a:cubicBezTo>
                      <a:pt x="333850" y="338682"/>
                      <a:pt x="329080" y="327554"/>
                      <a:pt x="319542" y="318015"/>
                    </a:cubicBezTo>
                    <a:cubicBezTo>
                      <a:pt x="337029" y="311656"/>
                      <a:pt x="348157" y="295759"/>
                      <a:pt x="349747" y="276681"/>
                    </a:cubicBezTo>
                    <a:cubicBezTo>
                      <a:pt x="349747" y="265553"/>
                      <a:pt x="344978" y="256015"/>
                      <a:pt x="338619" y="248066"/>
                    </a:cubicBezTo>
                    <a:cubicBezTo>
                      <a:pt x="362465" y="246476"/>
                      <a:pt x="381542" y="227399"/>
                      <a:pt x="381542" y="201963"/>
                    </a:cubicBezTo>
                    <a:lnTo>
                      <a:pt x="381542" y="200373"/>
                    </a:lnTo>
                    <a:cubicBezTo>
                      <a:pt x="381542" y="176527"/>
                      <a:pt x="360875" y="155860"/>
                      <a:pt x="335439" y="155860"/>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6" name="任意多边形: 形状 55"/>
              <p:cNvSpPr/>
              <p:nvPr/>
            </p:nvSpPr>
            <p:spPr>
              <a:xfrm>
                <a:off x="3127918" y="4878860"/>
                <a:ext cx="127180" cy="270259"/>
              </a:xfrm>
              <a:custGeom>
                <a:avLst/>
                <a:gdLst>
                  <a:gd name="connsiteX0" fmla="*/ 119232 w 127180"/>
                  <a:gd name="connsiteY0" fmla="*/ 0 h 270259"/>
                  <a:gd name="connsiteX1" fmla="*/ 7949 w 127180"/>
                  <a:gd name="connsiteY1" fmla="*/ 0 h 270259"/>
                  <a:gd name="connsiteX2" fmla="*/ 0 w 127180"/>
                  <a:gd name="connsiteY2" fmla="*/ 7949 h 270259"/>
                  <a:gd name="connsiteX3" fmla="*/ 0 w 127180"/>
                  <a:gd name="connsiteY3" fmla="*/ 262310 h 270259"/>
                  <a:gd name="connsiteX4" fmla="*/ 7949 w 127180"/>
                  <a:gd name="connsiteY4" fmla="*/ 270259 h 270259"/>
                  <a:gd name="connsiteX5" fmla="*/ 119232 w 127180"/>
                  <a:gd name="connsiteY5" fmla="*/ 270259 h 270259"/>
                  <a:gd name="connsiteX6" fmla="*/ 127181 w 127180"/>
                  <a:gd name="connsiteY6" fmla="*/ 262310 h 270259"/>
                  <a:gd name="connsiteX7" fmla="*/ 127181 w 127180"/>
                  <a:gd name="connsiteY7" fmla="*/ 7949 h 270259"/>
                  <a:gd name="connsiteX8" fmla="*/ 119232 w 127180"/>
                  <a:gd name="connsiteY8" fmla="*/ 0 h 270259"/>
                  <a:gd name="connsiteX9" fmla="*/ 63590 w 127180"/>
                  <a:gd name="connsiteY9" fmla="*/ 222566 h 270259"/>
                  <a:gd name="connsiteX10" fmla="*/ 39744 w 127180"/>
                  <a:gd name="connsiteY10" fmla="*/ 198720 h 270259"/>
                  <a:gd name="connsiteX11" fmla="*/ 63590 w 127180"/>
                  <a:gd name="connsiteY11" fmla="*/ 174874 h 270259"/>
                  <a:gd name="connsiteX12" fmla="*/ 87437 w 127180"/>
                  <a:gd name="connsiteY12" fmla="*/ 198720 h 270259"/>
                  <a:gd name="connsiteX13" fmla="*/ 63590 w 127180"/>
                  <a:gd name="connsiteY13" fmla="*/ 222566 h 2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180" h="270259">
                    <a:moveTo>
                      <a:pt x="119232" y="0"/>
                    </a:moveTo>
                    <a:lnTo>
                      <a:pt x="7949" y="0"/>
                    </a:lnTo>
                    <a:cubicBezTo>
                      <a:pt x="3180" y="0"/>
                      <a:pt x="0" y="3179"/>
                      <a:pt x="0" y="7949"/>
                    </a:cubicBezTo>
                    <a:lnTo>
                      <a:pt x="0" y="262310"/>
                    </a:lnTo>
                    <a:cubicBezTo>
                      <a:pt x="0" y="267079"/>
                      <a:pt x="3180" y="270259"/>
                      <a:pt x="7949" y="270259"/>
                    </a:cubicBezTo>
                    <a:lnTo>
                      <a:pt x="119232" y="270259"/>
                    </a:lnTo>
                    <a:cubicBezTo>
                      <a:pt x="124001" y="270259"/>
                      <a:pt x="127181" y="267079"/>
                      <a:pt x="127181" y="262310"/>
                    </a:cubicBezTo>
                    <a:lnTo>
                      <a:pt x="127181" y="7949"/>
                    </a:lnTo>
                    <a:cubicBezTo>
                      <a:pt x="127181" y="3179"/>
                      <a:pt x="122411" y="0"/>
                      <a:pt x="119232" y="0"/>
                    </a:cubicBezTo>
                    <a:close/>
                    <a:moveTo>
                      <a:pt x="63590" y="222566"/>
                    </a:moveTo>
                    <a:cubicBezTo>
                      <a:pt x="50872" y="222566"/>
                      <a:pt x="39744" y="211438"/>
                      <a:pt x="39744" y="198720"/>
                    </a:cubicBezTo>
                    <a:cubicBezTo>
                      <a:pt x="39744" y="186002"/>
                      <a:pt x="50872" y="174874"/>
                      <a:pt x="63590" y="174874"/>
                    </a:cubicBezTo>
                    <a:cubicBezTo>
                      <a:pt x="76308" y="174874"/>
                      <a:pt x="87437" y="186002"/>
                      <a:pt x="87437" y="198720"/>
                    </a:cubicBezTo>
                    <a:cubicBezTo>
                      <a:pt x="87437" y="211438"/>
                      <a:pt x="76308" y="222566"/>
                      <a:pt x="63590" y="222566"/>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1" name="图形 3"/>
            <p:cNvGrpSpPr/>
            <p:nvPr/>
          </p:nvGrpSpPr>
          <p:grpSpPr>
            <a:xfrm>
              <a:off x="3869571" y="1994881"/>
              <a:ext cx="291994" cy="346048"/>
              <a:chOff x="7464782" y="1390927"/>
              <a:chExt cx="523160" cy="620006"/>
            </a:xfrm>
            <a:solidFill>
              <a:schemeClr val="accent2"/>
            </a:solidFill>
          </p:grpSpPr>
          <p:sp>
            <p:nvSpPr>
              <p:cNvPr id="53" name="任意多边形: 形状 52"/>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4" name="任意多边形: 形状 53"/>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2" name="图形 3"/>
            <p:cNvGrpSpPr/>
            <p:nvPr/>
          </p:nvGrpSpPr>
          <p:grpSpPr>
            <a:xfrm>
              <a:off x="8011477" y="2019304"/>
              <a:ext cx="303102" cy="241668"/>
              <a:chOff x="5678602" y="5225087"/>
              <a:chExt cx="543062" cy="432991"/>
            </a:xfrm>
            <a:solidFill>
              <a:schemeClr val="accent4"/>
            </a:solidFill>
          </p:grpSpPr>
          <p:sp>
            <p:nvSpPr>
              <p:cNvPr id="51" name="任意多边形: 形状 50"/>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2" name="任意多边形: 形状 51"/>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3" name="图形 3"/>
            <p:cNvGrpSpPr/>
            <p:nvPr/>
          </p:nvGrpSpPr>
          <p:grpSpPr>
            <a:xfrm>
              <a:off x="1797932" y="1968512"/>
              <a:ext cx="343685" cy="316178"/>
              <a:chOff x="3464954" y="1598078"/>
              <a:chExt cx="615770" cy="566489"/>
            </a:xfrm>
            <a:solidFill>
              <a:schemeClr val="accent1"/>
            </a:solidFill>
          </p:grpSpPr>
          <p:sp>
            <p:nvSpPr>
              <p:cNvPr id="49" name="任意多边形: 形状 4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0" name="任意多边形: 形状 4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24" name="文本框 24"/>
            <p:cNvSpPr txBox="1"/>
            <p:nvPr/>
          </p:nvSpPr>
          <p:spPr>
            <a:xfrm>
              <a:off x="1363317"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rPr>
                <a:t>经济成本维度</a:t>
              </a:r>
              <a:endPar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5" name="文本框 24"/>
            <p:cNvSpPr txBox="1"/>
            <p:nvPr/>
          </p:nvSpPr>
          <p:spPr>
            <a:xfrm>
              <a:off x="3408019"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rPr>
                <a:t>设备性能维度</a:t>
              </a:r>
              <a:endPar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6" name="文本框 24"/>
            <p:cNvSpPr txBox="1"/>
            <p:nvPr/>
          </p:nvSpPr>
          <p:spPr>
            <a:xfrm>
              <a:off x="5452721"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rPr>
                <a:t>系统协同维度</a:t>
              </a:r>
              <a:endPar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7" name="文本框 24"/>
            <p:cNvSpPr txBox="1"/>
            <p:nvPr/>
          </p:nvSpPr>
          <p:spPr>
            <a:xfrm>
              <a:off x="7497423"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rPr>
                <a:t>实时性维度</a:t>
              </a:r>
              <a:endPar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8" name="文本框 24"/>
            <p:cNvSpPr txBox="1"/>
            <p:nvPr/>
          </p:nvSpPr>
          <p:spPr>
            <a:xfrm>
              <a:off x="9542125"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rPr>
                <a:t>落地适配维度</a:t>
              </a:r>
              <a:endPar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endParaRPr>
            </a:p>
          </p:txBody>
        </p:sp>
        <p:grpSp>
          <p:nvGrpSpPr>
            <p:cNvPr id="29" name="组合 28"/>
            <p:cNvGrpSpPr/>
            <p:nvPr/>
          </p:nvGrpSpPr>
          <p:grpSpPr>
            <a:xfrm>
              <a:off x="1004056" y="4470347"/>
              <a:ext cx="2169160" cy="1984146"/>
              <a:chOff x="7831363" y="647348"/>
              <a:chExt cx="2169160" cy="1984146"/>
            </a:xfrm>
          </p:grpSpPr>
          <p:sp>
            <p:nvSpPr>
              <p:cNvPr id="46" name="文本框 23"/>
              <p:cNvSpPr txBox="1"/>
              <p:nvPr/>
            </p:nvSpPr>
            <p:spPr>
              <a:xfrm>
                <a:off x="7831363" y="1152173"/>
                <a:ext cx="216916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未结合分时电价</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7"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现有策略多按固定周期充放电，未利用峰谷电价差（超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0.5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元</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度），导致用户月均用电成本高</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15%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8"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0" name="组合 29"/>
            <p:cNvGrpSpPr/>
            <p:nvPr/>
          </p:nvGrpSpPr>
          <p:grpSpPr>
            <a:xfrm>
              <a:off x="3070982" y="4470347"/>
              <a:ext cx="1753235" cy="1984146"/>
              <a:chOff x="7831363" y="647348"/>
              <a:chExt cx="1753235" cy="1984146"/>
            </a:xfrm>
          </p:grpSpPr>
          <p:sp>
            <p:nvSpPr>
              <p:cNvPr id="43" name="文本框 23"/>
              <p:cNvSpPr txBox="1"/>
              <p:nvPr/>
            </p:nvSpPr>
            <p:spPr>
              <a:xfrm>
                <a:off x="7831363" y="1152173"/>
                <a:ext cx="1753235"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忽略电池容量约束</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4"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未考虑家用储能（＜</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10kWh</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）等小容量特性，强行平抑高峰负荷易致电池过放，寿命缩短</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5"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1" name="组合 30"/>
            <p:cNvGrpSpPr/>
            <p:nvPr/>
          </p:nvGrpSpPr>
          <p:grpSpPr>
            <a:xfrm>
              <a:off x="5137908" y="4470347"/>
              <a:ext cx="1753870" cy="1763166"/>
              <a:chOff x="7831363" y="647348"/>
              <a:chExt cx="1753870" cy="1763166"/>
            </a:xfrm>
          </p:grpSpPr>
          <p:sp>
            <p:nvSpPr>
              <p:cNvPr id="40" name="文本框 23"/>
              <p:cNvSpPr txBox="1"/>
              <p:nvPr/>
            </p:nvSpPr>
            <p:spPr>
              <a:xfrm>
                <a:off x="7831363" y="1152173"/>
                <a:ext cx="17538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与电网调度协同差</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1"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充放电调整未对接电网调度信号，峰谷时段负荷平抑率仅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40%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，难缓解电网供电压力。</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2"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2" name="组合 31"/>
            <p:cNvGrpSpPr/>
            <p:nvPr/>
          </p:nvGrpSpPr>
          <p:grpSpPr>
            <a:xfrm>
              <a:off x="7204834" y="4470347"/>
              <a:ext cx="1817370" cy="1763166"/>
              <a:chOff x="7831363" y="647348"/>
              <a:chExt cx="1817370" cy="1763166"/>
            </a:xfrm>
          </p:grpSpPr>
          <p:sp>
            <p:nvSpPr>
              <p:cNvPr id="37" name="文本框 23"/>
              <p:cNvSpPr txBox="1"/>
              <p:nvPr/>
            </p:nvSpPr>
            <p:spPr>
              <a:xfrm>
                <a:off x="7831363" y="1152173"/>
                <a:ext cx="18173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突发负荷响应滞后</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未预判用户大功率家电启动等突发负荷，储能响应延迟超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3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秒，供电稳定性不足</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85%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9"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3" name="组合 32"/>
            <p:cNvGrpSpPr/>
            <p:nvPr/>
          </p:nvGrpSpPr>
          <p:grpSpPr>
            <a:xfrm>
              <a:off x="9271760" y="4470347"/>
              <a:ext cx="2274570" cy="1763166"/>
              <a:chOff x="7831363" y="647348"/>
              <a:chExt cx="2274570" cy="1763166"/>
            </a:xfrm>
          </p:grpSpPr>
          <p:sp>
            <p:nvSpPr>
              <p:cNvPr id="34" name="文本框 23"/>
              <p:cNvSpPr txBox="1"/>
              <p:nvPr/>
            </p:nvSpPr>
            <p:spPr>
              <a:xfrm>
                <a:off x="7831363" y="1152173"/>
                <a:ext cx="22745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算法难适配小用户终端</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5"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充放电优化依赖遗传算法等复杂算力，千元级家用储能控制终端难以流畅运行。</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初中物理概念建构深度学习的教研融合认知</a:t>
            </a:r>
            <a:r>
              <a:rPr lang="zh-CN" altLang="en-US"/>
              <a:t>脚手架研究</a:t>
            </a:r>
            <a:r>
              <a:rPr lang="zh-CN" altLang="en-US"/>
              <a:t>现状</a:t>
            </a:r>
            <a:endParaRPr lang="zh-CN" altLang="en-US"/>
          </a:p>
        </p:txBody>
      </p:sp>
      <p:sp>
        <p:nvSpPr>
          <p:cNvPr id="7" name="矩形: 圆角 6"/>
          <p:cNvSpPr/>
          <p:nvPr/>
        </p:nvSpPr>
        <p:spPr>
          <a:xfrm>
            <a:off x="5916678" y="2154684"/>
            <a:ext cx="5543486" cy="3935614"/>
          </a:xfrm>
          <a:prstGeom prst="roundRect">
            <a:avLst>
              <a:gd name="adj" fmla="val 3660"/>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9" name="文本框 8"/>
          <p:cNvSpPr txBox="1"/>
          <p:nvPr/>
        </p:nvSpPr>
        <p:spPr>
          <a:xfrm>
            <a:off x="6099535" y="1231009"/>
            <a:ext cx="4768654" cy="7067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solidFill>
                  <a:schemeClr val="accent4"/>
                </a:solidFill>
                <a:effectLst/>
                <a:uLnTx/>
                <a:uFillTx/>
                <a:latin typeface="+mj-lt"/>
                <a:ea typeface="+mj-ea"/>
                <a:cs typeface="+mn-cs"/>
              </a:rPr>
              <a:t>工作总结</a:t>
            </a:r>
            <a:endParaRPr kumimoji="0" lang="zh-CN" altLang="en-US" sz="4000" b="1" i="0" u="none" strike="noStrike" kern="1200" cap="none" spc="0" normalizeH="0" baseline="0" noProof="0" dirty="0">
              <a:solidFill>
                <a:schemeClr val="accent4"/>
              </a:solidFill>
              <a:effectLst/>
              <a:uLnTx/>
              <a:uFillTx/>
              <a:latin typeface="+mj-lt"/>
              <a:ea typeface="+mj-ea"/>
              <a:cs typeface="+mn-cs"/>
            </a:endParaRPr>
          </a:p>
        </p:txBody>
      </p:sp>
      <p:sp>
        <p:nvSpPr>
          <p:cNvPr id="16" name="矩形: 圆角 15"/>
          <p:cNvSpPr/>
          <p:nvPr>
            <p:custDataLst>
              <p:tags r:id="rId3"/>
            </p:custDataLst>
          </p:nvPr>
        </p:nvSpPr>
        <p:spPr>
          <a:xfrm>
            <a:off x="731837" y="4778880"/>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7" name="矩形: 圆角 16"/>
          <p:cNvSpPr/>
          <p:nvPr>
            <p:custDataLst>
              <p:tags r:id="rId4"/>
            </p:custDataLst>
          </p:nvPr>
        </p:nvSpPr>
        <p:spPr>
          <a:xfrm>
            <a:off x="731837" y="1498975"/>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8" name="矩形: 圆角 17"/>
          <p:cNvSpPr/>
          <p:nvPr>
            <p:custDataLst>
              <p:tags r:id="rId5"/>
            </p:custDataLst>
          </p:nvPr>
        </p:nvSpPr>
        <p:spPr>
          <a:xfrm>
            <a:off x="731837" y="3138928"/>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graphicFrame>
        <p:nvGraphicFramePr>
          <p:cNvPr id="21" name="图表 20"/>
          <p:cNvGraphicFramePr/>
          <p:nvPr/>
        </p:nvGraphicFramePr>
        <p:xfrm>
          <a:off x="6223000" y="3231606"/>
          <a:ext cx="4988561" cy="2704737"/>
        </p:xfrm>
        <a:graphic>
          <a:graphicData uri="http://schemas.openxmlformats.org/drawingml/2006/chart">
            <c:chart xmlns:c="http://schemas.openxmlformats.org/drawingml/2006/chart" xmlns:r="http://schemas.openxmlformats.org/officeDocument/2006/relationships" r:id="rId1"/>
          </a:graphicData>
        </a:graphic>
      </p:graphicFrame>
      <p:sp>
        <p:nvSpPr>
          <p:cNvPr id="24" name="文本框 23"/>
          <p:cNvSpPr txBox="1"/>
          <p:nvPr/>
        </p:nvSpPr>
        <p:spPr>
          <a:xfrm>
            <a:off x="6329911" y="2307931"/>
            <a:ext cx="3422333" cy="829945"/>
          </a:xfrm>
          <a:prstGeom prst="rect">
            <a:avLst/>
          </a:prstGeom>
          <a:noFill/>
        </p:spPr>
        <p:txBody>
          <a:bodyPr wrap="square">
            <a:spAutoFit/>
          </a:bodyPr>
          <a:lstStyle/>
          <a:p>
            <a:r>
              <a:rPr lang="zh-CN" altLang="en-US" sz="2400" dirty="0">
                <a:solidFill>
                  <a:schemeClr val="accent5">
                    <a:lumMod val="60000"/>
                    <a:lumOff val="40000"/>
                  </a:schemeClr>
                </a:solidFill>
                <a:latin typeface="+mj-ea"/>
                <a:ea typeface="+mj-ea"/>
              </a:rPr>
              <a:t>此处</a:t>
            </a:r>
            <a:endParaRPr lang="en-US" altLang="zh-CN" sz="2400" dirty="0">
              <a:solidFill>
                <a:schemeClr val="accent5">
                  <a:lumMod val="60000"/>
                  <a:lumOff val="40000"/>
                </a:schemeClr>
              </a:solidFill>
              <a:latin typeface="+mj-ea"/>
              <a:ea typeface="+mj-ea"/>
            </a:endParaRPr>
          </a:p>
          <a:p>
            <a:r>
              <a:rPr lang="zh-CN" altLang="en-US" sz="2400" dirty="0">
                <a:solidFill>
                  <a:schemeClr val="accent5">
                    <a:lumMod val="60000"/>
                    <a:lumOff val="40000"/>
                  </a:schemeClr>
                </a:solidFill>
                <a:latin typeface="+mj-ea"/>
                <a:ea typeface="+mj-ea"/>
              </a:rPr>
              <a:t>添加</a:t>
            </a:r>
            <a:r>
              <a:rPr lang="zh-CN" altLang="en-US" sz="2400" dirty="0">
                <a:solidFill>
                  <a:schemeClr val="accent5">
                    <a:lumMod val="60000"/>
                    <a:lumOff val="40000"/>
                  </a:schemeClr>
                </a:solidFill>
                <a:latin typeface="+mj-ea"/>
                <a:ea typeface="+mj-ea"/>
              </a:rPr>
              <a:t>数据表标题</a:t>
            </a:r>
            <a:endParaRPr lang="zh-CN" altLang="en-US" sz="2400" dirty="0">
              <a:solidFill>
                <a:schemeClr val="accent5">
                  <a:lumMod val="60000"/>
                  <a:lumOff val="40000"/>
                </a:schemeClr>
              </a:solidFill>
              <a:latin typeface="+mj-ea"/>
              <a:ea typeface="+mj-ea"/>
            </a:endParaRPr>
          </a:p>
        </p:txBody>
      </p:sp>
      <p:sp>
        <p:nvSpPr>
          <p:cNvPr id="25" name="文本框 24"/>
          <p:cNvSpPr txBox="1"/>
          <p:nvPr>
            <p:custDataLst>
              <p:tags r:id="rId6"/>
            </p:custDataLst>
          </p:nvPr>
        </p:nvSpPr>
        <p:spPr>
          <a:xfrm>
            <a:off x="2318527" y="1615975"/>
            <a:ext cx="2743797" cy="398780"/>
          </a:xfrm>
          <a:prstGeom prst="rect">
            <a:avLst/>
          </a:prstGeom>
          <a:noFill/>
        </p:spPr>
        <p:txBody>
          <a:bodyPr wrap="square">
            <a:spAutoFit/>
          </a:bodyPr>
          <a:lstStyle/>
          <a:p>
            <a:r>
              <a:rPr lang="zh-CN" altLang="en-US" sz="2000" dirty="0">
                <a:solidFill>
                  <a:schemeClr val="accent4"/>
                </a:solidFill>
                <a:latin typeface="+mj-ea"/>
                <a:ea typeface="+mj-ea"/>
              </a:rPr>
              <a:t>理论耦合性不足</a:t>
            </a:r>
            <a:endParaRPr lang="zh-CN" altLang="en-US" sz="2000" dirty="0">
              <a:solidFill>
                <a:schemeClr val="accent4"/>
              </a:solidFill>
              <a:latin typeface="+mj-ea"/>
              <a:ea typeface="+mj-ea"/>
            </a:endParaRPr>
          </a:p>
        </p:txBody>
      </p:sp>
      <p:sp>
        <p:nvSpPr>
          <p:cNvPr id="26" name="文本框 25"/>
          <p:cNvSpPr txBox="1"/>
          <p:nvPr>
            <p:custDataLst>
              <p:tags r:id="rId7"/>
            </p:custDataLst>
          </p:nvPr>
        </p:nvSpPr>
        <p:spPr>
          <a:xfrm>
            <a:off x="2318385" y="198755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现有初中物理教研研究仅</a:t>
            </a:r>
            <a:r>
              <a:rPr lang="en-US" altLang="zh-CN" sz="1100" dirty="0">
                <a:solidFill>
                  <a:schemeClr val="tx1">
                    <a:lumMod val="50000"/>
                    <a:lumOff val="50000"/>
                  </a:schemeClr>
                </a:solidFill>
              </a:rPr>
              <a:t> 25% </a:t>
            </a:r>
            <a:r>
              <a:rPr lang="zh-CN" altLang="en-US" sz="1100" dirty="0">
                <a:solidFill>
                  <a:schemeClr val="tx1">
                    <a:lumMod val="50000"/>
                    <a:lumOff val="50000"/>
                  </a:schemeClr>
                </a:solidFill>
              </a:rPr>
              <a:t>涉及</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深度学习</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耦合机制，多孤立探讨二者，缺乏系统关联。</a:t>
            </a:r>
            <a:endParaRPr lang="zh-CN" altLang="en-US" sz="1100" dirty="0">
              <a:solidFill>
                <a:schemeClr val="tx1">
                  <a:lumMod val="50000"/>
                  <a:lumOff val="50000"/>
                </a:schemeClr>
              </a:solidFill>
            </a:endParaRPr>
          </a:p>
        </p:txBody>
      </p:sp>
      <p:pic>
        <p:nvPicPr>
          <p:cNvPr id="28" name="图形 27"/>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93318" y="1750442"/>
            <a:ext cx="808483" cy="808483"/>
          </a:xfrm>
          <a:prstGeom prst="rect">
            <a:avLst/>
          </a:prstGeom>
        </p:spPr>
      </p:pic>
      <p:grpSp>
        <p:nvGrpSpPr>
          <p:cNvPr id="40" name="组合 39"/>
          <p:cNvGrpSpPr/>
          <p:nvPr/>
        </p:nvGrpSpPr>
        <p:grpSpPr>
          <a:xfrm>
            <a:off x="10390206" y="2450395"/>
            <a:ext cx="781049" cy="259496"/>
            <a:chOff x="8900494" y="4270995"/>
            <a:chExt cx="781049" cy="259496"/>
          </a:xfrm>
        </p:grpSpPr>
        <p:sp>
          <p:nvSpPr>
            <p:cNvPr id="41" name="任意多边形: 形状 40"/>
            <p:cNvSpPr/>
            <p:nvPr/>
          </p:nvSpPr>
          <p:spPr>
            <a:xfrm>
              <a:off x="8900494" y="4270995"/>
              <a:ext cx="781049" cy="259496"/>
            </a:xfrm>
            <a:custGeom>
              <a:avLst/>
              <a:gdLst>
                <a:gd name="connsiteX0" fmla="*/ 598837 w 728585"/>
                <a:gd name="connsiteY0" fmla="*/ 259496 h 259496"/>
                <a:gd name="connsiteX1" fmla="*/ 129748 w 728585"/>
                <a:gd name="connsiteY1" fmla="*/ 259496 h 259496"/>
                <a:gd name="connsiteX2" fmla="*/ 0 w 728585"/>
                <a:gd name="connsiteY2" fmla="*/ 129748 h 259496"/>
                <a:gd name="connsiteX3" fmla="*/ 0 w 728585"/>
                <a:gd name="connsiteY3" fmla="*/ 129748 h 259496"/>
                <a:gd name="connsiteX4" fmla="*/ 129748 w 728585"/>
                <a:gd name="connsiteY4" fmla="*/ 0 h 259496"/>
                <a:gd name="connsiteX5" fmla="*/ 598837 w 728585"/>
                <a:gd name="connsiteY5" fmla="*/ 0 h 259496"/>
                <a:gd name="connsiteX6" fmla="*/ 728585 w 728585"/>
                <a:gd name="connsiteY6" fmla="*/ 129748 h 259496"/>
                <a:gd name="connsiteX7" fmla="*/ 728585 w 728585"/>
                <a:gd name="connsiteY7" fmla="*/ 129748 h 259496"/>
                <a:gd name="connsiteX8" fmla="*/ 598837 w 728585"/>
                <a:gd name="connsiteY8" fmla="*/ 259496 h 25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585" h="259496">
                  <a:moveTo>
                    <a:pt x="598837" y="259496"/>
                  </a:moveTo>
                  <a:lnTo>
                    <a:pt x="129748" y="259496"/>
                  </a:lnTo>
                  <a:cubicBezTo>
                    <a:pt x="57888" y="259496"/>
                    <a:pt x="0" y="201608"/>
                    <a:pt x="0" y="129748"/>
                  </a:cubicBezTo>
                  <a:lnTo>
                    <a:pt x="0" y="129748"/>
                  </a:lnTo>
                  <a:cubicBezTo>
                    <a:pt x="0" y="57888"/>
                    <a:pt x="57888" y="0"/>
                    <a:pt x="129748" y="0"/>
                  </a:cubicBezTo>
                  <a:lnTo>
                    <a:pt x="598837" y="0"/>
                  </a:lnTo>
                  <a:cubicBezTo>
                    <a:pt x="670697" y="0"/>
                    <a:pt x="728585" y="57888"/>
                    <a:pt x="728585" y="129748"/>
                  </a:cubicBezTo>
                  <a:lnTo>
                    <a:pt x="728585" y="129748"/>
                  </a:lnTo>
                  <a:cubicBezTo>
                    <a:pt x="728585" y="201608"/>
                    <a:pt x="670697" y="259496"/>
                    <a:pt x="598837" y="259496"/>
                  </a:cubicBezTo>
                  <a:close/>
                </a:path>
              </a:pathLst>
            </a:custGeom>
            <a:solidFill>
              <a:srgbClr val="D7D1DF"/>
            </a:solidFill>
            <a:ln w="4958" cap="flat">
              <a:noFill/>
              <a:prstDash val="solid"/>
              <a:miter/>
            </a:ln>
          </p:spPr>
          <p:txBody>
            <a:bodyPr rtlCol="0" anchor="ctr"/>
            <a:lstStyle/>
            <a:p>
              <a:endParaRPr lang="zh-CN" altLang="en-US"/>
            </a:p>
          </p:txBody>
        </p:sp>
        <p:grpSp>
          <p:nvGrpSpPr>
            <p:cNvPr id="42" name="组合 41"/>
            <p:cNvGrpSpPr/>
            <p:nvPr/>
          </p:nvGrpSpPr>
          <p:grpSpPr>
            <a:xfrm>
              <a:off x="9007150" y="4344075"/>
              <a:ext cx="567736" cy="113337"/>
              <a:chOff x="10517580" y="2441257"/>
              <a:chExt cx="653675" cy="130493"/>
            </a:xfrm>
            <a:solidFill>
              <a:schemeClr val="bg1"/>
            </a:solidFill>
          </p:grpSpPr>
          <p:sp>
            <p:nvSpPr>
              <p:cNvPr id="43" name="椭圆 42"/>
              <p:cNvSpPr/>
              <p:nvPr/>
            </p:nvSpPr>
            <p:spPr>
              <a:xfrm>
                <a:off x="10517580"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779171"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1040762"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6" name="文本框 45"/>
          <p:cNvSpPr txBox="1"/>
          <p:nvPr>
            <p:custDataLst>
              <p:tags r:id="rId11"/>
            </p:custDataLst>
          </p:nvPr>
        </p:nvSpPr>
        <p:spPr>
          <a:xfrm>
            <a:off x="2318527" y="3303588"/>
            <a:ext cx="2743797" cy="398780"/>
          </a:xfrm>
          <a:prstGeom prst="rect">
            <a:avLst/>
          </a:prstGeom>
          <a:noFill/>
        </p:spPr>
        <p:txBody>
          <a:bodyPr wrap="square">
            <a:spAutoFit/>
          </a:bodyPr>
          <a:lstStyle/>
          <a:p>
            <a:r>
              <a:rPr lang="zh-CN" altLang="en-US" sz="2000" dirty="0">
                <a:solidFill>
                  <a:schemeClr val="accent6">
                    <a:lumMod val="50000"/>
                    <a:lumOff val="50000"/>
                  </a:schemeClr>
                </a:solidFill>
                <a:latin typeface="+mj-ea"/>
                <a:ea typeface="+mj-ea"/>
              </a:rPr>
              <a:t>实践落地性薄弱</a:t>
            </a:r>
            <a:endParaRPr lang="zh-CN" altLang="en-US" sz="2000" dirty="0">
              <a:solidFill>
                <a:schemeClr val="accent6">
                  <a:lumMod val="50000"/>
                  <a:lumOff val="50000"/>
                </a:schemeClr>
              </a:solidFill>
              <a:latin typeface="+mj-ea"/>
              <a:ea typeface="+mj-ea"/>
            </a:endParaRPr>
          </a:p>
        </p:txBody>
      </p:sp>
      <p:sp>
        <p:nvSpPr>
          <p:cNvPr id="47" name="文本框 46"/>
          <p:cNvSpPr txBox="1"/>
          <p:nvPr>
            <p:custDataLst>
              <p:tags r:id="rId12"/>
            </p:custDataLst>
          </p:nvPr>
        </p:nvSpPr>
        <p:spPr>
          <a:xfrm>
            <a:off x="2318385" y="367538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超</a:t>
            </a:r>
            <a:r>
              <a:rPr lang="en-US" altLang="zh-CN" sz="1100" dirty="0">
                <a:solidFill>
                  <a:schemeClr val="tx1">
                    <a:lumMod val="50000"/>
                    <a:lumOff val="50000"/>
                  </a:schemeClr>
                </a:solidFill>
              </a:rPr>
              <a:t> 70% </a:t>
            </a:r>
            <a:r>
              <a:rPr lang="zh-CN" altLang="en-US" sz="1100" dirty="0">
                <a:solidFill>
                  <a:schemeClr val="tx1">
                    <a:lumMod val="50000"/>
                    <a:lumOff val="50000"/>
                  </a:schemeClr>
                </a:solidFill>
              </a:rPr>
              <a:t>初中物理概念教学教研停留在形式化研讨，未将认知脚手架设计嵌入教研流程，难支撑深度学习。</a:t>
            </a:r>
            <a:endParaRPr lang="zh-CN" altLang="en-US" sz="1100" dirty="0">
              <a:solidFill>
                <a:schemeClr val="tx1">
                  <a:lumMod val="50000"/>
                  <a:lumOff val="50000"/>
                </a:schemeClr>
              </a:solidFill>
            </a:endParaRPr>
          </a:p>
        </p:txBody>
      </p:sp>
      <p:pic>
        <p:nvPicPr>
          <p:cNvPr id="29" name="图形 28"/>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93318" y="3438055"/>
            <a:ext cx="808483" cy="808483"/>
          </a:xfrm>
          <a:prstGeom prst="rect">
            <a:avLst/>
          </a:prstGeom>
        </p:spPr>
      </p:pic>
      <p:sp>
        <p:nvSpPr>
          <p:cNvPr id="49" name="文本框 48"/>
          <p:cNvSpPr txBox="1"/>
          <p:nvPr>
            <p:custDataLst>
              <p:tags r:id="rId16"/>
            </p:custDataLst>
          </p:nvPr>
        </p:nvSpPr>
        <p:spPr>
          <a:xfrm>
            <a:off x="2318527" y="4930667"/>
            <a:ext cx="2743797" cy="398780"/>
          </a:xfrm>
          <a:prstGeom prst="rect">
            <a:avLst/>
          </a:prstGeom>
          <a:noFill/>
        </p:spPr>
        <p:txBody>
          <a:bodyPr wrap="square">
            <a:spAutoFit/>
          </a:bodyPr>
          <a:lstStyle/>
          <a:p>
            <a:r>
              <a:rPr lang="zh-CN" altLang="en-US" sz="2000" dirty="0">
                <a:solidFill>
                  <a:schemeClr val="accent1">
                    <a:lumMod val="60000"/>
                    <a:lumOff val="40000"/>
                  </a:schemeClr>
                </a:solidFill>
                <a:latin typeface="+mj-ea"/>
                <a:ea typeface="+mj-ea"/>
              </a:rPr>
              <a:t>教师整合能力欠缺</a:t>
            </a:r>
            <a:endParaRPr lang="zh-CN" altLang="en-US" sz="2000" dirty="0">
              <a:solidFill>
                <a:schemeClr val="accent1">
                  <a:lumMod val="60000"/>
                  <a:lumOff val="40000"/>
                </a:schemeClr>
              </a:solidFill>
              <a:latin typeface="+mj-ea"/>
              <a:ea typeface="+mj-ea"/>
            </a:endParaRPr>
          </a:p>
        </p:txBody>
      </p:sp>
      <p:sp>
        <p:nvSpPr>
          <p:cNvPr id="50" name="文本框 49"/>
          <p:cNvSpPr txBox="1"/>
          <p:nvPr>
            <p:custDataLst>
              <p:tags r:id="rId17"/>
            </p:custDataLst>
          </p:nvPr>
        </p:nvSpPr>
        <p:spPr>
          <a:xfrm>
            <a:off x="2318385" y="5302250"/>
            <a:ext cx="2813050" cy="97091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仅</a:t>
            </a:r>
            <a:r>
              <a:rPr lang="en-US" altLang="zh-CN" sz="1100" dirty="0">
                <a:solidFill>
                  <a:schemeClr val="tx1">
                    <a:lumMod val="50000"/>
                    <a:lumOff val="50000"/>
                  </a:schemeClr>
                </a:solidFill>
              </a:rPr>
              <a:t> 30% </a:t>
            </a:r>
            <a:r>
              <a:rPr lang="zh-CN" altLang="en-US" sz="1100" dirty="0">
                <a:solidFill>
                  <a:schemeClr val="tx1">
                    <a:lumMod val="50000"/>
                    <a:lumOff val="50000"/>
                  </a:schemeClr>
                </a:solidFill>
              </a:rPr>
              <a:t>初中物理教师掌握</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概念建构</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教研融合方法，能力与教学需求匹配度低。</a:t>
            </a:r>
            <a:endParaRPr lang="zh-CN" altLang="en-US" sz="1100" dirty="0">
              <a:solidFill>
                <a:schemeClr val="tx1">
                  <a:lumMod val="50000"/>
                  <a:lumOff val="50000"/>
                </a:schemeClr>
              </a:solidFill>
            </a:endParaRPr>
          </a:p>
          <a:p>
            <a:pPr>
              <a:lnSpc>
                <a:spcPct val="130000"/>
              </a:lnSpc>
            </a:pPr>
            <a:endParaRPr lang="zh-CN" altLang="en-US" sz="1100" dirty="0">
              <a:solidFill>
                <a:schemeClr val="tx1">
                  <a:lumMod val="50000"/>
                  <a:lumOff val="50000"/>
                </a:schemeClr>
              </a:solidFill>
            </a:endParaRPr>
          </a:p>
        </p:txBody>
      </p:sp>
      <p:pic>
        <p:nvPicPr>
          <p:cNvPr id="27" name="图形 2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93318" y="5065134"/>
            <a:ext cx="808483" cy="808483"/>
          </a:xfrm>
          <a:prstGeom prst="rect">
            <a:avLst/>
          </a:prstGeom>
        </p:spPr>
      </p:pic>
    </p:spTree>
    <p:custDataLst>
      <p:tags r:id="rId2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慢性心衰患者居家可穿戴照护决策支持研究</a:t>
            </a:r>
            <a:r>
              <a:rPr lang="zh-CN" altLang="en-US"/>
              <a:t>现状</a:t>
            </a:r>
            <a:endParaRPr lang="zh-CN" altLang="en-US"/>
          </a:p>
        </p:txBody>
      </p:sp>
      <p:sp>
        <p:nvSpPr>
          <p:cNvPr id="3" name="矩形: 圆角 1"/>
          <p:cNvSpPr/>
          <p:nvPr/>
        </p:nvSpPr>
        <p:spPr>
          <a:xfrm>
            <a:off x="673463"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rot="5400000">
            <a:off x="1181229" y="1943244"/>
            <a:ext cx="1492024" cy="1492026"/>
            <a:chOff x="1133019" y="2416926"/>
            <a:chExt cx="1613394" cy="1613396"/>
          </a:xfrm>
        </p:grpSpPr>
        <p:sp>
          <p:nvSpPr>
            <p:cNvPr id="5" name="椭圆 4"/>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6" name="组合 5"/>
            <p:cNvGrpSpPr/>
            <p:nvPr/>
          </p:nvGrpSpPr>
          <p:grpSpPr>
            <a:xfrm>
              <a:off x="1133019" y="2416926"/>
              <a:ext cx="1613394" cy="1613396"/>
              <a:chOff x="1133019" y="2416926"/>
              <a:chExt cx="1613394" cy="1613396"/>
            </a:xfrm>
          </p:grpSpPr>
          <p:sp>
            <p:nvSpPr>
              <p:cNvPr id="7" name="弧形 6"/>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弧形 7"/>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9" name="椭圆 8"/>
          <p:cNvSpPr/>
          <p:nvPr/>
        </p:nvSpPr>
        <p:spPr>
          <a:xfrm>
            <a:off x="1380513"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14"/>
          <p:cNvSpPr txBox="1"/>
          <p:nvPr/>
        </p:nvSpPr>
        <p:spPr>
          <a:xfrm>
            <a:off x="1044979"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技术融合不足</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11" name="文本框 15"/>
          <p:cNvSpPr txBox="1"/>
          <p:nvPr/>
        </p:nvSpPr>
        <p:spPr>
          <a:xfrm>
            <a:off x="721398" y="3942620"/>
            <a:ext cx="2411687" cy="169100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20%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研究将可穿戴设备监测数据与照护者临床决策支持结合，多孤立关注设备数据采集，缺乏照护场景适配。</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矩形 11"/>
          <p:cNvSpPr/>
          <p:nvPr/>
        </p:nvSpPr>
        <p:spPr>
          <a:xfrm>
            <a:off x="1171888"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Freeform 99"/>
          <p:cNvSpPr>
            <a:spLocks noEditPoints="1"/>
          </p:cNvSpPr>
          <p:nvPr/>
        </p:nvSpPr>
        <p:spPr bwMode="auto">
          <a:xfrm>
            <a:off x="1647929" y="2499528"/>
            <a:ext cx="558625" cy="379458"/>
          </a:xfrm>
          <a:custGeom>
            <a:avLst/>
            <a:gdLst>
              <a:gd name="T0" fmla="*/ 225 w 302"/>
              <a:gd name="T1" fmla="*/ 0 h 205"/>
              <a:gd name="T2" fmla="*/ 81 w 302"/>
              <a:gd name="T3" fmla="*/ 0 h 205"/>
              <a:gd name="T4" fmla="*/ 0 w 302"/>
              <a:gd name="T5" fmla="*/ 25 h 205"/>
              <a:gd name="T6" fmla="*/ 12 w 302"/>
              <a:gd name="T7" fmla="*/ 205 h 205"/>
              <a:gd name="T8" fmla="*/ 291 w 302"/>
              <a:gd name="T9" fmla="*/ 205 h 205"/>
              <a:gd name="T10" fmla="*/ 302 w 302"/>
              <a:gd name="T11" fmla="*/ 25 h 205"/>
              <a:gd name="T12" fmla="*/ 146 w 302"/>
              <a:gd name="T13" fmla="*/ 188 h 205"/>
              <a:gd name="T14" fmla="*/ 20 w 302"/>
              <a:gd name="T15" fmla="*/ 182 h 205"/>
              <a:gd name="T16" fmla="*/ 81 w 302"/>
              <a:gd name="T17" fmla="*/ 10 h 205"/>
              <a:gd name="T18" fmla="*/ 146 w 302"/>
              <a:gd name="T19" fmla="*/ 188 h 205"/>
              <a:gd name="T20" fmla="*/ 221 w 302"/>
              <a:gd name="T21" fmla="*/ 171 h 205"/>
              <a:gd name="T22" fmla="*/ 155 w 302"/>
              <a:gd name="T23" fmla="*/ 29 h 205"/>
              <a:gd name="T24" fmla="*/ 282 w 302"/>
              <a:gd name="T25" fmla="*/ 22 h 205"/>
              <a:gd name="T26" fmla="*/ 39 w 302"/>
              <a:gd name="T27" fmla="*/ 41 h 205"/>
              <a:gd name="T28" fmla="*/ 128 w 302"/>
              <a:gd name="T29" fmla="*/ 43 h 205"/>
              <a:gd name="T30" fmla="*/ 127 w 302"/>
              <a:gd name="T31" fmla="*/ 49 h 205"/>
              <a:gd name="T32" fmla="*/ 44 w 302"/>
              <a:gd name="T33" fmla="*/ 43 h 205"/>
              <a:gd name="T34" fmla="*/ 39 w 302"/>
              <a:gd name="T35" fmla="*/ 67 h 205"/>
              <a:gd name="T36" fmla="*/ 128 w 302"/>
              <a:gd name="T37" fmla="*/ 68 h 205"/>
              <a:gd name="T38" fmla="*/ 127 w 302"/>
              <a:gd name="T39" fmla="*/ 74 h 205"/>
              <a:gd name="T40" fmla="*/ 43 w 302"/>
              <a:gd name="T41" fmla="*/ 69 h 205"/>
              <a:gd name="T42" fmla="*/ 39 w 302"/>
              <a:gd name="T43" fmla="*/ 93 h 205"/>
              <a:gd name="T44" fmla="*/ 129 w 302"/>
              <a:gd name="T45" fmla="*/ 94 h 205"/>
              <a:gd name="T46" fmla="*/ 127 w 302"/>
              <a:gd name="T47" fmla="*/ 100 h 205"/>
              <a:gd name="T48" fmla="*/ 43 w 302"/>
              <a:gd name="T49" fmla="*/ 95 h 205"/>
              <a:gd name="T50" fmla="*/ 130 w 302"/>
              <a:gd name="T51" fmla="*/ 125 h 205"/>
              <a:gd name="T52" fmla="*/ 126 w 302"/>
              <a:gd name="T53" fmla="*/ 126 h 205"/>
              <a:gd name="T54" fmla="*/ 39 w 302"/>
              <a:gd name="T55" fmla="*/ 119 h 205"/>
              <a:gd name="T56" fmla="*/ 129 w 302"/>
              <a:gd name="T57" fmla="*/ 120 h 205"/>
              <a:gd name="T58" fmla="*/ 130 w 302"/>
              <a:gd name="T59" fmla="*/ 151 h 205"/>
              <a:gd name="T60" fmla="*/ 126 w 302"/>
              <a:gd name="T61" fmla="*/ 152 h 205"/>
              <a:gd name="T62" fmla="*/ 39 w 302"/>
              <a:gd name="T63" fmla="*/ 146 h 205"/>
              <a:gd name="T64" fmla="*/ 129 w 302"/>
              <a:gd name="T65" fmla="*/ 146 h 205"/>
              <a:gd name="T66" fmla="*/ 260 w 302"/>
              <a:gd name="T67" fmla="*/ 37 h 205"/>
              <a:gd name="T68" fmla="*/ 259 w 302"/>
              <a:gd name="T69" fmla="*/ 43 h 205"/>
              <a:gd name="T70" fmla="*/ 174 w 302"/>
              <a:gd name="T71" fmla="*/ 49 h 205"/>
              <a:gd name="T72" fmla="*/ 173 w 302"/>
              <a:gd name="T73" fmla="*/ 43 h 205"/>
              <a:gd name="T74" fmla="*/ 263 w 302"/>
              <a:gd name="T75" fmla="*/ 67 h 205"/>
              <a:gd name="T76" fmla="*/ 176 w 302"/>
              <a:gd name="T77" fmla="*/ 74 h 205"/>
              <a:gd name="T78" fmla="*/ 172 w 302"/>
              <a:gd name="T79" fmla="*/ 73 h 205"/>
              <a:gd name="T80" fmla="*/ 261 w 302"/>
              <a:gd name="T81" fmla="*/ 63 h 205"/>
              <a:gd name="T82" fmla="*/ 263 w 302"/>
              <a:gd name="T83" fmla="*/ 93 h 205"/>
              <a:gd name="T84" fmla="*/ 176 w 302"/>
              <a:gd name="T85" fmla="*/ 100 h 205"/>
              <a:gd name="T86" fmla="*/ 172 w 302"/>
              <a:gd name="T87" fmla="*/ 99 h 205"/>
              <a:gd name="T88" fmla="*/ 261 w 302"/>
              <a:gd name="T89" fmla="*/ 89 h 205"/>
              <a:gd name="T90" fmla="*/ 263 w 302"/>
              <a:gd name="T91" fmla="*/ 118 h 205"/>
              <a:gd name="T92" fmla="*/ 176 w 302"/>
              <a:gd name="T93" fmla="*/ 126 h 205"/>
              <a:gd name="T94" fmla="*/ 172 w 302"/>
              <a:gd name="T95" fmla="*/ 125 h 205"/>
              <a:gd name="T96" fmla="*/ 261 w 302"/>
              <a:gd name="T97" fmla="*/ 114 h 205"/>
              <a:gd name="T98" fmla="*/ 263 w 302"/>
              <a:gd name="T99" fmla="*/ 145 h 205"/>
              <a:gd name="T100" fmla="*/ 176 w 302"/>
              <a:gd name="T101" fmla="*/ 152 h 205"/>
              <a:gd name="T102" fmla="*/ 172 w 302"/>
              <a:gd name="T103" fmla="*/ 151 h 205"/>
              <a:gd name="T104" fmla="*/ 261 w 302"/>
              <a:gd name="T105" fmla="*/ 14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2" h="205">
                <a:moveTo>
                  <a:pt x="300" y="21"/>
                </a:moveTo>
                <a:cubicBezTo>
                  <a:pt x="284" y="8"/>
                  <a:pt x="256" y="0"/>
                  <a:pt x="225" y="0"/>
                </a:cubicBezTo>
                <a:cubicBezTo>
                  <a:pt x="195" y="0"/>
                  <a:pt x="168" y="7"/>
                  <a:pt x="151" y="19"/>
                </a:cubicBezTo>
                <a:cubicBezTo>
                  <a:pt x="138" y="7"/>
                  <a:pt x="112" y="0"/>
                  <a:pt x="81" y="0"/>
                </a:cubicBezTo>
                <a:cubicBezTo>
                  <a:pt x="48" y="0"/>
                  <a:pt x="18" y="8"/>
                  <a:pt x="2" y="21"/>
                </a:cubicBezTo>
                <a:cubicBezTo>
                  <a:pt x="1" y="22"/>
                  <a:pt x="0" y="23"/>
                  <a:pt x="0" y="25"/>
                </a:cubicBezTo>
                <a:cubicBezTo>
                  <a:pt x="0" y="197"/>
                  <a:pt x="0" y="197"/>
                  <a:pt x="0" y="197"/>
                </a:cubicBezTo>
                <a:cubicBezTo>
                  <a:pt x="0" y="200"/>
                  <a:pt x="5" y="205"/>
                  <a:pt x="12" y="205"/>
                </a:cubicBezTo>
                <a:cubicBezTo>
                  <a:pt x="150" y="205"/>
                  <a:pt x="150" y="205"/>
                  <a:pt x="150" y="205"/>
                </a:cubicBezTo>
                <a:cubicBezTo>
                  <a:pt x="151" y="205"/>
                  <a:pt x="291" y="205"/>
                  <a:pt x="291" y="205"/>
                </a:cubicBezTo>
                <a:cubicBezTo>
                  <a:pt x="295" y="205"/>
                  <a:pt x="302" y="202"/>
                  <a:pt x="302" y="197"/>
                </a:cubicBezTo>
                <a:cubicBezTo>
                  <a:pt x="302" y="25"/>
                  <a:pt x="302" y="25"/>
                  <a:pt x="302" y="25"/>
                </a:cubicBezTo>
                <a:cubicBezTo>
                  <a:pt x="302" y="23"/>
                  <a:pt x="301" y="22"/>
                  <a:pt x="300" y="21"/>
                </a:cubicBezTo>
                <a:close/>
                <a:moveTo>
                  <a:pt x="146" y="188"/>
                </a:moveTo>
                <a:cubicBezTo>
                  <a:pt x="132" y="176"/>
                  <a:pt x="109" y="169"/>
                  <a:pt x="80" y="169"/>
                </a:cubicBezTo>
                <a:cubicBezTo>
                  <a:pt x="58" y="169"/>
                  <a:pt x="36" y="174"/>
                  <a:pt x="20" y="182"/>
                </a:cubicBezTo>
                <a:cubicBezTo>
                  <a:pt x="20" y="22"/>
                  <a:pt x="20" y="22"/>
                  <a:pt x="20" y="22"/>
                </a:cubicBezTo>
                <a:cubicBezTo>
                  <a:pt x="20" y="22"/>
                  <a:pt x="41" y="10"/>
                  <a:pt x="81" y="10"/>
                </a:cubicBezTo>
                <a:cubicBezTo>
                  <a:pt x="128" y="10"/>
                  <a:pt x="146" y="27"/>
                  <a:pt x="146" y="29"/>
                </a:cubicBezTo>
                <a:cubicBezTo>
                  <a:pt x="146" y="32"/>
                  <a:pt x="146" y="188"/>
                  <a:pt x="146" y="188"/>
                </a:cubicBezTo>
                <a:close/>
                <a:moveTo>
                  <a:pt x="282" y="182"/>
                </a:moveTo>
                <a:cubicBezTo>
                  <a:pt x="265" y="175"/>
                  <a:pt x="242" y="171"/>
                  <a:pt x="221" y="171"/>
                </a:cubicBezTo>
                <a:cubicBezTo>
                  <a:pt x="192" y="171"/>
                  <a:pt x="168" y="177"/>
                  <a:pt x="155" y="188"/>
                </a:cubicBezTo>
                <a:cubicBezTo>
                  <a:pt x="155" y="29"/>
                  <a:pt x="155" y="29"/>
                  <a:pt x="155" y="29"/>
                </a:cubicBezTo>
                <a:cubicBezTo>
                  <a:pt x="155" y="29"/>
                  <a:pt x="176" y="10"/>
                  <a:pt x="225" y="10"/>
                </a:cubicBezTo>
                <a:cubicBezTo>
                  <a:pt x="262" y="10"/>
                  <a:pt x="282" y="22"/>
                  <a:pt x="282" y="22"/>
                </a:cubicBezTo>
                <a:lnTo>
                  <a:pt x="282" y="182"/>
                </a:lnTo>
                <a:close/>
                <a:moveTo>
                  <a:pt x="39" y="41"/>
                </a:moveTo>
                <a:cubicBezTo>
                  <a:pt x="39" y="39"/>
                  <a:pt x="40" y="37"/>
                  <a:pt x="42" y="37"/>
                </a:cubicBezTo>
                <a:cubicBezTo>
                  <a:pt x="74" y="28"/>
                  <a:pt x="109" y="30"/>
                  <a:pt x="128" y="43"/>
                </a:cubicBezTo>
                <a:cubicBezTo>
                  <a:pt x="130" y="44"/>
                  <a:pt x="130" y="46"/>
                  <a:pt x="129" y="47"/>
                </a:cubicBezTo>
                <a:cubicBezTo>
                  <a:pt x="129" y="48"/>
                  <a:pt x="128" y="49"/>
                  <a:pt x="127" y="49"/>
                </a:cubicBezTo>
                <a:cubicBezTo>
                  <a:pt x="126" y="49"/>
                  <a:pt x="125" y="49"/>
                  <a:pt x="125" y="48"/>
                </a:cubicBezTo>
                <a:cubicBezTo>
                  <a:pt x="110" y="39"/>
                  <a:pt x="79" y="33"/>
                  <a:pt x="44" y="43"/>
                </a:cubicBezTo>
                <a:cubicBezTo>
                  <a:pt x="42" y="43"/>
                  <a:pt x="40" y="42"/>
                  <a:pt x="39" y="41"/>
                </a:cubicBezTo>
                <a:close/>
                <a:moveTo>
                  <a:pt x="39" y="67"/>
                </a:moveTo>
                <a:cubicBezTo>
                  <a:pt x="39" y="65"/>
                  <a:pt x="40" y="63"/>
                  <a:pt x="42" y="63"/>
                </a:cubicBezTo>
                <a:cubicBezTo>
                  <a:pt x="74" y="54"/>
                  <a:pt x="110" y="56"/>
                  <a:pt x="128" y="68"/>
                </a:cubicBezTo>
                <a:cubicBezTo>
                  <a:pt x="130" y="69"/>
                  <a:pt x="130" y="71"/>
                  <a:pt x="129" y="73"/>
                </a:cubicBezTo>
                <a:cubicBezTo>
                  <a:pt x="129" y="74"/>
                  <a:pt x="128" y="74"/>
                  <a:pt x="127" y="74"/>
                </a:cubicBezTo>
                <a:cubicBezTo>
                  <a:pt x="126" y="74"/>
                  <a:pt x="125" y="74"/>
                  <a:pt x="125" y="74"/>
                </a:cubicBezTo>
                <a:cubicBezTo>
                  <a:pt x="111" y="65"/>
                  <a:pt x="79" y="59"/>
                  <a:pt x="43" y="69"/>
                </a:cubicBezTo>
                <a:cubicBezTo>
                  <a:pt x="42" y="70"/>
                  <a:pt x="40" y="69"/>
                  <a:pt x="39" y="67"/>
                </a:cubicBezTo>
                <a:close/>
                <a:moveTo>
                  <a:pt x="39" y="93"/>
                </a:moveTo>
                <a:cubicBezTo>
                  <a:pt x="39" y="91"/>
                  <a:pt x="40" y="89"/>
                  <a:pt x="42" y="88"/>
                </a:cubicBezTo>
                <a:cubicBezTo>
                  <a:pt x="74" y="79"/>
                  <a:pt x="110" y="82"/>
                  <a:pt x="129" y="94"/>
                </a:cubicBezTo>
                <a:cubicBezTo>
                  <a:pt x="130" y="95"/>
                  <a:pt x="131" y="97"/>
                  <a:pt x="130" y="99"/>
                </a:cubicBezTo>
                <a:cubicBezTo>
                  <a:pt x="129" y="100"/>
                  <a:pt x="128" y="100"/>
                  <a:pt x="127" y="100"/>
                </a:cubicBezTo>
                <a:cubicBezTo>
                  <a:pt x="126" y="100"/>
                  <a:pt x="126" y="100"/>
                  <a:pt x="125" y="100"/>
                </a:cubicBezTo>
                <a:cubicBezTo>
                  <a:pt x="111" y="90"/>
                  <a:pt x="79" y="85"/>
                  <a:pt x="43" y="95"/>
                </a:cubicBezTo>
                <a:cubicBezTo>
                  <a:pt x="42" y="95"/>
                  <a:pt x="40" y="94"/>
                  <a:pt x="39" y="93"/>
                </a:cubicBezTo>
                <a:close/>
                <a:moveTo>
                  <a:pt x="130" y="125"/>
                </a:moveTo>
                <a:cubicBezTo>
                  <a:pt x="130" y="126"/>
                  <a:pt x="129" y="126"/>
                  <a:pt x="128" y="126"/>
                </a:cubicBezTo>
                <a:cubicBezTo>
                  <a:pt x="127" y="126"/>
                  <a:pt x="126" y="126"/>
                  <a:pt x="126" y="126"/>
                </a:cubicBezTo>
                <a:cubicBezTo>
                  <a:pt x="108" y="114"/>
                  <a:pt x="76" y="112"/>
                  <a:pt x="43" y="121"/>
                </a:cubicBezTo>
                <a:cubicBezTo>
                  <a:pt x="42" y="122"/>
                  <a:pt x="40" y="121"/>
                  <a:pt x="39" y="119"/>
                </a:cubicBezTo>
                <a:cubicBezTo>
                  <a:pt x="39" y="117"/>
                  <a:pt x="40" y="115"/>
                  <a:pt x="42" y="115"/>
                </a:cubicBezTo>
                <a:cubicBezTo>
                  <a:pt x="77" y="105"/>
                  <a:pt x="109" y="107"/>
                  <a:pt x="129" y="120"/>
                </a:cubicBezTo>
                <a:cubicBezTo>
                  <a:pt x="131" y="121"/>
                  <a:pt x="131" y="123"/>
                  <a:pt x="130" y="125"/>
                </a:cubicBezTo>
                <a:close/>
                <a:moveTo>
                  <a:pt x="130" y="151"/>
                </a:moveTo>
                <a:cubicBezTo>
                  <a:pt x="130" y="152"/>
                  <a:pt x="129" y="152"/>
                  <a:pt x="128" y="152"/>
                </a:cubicBezTo>
                <a:cubicBezTo>
                  <a:pt x="127" y="152"/>
                  <a:pt x="126" y="152"/>
                  <a:pt x="126" y="152"/>
                </a:cubicBezTo>
                <a:cubicBezTo>
                  <a:pt x="109" y="141"/>
                  <a:pt x="71" y="137"/>
                  <a:pt x="44" y="148"/>
                </a:cubicBezTo>
                <a:cubicBezTo>
                  <a:pt x="42" y="148"/>
                  <a:pt x="40" y="148"/>
                  <a:pt x="39" y="146"/>
                </a:cubicBezTo>
                <a:cubicBezTo>
                  <a:pt x="39" y="144"/>
                  <a:pt x="40" y="142"/>
                  <a:pt x="41" y="142"/>
                </a:cubicBezTo>
                <a:cubicBezTo>
                  <a:pt x="71" y="130"/>
                  <a:pt x="111" y="134"/>
                  <a:pt x="129" y="146"/>
                </a:cubicBezTo>
                <a:cubicBezTo>
                  <a:pt x="131" y="147"/>
                  <a:pt x="131" y="149"/>
                  <a:pt x="130" y="151"/>
                </a:cubicBezTo>
                <a:close/>
                <a:moveTo>
                  <a:pt x="260" y="37"/>
                </a:moveTo>
                <a:cubicBezTo>
                  <a:pt x="262" y="37"/>
                  <a:pt x="263" y="39"/>
                  <a:pt x="263" y="41"/>
                </a:cubicBezTo>
                <a:cubicBezTo>
                  <a:pt x="262" y="42"/>
                  <a:pt x="260" y="43"/>
                  <a:pt x="259" y="43"/>
                </a:cubicBezTo>
                <a:cubicBezTo>
                  <a:pt x="225" y="33"/>
                  <a:pt x="191" y="38"/>
                  <a:pt x="176" y="48"/>
                </a:cubicBezTo>
                <a:cubicBezTo>
                  <a:pt x="176" y="49"/>
                  <a:pt x="175" y="49"/>
                  <a:pt x="174" y="49"/>
                </a:cubicBezTo>
                <a:cubicBezTo>
                  <a:pt x="173" y="49"/>
                  <a:pt x="172" y="48"/>
                  <a:pt x="172" y="47"/>
                </a:cubicBezTo>
                <a:cubicBezTo>
                  <a:pt x="171" y="46"/>
                  <a:pt x="171" y="44"/>
                  <a:pt x="173" y="43"/>
                </a:cubicBezTo>
                <a:cubicBezTo>
                  <a:pt x="192" y="30"/>
                  <a:pt x="228" y="27"/>
                  <a:pt x="260" y="37"/>
                </a:cubicBezTo>
                <a:close/>
                <a:moveTo>
                  <a:pt x="263" y="67"/>
                </a:moveTo>
                <a:cubicBezTo>
                  <a:pt x="262" y="69"/>
                  <a:pt x="261" y="70"/>
                  <a:pt x="259" y="69"/>
                </a:cubicBezTo>
                <a:cubicBezTo>
                  <a:pt x="225" y="60"/>
                  <a:pt x="191" y="64"/>
                  <a:pt x="176" y="74"/>
                </a:cubicBezTo>
                <a:cubicBezTo>
                  <a:pt x="176" y="75"/>
                  <a:pt x="175" y="75"/>
                  <a:pt x="175" y="75"/>
                </a:cubicBezTo>
                <a:cubicBezTo>
                  <a:pt x="173" y="75"/>
                  <a:pt x="172" y="74"/>
                  <a:pt x="172" y="73"/>
                </a:cubicBezTo>
                <a:cubicBezTo>
                  <a:pt x="171" y="72"/>
                  <a:pt x="171" y="70"/>
                  <a:pt x="173" y="69"/>
                </a:cubicBezTo>
                <a:cubicBezTo>
                  <a:pt x="192" y="56"/>
                  <a:pt x="228" y="54"/>
                  <a:pt x="261" y="63"/>
                </a:cubicBezTo>
                <a:cubicBezTo>
                  <a:pt x="262" y="63"/>
                  <a:pt x="263" y="65"/>
                  <a:pt x="263" y="67"/>
                </a:cubicBezTo>
                <a:close/>
                <a:moveTo>
                  <a:pt x="263" y="93"/>
                </a:moveTo>
                <a:cubicBezTo>
                  <a:pt x="262" y="95"/>
                  <a:pt x="261" y="96"/>
                  <a:pt x="259" y="95"/>
                </a:cubicBezTo>
                <a:cubicBezTo>
                  <a:pt x="225" y="86"/>
                  <a:pt x="192" y="91"/>
                  <a:pt x="176" y="100"/>
                </a:cubicBezTo>
                <a:cubicBezTo>
                  <a:pt x="176" y="101"/>
                  <a:pt x="175" y="101"/>
                  <a:pt x="175" y="101"/>
                </a:cubicBezTo>
                <a:cubicBezTo>
                  <a:pt x="173" y="101"/>
                  <a:pt x="172" y="100"/>
                  <a:pt x="172" y="99"/>
                </a:cubicBezTo>
                <a:cubicBezTo>
                  <a:pt x="171" y="98"/>
                  <a:pt x="171" y="96"/>
                  <a:pt x="173" y="95"/>
                </a:cubicBezTo>
                <a:cubicBezTo>
                  <a:pt x="192" y="82"/>
                  <a:pt x="228" y="80"/>
                  <a:pt x="261" y="89"/>
                </a:cubicBezTo>
                <a:cubicBezTo>
                  <a:pt x="262" y="89"/>
                  <a:pt x="263" y="91"/>
                  <a:pt x="263" y="93"/>
                </a:cubicBezTo>
                <a:close/>
                <a:moveTo>
                  <a:pt x="263" y="118"/>
                </a:moveTo>
                <a:cubicBezTo>
                  <a:pt x="262" y="120"/>
                  <a:pt x="261" y="121"/>
                  <a:pt x="259" y="121"/>
                </a:cubicBezTo>
                <a:cubicBezTo>
                  <a:pt x="228" y="112"/>
                  <a:pt x="191" y="116"/>
                  <a:pt x="176" y="126"/>
                </a:cubicBezTo>
                <a:cubicBezTo>
                  <a:pt x="176" y="126"/>
                  <a:pt x="175" y="127"/>
                  <a:pt x="175" y="127"/>
                </a:cubicBezTo>
                <a:cubicBezTo>
                  <a:pt x="173" y="127"/>
                  <a:pt x="172" y="126"/>
                  <a:pt x="172" y="125"/>
                </a:cubicBezTo>
                <a:cubicBezTo>
                  <a:pt x="171" y="123"/>
                  <a:pt x="171" y="121"/>
                  <a:pt x="173" y="120"/>
                </a:cubicBezTo>
                <a:cubicBezTo>
                  <a:pt x="189" y="110"/>
                  <a:pt x="227" y="105"/>
                  <a:pt x="261" y="114"/>
                </a:cubicBezTo>
                <a:cubicBezTo>
                  <a:pt x="262" y="115"/>
                  <a:pt x="263" y="117"/>
                  <a:pt x="263" y="118"/>
                </a:cubicBezTo>
                <a:close/>
                <a:moveTo>
                  <a:pt x="263" y="145"/>
                </a:moveTo>
                <a:cubicBezTo>
                  <a:pt x="262" y="146"/>
                  <a:pt x="261" y="147"/>
                  <a:pt x="259" y="147"/>
                </a:cubicBezTo>
                <a:cubicBezTo>
                  <a:pt x="225" y="137"/>
                  <a:pt x="192" y="142"/>
                  <a:pt x="176" y="152"/>
                </a:cubicBezTo>
                <a:cubicBezTo>
                  <a:pt x="176" y="152"/>
                  <a:pt x="175" y="153"/>
                  <a:pt x="175" y="153"/>
                </a:cubicBezTo>
                <a:cubicBezTo>
                  <a:pt x="174" y="153"/>
                  <a:pt x="172" y="152"/>
                  <a:pt x="172" y="151"/>
                </a:cubicBezTo>
                <a:cubicBezTo>
                  <a:pt x="171" y="150"/>
                  <a:pt x="171" y="147"/>
                  <a:pt x="173" y="146"/>
                </a:cubicBezTo>
                <a:cubicBezTo>
                  <a:pt x="192" y="134"/>
                  <a:pt x="228" y="131"/>
                  <a:pt x="261" y="140"/>
                </a:cubicBezTo>
                <a:cubicBezTo>
                  <a:pt x="262" y="141"/>
                  <a:pt x="263" y="143"/>
                  <a:pt x="263" y="145"/>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3445862"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5" name="组合 14"/>
          <p:cNvGrpSpPr/>
          <p:nvPr/>
        </p:nvGrpSpPr>
        <p:grpSpPr>
          <a:xfrm rot="5400000">
            <a:off x="3953628" y="1943244"/>
            <a:ext cx="1492024" cy="1492026"/>
            <a:chOff x="1133019" y="2416926"/>
            <a:chExt cx="1613394" cy="1613396"/>
          </a:xfrm>
        </p:grpSpPr>
        <p:sp>
          <p:nvSpPr>
            <p:cNvPr id="16" name="椭圆 15"/>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a:off x="1133019" y="2416926"/>
              <a:ext cx="1613394" cy="1613396"/>
              <a:chOff x="1133019" y="2416926"/>
              <a:chExt cx="1613394" cy="1613396"/>
            </a:xfrm>
          </p:grpSpPr>
          <p:sp>
            <p:nvSpPr>
              <p:cNvPr id="18" name="弧形 17"/>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弧形 18"/>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20" name="椭圆 19"/>
          <p:cNvSpPr/>
          <p:nvPr/>
        </p:nvSpPr>
        <p:spPr>
          <a:xfrm>
            <a:off x="4152912"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33"/>
          <p:cNvSpPr txBox="1"/>
          <p:nvPr/>
        </p:nvSpPr>
        <p:spPr>
          <a:xfrm>
            <a:off x="3817378"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模型参与度低</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22" name="文本框 34"/>
          <p:cNvSpPr txBox="1"/>
          <p:nvPr/>
        </p:nvSpPr>
        <p:spPr>
          <a:xfrm>
            <a:off x="3493797"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60% CHF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居家监测风险预警模型未纳入照护者反馈，难以匹配照护者实际决策需求。</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3944287"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Freeform 96"/>
          <p:cNvSpPr>
            <a:spLocks noEditPoints="1"/>
          </p:cNvSpPr>
          <p:nvPr/>
        </p:nvSpPr>
        <p:spPr bwMode="auto">
          <a:xfrm>
            <a:off x="4504826" y="2475282"/>
            <a:ext cx="389629" cy="467868"/>
          </a:xfrm>
          <a:custGeom>
            <a:avLst/>
            <a:gdLst>
              <a:gd name="T0" fmla="*/ 107 w 211"/>
              <a:gd name="T1" fmla="*/ 213 h 253"/>
              <a:gd name="T2" fmla="*/ 50 w 211"/>
              <a:gd name="T3" fmla="*/ 2 h 253"/>
              <a:gd name="T4" fmla="*/ 16 w 211"/>
              <a:gd name="T5" fmla="*/ 89 h 253"/>
              <a:gd name="T6" fmla="*/ 134 w 211"/>
              <a:gd name="T7" fmla="*/ 197 h 253"/>
              <a:gd name="T8" fmla="*/ 199 w 211"/>
              <a:gd name="T9" fmla="*/ 180 h 253"/>
              <a:gd name="T10" fmla="*/ 52 w 211"/>
              <a:gd name="T11" fmla="*/ 253 h 253"/>
              <a:gd name="T12" fmla="*/ 108 w 211"/>
              <a:gd name="T13" fmla="*/ 224 h 253"/>
              <a:gd name="T14" fmla="*/ 171 w 211"/>
              <a:gd name="T15" fmla="*/ 161 h 253"/>
              <a:gd name="T16" fmla="*/ 41 w 211"/>
              <a:gd name="T17" fmla="*/ 89 h 253"/>
              <a:gd name="T18" fmla="*/ 50 w 211"/>
              <a:gd name="T19" fmla="*/ 92 h 253"/>
              <a:gd name="T20" fmla="*/ 53 w 211"/>
              <a:gd name="T21" fmla="*/ 87 h 253"/>
              <a:gd name="T22" fmla="*/ 56 w 211"/>
              <a:gd name="T23" fmla="*/ 84 h 253"/>
              <a:gd name="T24" fmla="*/ 41 w 211"/>
              <a:gd name="T25" fmla="*/ 89 h 253"/>
              <a:gd name="T26" fmla="*/ 105 w 211"/>
              <a:gd name="T27" fmla="*/ 42 h 253"/>
              <a:gd name="T28" fmla="*/ 107 w 211"/>
              <a:gd name="T29" fmla="*/ 33 h 253"/>
              <a:gd name="T30" fmla="*/ 114 w 211"/>
              <a:gd name="T31" fmla="*/ 48 h 253"/>
              <a:gd name="T32" fmla="*/ 105 w 211"/>
              <a:gd name="T33" fmla="*/ 65 h 253"/>
              <a:gd name="T34" fmla="*/ 111 w 211"/>
              <a:gd name="T35" fmla="*/ 75 h 253"/>
              <a:gd name="T36" fmla="*/ 114 w 211"/>
              <a:gd name="T37" fmla="*/ 62 h 253"/>
              <a:gd name="T38" fmla="*/ 116 w 211"/>
              <a:gd name="T39" fmla="*/ 59 h 253"/>
              <a:gd name="T40" fmla="*/ 136 w 211"/>
              <a:gd name="T41" fmla="*/ 58 h 253"/>
              <a:gd name="T42" fmla="*/ 120 w 211"/>
              <a:gd name="T43" fmla="*/ 71 h 253"/>
              <a:gd name="T44" fmla="*/ 125 w 211"/>
              <a:gd name="T45" fmla="*/ 101 h 253"/>
              <a:gd name="T46" fmla="*/ 140 w 211"/>
              <a:gd name="T47" fmla="*/ 96 h 253"/>
              <a:gd name="T48" fmla="*/ 171 w 211"/>
              <a:gd name="T49" fmla="*/ 121 h 253"/>
              <a:gd name="T50" fmla="*/ 169 w 211"/>
              <a:gd name="T51" fmla="*/ 104 h 253"/>
              <a:gd name="T52" fmla="*/ 154 w 211"/>
              <a:gd name="T53" fmla="*/ 77 h 253"/>
              <a:gd name="T54" fmla="*/ 155 w 211"/>
              <a:gd name="T55" fmla="*/ 61 h 253"/>
              <a:gd name="T56" fmla="*/ 146 w 211"/>
              <a:gd name="T57" fmla="*/ 59 h 253"/>
              <a:gd name="T58" fmla="*/ 155 w 211"/>
              <a:gd name="T59" fmla="*/ 57 h 253"/>
              <a:gd name="T60" fmla="*/ 167 w 211"/>
              <a:gd name="T61" fmla="*/ 58 h 253"/>
              <a:gd name="T62" fmla="*/ 116 w 211"/>
              <a:gd name="T63" fmla="*/ 21 h 253"/>
              <a:gd name="T64" fmla="*/ 114 w 211"/>
              <a:gd name="T65" fmla="*/ 27 h 253"/>
              <a:gd name="T66" fmla="*/ 100 w 211"/>
              <a:gd name="T67" fmla="*/ 33 h 253"/>
              <a:gd name="T68" fmla="*/ 95 w 211"/>
              <a:gd name="T69" fmla="*/ 151 h 253"/>
              <a:gd name="T70" fmla="*/ 128 w 211"/>
              <a:gd name="T71" fmla="*/ 173 h 253"/>
              <a:gd name="T72" fmla="*/ 129 w 211"/>
              <a:gd name="T73" fmla="*/ 168 h 253"/>
              <a:gd name="T74" fmla="*/ 127 w 211"/>
              <a:gd name="T75" fmla="*/ 163 h 253"/>
              <a:gd name="T76" fmla="*/ 128 w 211"/>
              <a:gd name="T77" fmla="*/ 153 h 253"/>
              <a:gd name="T78" fmla="*/ 130 w 211"/>
              <a:gd name="T79" fmla="*/ 147 h 253"/>
              <a:gd name="T80" fmla="*/ 127 w 211"/>
              <a:gd name="T81" fmla="*/ 125 h 253"/>
              <a:gd name="T82" fmla="*/ 113 w 211"/>
              <a:gd name="T83" fmla="*/ 128 h 253"/>
              <a:gd name="T84" fmla="*/ 90 w 211"/>
              <a:gd name="T85" fmla="*/ 136 h 253"/>
              <a:gd name="T86" fmla="*/ 73 w 211"/>
              <a:gd name="T87" fmla="*/ 94 h 253"/>
              <a:gd name="T88" fmla="*/ 78 w 211"/>
              <a:gd name="T89" fmla="*/ 92 h 253"/>
              <a:gd name="T90" fmla="*/ 51 w 211"/>
              <a:gd name="T91" fmla="*/ 100 h 253"/>
              <a:gd name="T92" fmla="*/ 43 w 211"/>
              <a:gd name="T93" fmla="*/ 100 h 253"/>
              <a:gd name="T94" fmla="*/ 62 w 211"/>
              <a:gd name="T95" fmla="*/ 147 h 253"/>
              <a:gd name="T96" fmla="*/ 74 w 211"/>
              <a:gd name="T97" fmla="*/ 135 h 253"/>
              <a:gd name="T98" fmla="*/ 59 w 211"/>
              <a:gd name="T99" fmla="*/ 143 h 253"/>
              <a:gd name="T100" fmla="*/ 56 w 211"/>
              <a:gd name="T101" fmla="*/ 129 h 253"/>
              <a:gd name="T102" fmla="*/ 67 w 211"/>
              <a:gd name="T103" fmla="*/ 124 h 253"/>
              <a:gd name="T104" fmla="*/ 72 w 211"/>
              <a:gd name="T105" fmla="*/ 101 h 253"/>
              <a:gd name="T106" fmla="*/ 58 w 211"/>
              <a:gd name="T107" fmla="*/ 49 h 253"/>
              <a:gd name="T108" fmla="*/ 58 w 211"/>
              <a:gd name="T109" fmla="*/ 69 h 253"/>
              <a:gd name="T110" fmla="*/ 62 w 211"/>
              <a:gd name="T111" fmla="*/ 68 h 253"/>
              <a:gd name="T112" fmla="*/ 63 w 211"/>
              <a:gd name="T113" fmla="*/ 72 h 253"/>
              <a:gd name="T114" fmla="*/ 71 w 211"/>
              <a:gd name="T115" fmla="*/ 59 h 253"/>
              <a:gd name="T116" fmla="*/ 72 w 211"/>
              <a:gd name="T117" fmla="*/ 52 h 253"/>
              <a:gd name="T118" fmla="*/ 62 w 211"/>
              <a:gd name="T119" fmla="*/ 50 h 253"/>
              <a:gd name="T120" fmla="*/ 58 w 211"/>
              <a:gd name="T121" fmla="*/ 5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53">
                <a:moveTo>
                  <a:pt x="199" y="180"/>
                </a:moveTo>
                <a:cubicBezTo>
                  <a:pt x="182" y="196"/>
                  <a:pt x="161" y="208"/>
                  <a:pt x="137" y="212"/>
                </a:cubicBezTo>
                <a:cubicBezTo>
                  <a:pt x="127" y="214"/>
                  <a:pt x="117" y="214"/>
                  <a:pt x="107" y="213"/>
                </a:cubicBezTo>
                <a:cubicBezTo>
                  <a:pt x="53" y="208"/>
                  <a:pt x="11" y="168"/>
                  <a:pt x="2" y="118"/>
                </a:cubicBezTo>
                <a:cubicBezTo>
                  <a:pt x="1" y="108"/>
                  <a:pt x="0" y="98"/>
                  <a:pt x="1" y="87"/>
                </a:cubicBezTo>
                <a:cubicBezTo>
                  <a:pt x="4" y="52"/>
                  <a:pt x="23" y="21"/>
                  <a:pt x="50" y="2"/>
                </a:cubicBezTo>
                <a:cubicBezTo>
                  <a:pt x="54" y="0"/>
                  <a:pt x="58" y="1"/>
                  <a:pt x="61" y="4"/>
                </a:cubicBezTo>
                <a:cubicBezTo>
                  <a:pt x="63" y="8"/>
                  <a:pt x="62" y="12"/>
                  <a:pt x="59" y="15"/>
                </a:cubicBezTo>
                <a:cubicBezTo>
                  <a:pt x="35" y="31"/>
                  <a:pt x="19" y="58"/>
                  <a:pt x="16" y="89"/>
                </a:cubicBezTo>
                <a:cubicBezTo>
                  <a:pt x="16" y="98"/>
                  <a:pt x="16" y="106"/>
                  <a:pt x="18" y="115"/>
                </a:cubicBezTo>
                <a:cubicBezTo>
                  <a:pt x="25" y="159"/>
                  <a:pt x="62" y="194"/>
                  <a:pt x="108" y="198"/>
                </a:cubicBezTo>
                <a:cubicBezTo>
                  <a:pt x="117" y="199"/>
                  <a:pt x="126" y="198"/>
                  <a:pt x="134" y="197"/>
                </a:cubicBezTo>
                <a:cubicBezTo>
                  <a:pt x="155" y="193"/>
                  <a:pt x="174" y="183"/>
                  <a:pt x="188" y="169"/>
                </a:cubicBezTo>
                <a:cubicBezTo>
                  <a:pt x="191" y="166"/>
                  <a:pt x="196" y="166"/>
                  <a:pt x="199" y="169"/>
                </a:cubicBezTo>
                <a:cubicBezTo>
                  <a:pt x="202" y="172"/>
                  <a:pt x="202" y="177"/>
                  <a:pt x="199" y="180"/>
                </a:cubicBezTo>
                <a:close/>
                <a:moveTo>
                  <a:pt x="108" y="224"/>
                </a:moveTo>
                <a:cubicBezTo>
                  <a:pt x="82" y="224"/>
                  <a:pt x="57" y="235"/>
                  <a:pt x="49" y="247"/>
                </a:cubicBezTo>
                <a:cubicBezTo>
                  <a:pt x="48" y="249"/>
                  <a:pt x="49" y="253"/>
                  <a:pt x="52" y="253"/>
                </a:cubicBezTo>
                <a:cubicBezTo>
                  <a:pt x="164" y="253"/>
                  <a:pt x="164" y="253"/>
                  <a:pt x="164" y="253"/>
                </a:cubicBezTo>
                <a:cubicBezTo>
                  <a:pt x="167" y="253"/>
                  <a:pt x="169" y="249"/>
                  <a:pt x="167" y="247"/>
                </a:cubicBezTo>
                <a:cubicBezTo>
                  <a:pt x="158" y="233"/>
                  <a:pt x="133" y="224"/>
                  <a:pt x="108" y="224"/>
                </a:cubicBezTo>
                <a:close/>
                <a:moveTo>
                  <a:pt x="63" y="33"/>
                </a:moveTo>
                <a:cubicBezTo>
                  <a:pt x="99" y="3"/>
                  <a:pt x="152" y="8"/>
                  <a:pt x="181" y="43"/>
                </a:cubicBezTo>
                <a:cubicBezTo>
                  <a:pt x="211" y="79"/>
                  <a:pt x="206" y="132"/>
                  <a:pt x="171" y="161"/>
                </a:cubicBezTo>
                <a:cubicBezTo>
                  <a:pt x="136" y="191"/>
                  <a:pt x="83" y="186"/>
                  <a:pt x="53" y="151"/>
                </a:cubicBezTo>
                <a:cubicBezTo>
                  <a:pt x="23" y="116"/>
                  <a:pt x="28" y="63"/>
                  <a:pt x="63" y="33"/>
                </a:cubicBezTo>
                <a:close/>
                <a:moveTo>
                  <a:pt x="41" y="89"/>
                </a:moveTo>
                <a:cubicBezTo>
                  <a:pt x="42" y="88"/>
                  <a:pt x="43" y="88"/>
                  <a:pt x="44" y="88"/>
                </a:cubicBezTo>
                <a:cubicBezTo>
                  <a:pt x="46" y="88"/>
                  <a:pt x="47" y="88"/>
                  <a:pt x="48" y="89"/>
                </a:cubicBezTo>
                <a:cubicBezTo>
                  <a:pt x="49" y="90"/>
                  <a:pt x="49" y="91"/>
                  <a:pt x="50" y="92"/>
                </a:cubicBezTo>
                <a:cubicBezTo>
                  <a:pt x="51" y="92"/>
                  <a:pt x="52" y="91"/>
                  <a:pt x="53" y="91"/>
                </a:cubicBezTo>
                <a:cubicBezTo>
                  <a:pt x="54" y="91"/>
                  <a:pt x="55" y="90"/>
                  <a:pt x="55" y="90"/>
                </a:cubicBezTo>
                <a:cubicBezTo>
                  <a:pt x="55" y="90"/>
                  <a:pt x="55" y="89"/>
                  <a:pt x="53" y="87"/>
                </a:cubicBezTo>
                <a:cubicBezTo>
                  <a:pt x="53" y="87"/>
                  <a:pt x="53" y="86"/>
                  <a:pt x="53" y="86"/>
                </a:cubicBezTo>
                <a:cubicBezTo>
                  <a:pt x="53" y="85"/>
                  <a:pt x="53" y="85"/>
                  <a:pt x="54" y="85"/>
                </a:cubicBezTo>
                <a:cubicBezTo>
                  <a:pt x="55" y="85"/>
                  <a:pt x="56" y="84"/>
                  <a:pt x="56" y="84"/>
                </a:cubicBezTo>
                <a:cubicBezTo>
                  <a:pt x="56" y="84"/>
                  <a:pt x="56" y="83"/>
                  <a:pt x="56" y="83"/>
                </a:cubicBezTo>
                <a:cubicBezTo>
                  <a:pt x="51" y="84"/>
                  <a:pt x="45" y="85"/>
                  <a:pt x="41" y="87"/>
                </a:cubicBezTo>
                <a:cubicBezTo>
                  <a:pt x="41" y="88"/>
                  <a:pt x="41" y="88"/>
                  <a:pt x="41" y="89"/>
                </a:cubicBezTo>
                <a:close/>
                <a:moveTo>
                  <a:pt x="102" y="48"/>
                </a:moveTo>
                <a:cubicBezTo>
                  <a:pt x="103" y="47"/>
                  <a:pt x="105" y="47"/>
                  <a:pt x="106" y="48"/>
                </a:cubicBezTo>
                <a:cubicBezTo>
                  <a:pt x="106" y="46"/>
                  <a:pt x="106" y="44"/>
                  <a:pt x="105" y="42"/>
                </a:cubicBezTo>
                <a:cubicBezTo>
                  <a:pt x="104" y="34"/>
                  <a:pt x="104" y="33"/>
                  <a:pt x="105" y="32"/>
                </a:cubicBezTo>
                <a:cubicBezTo>
                  <a:pt x="105" y="32"/>
                  <a:pt x="105" y="32"/>
                  <a:pt x="106" y="32"/>
                </a:cubicBezTo>
                <a:cubicBezTo>
                  <a:pt x="107" y="32"/>
                  <a:pt x="107" y="33"/>
                  <a:pt x="107" y="33"/>
                </a:cubicBezTo>
                <a:cubicBezTo>
                  <a:pt x="107" y="33"/>
                  <a:pt x="107" y="33"/>
                  <a:pt x="107" y="33"/>
                </a:cubicBezTo>
                <a:cubicBezTo>
                  <a:pt x="108" y="34"/>
                  <a:pt x="109" y="36"/>
                  <a:pt x="110" y="38"/>
                </a:cubicBezTo>
                <a:cubicBezTo>
                  <a:pt x="112" y="41"/>
                  <a:pt x="114" y="44"/>
                  <a:pt x="114" y="48"/>
                </a:cubicBezTo>
                <a:cubicBezTo>
                  <a:pt x="113" y="50"/>
                  <a:pt x="112" y="51"/>
                  <a:pt x="110" y="53"/>
                </a:cubicBezTo>
                <a:cubicBezTo>
                  <a:pt x="108" y="54"/>
                  <a:pt x="108" y="54"/>
                  <a:pt x="108" y="56"/>
                </a:cubicBezTo>
                <a:cubicBezTo>
                  <a:pt x="108" y="58"/>
                  <a:pt x="108" y="61"/>
                  <a:pt x="105" y="65"/>
                </a:cubicBezTo>
                <a:cubicBezTo>
                  <a:pt x="107" y="67"/>
                  <a:pt x="107" y="69"/>
                  <a:pt x="107" y="71"/>
                </a:cubicBezTo>
                <a:cubicBezTo>
                  <a:pt x="107" y="73"/>
                  <a:pt x="107" y="74"/>
                  <a:pt x="109" y="76"/>
                </a:cubicBezTo>
                <a:cubicBezTo>
                  <a:pt x="110" y="76"/>
                  <a:pt x="111" y="75"/>
                  <a:pt x="111" y="75"/>
                </a:cubicBezTo>
                <a:cubicBezTo>
                  <a:pt x="112" y="74"/>
                  <a:pt x="112" y="72"/>
                  <a:pt x="112" y="70"/>
                </a:cubicBezTo>
                <a:cubicBezTo>
                  <a:pt x="111" y="68"/>
                  <a:pt x="111" y="65"/>
                  <a:pt x="112" y="64"/>
                </a:cubicBezTo>
                <a:cubicBezTo>
                  <a:pt x="113" y="63"/>
                  <a:pt x="113" y="63"/>
                  <a:pt x="114" y="62"/>
                </a:cubicBezTo>
                <a:cubicBezTo>
                  <a:pt x="115" y="62"/>
                  <a:pt x="115" y="62"/>
                  <a:pt x="115" y="61"/>
                </a:cubicBezTo>
                <a:cubicBezTo>
                  <a:pt x="114" y="61"/>
                  <a:pt x="114" y="60"/>
                  <a:pt x="115" y="60"/>
                </a:cubicBezTo>
                <a:cubicBezTo>
                  <a:pt x="115" y="59"/>
                  <a:pt x="115" y="59"/>
                  <a:pt x="116" y="59"/>
                </a:cubicBezTo>
                <a:cubicBezTo>
                  <a:pt x="119" y="59"/>
                  <a:pt x="123" y="60"/>
                  <a:pt x="126" y="62"/>
                </a:cubicBezTo>
                <a:cubicBezTo>
                  <a:pt x="126" y="61"/>
                  <a:pt x="127" y="60"/>
                  <a:pt x="128" y="59"/>
                </a:cubicBezTo>
                <a:cubicBezTo>
                  <a:pt x="130" y="57"/>
                  <a:pt x="133" y="56"/>
                  <a:pt x="136" y="58"/>
                </a:cubicBezTo>
                <a:cubicBezTo>
                  <a:pt x="138" y="60"/>
                  <a:pt x="139" y="62"/>
                  <a:pt x="138" y="64"/>
                </a:cubicBezTo>
                <a:cubicBezTo>
                  <a:pt x="136" y="69"/>
                  <a:pt x="130" y="73"/>
                  <a:pt x="125" y="73"/>
                </a:cubicBezTo>
                <a:cubicBezTo>
                  <a:pt x="123" y="73"/>
                  <a:pt x="121" y="72"/>
                  <a:pt x="120" y="71"/>
                </a:cubicBezTo>
                <a:cubicBezTo>
                  <a:pt x="117" y="72"/>
                  <a:pt x="115" y="74"/>
                  <a:pt x="114" y="77"/>
                </a:cubicBezTo>
                <a:cubicBezTo>
                  <a:pt x="112" y="82"/>
                  <a:pt x="113" y="89"/>
                  <a:pt x="117" y="95"/>
                </a:cubicBezTo>
                <a:cubicBezTo>
                  <a:pt x="121" y="101"/>
                  <a:pt x="123" y="101"/>
                  <a:pt x="125" y="101"/>
                </a:cubicBezTo>
                <a:cubicBezTo>
                  <a:pt x="127" y="101"/>
                  <a:pt x="130" y="100"/>
                  <a:pt x="132" y="99"/>
                </a:cubicBezTo>
                <a:cubicBezTo>
                  <a:pt x="135" y="97"/>
                  <a:pt x="137" y="96"/>
                  <a:pt x="140" y="96"/>
                </a:cubicBezTo>
                <a:cubicBezTo>
                  <a:pt x="140" y="96"/>
                  <a:pt x="140" y="96"/>
                  <a:pt x="140" y="96"/>
                </a:cubicBezTo>
                <a:cubicBezTo>
                  <a:pt x="140" y="96"/>
                  <a:pt x="140" y="96"/>
                  <a:pt x="141" y="96"/>
                </a:cubicBezTo>
                <a:cubicBezTo>
                  <a:pt x="142" y="97"/>
                  <a:pt x="144" y="99"/>
                  <a:pt x="146" y="101"/>
                </a:cubicBezTo>
                <a:cubicBezTo>
                  <a:pt x="153" y="108"/>
                  <a:pt x="166" y="121"/>
                  <a:pt x="171" y="121"/>
                </a:cubicBezTo>
                <a:cubicBezTo>
                  <a:pt x="172" y="121"/>
                  <a:pt x="172" y="121"/>
                  <a:pt x="172" y="121"/>
                </a:cubicBezTo>
                <a:cubicBezTo>
                  <a:pt x="172" y="121"/>
                  <a:pt x="173" y="119"/>
                  <a:pt x="171" y="112"/>
                </a:cubicBezTo>
                <a:cubicBezTo>
                  <a:pt x="170" y="110"/>
                  <a:pt x="170" y="107"/>
                  <a:pt x="169" y="104"/>
                </a:cubicBezTo>
                <a:cubicBezTo>
                  <a:pt x="166" y="94"/>
                  <a:pt x="163" y="82"/>
                  <a:pt x="159" y="75"/>
                </a:cubicBezTo>
                <a:cubicBezTo>
                  <a:pt x="158" y="76"/>
                  <a:pt x="157" y="77"/>
                  <a:pt x="156" y="78"/>
                </a:cubicBezTo>
                <a:cubicBezTo>
                  <a:pt x="155" y="78"/>
                  <a:pt x="154" y="78"/>
                  <a:pt x="154" y="77"/>
                </a:cubicBezTo>
                <a:cubicBezTo>
                  <a:pt x="152" y="75"/>
                  <a:pt x="153" y="73"/>
                  <a:pt x="155" y="70"/>
                </a:cubicBezTo>
                <a:cubicBezTo>
                  <a:pt x="156" y="67"/>
                  <a:pt x="157" y="64"/>
                  <a:pt x="156" y="61"/>
                </a:cubicBezTo>
                <a:cubicBezTo>
                  <a:pt x="156" y="61"/>
                  <a:pt x="156" y="61"/>
                  <a:pt x="155" y="61"/>
                </a:cubicBezTo>
                <a:cubicBezTo>
                  <a:pt x="155" y="61"/>
                  <a:pt x="154" y="61"/>
                  <a:pt x="153" y="62"/>
                </a:cubicBezTo>
                <a:cubicBezTo>
                  <a:pt x="152" y="62"/>
                  <a:pt x="151" y="63"/>
                  <a:pt x="150" y="63"/>
                </a:cubicBezTo>
                <a:cubicBezTo>
                  <a:pt x="148" y="63"/>
                  <a:pt x="146" y="61"/>
                  <a:pt x="146" y="59"/>
                </a:cubicBezTo>
                <a:cubicBezTo>
                  <a:pt x="145" y="59"/>
                  <a:pt x="145" y="58"/>
                  <a:pt x="146" y="58"/>
                </a:cubicBezTo>
                <a:cubicBezTo>
                  <a:pt x="146" y="57"/>
                  <a:pt x="147" y="57"/>
                  <a:pt x="147" y="58"/>
                </a:cubicBezTo>
                <a:cubicBezTo>
                  <a:pt x="150" y="59"/>
                  <a:pt x="152" y="58"/>
                  <a:pt x="155" y="57"/>
                </a:cubicBezTo>
                <a:cubicBezTo>
                  <a:pt x="156" y="56"/>
                  <a:pt x="158" y="55"/>
                  <a:pt x="161" y="55"/>
                </a:cubicBezTo>
                <a:cubicBezTo>
                  <a:pt x="162" y="55"/>
                  <a:pt x="164" y="55"/>
                  <a:pt x="165" y="56"/>
                </a:cubicBezTo>
                <a:cubicBezTo>
                  <a:pt x="166" y="57"/>
                  <a:pt x="166" y="57"/>
                  <a:pt x="167" y="58"/>
                </a:cubicBezTo>
                <a:cubicBezTo>
                  <a:pt x="168" y="60"/>
                  <a:pt x="170" y="62"/>
                  <a:pt x="174" y="62"/>
                </a:cubicBezTo>
                <a:cubicBezTo>
                  <a:pt x="173" y="58"/>
                  <a:pt x="172" y="51"/>
                  <a:pt x="175" y="47"/>
                </a:cubicBezTo>
                <a:cubicBezTo>
                  <a:pt x="160" y="30"/>
                  <a:pt x="139" y="20"/>
                  <a:pt x="116" y="21"/>
                </a:cubicBezTo>
                <a:cubicBezTo>
                  <a:pt x="117" y="22"/>
                  <a:pt x="117" y="23"/>
                  <a:pt x="117" y="24"/>
                </a:cubicBezTo>
                <a:cubicBezTo>
                  <a:pt x="117" y="25"/>
                  <a:pt x="116" y="26"/>
                  <a:pt x="115" y="27"/>
                </a:cubicBezTo>
                <a:cubicBezTo>
                  <a:pt x="115" y="27"/>
                  <a:pt x="114" y="27"/>
                  <a:pt x="114" y="27"/>
                </a:cubicBezTo>
                <a:cubicBezTo>
                  <a:pt x="113" y="27"/>
                  <a:pt x="113" y="26"/>
                  <a:pt x="113" y="26"/>
                </a:cubicBezTo>
                <a:cubicBezTo>
                  <a:pt x="112" y="25"/>
                  <a:pt x="111" y="24"/>
                  <a:pt x="110" y="24"/>
                </a:cubicBezTo>
                <a:cubicBezTo>
                  <a:pt x="107" y="24"/>
                  <a:pt x="102" y="27"/>
                  <a:pt x="100" y="33"/>
                </a:cubicBezTo>
                <a:cubicBezTo>
                  <a:pt x="98" y="36"/>
                  <a:pt x="97" y="42"/>
                  <a:pt x="102" y="48"/>
                </a:cubicBezTo>
                <a:close/>
                <a:moveTo>
                  <a:pt x="94" y="149"/>
                </a:moveTo>
                <a:cubicBezTo>
                  <a:pt x="94" y="149"/>
                  <a:pt x="95" y="150"/>
                  <a:pt x="95" y="151"/>
                </a:cubicBezTo>
                <a:cubicBezTo>
                  <a:pt x="97" y="150"/>
                  <a:pt x="98" y="150"/>
                  <a:pt x="100" y="150"/>
                </a:cubicBezTo>
                <a:cubicBezTo>
                  <a:pt x="110" y="150"/>
                  <a:pt x="116" y="158"/>
                  <a:pt x="122" y="166"/>
                </a:cubicBezTo>
                <a:cubicBezTo>
                  <a:pt x="124" y="168"/>
                  <a:pt x="126" y="171"/>
                  <a:pt x="128" y="173"/>
                </a:cubicBezTo>
                <a:cubicBezTo>
                  <a:pt x="129" y="173"/>
                  <a:pt x="131" y="172"/>
                  <a:pt x="132" y="172"/>
                </a:cubicBezTo>
                <a:cubicBezTo>
                  <a:pt x="132" y="171"/>
                  <a:pt x="131" y="170"/>
                  <a:pt x="130" y="169"/>
                </a:cubicBezTo>
                <a:cubicBezTo>
                  <a:pt x="130" y="169"/>
                  <a:pt x="129" y="168"/>
                  <a:pt x="129" y="168"/>
                </a:cubicBezTo>
                <a:cubicBezTo>
                  <a:pt x="130" y="165"/>
                  <a:pt x="129" y="165"/>
                  <a:pt x="129" y="165"/>
                </a:cubicBezTo>
                <a:cubicBezTo>
                  <a:pt x="128" y="165"/>
                  <a:pt x="128" y="165"/>
                  <a:pt x="128" y="164"/>
                </a:cubicBezTo>
                <a:cubicBezTo>
                  <a:pt x="128" y="164"/>
                  <a:pt x="127" y="164"/>
                  <a:pt x="127" y="163"/>
                </a:cubicBezTo>
                <a:cubicBezTo>
                  <a:pt x="128" y="161"/>
                  <a:pt x="129" y="158"/>
                  <a:pt x="130" y="156"/>
                </a:cubicBezTo>
                <a:cubicBezTo>
                  <a:pt x="130" y="156"/>
                  <a:pt x="129" y="155"/>
                  <a:pt x="128" y="155"/>
                </a:cubicBezTo>
                <a:cubicBezTo>
                  <a:pt x="128" y="154"/>
                  <a:pt x="128" y="154"/>
                  <a:pt x="128" y="153"/>
                </a:cubicBezTo>
                <a:cubicBezTo>
                  <a:pt x="129" y="152"/>
                  <a:pt x="129" y="152"/>
                  <a:pt x="130" y="151"/>
                </a:cubicBezTo>
                <a:cubicBezTo>
                  <a:pt x="130" y="151"/>
                  <a:pt x="130" y="150"/>
                  <a:pt x="131" y="150"/>
                </a:cubicBezTo>
                <a:cubicBezTo>
                  <a:pt x="130" y="149"/>
                  <a:pt x="130" y="148"/>
                  <a:pt x="130" y="147"/>
                </a:cubicBezTo>
                <a:cubicBezTo>
                  <a:pt x="130" y="145"/>
                  <a:pt x="130" y="143"/>
                  <a:pt x="129" y="142"/>
                </a:cubicBezTo>
                <a:cubicBezTo>
                  <a:pt x="128" y="141"/>
                  <a:pt x="128" y="141"/>
                  <a:pt x="128" y="140"/>
                </a:cubicBezTo>
                <a:cubicBezTo>
                  <a:pt x="132" y="135"/>
                  <a:pt x="130" y="130"/>
                  <a:pt x="127" y="125"/>
                </a:cubicBezTo>
                <a:cubicBezTo>
                  <a:pt x="127" y="124"/>
                  <a:pt x="126" y="123"/>
                  <a:pt x="126" y="121"/>
                </a:cubicBezTo>
                <a:cubicBezTo>
                  <a:pt x="124" y="121"/>
                  <a:pt x="122" y="123"/>
                  <a:pt x="120" y="124"/>
                </a:cubicBezTo>
                <a:cubicBezTo>
                  <a:pt x="118" y="126"/>
                  <a:pt x="115" y="128"/>
                  <a:pt x="113" y="128"/>
                </a:cubicBezTo>
                <a:cubicBezTo>
                  <a:pt x="112" y="128"/>
                  <a:pt x="111" y="127"/>
                  <a:pt x="110" y="127"/>
                </a:cubicBezTo>
                <a:cubicBezTo>
                  <a:pt x="108" y="128"/>
                  <a:pt x="106" y="128"/>
                  <a:pt x="104" y="129"/>
                </a:cubicBezTo>
                <a:cubicBezTo>
                  <a:pt x="99" y="131"/>
                  <a:pt x="95" y="132"/>
                  <a:pt x="90" y="136"/>
                </a:cubicBezTo>
                <a:cubicBezTo>
                  <a:pt x="90" y="140"/>
                  <a:pt x="92" y="144"/>
                  <a:pt x="94" y="149"/>
                </a:cubicBezTo>
                <a:close/>
                <a:moveTo>
                  <a:pt x="69" y="98"/>
                </a:moveTo>
                <a:cubicBezTo>
                  <a:pt x="71" y="95"/>
                  <a:pt x="72" y="94"/>
                  <a:pt x="73" y="94"/>
                </a:cubicBezTo>
                <a:cubicBezTo>
                  <a:pt x="74" y="94"/>
                  <a:pt x="75" y="95"/>
                  <a:pt x="75" y="96"/>
                </a:cubicBezTo>
                <a:cubicBezTo>
                  <a:pt x="75" y="96"/>
                  <a:pt x="75" y="96"/>
                  <a:pt x="75" y="96"/>
                </a:cubicBezTo>
                <a:cubicBezTo>
                  <a:pt x="76" y="95"/>
                  <a:pt x="76" y="95"/>
                  <a:pt x="78" y="92"/>
                </a:cubicBezTo>
                <a:cubicBezTo>
                  <a:pt x="77" y="91"/>
                  <a:pt x="75" y="91"/>
                  <a:pt x="73" y="91"/>
                </a:cubicBezTo>
                <a:cubicBezTo>
                  <a:pt x="65" y="91"/>
                  <a:pt x="55" y="94"/>
                  <a:pt x="52" y="97"/>
                </a:cubicBezTo>
                <a:cubicBezTo>
                  <a:pt x="52" y="98"/>
                  <a:pt x="52" y="99"/>
                  <a:pt x="51" y="100"/>
                </a:cubicBezTo>
                <a:cubicBezTo>
                  <a:pt x="50" y="101"/>
                  <a:pt x="49" y="102"/>
                  <a:pt x="47" y="102"/>
                </a:cubicBezTo>
                <a:cubicBezTo>
                  <a:pt x="47" y="102"/>
                  <a:pt x="45" y="102"/>
                  <a:pt x="44" y="99"/>
                </a:cubicBezTo>
                <a:cubicBezTo>
                  <a:pt x="44" y="100"/>
                  <a:pt x="43" y="100"/>
                  <a:pt x="43" y="100"/>
                </a:cubicBezTo>
                <a:cubicBezTo>
                  <a:pt x="42" y="100"/>
                  <a:pt x="41" y="100"/>
                  <a:pt x="41" y="99"/>
                </a:cubicBezTo>
                <a:cubicBezTo>
                  <a:pt x="41" y="116"/>
                  <a:pt x="47" y="132"/>
                  <a:pt x="58" y="146"/>
                </a:cubicBezTo>
                <a:cubicBezTo>
                  <a:pt x="58" y="146"/>
                  <a:pt x="59" y="147"/>
                  <a:pt x="62" y="147"/>
                </a:cubicBezTo>
                <a:cubicBezTo>
                  <a:pt x="70" y="147"/>
                  <a:pt x="80" y="143"/>
                  <a:pt x="85" y="139"/>
                </a:cubicBezTo>
                <a:cubicBezTo>
                  <a:pt x="82" y="139"/>
                  <a:pt x="79" y="138"/>
                  <a:pt x="77" y="137"/>
                </a:cubicBezTo>
                <a:cubicBezTo>
                  <a:pt x="76" y="136"/>
                  <a:pt x="75" y="136"/>
                  <a:pt x="74" y="135"/>
                </a:cubicBezTo>
                <a:cubicBezTo>
                  <a:pt x="74" y="135"/>
                  <a:pt x="74" y="135"/>
                  <a:pt x="74" y="135"/>
                </a:cubicBezTo>
                <a:cubicBezTo>
                  <a:pt x="71" y="135"/>
                  <a:pt x="66" y="140"/>
                  <a:pt x="64" y="142"/>
                </a:cubicBezTo>
                <a:cubicBezTo>
                  <a:pt x="63" y="143"/>
                  <a:pt x="62" y="144"/>
                  <a:pt x="59" y="143"/>
                </a:cubicBezTo>
                <a:cubicBezTo>
                  <a:pt x="57" y="142"/>
                  <a:pt x="55" y="139"/>
                  <a:pt x="55" y="137"/>
                </a:cubicBezTo>
                <a:cubicBezTo>
                  <a:pt x="54" y="134"/>
                  <a:pt x="55" y="132"/>
                  <a:pt x="56" y="130"/>
                </a:cubicBezTo>
                <a:cubicBezTo>
                  <a:pt x="56" y="130"/>
                  <a:pt x="56" y="129"/>
                  <a:pt x="56" y="129"/>
                </a:cubicBezTo>
                <a:cubicBezTo>
                  <a:pt x="58" y="129"/>
                  <a:pt x="60" y="129"/>
                  <a:pt x="63" y="130"/>
                </a:cubicBezTo>
                <a:cubicBezTo>
                  <a:pt x="64" y="130"/>
                  <a:pt x="66" y="130"/>
                  <a:pt x="67" y="131"/>
                </a:cubicBezTo>
                <a:cubicBezTo>
                  <a:pt x="67" y="129"/>
                  <a:pt x="67" y="126"/>
                  <a:pt x="67" y="124"/>
                </a:cubicBezTo>
                <a:cubicBezTo>
                  <a:pt x="66" y="118"/>
                  <a:pt x="65" y="109"/>
                  <a:pt x="73" y="101"/>
                </a:cubicBezTo>
                <a:cubicBezTo>
                  <a:pt x="73" y="101"/>
                  <a:pt x="73" y="101"/>
                  <a:pt x="73" y="101"/>
                </a:cubicBezTo>
                <a:cubicBezTo>
                  <a:pt x="72" y="101"/>
                  <a:pt x="72" y="101"/>
                  <a:pt x="72" y="101"/>
                </a:cubicBezTo>
                <a:cubicBezTo>
                  <a:pt x="70" y="101"/>
                  <a:pt x="69" y="100"/>
                  <a:pt x="69" y="99"/>
                </a:cubicBezTo>
                <a:cubicBezTo>
                  <a:pt x="69" y="99"/>
                  <a:pt x="69" y="98"/>
                  <a:pt x="69" y="98"/>
                </a:cubicBezTo>
                <a:close/>
                <a:moveTo>
                  <a:pt x="58" y="49"/>
                </a:moveTo>
                <a:cubicBezTo>
                  <a:pt x="54" y="54"/>
                  <a:pt x="50" y="59"/>
                  <a:pt x="48" y="65"/>
                </a:cubicBezTo>
                <a:cubicBezTo>
                  <a:pt x="51" y="64"/>
                  <a:pt x="56" y="66"/>
                  <a:pt x="58" y="69"/>
                </a:cubicBezTo>
                <a:cubicBezTo>
                  <a:pt x="58" y="69"/>
                  <a:pt x="58" y="69"/>
                  <a:pt x="58" y="69"/>
                </a:cubicBezTo>
                <a:cubicBezTo>
                  <a:pt x="59" y="69"/>
                  <a:pt x="59" y="69"/>
                  <a:pt x="59" y="69"/>
                </a:cubicBezTo>
                <a:cubicBezTo>
                  <a:pt x="60" y="68"/>
                  <a:pt x="60" y="68"/>
                  <a:pt x="61" y="68"/>
                </a:cubicBezTo>
                <a:cubicBezTo>
                  <a:pt x="61" y="68"/>
                  <a:pt x="62" y="68"/>
                  <a:pt x="62" y="68"/>
                </a:cubicBezTo>
                <a:cubicBezTo>
                  <a:pt x="62" y="68"/>
                  <a:pt x="62" y="68"/>
                  <a:pt x="63" y="69"/>
                </a:cubicBezTo>
                <a:cubicBezTo>
                  <a:pt x="63" y="70"/>
                  <a:pt x="63" y="71"/>
                  <a:pt x="63" y="71"/>
                </a:cubicBezTo>
                <a:cubicBezTo>
                  <a:pt x="63" y="72"/>
                  <a:pt x="63" y="72"/>
                  <a:pt x="63" y="72"/>
                </a:cubicBezTo>
                <a:cubicBezTo>
                  <a:pt x="67" y="74"/>
                  <a:pt x="70" y="74"/>
                  <a:pt x="74" y="71"/>
                </a:cubicBezTo>
                <a:cubicBezTo>
                  <a:pt x="72" y="68"/>
                  <a:pt x="72" y="65"/>
                  <a:pt x="72" y="62"/>
                </a:cubicBezTo>
                <a:cubicBezTo>
                  <a:pt x="72" y="61"/>
                  <a:pt x="72" y="60"/>
                  <a:pt x="71" y="59"/>
                </a:cubicBezTo>
                <a:cubicBezTo>
                  <a:pt x="71" y="57"/>
                  <a:pt x="72" y="56"/>
                  <a:pt x="73" y="56"/>
                </a:cubicBezTo>
                <a:cubicBezTo>
                  <a:pt x="73" y="55"/>
                  <a:pt x="74" y="54"/>
                  <a:pt x="74" y="53"/>
                </a:cubicBezTo>
                <a:cubicBezTo>
                  <a:pt x="73" y="52"/>
                  <a:pt x="73" y="52"/>
                  <a:pt x="72" y="52"/>
                </a:cubicBezTo>
                <a:cubicBezTo>
                  <a:pt x="70" y="52"/>
                  <a:pt x="68" y="52"/>
                  <a:pt x="66" y="50"/>
                </a:cubicBezTo>
                <a:cubicBezTo>
                  <a:pt x="65" y="49"/>
                  <a:pt x="65" y="49"/>
                  <a:pt x="64" y="49"/>
                </a:cubicBezTo>
                <a:cubicBezTo>
                  <a:pt x="64" y="49"/>
                  <a:pt x="63" y="49"/>
                  <a:pt x="62" y="50"/>
                </a:cubicBezTo>
                <a:cubicBezTo>
                  <a:pt x="61" y="50"/>
                  <a:pt x="61" y="50"/>
                  <a:pt x="61" y="50"/>
                </a:cubicBezTo>
                <a:cubicBezTo>
                  <a:pt x="60" y="51"/>
                  <a:pt x="60" y="51"/>
                  <a:pt x="60" y="50"/>
                </a:cubicBezTo>
                <a:cubicBezTo>
                  <a:pt x="59" y="50"/>
                  <a:pt x="59" y="50"/>
                  <a:pt x="58" y="50"/>
                </a:cubicBezTo>
                <a:cubicBezTo>
                  <a:pt x="58" y="49"/>
                  <a:pt x="58" y="49"/>
                  <a:pt x="58" y="49"/>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矩形: 圆角 24"/>
          <p:cNvSpPr/>
          <p:nvPr/>
        </p:nvSpPr>
        <p:spPr>
          <a:xfrm>
            <a:off x="62182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6" name="组合 25"/>
          <p:cNvGrpSpPr/>
          <p:nvPr/>
        </p:nvGrpSpPr>
        <p:grpSpPr>
          <a:xfrm rot="5400000">
            <a:off x="6726027" y="1943244"/>
            <a:ext cx="1492024" cy="1492026"/>
            <a:chOff x="1133019" y="2416926"/>
            <a:chExt cx="1613394" cy="1613396"/>
          </a:xfrm>
        </p:grpSpPr>
        <p:sp>
          <p:nvSpPr>
            <p:cNvPr id="27" name="椭圆 26"/>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8" name="组合 27"/>
            <p:cNvGrpSpPr/>
            <p:nvPr/>
          </p:nvGrpSpPr>
          <p:grpSpPr>
            <a:xfrm>
              <a:off x="1133019" y="2416926"/>
              <a:ext cx="1613394" cy="1613396"/>
              <a:chOff x="1133019" y="2416926"/>
              <a:chExt cx="1613394" cy="1613396"/>
            </a:xfrm>
          </p:grpSpPr>
          <p:sp>
            <p:nvSpPr>
              <p:cNvPr id="29" name="弧形 28"/>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弧形 29"/>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31" name="椭圆 30"/>
          <p:cNvSpPr/>
          <p:nvPr/>
        </p:nvSpPr>
        <p:spPr>
          <a:xfrm>
            <a:off x="69253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2" name="文本框 44"/>
          <p:cNvSpPr txBox="1"/>
          <p:nvPr/>
        </p:nvSpPr>
        <p:spPr>
          <a:xfrm>
            <a:off x="65897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数据互通性差</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33" name="文本框 45"/>
          <p:cNvSpPr txBox="1"/>
          <p:nvPr/>
        </p:nvSpPr>
        <p:spPr>
          <a:xfrm>
            <a:off x="62661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15%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研究实现可穿戴数据与医院诊疗系统的跨场景互通，照护者难获取完整患者医疗背景。</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67166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Freeform 91"/>
          <p:cNvSpPr>
            <a:spLocks noEditPoints="1"/>
          </p:cNvSpPr>
          <p:nvPr/>
        </p:nvSpPr>
        <p:spPr bwMode="auto">
          <a:xfrm>
            <a:off x="7223631" y="2499528"/>
            <a:ext cx="496816" cy="405277"/>
          </a:xfrm>
          <a:custGeom>
            <a:avLst/>
            <a:gdLst>
              <a:gd name="T0" fmla="*/ 34 w 269"/>
              <a:gd name="T1" fmla="*/ 152 h 219"/>
              <a:gd name="T2" fmla="*/ 148 w 269"/>
              <a:gd name="T3" fmla="*/ 177 h 219"/>
              <a:gd name="T4" fmla="*/ 153 w 269"/>
              <a:gd name="T5" fmla="*/ 176 h 219"/>
              <a:gd name="T6" fmla="*/ 264 w 269"/>
              <a:gd name="T7" fmla="*/ 118 h 219"/>
              <a:gd name="T8" fmla="*/ 267 w 269"/>
              <a:gd name="T9" fmla="*/ 107 h 219"/>
              <a:gd name="T10" fmla="*/ 257 w 269"/>
              <a:gd name="T11" fmla="*/ 104 h 219"/>
              <a:gd name="T12" fmla="*/ 148 w 269"/>
              <a:gd name="T13" fmla="*/ 161 h 219"/>
              <a:gd name="T14" fmla="*/ 28 w 269"/>
              <a:gd name="T15" fmla="*/ 136 h 219"/>
              <a:gd name="T16" fmla="*/ 18 w 269"/>
              <a:gd name="T17" fmla="*/ 120 h 219"/>
              <a:gd name="T18" fmla="*/ 34 w 269"/>
              <a:gd name="T19" fmla="*/ 110 h 219"/>
              <a:gd name="T20" fmla="*/ 150 w 269"/>
              <a:gd name="T21" fmla="*/ 135 h 219"/>
              <a:gd name="T22" fmla="*/ 153 w 269"/>
              <a:gd name="T23" fmla="*/ 134 h 219"/>
              <a:gd name="T24" fmla="*/ 264 w 269"/>
              <a:gd name="T25" fmla="*/ 76 h 219"/>
              <a:gd name="T26" fmla="*/ 267 w 269"/>
              <a:gd name="T27" fmla="*/ 65 h 219"/>
              <a:gd name="T28" fmla="*/ 257 w 269"/>
              <a:gd name="T29" fmla="*/ 62 h 219"/>
              <a:gd name="T30" fmla="*/ 148 w 269"/>
              <a:gd name="T31" fmla="*/ 119 h 219"/>
              <a:gd name="T32" fmla="*/ 28 w 269"/>
              <a:gd name="T33" fmla="*/ 93 h 219"/>
              <a:gd name="T34" fmla="*/ 18 w 269"/>
              <a:gd name="T35" fmla="*/ 78 h 219"/>
              <a:gd name="T36" fmla="*/ 34 w 269"/>
              <a:gd name="T37" fmla="*/ 68 h 219"/>
              <a:gd name="T38" fmla="*/ 143 w 269"/>
              <a:gd name="T39" fmla="*/ 91 h 219"/>
              <a:gd name="T40" fmla="*/ 146 w 269"/>
              <a:gd name="T41" fmla="*/ 90 h 219"/>
              <a:gd name="T42" fmla="*/ 257 w 269"/>
              <a:gd name="T43" fmla="*/ 32 h 219"/>
              <a:gd name="T44" fmla="*/ 256 w 269"/>
              <a:gd name="T45" fmla="*/ 22 h 219"/>
              <a:gd name="T46" fmla="*/ 148 w 269"/>
              <a:gd name="T47" fmla="*/ 1 h 219"/>
              <a:gd name="T48" fmla="*/ 119 w 269"/>
              <a:gd name="T49" fmla="*/ 5 h 219"/>
              <a:gd name="T50" fmla="*/ 20 w 269"/>
              <a:gd name="T51" fmla="*/ 54 h 219"/>
              <a:gd name="T52" fmla="*/ 16 w 269"/>
              <a:gd name="T53" fmla="*/ 56 h 219"/>
              <a:gd name="T54" fmla="*/ 3 w 269"/>
              <a:gd name="T55" fmla="*/ 75 h 219"/>
              <a:gd name="T56" fmla="*/ 12 w 269"/>
              <a:gd name="T57" fmla="*/ 102 h 219"/>
              <a:gd name="T58" fmla="*/ 3 w 269"/>
              <a:gd name="T59" fmla="*/ 117 h 219"/>
              <a:gd name="T60" fmla="*/ 12 w 269"/>
              <a:gd name="T61" fmla="*/ 144 h 219"/>
              <a:gd name="T62" fmla="*/ 3 w 269"/>
              <a:gd name="T63" fmla="*/ 159 h 219"/>
              <a:gd name="T64" fmla="*/ 25 w 269"/>
              <a:gd name="T65" fmla="*/ 193 h 219"/>
              <a:gd name="T66" fmla="*/ 149 w 269"/>
              <a:gd name="T67" fmla="*/ 219 h 219"/>
              <a:gd name="T68" fmla="*/ 153 w 269"/>
              <a:gd name="T69" fmla="*/ 218 h 219"/>
              <a:gd name="T70" fmla="*/ 264 w 269"/>
              <a:gd name="T71" fmla="*/ 160 h 219"/>
              <a:gd name="T72" fmla="*/ 267 w 269"/>
              <a:gd name="T73" fmla="*/ 150 h 219"/>
              <a:gd name="T74" fmla="*/ 257 w 269"/>
              <a:gd name="T75" fmla="*/ 146 h 219"/>
              <a:gd name="T76" fmla="*/ 148 w 269"/>
              <a:gd name="T77" fmla="*/ 204 h 219"/>
              <a:gd name="T78" fmla="*/ 28 w 269"/>
              <a:gd name="T79" fmla="*/ 178 h 219"/>
              <a:gd name="T80" fmla="*/ 18 w 269"/>
              <a:gd name="T81" fmla="*/ 162 h 219"/>
              <a:gd name="T82" fmla="*/ 34 w 269"/>
              <a:gd name="T83" fmla="*/ 152 h 219"/>
              <a:gd name="T84" fmla="*/ 142 w 269"/>
              <a:gd name="T85" fmla="*/ 26 h 219"/>
              <a:gd name="T86" fmla="*/ 193 w 269"/>
              <a:gd name="T87" fmla="*/ 37 h 219"/>
              <a:gd name="T88" fmla="*/ 170 w 269"/>
              <a:gd name="T89" fmla="*/ 48 h 219"/>
              <a:gd name="T90" fmla="*/ 119 w 269"/>
              <a:gd name="T91" fmla="*/ 37 h 219"/>
              <a:gd name="T92" fmla="*/ 142 w 269"/>
              <a:gd name="T93" fmla="*/ 26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9" h="219">
                <a:moveTo>
                  <a:pt x="34" y="152"/>
                </a:moveTo>
                <a:cubicBezTo>
                  <a:pt x="34" y="152"/>
                  <a:pt x="148" y="177"/>
                  <a:pt x="148" y="177"/>
                </a:cubicBezTo>
                <a:cubicBezTo>
                  <a:pt x="150" y="177"/>
                  <a:pt x="152" y="177"/>
                  <a:pt x="153" y="176"/>
                </a:cubicBezTo>
                <a:cubicBezTo>
                  <a:pt x="264" y="118"/>
                  <a:pt x="264" y="118"/>
                  <a:pt x="264" y="118"/>
                </a:cubicBezTo>
                <a:cubicBezTo>
                  <a:pt x="267" y="116"/>
                  <a:pt x="269" y="111"/>
                  <a:pt x="267" y="107"/>
                </a:cubicBezTo>
                <a:cubicBezTo>
                  <a:pt x="265" y="104"/>
                  <a:pt x="260" y="102"/>
                  <a:pt x="257" y="104"/>
                </a:cubicBezTo>
                <a:cubicBezTo>
                  <a:pt x="148" y="161"/>
                  <a:pt x="148" y="161"/>
                  <a:pt x="148" y="161"/>
                </a:cubicBezTo>
                <a:cubicBezTo>
                  <a:pt x="28" y="136"/>
                  <a:pt x="28" y="136"/>
                  <a:pt x="28" y="136"/>
                </a:cubicBezTo>
                <a:cubicBezTo>
                  <a:pt x="21" y="134"/>
                  <a:pt x="17" y="127"/>
                  <a:pt x="18" y="120"/>
                </a:cubicBezTo>
                <a:cubicBezTo>
                  <a:pt x="20" y="113"/>
                  <a:pt x="27" y="108"/>
                  <a:pt x="34" y="110"/>
                </a:cubicBezTo>
                <a:cubicBezTo>
                  <a:pt x="34" y="110"/>
                  <a:pt x="149" y="135"/>
                  <a:pt x="150" y="135"/>
                </a:cubicBezTo>
                <a:cubicBezTo>
                  <a:pt x="151" y="135"/>
                  <a:pt x="152" y="134"/>
                  <a:pt x="153" y="134"/>
                </a:cubicBezTo>
                <a:cubicBezTo>
                  <a:pt x="264" y="76"/>
                  <a:pt x="264" y="76"/>
                  <a:pt x="264" y="76"/>
                </a:cubicBezTo>
                <a:cubicBezTo>
                  <a:pt x="267" y="74"/>
                  <a:pt x="269" y="69"/>
                  <a:pt x="267" y="65"/>
                </a:cubicBezTo>
                <a:cubicBezTo>
                  <a:pt x="265" y="61"/>
                  <a:pt x="260" y="60"/>
                  <a:pt x="257" y="62"/>
                </a:cubicBezTo>
                <a:cubicBezTo>
                  <a:pt x="148" y="119"/>
                  <a:pt x="148" y="119"/>
                  <a:pt x="148" y="119"/>
                </a:cubicBezTo>
                <a:cubicBezTo>
                  <a:pt x="28" y="93"/>
                  <a:pt x="28" y="93"/>
                  <a:pt x="28" y="93"/>
                </a:cubicBezTo>
                <a:cubicBezTo>
                  <a:pt x="21" y="92"/>
                  <a:pt x="17" y="85"/>
                  <a:pt x="18" y="78"/>
                </a:cubicBezTo>
                <a:cubicBezTo>
                  <a:pt x="20" y="71"/>
                  <a:pt x="27" y="66"/>
                  <a:pt x="34" y="68"/>
                </a:cubicBezTo>
                <a:cubicBezTo>
                  <a:pt x="34" y="68"/>
                  <a:pt x="142" y="91"/>
                  <a:pt x="143" y="91"/>
                </a:cubicBezTo>
                <a:cubicBezTo>
                  <a:pt x="144" y="91"/>
                  <a:pt x="145" y="90"/>
                  <a:pt x="146" y="90"/>
                </a:cubicBezTo>
                <a:cubicBezTo>
                  <a:pt x="146" y="90"/>
                  <a:pt x="257" y="32"/>
                  <a:pt x="257" y="32"/>
                </a:cubicBezTo>
                <a:cubicBezTo>
                  <a:pt x="265" y="28"/>
                  <a:pt x="264" y="24"/>
                  <a:pt x="256" y="22"/>
                </a:cubicBezTo>
                <a:cubicBezTo>
                  <a:pt x="148" y="1"/>
                  <a:pt x="148" y="1"/>
                  <a:pt x="148" y="1"/>
                </a:cubicBezTo>
                <a:cubicBezTo>
                  <a:pt x="140" y="0"/>
                  <a:pt x="127" y="1"/>
                  <a:pt x="119" y="5"/>
                </a:cubicBezTo>
                <a:cubicBezTo>
                  <a:pt x="20" y="54"/>
                  <a:pt x="20" y="54"/>
                  <a:pt x="20" y="54"/>
                </a:cubicBezTo>
                <a:cubicBezTo>
                  <a:pt x="18" y="55"/>
                  <a:pt x="17" y="56"/>
                  <a:pt x="16" y="56"/>
                </a:cubicBezTo>
                <a:cubicBezTo>
                  <a:pt x="10" y="60"/>
                  <a:pt x="5" y="67"/>
                  <a:pt x="3" y="75"/>
                </a:cubicBezTo>
                <a:cubicBezTo>
                  <a:pt x="1" y="85"/>
                  <a:pt x="5" y="95"/>
                  <a:pt x="12" y="102"/>
                </a:cubicBezTo>
                <a:cubicBezTo>
                  <a:pt x="8" y="106"/>
                  <a:pt x="5" y="111"/>
                  <a:pt x="3" y="117"/>
                </a:cubicBezTo>
                <a:cubicBezTo>
                  <a:pt x="1" y="127"/>
                  <a:pt x="5" y="137"/>
                  <a:pt x="12" y="144"/>
                </a:cubicBezTo>
                <a:cubicBezTo>
                  <a:pt x="8" y="148"/>
                  <a:pt x="5" y="153"/>
                  <a:pt x="3" y="159"/>
                </a:cubicBezTo>
                <a:cubicBezTo>
                  <a:pt x="0" y="174"/>
                  <a:pt x="10" y="190"/>
                  <a:pt x="25" y="193"/>
                </a:cubicBezTo>
                <a:cubicBezTo>
                  <a:pt x="25" y="193"/>
                  <a:pt x="148" y="219"/>
                  <a:pt x="149" y="219"/>
                </a:cubicBezTo>
                <a:cubicBezTo>
                  <a:pt x="150" y="219"/>
                  <a:pt x="152" y="219"/>
                  <a:pt x="153" y="218"/>
                </a:cubicBezTo>
                <a:cubicBezTo>
                  <a:pt x="264" y="160"/>
                  <a:pt x="264" y="160"/>
                  <a:pt x="264" y="160"/>
                </a:cubicBezTo>
                <a:cubicBezTo>
                  <a:pt x="267" y="158"/>
                  <a:pt x="269" y="153"/>
                  <a:pt x="267" y="150"/>
                </a:cubicBezTo>
                <a:cubicBezTo>
                  <a:pt x="265" y="146"/>
                  <a:pt x="260" y="145"/>
                  <a:pt x="257" y="146"/>
                </a:cubicBezTo>
                <a:cubicBezTo>
                  <a:pt x="148" y="204"/>
                  <a:pt x="148" y="204"/>
                  <a:pt x="148" y="204"/>
                </a:cubicBezTo>
                <a:cubicBezTo>
                  <a:pt x="28" y="178"/>
                  <a:pt x="28" y="178"/>
                  <a:pt x="28" y="178"/>
                </a:cubicBezTo>
                <a:cubicBezTo>
                  <a:pt x="21" y="176"/>
                  <a:pt x="17" y="169"/>
                  <a:pt x="18" y="162"/>
                </a:cubicBezTo>
                <a:cubicBezTo>
                  <a:pt x="20" y="155"/>
                  <a:pt x="27" y="151"/>
                  <a:pt x="34" y="152"/>
                </a:cubicBezTo>
                <a:close/>
                <a:moveTo>
                  <a:pt x="142" y="26"/>
                </a:moveTo>
                <a:cubicBezTo>
                  <a:pt x="193" y="37"/>
                  <a:pt x="193" y="37"/>
                  <a:pt x="193" y="37"/>
                </a:cubicBezTo>
                <a:cubicBezTo>
                  <a:pt x="170" y="48"/>
                  <a:pt x="170" y="48"/>
                  <a:pt x="170" y="48"/>
                </a:cubicBezTo>
                <a:cubicBezTo>
                  <a:pt x="119" y="37"/>
                  <a:pt x="119" y="37"/>
                  <a:pt x="119" y="37"/>
                </a:cubicBezTo>
                <a:lnTo>
                  <a:pt x="142" y="26"/>
                </a:ln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矩形: 圆角 35"/>
          <p:cNvSpPr/>
          <p:nvPr/>
        </p:nvSpPr>
        <p:spPr>
          <a:xfrm>
            <a:off x="89906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7" name="组合 36"/>
          <p:cNvGrpSpPr/>
          <p:nvPr/>
        </p:nvGrpSpPr>
        <p:grpSpPr>
          <a:xfrm rot="5400000">
            <a:off x="9498427" y="1943244"/>
            <a:ext cx="1492024" cy="1492026"/>
            <a:chOff x="1133019" y="2416926"/>
            <a:chExt cx="1613394" cy="1613396"/>
          </a:xfrm>
        </p:grpSpPr>
        <p:sp>
          <p:nvSpPr>
            <p:cNvPr id="38" name="椭圆 37"/>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9" name="组合 38"/>
            <p:cNvGrpSpPr/>
            <p:nvPr/>
          </p:nvGrpSpPr>
          <p:grpSpPr>
            <a:xfrm>
              <a:off x="1133019" y="2416926"/>
              <a:ext cx="1613394" cy="1613396"/>
              <a:chOff x="1133019" y="2416926"/>
              <a:chExt cx="1613394" cy="1613396"/>
            </a:xfrm>
          </p:grpSpPr>
          <p:sp>
            <p:nvSpPr>
              <p:cNvPr id="40" name="弧形 39"/>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1" name="弧形 40"/>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42" name="椭圆 41"/>
          <p:cNvSpPr/>
          <p:nvPr/>
        </p:nvSpPr>
        <p:spPr>
          <a:xfrm>
            <a:off x="96977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文本框 55"/>
          <p:cNvSpPr txBox="1"/>
          <p:nvPr/>
        </p:nvSpPr>
        <p:spPr>
          <a:xfrm>
            <a:off x="93621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评价维度单一</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44" name="文本框 56"/>
          <p:cNvSpPr txBox="1"/>
          <p:nvPr/>
        </p:nvSpPr>
        <p:spPr>
          <a:xfrm>
            <a:off x="90385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80%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研究仅评价患者心衰再入院率，缺照护者决策效能、操作便利性的评价指标。</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矩形 44"/>
          <p:cNvSpPr/>
          <p:nvPr/>
        </p:nvSpPr>
        <p:spPr>
          <a:xfrm>
            <a:off x="94890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6" name="Freeform 94"/>
          <p:cNvSpPr>
            <a:spLocks noEditPoints="1"/>
          </p:cNvSpPr>
          <p:nvPr/>
        </p:nvSpPr>
        <p:spPr bwMode="auto">
          <a:xfrm>
            <a:off x="10043757" y="2446717"/>
            <a:ext cx="401365" cy="485080"/>
          </a:xfrm>
          <a:custGeom>
            <a:avLst/>
            <a:gdLst>
              <a:gd name="T0" fmla="*/ 109 w 217"/>
              <a:gd name="T1" fmla="*/ 37 h 262"/>
              <a:gd name="T2" fmla="*/ 109 w 217"/>
              <a:gd name="T3" fmla="*/ 35 h 262"/>
              <a:gd name="T4" fmla="*/ 144 w 217"/>
              <a:gd name="T5" fmla="*/ 0 h 262"/>
              <a:gd name="T6" fmla="*/ 147 w 217"/>
              <a:gd name="T7" fmla="*/ 0 h 262"/>
              <a:gd name="T8" fmla="*/ 147 w 217"/>
              <a:gd name="T9" fmla="*/ 3 h 262"/>
              <a:gd name="T10" fmla="*/ 112 w 217"/>
              <a:gd name="T11" fmla="*/ 37 h 262"/>
              <a:gd name="T12" fmla="*/ 109 w 217"/>
              <a:gd name="T13" fmla="*/ 37 h 262"/>
              <a:gd name="T14" fmla="*/ 208 w 217"/>
              <a:gd name="T15" fmla="*/ 243 h 262"/>
              <a:gd name="T16" fmla="*/ 43 w 217"/>
              <a:gd name="T17" fmla="*/ 243 h 262"/>
              <a:gd name="T18" fmla="*/ 21 w 217"/>
              <a:gd name="T19" fmla="*/ 222 h 262"/>
              <a:gd name="T20" fmla="*/ 43 w 217"/>
              <a:gd name="T21" fmla="*/ 200 h 262"/>
              <a:gd name="T22" fmla="*/ 208 w 217"/>
              <a:gd name="T23" fmla="*/ 200 h 262"/>
              <a:gd name="T24" fmla="*/ 217 w 217"/>
              <a:gd name="T25" fmla="*/ 191 h 262"/>
              <a:gd name="T26" fmla="*/ 208 w 217"/>
              <a:gd name="T27" fmla="*/ 182 h 262"/>
              <a:gd name="T28" fmla="*/ 40 w 217"/>
              <a:gd name="T29" fmla="*/ 182 h 262"/>
              <a:gd name="T30" fmla="*/ 0 w 217"/>
              <a:gd name="T31" fmla="*/ 222 h 262"/>
              <a:gd name="T32" fmla="*/ 40 w 217"/>
              <a:gd name="T33" fmla="*/ 262 h 262"/>
              <a:gd name="T34" fmla="*/ 208 w 217"/>
              <a:gd name="T35" fmla="*/ 262 h 262"/>
              <a:gd name="T36" fmla="*/ 217 w 217"/>
              <a:gd name="T37" fmla="*/ 253 h 262"/>
              <a:gd name="T38" fmla="*/ 208 w 217"/>
              <a:gd name="T39" fmla="*/ 243 h 262"/>
              <a:gd name="T40" fmla="*/ 44 w 217"/>
              <a:gd name="T41" fmla="*/ 66 h 262"/>
              <a:gd name="T42" fmla="*/ 81 w 217"/>
              <a:gd name="T43" fmla="*/ 41 h 262"/>
              <a:gd name="T44" fmla="*/ 111 w 217"/>
              <a:gd name="T45" fmla="*/ 47 h 262"/>
              <a:gd name="T46" fmla="*/ 140 w 217"/>
              <a:gd name="T47" fmla="*/ 41 h 262"/>
              <a:gd name="T48" fmla="*/ 177 w 217"/>
              <a:gd name="T49" fmla="*/ 66 h 262"/>
              <a:gd name="T50" fmla="*/ 138 w 217"/>
              <a:gd name="T51" fmla="*/ 163 h 262"/>
              <a:gd name="T52" fmla="*/ 111 w 217"/>
              <a:gd name="T53" fmla="*/ 157 h 262"/>
              <a:gd name="T54" fmla="*/ 83 w 217"/>
              <a:gd name="T55" fmla="*/ 163 h 262"/>
              <a:gd name="T56" fmla="*/ 44 w 217"/>
              <a:gd name="T57" fmla="*/ 66 h 262"/>
              <a:gd name="T58" fmla="*/ 61 w 217"/>
              <a:gd name="T59" fmla="*/ 77 h 262"/>
              <a:gd name="T60" fmla="*/ 80 w 217"/>
              <a:gd name="T61" fmla="*/ 61 h 262"/>
              <a:gd name="T62" fmla="*/ 82 w 217"/>
              <a:gd name="T63" fmla="*/ 61 h 262"/>
              <a:gd name="T64" fmla="*/ 86 w 217"/>
              <a:gd name="T65" fmla="*/ 56 h 262"/>
              <a:gd name="T66" fmla="*/ 82 w 217"/>
              <a:gd name="T67" fmla="*/ 51 h 262"/>
              <a:gd name="T68" fmla="*/ 80 w 217"/>
              <a:gd name="T69" fmla="*/ 51 h 262"/>
              <a:gd name="T70" fmla="*/ 51 w 217"/>
              <a:gd name="T71" fmla="*/ 75 h 262"/>
              <a:gd name="T72" fmla="*/ 55 w 217"/>
              <a:gd name="T73" fmla="*/ 81 h 262"/>
              <a:gd name="T74" fmla="*/ 56 w 217"/>
              <a:gd name="T75" fmla="*/ 81 h 262"/>
              <a:gd name="T76" fmla="*/ 56 w 217"/>
              <a:gd name="T77" fmla="*/ 81 h 262"/>
              <a:gd name="T78" fmla="*/ 61 w 217"/>
              <a:gd name="T79" fmla="*/ 7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7" h="262">
                <a:moveTo>
                  <a:pt x="109" y="37"/>
                </a:moveTo>
                <a:cubicBezTo>
                  <a:pt x="109" y="36"/>
                  <a:pt x="109" y="36"/>
                  <a:pt x="109" y="35"/>
                </a:cubicBezTo>
                <a:cubicBezTo>
                  <a:pt x="109" y="16"/>
                  <a:pt x="125" y="0"/>
                  <a:pt x="144" y="0"/>
                </a:cubicBezTo>
                <a:cubicBezTo>
                  <a:pt x="145" y="0"/>
                  <a:pt x="146" y="0"/>
                  <a:pt x="147" y="0"/>
                </a:cubicBezTo>
                <a:cubicBezTo>
                  <a:pt x="147" y="1"/>
                  <a:pt x="147" y="2"/>
                  <a:pt x="147" y="3"/>
                </a:cubicBezTo>
                <a:cubicBezTo>
                  <a:pt x="147" y="22"/>
                  <a:pt x="131" y="37"/>
                  <a:pt x="112" y="37"/>
                </a:cubicBezTo>
                <a:cubicBezTo>
                  <a:pt x="111" y="37"/>
                  <a:pt x="110" y="37"/>
                  <a:pt x="109" y="37"/>
                </a:cubicBezTo>
                <a:close/>
                <a:moveTo>
                  <a:pt x="208" y="243"/>
                </a:moveTo>
                <a:cubicBezTo>
                  <a:pt x="43" y="243"/>
                  <a:pt x="43" y="243"/>
                  <a:pt x="43" y="243"/>
                </a:cubicBezTo>
                <a:cubicBezTo>
                  <a:pt x="31" y="243"/>
                  <a:pt x="21" y="233"/>
                  <a:pt x="21" y="222"/>
                </a:cubicBezTo>
                <a:cubicBezTo>
                  <a:pt x="21" y="210"/>
                  <a:pt x="31" y="200"/>
                  <a:pt x="43" y="200"/>
                </a:cubicBezTo>
                <a:cubicBezTo>
                  <a:pt x="208" y="200"/>
                  <a:pt x="208" y="200"/>
                  <a:pt x="208" y="200"/>
                </a:cubicBezTo>
                <a:cubicBezTo>
                  <a:pt x="213" y="200"/>
                  <a:pt x="217" y="196"/>
                  <a:pt x="217" y="191"/>
                </a:cubicBezTo>
                <a:cubicBezTo>
                  <a:pt x="217" y="186"/>
                  <a:pt x="213" y="182"/>
                  <a:pt x="208" y="182"/>
                </a:cubicBezTo>
                <a:cubicBezTo>
                  <a:pt x="40" y="182"/>
                  <a:pt x="40" y="182"/>
                  <a:pt x="40" y="182"/>
                </a:cubicBezTo>
                <a:cubicBezTo>
                  <a:pt x="18" y="182"/>
                  <a:pt x="0" y="200"/>
                  <a:pt x="0" y="222"/>
                </a:cubicBezTo>
                <a:cubicBezTo>
                  <a:pt x="0" y="244"/>
                  <a:pt x="18" y="262"/>
                  <a:pt x="40" y="262"/>
                </a:cubicBezTo>
                <a:cubicBezTo>
                  <a:pt x="208" y="262"/>
                  <a:pt x="208" y="262"/>
                  <a:pt x="208" y="262"/>
                </a:cubicBezTo>
                <a:cubicBezTo>
                  <a:pt x="213" y="262"/>
                  <a:pt x="217" y="258"/>
                  <a:pt x="217" y="253"/>
                </a:cubicBezTo>
                <a:cubicBezTo>
                  <a:pt x="217" y="247"/>
                  <a:pt x="213" y="243"/>
                  <a:pt x="208" y="243"/>
                </a:cubicBezTo>
                <a:close/>
                <a:moveTo>
                  <a:pt x="44" y="66"/>
                </a:moveTo>
                <a:cubicBezTo>
                  <a:pt x="51" y="49"/>
                  <a:pt x="68" y="41"/>
                  <a:pt x="81" y="41"/>
                </a:cubicBezTo>
                <a:cubicBezTo>
                  <a:pt x="96" y="41"/>
                  <a:pt x="99" y="47"/>
                  <a:pt x="111" y="47"/>
                </a:cubicBezTo>
                <a:cubicBezTo>
                  <a:pt x="122" y="47"/>
                  <a:pt x="125" y="41"/>
                  <a:pt x="140" y="41"/>
                </a:cubicBezTo>
                <a:cubicBezTo>
                  <a:pt x="153" y="41"/>
                  <a:pt x="170" y="49"/>
                  <a:pt x="177" y="66"/>
                </a:cubicBezTo>
                <a:cubicBezTo>
                  <a:pt x="192" y="99"/>
                  <a:pt x="167" y="163"/>
                  <a:pt x="138" y="163"/>
                </a:cubicBezTo>
                <a:cubicBezTo>
                  <a:pt x="126" y="163"/>
                  <a:pt x="121" y="157"/>
                  <a:pt x="111" y="157"/>
                </a:cubicBezTo>
                <a:cubicBezTo>
                  <a:pt x="100" y="157"/>
                  <a:pt x="95" y="163"/>
                  <a:pt x="83" y="163"/>
                </a:cubicBezTo>
                <a:cubicBezTo>
                  <a:pt x="54" y="163"/>
                  <a:pt x="29" y="99"/>
                  <a:pt x="44" y="66"/>
                </a:cubicBezTo>
                <a:close/>
                <a:moveTo>
                  <a:pt x="61" y="77"/>
                </a:moveTo>
                <a:cubicBezTo>
                  <a:pt x="63" y="66"/>
                  <a:pt x="73" y="61"/>
                  <a:pt x="80" y="61"/>
                </a:cubicBezTo>
                <a:cubicBezTo>
                  <a:pt x="80" y="61"/>
                  <a:pt x="81" y="61"/>
                  <a:pt x="82" y="61"/>
                </a:cubicBezTo>
                <a:cubicBezTo>
                  <a:pt x="84" y="61"/>
                  <a:pt x="86" y="59"/>
                  <a:pt x="86" y="56"/>
                </a:cubicBezTo>
                <a:cubicBezTo>
                  <a:pt x="86" y="54"/>
                  <a:pt x="85" y="51"/>
                  <a:pt x="82" y="51"/>
                </a:cubicBezTo>
                <a:cubicBezTo>
                  <a:pt x="81" y="51"/>
                  <a:pt x="81" y="51"/>
                  <a:pt x="80" y="51"/>
                </a:cubicBezTo>
                <a:cubicBezTo>
                  <a:pt x="69" y="51"/>
                  <a:pt x="54" y="60"/>
                  <a:pt x="51" y="75"/>
                </a:cubicBezTo>
                <a:cubicBezTo>
                  <a:pt x="51" y="78"/>
                  <a:pt x="53" y="80"/>
                  <a:pt x="55" y="81"/>
                </a:cubicBezTo>
                <a:cubicBezTo>
                  <a:pt x="55" y="81"/>
                  <a:pt x="56" y="81"/>
                  <a:pt x="56" y="81"/>
                </a:cubicBezTo>
                <a:cubicBezTo>
                  <a:pt x="56" y="81"/>
                  <a:pt x="56" y="81"/>
                  <a:pt x="56" y="81"/>
                </a:cubicBezTo>
                <a:cubicBezTo>
                  <a:pt x="58" y="81"/>
                  <a:pt x="60" y="79"/>
                  <a:pt x="61" y="7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中小学深度学习下认知负荷调控的教学设计研究</a:t>
            </a:r>
            <a:r>
              <a:rPr lang="zh-CN" altLang="en-US"/>
              <a:t>现状</a:t>
            </a:r>
            <a:endParaRPr lang="zh-CN" altLang="en-US"/>
          </a:p>
        </p:txBody>
      </p:sp>
      <p:grpSp>
        <p:nvGrpSpPr>
          <p:cNvPr id="4" name="PA-组合 5"/>
          <p:cNvGrpSpPr/>
          <p:nvPr>
            <p:custDataLst>
              <p:tags r:id="rId2"/>
            </p:custDataLst>
          </p:nvPr>
        </p:nvGrpSpPr>
        <p:grpSpPr>
          <a:xfrm>
            <a:off x="1047167" y="1342575"/>
            <a:ext cx="4741333" cy="5350932"/>
            <a:chOff x="3725462" y="753534"/>
            <a:chExt cx="4741333" cy="5350932"/>
          </a:xfrm>
        </p:grpSpPr>
        <p:sp>
          <p:nvSpPr>
            <p:cNvPr id="5" name="PA-椭圆 6"/>
            <p:cNvSpPr/>
            <p:nvPr>
              <p:custDataLst>
                <p:tags r:id="rId3"/>
              </p:custDataLst>
            </p:nvPr>
          </p:nvSpPr>
          <p:spPr>
            <a:xfrm>
              <a:off x="3904826" y="939799"/>
              <a:ext cx="4368800" cy="1517226"/>
            </a:xfrm>
            <a:prstGeom prst="ellipse">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6" name="PA-下箭头 7"/>
            <p:cNvSpPr/>
            <p:nvPr>
              <p:custDataLst>
                <p:tags r:id="rId4"/>
              </p:custDataLst>
            </p:nvPr>
          </p:nvSpPr>
          <p:spPr>
            <a:xfrm>
              <a:off x="5672666" y="4654972"/>
              <a:ext cx="846666" cy="541866"/>
            </a:xfrm>
            <a:prstGeom prst="down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7" name="PA-任意多边形 8"/>
            <p:cNvSpPr/>
            <p:nvPr>
              <p:custDataLst>
                <p:tags r:id="rId5"/>
              </p:custDataLst>
            </p:nvPr>
          </p:nvSpPr>
          <p:spPr>
            <a:xfrm>
              <a:off x="4063999" y="5088466"/>
              <a:ext cx="4064000" cy="1016000"/>
            </a:xfrm>
            <a:custGeom>
              <a:avLst/>
              <a:gdLst>
                <a:gd name="connsiteX0" fmla="*/ 0 w 4064000"/>
                <a:gd name="connsiteY0" fmla="*/ 0 h 1016000"/>
                <a:gd name="connsiteX1" fmla="*/ 4064000 w 4064000"/>
                <a:gd name="connsiteY1" fmla="*/ 0 h 1016000"/>
                <a:gd name="connsiteX2" fmla="*/ 4064000 w 4064000"/>
                <a:gd name="connsiteY2" fmla="*/ 1016000 h 1016000"/>
                <a:gd name="connsiteX3" fmla="*/ 0 w 4064000"/>
                <a:gd name="connsiteY3" fmla="*/ 1016000 h 1016000"/>
                <a:gd name="connsiteX4" fmla="*/ 0 w 4064000"/>
                <a:gd name="connsiteY4" fmla="*/ 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1016000">
                  <a:moveTo>
                    <a:pt x="0" y="0"/>
                  </a:moveTo>
                  <a:lnTo>
                    <a:pt x="4064000" y="0"/>
                  </a:lnTo>
                  <a:lnTo>
                    <a:pt x="4064000" y="1016000"/>
                  </a:lnTo>
                  <a:lnTo>
                    <a:pt x="0" y="1016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6248" tIns="206248" rIns="206248" bIns="206248" numCol="1" spcCol="1270" anchor="ctr" anchorCtr="0">
              <a:noAutofit/>
            </a:bodyPr>
            <a:lstStyle/>
            <a:p>
              <a:pPr marL="0" marR="0" lvl="0" indent="0" algn="ctr" defTabSz="1289050" rtl="0" eaLnBrk="1" fontAlgn="auto" latinLnBrk="0" hangingPunct="1">
                <a:lnSpc>
                  <a:spcPct val="90000"/>
                </a:lnSpc>
                <a:spcBef>
                  <a:spcPct val="0"/>
                </a:spcBef>
                <a:spcAft>
                  <a:spcPct val="35000"/>
                </a:spcAft>
                <a:buClrTx/>
                <a:buSzTx/>
                <a:buFontTx/>
                <a:buNone/>
                <a:defRPr/>
              </a:pPr>
              <a:endParaRPr kumimoji="0" lang="zh-CN" altLang="en-US" sz="29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8" name="PA-任意多边形 9"/>
            <p:cNvSpPr/>
            <p:nvPr>
              <p:custDataLst>
                <p:tags r:id="rId6"/>
              </p:custDataLst>
            </p:nvPr>
          </p:nvSpPr>
          <p:spPr>
            <a:xfrm>
              <a:off x="5493173" y="2574204"/>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9" name="PA-任意多边形 10"/>
            <p:cNvSpPr/>
            <p:nvPr>
              <p:custDataLst>
                <p:tags r:id="rId7"/>
              </p:custDataLst>
            </p:nvPr>
          </p:nvSpPr>
          <p:spPr>
            <a:xfrm>
              <a:off x="4402666" y="143086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0" name="PA-任意多边形 11"/>
            <p:cNvSpPr/>
            <p:nvPr>
              <p:custDataLst>
                <p:tags r:id="rId8"/>
              </p:custDataLst>
            </p:nvPr>
          </p:nvSpPr>
          <p:spPr>
            <a:xfrm>
              <a:off x="5960533" y="106239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1" name="PA-形状 12"/>
            <p:cNvSpPr/>
            <p:nvPr>
              <p:custDataLst>
                <p:tags r:id="rId9"/>
              </p:custDataLst>
            </p:nvPr>
          </p:nvSpPr>
          <p:spPr>
            <a:xfrm>
              <a:off x="3725462" y="753534"/>
              <a:ext cx="4741333" cy="3793066"/>
            </a:xfrm>
            <a:prstGeom prst="funnel">
              <a:avLst/>
            </a:prstGeom>
            <a:solidFill>
              <a:schemeClr val="tx2">
                <a:lumMod val="20000"/>
                <a:lumOff val="80000"/>
                <a:alpha val="40000"/>
              </a:schemeClr>
            </a:solidFill>
            <a:ln>
              <a:noFill/>
            </a:ln>
          </p:spPr>
          <p:style>
            <a:lnRef idx="1">
              <a:scrgbClr r="0" g="0" b="0"/>
            </a:lnRef>
            <a:fillRef idx="1">
              <a:scrgbClr r="0" g="0" b="0"/>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grpSp>
      <p:sp>
        <p:nvSpPr>
          <p:cNvPr id="12" name="文本框 11"/>
          <p:cNvSpPr txBox="1"/>
          <p:nvPr/>
        </p:nvSpPr>
        <p:spPr>
          <a:xfrm>
            <a:off x="2150962" y="2591854"/>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轻设计</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3" name="文本框 12"/>
          <p:cNvSpPr txBox="1"/>
          <p:nvPr/>
        </p:nvSpPr>
        <p:spPr>
          <a:xfrm>
            <a:off x="3746211" y="2250508"/>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缺适配</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4" name="文本框 13"/>
          <p:cNvSpPr txBox="1"/>
          <p:nvPr/>
        </p:nvSpPr>
        <p:spPr>
          <a:xfrm>
            <a:off x="3248371" y="3768412"/>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缺实践</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5" name="文本框 14"/>
          <p:cNvSpPr txBox="1"/>
          <p:nvPr/>
        </p:nvSpPr>
        <p:spPr>
          <a:xfrm>
            <a:off x="2703020" y="5902721"/>
            <a:ext cx="1429367" cy="30734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rPr>
              <a:t>补短板</a:t>
            </a:r>
            <a:endPar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endParaRPr>
          </a:p>
        </p:txBody>
      </p:sp>
      <p:sp>
        <p:nvSpPr>
          <p:cNvPr id="16" name="文本框 15"/>
          <p:cNvSpPr txBox="1"/>
          <p:nvPr/>
        </p:nvSpPr>
        <p:spPr>
          <a:xfrm>
            <a:off x="6734810" y="1974850"/>
            <a:ext cx="2890520"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重理论轻教学设计</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7" name="Rectangle 30_2"/>
          <p:cNvSpPr/>
          <p:nvPr/>
        </p:nvSpPr>
        <p:spPr>
          <a:xfrm>
            <a:off x="6734633" y="2350761"/>
            <a:ext cx="485030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现有研究多聚焦认知负荷理论阐释，鲜少结合深度学习目标设计具体调控教学方案。</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18" name="文本框 17"/>
          <p:cNvSpPr txBox="1"/>
          <p:nvPr/>
        </p:nvSpPr>
        <p:spPr>
          <a:xfrm>
            <a:off x="6738620" y="3547110"/>
            <a:ext cx="42614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学段学科泛化缺适配性</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9" name="Rectangle 30_2"/>
          <p:cNvSpPr/>
          <p:nvPr/>
        </p:nvSpPr>
        <p:spPr>
          <a:xfrm>
            <a:off x="6738743" y="3923431"/>
            <a:ext cx="484619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多数研究未针对中小学不同学段、学科认知特点，探讨认知负荷调控的差异化设计。</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20" name="文本框 19"/>
          <p:cNvSpPr txBox="1"/>
          <p:nvPr/>
        </p:nvSpPr>
        <p:spPr>
          <a:xfrm>
            <a:off x="6743065" y="5120005"/>
            <a:ext cx="37153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重理论缺实践验证</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21" name="Rectangle 30_2"/>
          <p:cNvSpPr/>
          <p:nvPr/>
        </p:nvSpPr>
        <p:spPr>
          <a:xfrm>
            <a:off x="6742853" y="5496101"/>
            <a:ext cx="484208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相关研究多停留在认知负荷调控的理论构想，针对中小学课堂的实践应用与效果验证稀缺。</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10"/>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4"/>
            </p:custDataLst>
          </p:nvPr>
        </p:nvSpPr>
        <p:spPr/>
        <p:txBody>
          <a:bodyPr/>
          <a:p>
            <a:r>
              <a:rPr lang="zh-CN" altLang="en-US"/>
              <a:t>数字化课程视频的智能语义标注研究</a:t>
            </a:r>
            <a:r>
              <a:rPr lang="zh-CN" altLang="en-US"/>
              <a:t>现状</a:t>
            </a:r>
            <a:endParaRPr lang="zh-CN" altLang="en-US"/>
          </a:p>
        </p:txBody>
      </p:sp>
      <p:graphicFrame>
        <p:nvGraphicFramePr>
          <p:cNvPr id="15" name="Chart 2"/>
          <p:cNvGraphicFramePr/>
          <p:nvPr/>
        </p:nvGraphicFramePr>
        <p:xfrm>
          <a:off x="826642" y="1868075"/>
          <a:ext cx="2651742" cy="2082990"/>
        </p:xfrm>
        <a:graphic>
          <a:graphicData uri="http://schemas.openxmlformats.org/drawingml/2006/chart">
            <c:chart xmlns:c="http://schemas.openxmlformats.org/drawingml/2006/chart" xmlns:r="http://schemas.openxmlformats.org/officeDocument/2006/relationships" r:id="rId1"/>
          </a:graphicData>
        </a:graphic>
      </p:graphicFrame>
      <p:sp>
        <p:nvSpPr>
          <p:cNvPr id="16" name="Content Placeholder 2"/>
          <p:cNvSpPr txBox="1"/>
          <p:nvPr/>
        </p:nvSpPr>
        <p:spPr>
          <a:xfrm>
            <a:off x="1620336"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30%</a:t>
            </a:r>
            <a:endParaRPr lang="en-US" sz="3200" dirty="0">
              <a:solidFill>
                <a:schemeClr val="tx1"/>
              </a:solidFill>
              <a:cs typeface="+mn-ea"/>
              <a:sym typeface="+mn-lt"/>
            </a:endParaRPr>
          </a:p>
        </p:txBody>
      </p:sp>
      <p:graphicFrame>
        <p:nvGraphicFramePr>
          <p:cNvPr id="17" name="Chart 39"/>
          <p:cNvGraphicFramePr/>
          <p:nvPr/>
        </p:nvGraphicFramePr>
        <p:xfrm>
          <a:off x="3260758" y="1868075"/>
          <a:ext cx="2651742" cy="2082990"/>
        </p:xfrm>
        <a:graphic>
          <a:graphicData uri="http://schemas.openxmlformats.org/drawingml/2006/chart">
            <c:chart xmlns:c="http://schemas.openxmlformats.org/drawingml/2006/chart" xmlns:r="http://schemas.openxmlformats.org/officeDocument/2006/relationships" r:id="rId2"/>
          </a:graphicData>
        </a:graphic>
      </p:graphicFrame>
      <p:sp>
        <p:nvSpPr>
          <p:cNvPr id="18" name="Content Placeholder 2"/>
          <p:cNvSpPr txBox="1"/>
          <p:nvPr/>
        </p:nvSpPr>
        <p:spPr>
          <a:xfrm>
            <a:off x="4058110"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15%</a:t>
            </a:r>
            <a:endParaRPr lang="en-US" sz="3200" dirty="0">
              <a:solidFill>
                <a:schemeClr val="tx1"/>
              </a:solidFill>
              <a:cs typeface="+mn-ea"/>
              <a:sym typeface="+mn-lt"/>
            </a:endParaRPr>
          </a:p>
        </p:txBody>
      </p:sp>
      <p:sp>
        <p:nvSpPr>
          <p:cNvPr id="20" name="išľíďè"/>
          <p:cNvSpPr/>
          <p:nvPr/>
        </p:nvSpPr>
        <p:spPr bwMode="auto">
          <a:xfrm>
            <a:off x="902335" y="4440555"/>
            <a:ext cx="2271395" cy="55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现有标注依赖通用算法，数字化课程视频库中，标签能精准匹配核心知识点的占比仅</a:t>
            </a:r>
            <a:r>
              <a:rPr lang="en-US" altLang="zh-CN" sz="1400" spc="160" dirty="0">
                <a:cs typeface="+mn-ea"/>
                <a:sym typeface="+mn-lt"/>
              </a:rPr>
              <a:t> 30%</a:t>
            </a:r>
            <a:r>
              <a:rPr lang="zh-CN" altLang="en-US" sz="1400" spc="160" dirty="0">
                <a:cs typeface="+mn-ea"/>
                <a:sym typeface="+mn-lt"/>
              </a:rPr>
              <a:t>，易导致检索偏差。</a:t>
            </a:r>
            <a:endParaRPr lang="zh-CN" altLang="en-US" sz="1400" spc="160" dirty="0">
              <a:cs typeface="+mn-ea"/>
              <a:sym typeface="+mn-lt"/>
            </a:endParaRPr>
          </a:p>
        </p:txBody>
      </p:sp>
      <p:sp>
        <p:nvSpPr>
          <p:cNvPr id="21" name="iSlíďè"/>
          <p:cNvSpPr txBox="1"/>
          <p:nvPr/>
        </p:nvSpPr>
        <p:spPr bwMode="auto">
          <a:xfrm>
            <a:off x="1001701" y="4019815"/>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标签精准度不足</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sp>
        <p:nvSpPr>
          <p:cNvPr id="22" name="išľíďè"/>
          <p:cNvSpPr/>
          <p:nvPr/>
        </p:nvSpPr>
        <p:spPr bwMode="auto">
          <a:xfrm>
            <a:off x="3478384" y="4445898"/>
            <a:ext cx="2536640" cy="55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标注多聚焦显性知识点，同一视频库中，标签能覆盖推理、应用等隐性能力维度的占比仅</a:t>
            </a:r>
            <a:r>
              <a:rPr lang="en-US" altLang="zh-CN" sz="1400" spc="160" dirty="0">
                <a:cs typeface="+mn-ea"/>
                <a:sym typeface="+mn-lt"/>
              </a:rPr>
              <a:t> 15%</a:t>
            </a:r>
            <a:r>
              <a:rPr lang="zh-CN" altLang="en-US" sz="1400" spc="160" dirty="0">
                <a:cs typeface="+mn-ea"/>
                <a:sym typeface="+mn-lt"/>
              </a:rPr>
              <a:t>，难支撑个性化教学。</a:t>
            </a:r>
            <a:endParaRPr lang="zh-CN" altLang="en-US" sz="1400" spc="160" dirty="0">
              <a:cs typeface="+mn-ea"/>
              <a:sym typeface="+mn-lt"/>
            </a:endParaRPr>
          </a:p>
        </p:txBody>
      </p:sp>
      <p:sp>
        <p:nvSpPr>
          <p:cNvPr id="23" name="iSlíďè"/>
          <p:cNvSpPr txBox="1"/>
          <p:nvPr/>
        </p:nvSpPr>
        <p:spPr bwMode="auto">
          <a:xfrm>
            <a:off x="3589275" y="4025261"/>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能力维度覆盖欠缺</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graphicFrame>
        <p:nvGraphicFramePr>
          <p:cNvPr id="24" name="图表 23"/>
          <p:cNvGraphicFramePr/>
          <p:nvPr/>
        </p:nvGraphicFramePr>
        <p:xfrm>
          <a:off x="6115305" y="1868075"/>
          <a:ext cx="5425736" cy="5552364"/>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5"/>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备用</a:t>
            </a:r>
            <a:r>
              <a:rPr lang="zh-CN" altLang="en-US"/>
              <a:t/>
            </a:r>
            <a:endParaRPr lang="zh-CN" altLang="en-US"/>
          </a:p>
        </p:txBody>
      </p:sp>
      <p:sp>
        <p:nvSpPr>
          <p:cNvPr id="4" name="文本占位符 3"/>
          <p:cNvSpPr>
            <a:spLocks noGrp="1"/>
          </p:cNvSpPr>
          <p:nvPr>
            <p:ph type="body" idx="1"/>
            <p:custDataLst>
              <p:tags r:id="rId2"/>
            </p:custDataLst>
          </p:nvPr>
        </p:nvSpPr>
        <p:spPr/>
        <p:txBody>
          <a:bodyPr/>
          <a:p>
            <a:r>
              <a:rPr lang="en-US" altLang="zh-CN"/>
              <a:t>BACKUP</a:t>
            </a:r>
            <a:endParaRPr lang="en-US" altLang="zh-CN"/>
          </a:p>
        </p:txBody>
      </p:sp>
      <p:sp>
        <p:nvSpPr>
          <p:cNvPr id="5" name="文本占位符 4"/>
          <p:cNvSpPr>
            <a:spLocks noGrp="1"/>
          </p:cNvSpPr>
          <p:nvPr>
            <p:ph type="body" idx="13"/>
          </p:nvPr>
        </p:nvSpPr>
        <p:spPr/>
        <p:txBody>
          <a:bodyPr/>
          <a:p>
            <a:r>
              <a:rPr lang="en-US" altLang="zh-CN"/>
              <a:t>04</a:t>
            </a:r>
            <a:endParaRPr lang="en-US" altLang="zh-CN"/>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肿瘤照护者数字症状管理赋能研究</a:t>
            </a:r>
            <a:r>
              <a:rPr lang="zh-CN" altLang="en-US"/>
              <a:t>方法</a:t>
            </a:r>
            <a:endParaRPr lang="zh-CN" altLang="en-US"/>
          </a:p>
        </p:txBody>
      </p:sp>
      <p:sp>
        <p:nvSpPr>
          <p:cNvPr id="3" name="任意多边形: 形状 1"/>
          <p:cNvSpPr/>
          <p:nvPr/>
        </p:nvSpPr>
        <p:spPr>
          <a:xfrm>
            <a:off x="2441389" y="1422400"/>
            <a:ext cx="7614021" cy="4419600"/>
          </a:xfrm>
          <a:custGeom>
            <a:avLst/>
            <a:gdLst>
              <a:gd name="connsiteX0" fmla="*/ 7614021 w 7614021"/>
              <a:gd name="connsiteY0" fmla="*/ 0 h 2662602"/>
              <a:gd name="connsiteX1" fmla="*/ 7614021 w 7614021"/>
              <a:gd name="connsiteY1" fmla="*/ 2662602 h 2662602"/>
              <a:gd name="connsiteX2" fmla="*/ 7296225 w 7614021"/>
              <a:gd name="connsiteY2" fmla="*/ 2576069 h 2662602"/>
              <a:gd name="connsiteX3" fmla="*/ 3807010 w 7614021"/>
              <a:gd name="connsiteY3" fmla="*/ 2154141 h 2662602"/>
              <a:gd name="connsiteX4" fmla="*/ 317795 w 7614021"/>
              <a:gd name="connsiteY4" fmla="*/ 2576069 h 2662602"/>
              <a:gd name="connsiteX5" fmla="*/ 0 w 7614021"/>
              <a:gd name="connsiteY5" fmla="*/ 2662601 h 2662602"/>
              <a:gd name="connsiteX6" fmla="*/ 0 w 7614021"/>
              <a:gd name="connsiteY6" fmla="*/ 0 h 2662602"/>
              <a:gd name="connsiteX7" fmla="*/ 317795 w 7614021"/>
              <a:gd name="connsiteY7" fmla="*/ 86532 h 2662602"/>
              <a:gd name="connsiteX8" fmla="*/ 3807010 w 7614021"/>
              <a:gd name="connsiteY8" fmla="*/ 508460 h 2662602"/>
              <a:gd name="connsiteX9" fmla="*/ 7296225 w 7614021"/>
              <a:gd name="connsiteY9" fmla="*/ 86532 h 266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14021" h="2662602">
                <a:moveTo>
                  <a:pt x="7614021" y="0"/>
                </a:moveTo>
                <a:lnTo>
                  <a:pt x="7614021" y="2662602"/>
                </a:lnTo>
                <a:lnTo>
                  <a:pt x="7296225" y="2576069"/>
                </a:lnTo>
                <a:cubicBezTo>
                  <a:pt x="6240685" y="2305672"/>
                  <a:pt x="5057134" y="2154141"/>
                  <a:pt x="3807010" y="2154141"/>
                </a:cubicBezTo>
                <a:cubicBezTo>
                  <a:pt x="2556887" y="2154141"/>
                  <a:pt x="1373335" y="2305672"/>
                  <a:pt x="317795" y="2576069"/>
                </a:cubicBezTo>
                <a:lnTo>
                  <a:pt x="0" y="2662601"/>
                </a:lnTo>
                <a:lnTo>
                  <a:pt x="0" y="0"/>
                </a:lnTo>
                <a:lnTo>
                  <a:pt x="317795" y="86532"/>
                </a:lnTo>
                <a:cubicBezTo>
                  <a:pt x="1373335" y="356930"/>
                  <a:pt x="2556887" y="508460"/>
                  <a:pt x="3807010" y="508460"/>
                </a:cubicBezTo>
                <a:cubicBezTo>
                  <a:pt x="5057134" y="508460"/>
                  <a:pt x="6240685" y="356930"/>
                  <a:pt x="7296225" y="86532"/>
                </a:cubicBezTo>
                <a:close/>
              </a:path>
            </a:pathLst>
          </a:custGeom>
          <a:gradFill>
            <a:gsLst>
              <a:gs pos="0">
                <a:schemeClr val="accent1">
                  <a:alpha val="0"/>
                </a:schemeClr>
              </a:gs>
              <a:gs pos="50000">
                <a:schemeClr val="accent2">
                  <a:alpha val="21000"/>
                </a:schemeClr>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4" name="矩形: 圆角 2"/>
          <p:cNvSpPr/>
          <p:nvPr/>
        </p:nvSpPr>
        <p:spPr>
          <a:xfrm rot="2700000">
            <a:off x="3170572" y="2661552"/>
            <a:ext cx="1750796" cy="1750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5" name="矩形: 圆角 3"/>
          <p:cNvSpPr>
            <a:spLocks noChangeAspect="1"/>
          </p:cNvSpPr>
          <p:nvPr/>
        </p:nvSpPr>
        <p:spPr>
          <a:xfrm rot="2700000">
            <a:off x="7271232" y="2692803"/>
            <a:ext cx="1749600" cy="17496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6" name="文本框 5"/>
          <p:cNvSpPr txBox="1"/>
          <p:nvPr/>
        </p:nvSpPr>
        <p:spPr>
          <a:xfrm>
            <a:off x="3243330"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准备阶段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7" name="文本框 6"/>
          <p:cNvSpPr txBox="1"/>
          <p:nvPr/>
        </p:nvSpPr>
        <p:spPr>
          <a:xfrm>
            <a:off x="7343392"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正式</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8" name="椭圆 7"/>
          <p:cNvSpPr/>
          <p:nvPr/>
        </p:nvSpPr>
        <p:spPr>
          <a:xfrm>
            <a:off x="2435281" y="1647880"/>
            <a:ext cx="3968640" cy="3968640"/>
          </a:xfrm>
          <a:prstGeom prst="ellipse">
            <a:avLst/>
          </a:prstGeom>
          <a:noFill/>
          <a:ln w="28575">
            <a:gradFill>
              <a:gsLst>
                <a:gs pos="0">
                  <a:schemeClr val="accent2"/>
                </a:gs>
                <a:gs pos="17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9" name="椭圆 8"/>
          <p:cNvSpPr/>
          <p:nvPr/>
        </p:nvSpPr>
        <p:spPr>
          <a:xfrm>
            <a:off x="2671956" y="2409137"/>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0" name="椭圆 9"/>
          <p:cNvSpPr/>
          <p:nvPr/>
        </p:nvSpPr>
        <p:spPr>
          <a:xfrm>
            <a:off x="2671956" y="4633740"/>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椭圆 10"/>
          <p:cNvSpPr/>
          <p:nvPr/>
        </p:nvSpPr>
        <p:spPr>
          <a:xfrm>
            <a:off x="2322715" y="3519635"/>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文本框 11"/>
          <p:cNvSpPr txBox="1"/>
          <p:nvPr/>
        </p:nvSpPr>
        <p:spPr>
          <a:xfrm>
            <a:off x="1009650" y="2330450"/>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初步情况分析</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文本框 12"/>
          <p:cNvSpPr txBox="1"/>
          <p:nvPr/>
        </p:nvSpPr>
        <p:spPr>
          <a:xfrm>
            <a:off x="843076" y="3447534"/>
            <a:ext cx="13258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非正式调研</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文本框 13"/>
          <p:cNvSpPr txBox="1"/>
          <p:nvPr/>
        </p:nvSpPr>
        <p:spPr>
          <a:xfrm>
            <a:off x="1009650" y="4573859"/>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锁定调研目标</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5" name="椭圆 14"/>
          <p:cNvSpPr/>
          <p:nvPr/>
        </p:nvSpPr>
        <p:spPr>
          <a:xfrm flipH="1">
            <a:off x="5787359" y="1647880"/>
            <a:ext cx="3968640" cy="3968640"/>
          </a:xfrm>
          <a:prstGeom prst="ellipse">
            <a:avLst/>
          </a:prstGeom>
          <a:noFill/>
          <a:ln w="28575">
            <a:gradFill>
              <a:gsLst>
                <a:gs pos="0">
                  <a:schemeClr val="accent1"/>
                </a:gs>
                <a:gs pos="17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16" name="椭圆 15"/>
          <p:cNvSpPr/>
          <p:nvPr/>
        </p:nvSpPr>
        <p:spPr>
          <a:xfrm>
            <a:off x="9282794" y="2409137"/>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7" name="椭圆 16"/>
          <p:cNvSpPr/>
          <p:nvPr/>
        </p:nvSpPr>
        <p:spPr>
          <a:xfrm>
            <a:off x="9638352" y="3521439"/>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椭圆 17"/>
          <p:cNvSpPr/>
          <p:nvPr/>
        </p:nvSpPr>
        <p:spPr>
          <a:xfrm>
            <a:off x="9305180" y="4633740"/>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9" name="文本框 18"/>
          <p:cNvSpPr txBox="1"/>
          <p:nvPr/>
        </p:nvSpPr>
        <p:spPr>
          <a:xfrm>
            <a:off x="9655079" y="2330450"/>
            <a:ext cx="17830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相关信息的来源</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文本框 19"/>
          <p:cNvSpPr txBox="1"/>
          <p:nvPr/>
        </p:nvSpPr>
        <p:spPr>
          <a:xfrm>
            <a:off x="9888143" y="3447534"/>
            <a:ext cx="1554480" cy="64516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选择抽样方法</a:t>
            </a:r>
            <a:endParaRPr lang="en-US" altLang="zh-CN"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设计调查问</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文本框 20"/>
          <p:cNvSpPr txBox="1"/>
          <p:nvPr/>
        </p:nvSpPr>
        <p:spPr>
          <a:xfrm>
            <a:off x="9655079" y="4571537"/>
            <a:ext cx="10972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实地调查</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任意多边形: 形状 21"/>
          <p:cNvSpPr/>
          <p:nvPr/>
        </p:nvSpPr>
        <p:spPr>
          <a:xfrm flipV="1">
            <a:off x="5423881" y="3098800"/>
            <a:ext cx="1344238" cy="841670"/>
          </a:xfrm>
          <a:custGeom>
            <a:avLst/>
            <a:gdLst>
              <a:gd name="connsiteX0" fmla="*/ 0 w 1953895"/>
              <a:gd name="connsiteY0" fmla="*/ 1223397 h 1223397"/>
              <a:gd name="connsiteX1" fmla="*/ 1459671 w 1953895"/>
              <a:gd name="connsiteY1" fmla="*/ 855097 h 1223397"/>
              <a:gd name="connsiteX2" fmla="*/ 1337945 w 1953895"/>
              <a:gd name="connsiteY2" fmla="*/ 1182122 h 1223397"/>
              <a:gd name="connsiteX3" fmla="*/ 1951575 w 1953895"/>
              <a:gd name="connsiteY3" fmla="*/ 612775 h 1223397"/>
              <a:gd name="connsiteX4" fmla="*/ 1953895 w 1953895"/>
              <a:gd name="connsiteY4" fmla="*/ 612775 h 1223397"/>
              <a:gd name="connsiteX5" fmla="*/ 1952735 w 1953895"/>
              <a:gd name="connsiteY5" fmla="*/ 611699 h 1223397"/>
              <a:gd name="connsiteX6" fmla="*/ 1953895 w 1953895"/>
              <a:gd name="connsiteY6" fmla="*/ 610622 h 1223397"/>
              <a:gd name="connsiteX7" fmla="*/ 1951575 w 1953895"/>
              <a:gd name="connsiteY7" fmla="*/ 610622 h 1223397"/>
              <a:gd name="connsiteX8" fmla="*/ 1337945 w 1953895"/>
              <a:gd name="connsiteY8" fmla="*/ 41275 h 1223397"/>
              <a:gd name="connsiteX9" fmla="*/ 1459671 w 1953895"/>
              <a:gd name="connsiteY9" fmla="*/ 368300 h 1223397"/>
              <a:gd name="connsiteX10" fmla="*/ 0 w 1953895"/>
              <a:gd name="connsiteY10" fmla="*/ 0 h 1223397"/>
              <a:gd name="connsiteX11" fmla="*/ 0 w 1953895"/>
              <a:gd name="connsiteY11" fmla="*/ 610622 h 1223397"/>
              <a:gd name="connsiteX12" fmla="*/ 0 w 1953895"/>
              <a:gd name="connsiteY12" fmla="*/ 612775 h 122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3895" h="1223397">
                <a:moveTo>
                  <a:pt x="0" y="1223397"/>
                </a:moveTo>
                <a:cubicBezTo>
                  <a:pt x="413532" y="929180"/>
                  <a:pt x="992164" y="857214"/>
                  <a:pt x="1459671" y="855097"/>
                </a:cubicBezTo>
                <a:lnTo>
                  <a:pt x="1337945" y="1182122"/>
                </a:lnTo>
                <a:lnTo>
                  <a:pt x="1951575" y="612775"/>
                </a:lnTo>
                <a:lnTo>
                  <a:pt x="1953895" y="612775"/>
                </a:lnTo>
                <a:lnTo>
                  <a:pt x="1952735" y="611699"/>
                </a:lnTo>
                <a:lnTo>
                  <a:pt x="1953895" y="610622"/>
                </a:lnTo>
                <a:lnTo>
                  <a:pt x="1951575" y="610622"/>
                </a:lnTo>
                <a:lnTo>
                  <a:pt x="1337945" y="41275"/>
                </a:lnTo>
                <a:lnTo>
                  <a:pt x="1459671" y="368300"/>
                </a:lnTo>
                <a:cubicBezTo>
                  <a:pt x="992164" y="366183"/>
                  <a:pt x="413532" y="294217"/>
                  <a:pt x="0" y="0"/>
                </a:cubicBezTo>
                <a:lnTo>
                  <a:pt x="0" y="610622"/>
                </a:lnTo>
                <a:lnTo>
                  <a:pt x="0" y="612775"/>
                </a:lnTo>
                <a:close/>
              </a:path>
            </a:pathLst>
          </a:custGeom>
          <a:gradFill>
            <a:gsLst>
              <a:gs pos="10000">
                <a:schemeClr val="accent1">
                  <a:alpha val="0"/>
                </a:schemeClr>
              </a:gs>
              <a:gs pos="100000">
                <a:schemeClr val="accent1">
                  <a:alpha val="58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高中化学核心素养导向实验教学的教研融合路径研究</a:t>
            </a:r>
            <a:r>
              <a:rPr lang="zh-CN" altLang="en-US"/>
              <a:t>方法</a:t>
            </a:r>
            <a:endParaRPr lang="zh-CN" altLang="en-US"/>
          </a:p>
        </p:txBody>
      </p:sp>
      <p:grpSp>
        <p:nvGrpSpPr>
          <p:cNvPr id="3" name="组合 2"/>
          <p:cNvGrpSpPr/>
          <p:nvPr/>
        </p:nvGrpSpPr>
        <p:grpSpPr>
          <a:xfrm>
            <a:off x="1622953" y="1556795"/>
            <a:ext cx="3888431" cy="1944217"/>
            <a:chOff x="759075" y="2365827"/>
            <a:chExt cx="3087402" cy="1543701"/>
          </a:xfrm>
        </p:grpSpPr>
        <p:sp>
          <p:nvSpPr>
            <p:cNvPr id="4" name="矩形 3"/>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5" name="平行四边形 4"/>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6" name="平行四边形 5"/>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7"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S</a:t>
              </a:r>
              <a:endParaRPr lang="en-US"/>
            </a:p>
          </p:txBody>
        </p:sp>
        <p:sp>
          <p:nvSpPr>
            <p:cNvPr id="8"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现有资源有基础</a:t>
              </a:r>
              <a:endParaRPr lang="zh-CN" altLang="en-US"/>
            </a:p>
          </p:txBody>
        </p:sp>
        <p:sp>
          <p:nvSpPr>
            <p:cNvPr id="9" name="文本框 8"/>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分析高中化学实验教研已具备的资源（如器材、案例库）对核心素养落地的支撑作用。</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a:p>
              <a:pPr marL="0" marR="0" lvl="0" indent="0" algn="just" defTabSz="914400" rtl="0" eaLnBrk="1" fontAlgn="auto" latinLnBrk="0" hangingPunct="1">
                <a:lnSpc>
                  <a:spcPct val="130000"/>
                </a:lnSpc>
                <a:spcBef>
                  <a:spcPts val="600"/>
                </a:spcBef>
                <a:spcAft>
                  <a:spcPts val="60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0" name="矩形 9"/>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1" name="组合 10"/>
          <p:cNvGrpSpPr/>
          <p:nvPr/>
        </p:nvGrpSpPr>
        <p:grpSpPr>
          <a:xfrm>
            <a:off x="6672064" y="1556795"/>
            <a:ext cx="3888431" cy="1944217"/>
            <a:chOff x="759075" y="2365827"/>
            <a:chExt cx="3087402" cy="1543701"/>
          </a:xfrm>
        </p:grpSpPr>
        <p:sp>
          <p:nvSpPr>
            <p:cNvPr id="12" name="矩形 11"/>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3" name="平行四边形 12"/>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4" name="平行四边形 13"/>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5"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W</a:t>
              </a:r>
              <a:endParaRPr lang="en-US">
                <a:ln>
                  <a:solidFill>
                    <a:schemeClr val="accent2"/>
                  </a:solidFill>
                </a:ln>
              </a:endParaRPr>
            </a:p>
          </p:txBody>
        </p:sp>
        <p:sp>
          <p:nvSpPr>
            <p:cNvPr id="16" name="文本占位符 10"/>
            <p:cNvSpPr txBox="1"/>
            <p:nvPr/>
          </p:nvSpPr>
          <p:spPr>
            <a:xfrm>
              <a:off x="970834" y="2532713"/>
              <a:ext cx="2396406"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教师能力存短板</a:t>
              </a:r>
              <a:endParaRPr lang="zh-CN" altLang="en-US">
                <a:solidFill>
                  <a:schemeClr val="accent2"/>
                </a:solidFill>
              </a:endParaRPr>
            </a:p>
          </p:txBody>
        </p:sp>
        <p:sp>
          <p:nvSpPr>
            <p:cNvPr id="17" name="文本框 16"/>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梳理教师在</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实验教学</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核心素养</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教研</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三者融合中存在的能力缺口（如设计、评价能力）。</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8" name="矩形 17"/>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9" name="组合 18"/>
          <p:cNvGrpSpPr/>
          <p:nvPr/>
        </p:nvGrpSpPr>
        <p:grpSpPr>
          <a:xfrm>
            <a:off x="6672064" y="4017086"/>
            <a:ext cx="3888431" cy="1944217"/>
            <a:chOff x="759075" y="2365827"/>
            <a:chExt cx="3087402" cy="1543701"/>
          </a:xfrm>
        </p:grpSpPr>
        <p:sp>
          <p:nvSpPr>
            <p:cNvPr id="20" name="矩形 19"/>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1" name="平行四边形 20"/>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2" name="平行四边形 21"/>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3"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T</a:t>
              </a:r>
              <a:endParaRPr lang="en-US"/>
            </a:p>
          </p:txBody>
        </p:sp>
        <p:sp>
          <p:nvSpPr>
            <p:cNvPr id="24" name="文本占位符 10"/>
            <p:cNvSpPr txBox="1"/>
            <p:nvPr/>
          </p:nvSpPr>
          <p:spPr>
            <a:xfrm>
              <a:off x="970834" y="2532713"/>
              <a:ext cx="2114060"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时间资源有冲突</a:t>
              </a:r>
              <a:endParaRPr lang="zh-CN" altLang="en-US"/>
            </a:p>
          </p:txBody>
        </p:sp>
        <p:sp>
          <p:nvSpPr>
            <p:cNvPr id="25" name="文本框 24"/>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研判高中化学教学任务重、教研时间有限对融合路径落地的制约因素。</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矩形 25"/>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35" name="组合 34"/>
          <p:cNvGrpSpPr/>
          <p:nvPr/>
        </p:nvGrpSpPr>
        <p:grpSpPr>
          <a:xfrm>
            <a:off x="1622953" y="4017086"/>
            <a:ext cx="3888431" cy="1944217"/>
            <a:chOff x="759075" y="2365827"/>
            <a:chExt cx="3087402" cy="1543701"/>
          </a:xfrm>
        </p:grpSpPr>
        <p:sp>
          <p:nvSpPr>
            <p:cNvPr id="36" name="矩形 35"/>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7" name="平行四边形 36"/>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8" name="平行四边形 37"/>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9"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O</a:t>
              </a:r>
              <a:endParaRPr lang="en-US">
                <a:ln>
                  <a:solidFill>
                    <a:schemeClr val="accent2"/>
                  </a:solidFill>
                </a:ln>
              </a:endParaRPr>
            </a:p>
          </p:txBody>
        </p:sp>
        <p:sp>
          <p:nvSpPr>
            <p:cNvPr id="40"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政策课标强驱动</a:t>
              </a:r>
              <a:endParaRPr lang="zh-CN" altLang="en-US">
                <a:solidFill>
                  <a:schemeClr val="accent2"/>
                </a:solidFill>
              </a:endParaRPr>
            </a:p>
          </p:txBody>
        </p:sp>
        <p:sp>
          <p:nvSpPr>
            <p:cNvPr id="41" name="文本框 40"/>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挖掘新课标对化学核心素养的要求为教研融合提供的政策支持与实践方向。</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42" name="矩形 41"/>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面向脑机接口的运动意图解码模型轻量化研究</a:t>
            </a:r>
            <a:r>
              <a:rPr lang="zh-CN" altLang="en-US"/>
              <a:t>方法</a:t>
            </a:r>
            <a:endParaRPr lang="zh-CN" altLang="en-US"/>
          </a:p>
        </p:txBody>
      </p:sp>
      <p:sp>
        <p:nvSpPr>
          <p:cNvPr id="13" name="圆角矩形 12"/>
          <p:cNvSpPr/>
          <p:nvPr>
            <p:custDataLst>
              <p:tags r:id="rId2"/>
            </p:custDataLst>
          </p:nvPr>
        </p:nvSpPr>
        <p:spPr>
          <a:xfrm>
            <a:off x="5384800" y="3220085"/>
            <a:ext cx="2532380" cy="349885"/>
          </a:xfrm>
          <a:prstGeom prst="roundRect">
            <a:avLst>
              <a:gd name="adj" fmla="val 5000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sp>
        <p:nvSpPr>
          <p:cNvPr id="20" name="圆角矩形 19"/>
          <p:cNvSpPr/>
          <p:nvPr>
            <p:custDataLst>
              <p:tags r:id="rId3"/>
            </p:custDataLst>
          </p:nvPr>
        </p:nvSpPr>
        <p:spPr>
          <a:xfrm>
            <a:off x="5384800" y="476948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8" name="圆角矩形 7"/>
          <p:cNvSpPr/>
          <p:nvPr>
            <p:custDataLst>
              <p:tags r:id="rId4"/>
            </p:custDataLst>
          </p:nvPr>
        </p:nvSpPr>
        <p:spPr>
          <a:xfrm>
            <a:off x="5384800" y="154241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cs typeface="思源黑体 CN Light" panose="020B0300000000000000" pitchFamily="34" charset="-122"/>
            </a:endParaRPr>
          </a:p>
        </p:txBody>
      </p:sp>
      <p:sp>
        <p:nvSpPr>
          <p:cNvPr id="7" name="椭圆 6"/>
          <p:cNvSpPr/>
          <p:nvPr/>
        </p:nvSpPr>
        <p:spPr>
          <a:xfrm>
            <a:off x="1796098" y="2935923"/>
            <a:ext cx="1849755" cy="1849755"/>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3" name="椭圆 2"/>
          <p:cNvSpPr/>
          <p:nvPr/>
        </p:nvSpPr>
        <p:spPr>
          <a:xfrm>
            <a:off x="1025525" y="2165350"/>
            <a:ext cx="3390900" cy="3390900"/>
          </a:xfrm>
          <a:prstGeom prst="ellipse">
            <a:avLst/>
          </a:prstGeom>
          <a:noFill/>
          <a:ln w="76200">
            <a:solidFill>
              <a:schemeClr val="tx1">
                <a:lumMod val="95000"/>
                <a:lumOff val="5000"/>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9" name="弧形 8"/>
          <p:cNvSpPr/>
          <p:nvPr/>
        </p:nvSpPr>
        <p:spPr>
          <a:xfrm>
            <a:off x="63055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0" name="弧形 9"/>
          <p:cNvSpPr/>
          <p:nvPr/>
        </p:nvSpPr>
        <p:spPr>
          <a:xfrm rot="5400000">
            <a:off x="63944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1" name="弧形 10"/>
          <p:cNvSpPr/>
          <p:nvPr/>
        </p:nvSpPr>
        <p:spPr>
          <a:xfrm rot="10500000">
            <a:off x="639445" y="177482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2" name="弧形 11"/>
          <p:cNvSpPr/>
          <p:nvPr/>
        </p:nvSpPr>
        <p:spPr>
          <a:xfrm rot="15900000">
            <a:off x="64706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25" name="文本框 24"/>
          <p:cNvSpPr txBox="1"/>
          <p:nvPr/>
        </p:nvSpPr>
        <p:spPr>
          <a:xfrm>
            <a:off x="2058035" y="3364230"/>
            <a:ext cx="1330960" cy="76454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buClrTx/>
              <a:buSzTx/>
              <a:buFontTx/>
            </a:pPr>
            <a:r>
              <a:rPr lang="zh-CN" sz="3200">
                <a:solidFill>
                  <a:schemeClr val="accent3"/>
                </a:solidFill>
                <a:latin typeface="思源黑体 CN Medium" panose="020B0600000000000000" charset="-122"/>
                <a:ea typeface="思源黑体 CN Medium" panose="020B0600000000000000" charset="-122"/>
                <a:sym typeface="+mn-ea"/>
              </a:rPr>
              <a:t>研究方法</a:t>
            </a:r>
            <a:endParaRPr lang="zh-CN" sz="3200">
              <a:solidFill>
                <a:schemeClr val="accent3"/>
              </a:solidFill>
              <a:latin typeface="思源黑体 CN Medium" panose="020B0600000000000000" charset="-122"/>
              <a:ea typeface="思源黑体 CN Medium" panose="020B0600000000000000" charset="-122"/>
              <a:sym typeface="+mn-ea"/>
            </a:endParaRPr>
          </a:p>
        </p:txBody>
      </p:sp>
      <p:sp>
        <p:nvSpPr>
          <p:cNvPr id="4" name="椭圆 3"/>
          <p:cNvSpPr/>
          <p:nvPr/>
        </p:nvSpPr>
        <p:spPr>
          <a:xfrm>
            <a:off x="2326640" y="176466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0" name="图片 6" descr="32313538333630393b32313538333731313bd0cbc8a4c6abbac3"/>
          <p:cNvGrpSpPr/>
          <p:nvPr/>
        </p:nvGrpSpPr>
        <p:grpSpPr>
          <a:xfrm rot="0">
            <a:off x="2533650" y="1986280"/>
            <a:ext cx="375285" cy="328295"/>
            <a:chOff x="6393179" y="355369"/>
            <a:chExt cx="914399" cy="798021"/>
          </a:xfrm>
          <a:solidFill>
            <a:schemeClr val="bg1"/>
          </a:solidFill>
        </p:grpSpPr>
        <p:sp>
          <p:nvSpPr>
            <p:cNvPr id="41" name="任意多边形: 形状 40"/>
            <p:cNvSpPr/>
            <p:nvPr/>
          </p:nvSpPr>
          <p:spPr>
            <a:xfrm>
              <a:off x="6529360" y="474554"/>
              <a:ext cx="528962" cy="446079"/>
            </a:xfrm>
            <a:custGeom>
              <a:avLst/>
              <a:gdLst>
                <a:gd name="connsiteX0" fmla="*/ 287090 w 528962"/>
                <a:gd name="connsiteY0" fmla="*/ 434393 h 446079"/>
                <a:gd name="connsiteX1" fmla="*/ 229213 w 528962"/>
                <a:gd name="connsiteY1" fmla="*/ 433572 h 446079"/>
                <a:gd name="connsiteX2" fmla="*/ 41979 w 528962"/>
                <a:gd name="connsiteY2" fmla="*/ 246660 h 446079"/>
                <a:gd name="connsiteX3" fmla="*/ 41979 w 528962"/>
                <a:gd name="connsiteY3" fmla="*/ 41960 h 446079"/>
                <a:gd name="connsiteX4" fmla="*/ 246680 w 528962"/>
                <a:gd name="connsiteY4" fmla="*/ 41960 h 446079"/>
                <a:gd name="connsiteX5" fmla="*/ 264137 w 528962"/>
                <a:gd name="connsiteY5" fmla="*/ 63001 h 446079"/>
                <a:gd name="connsiteX6" fmla="*/ 281583 w 528962"/>
                <a:gd name="connsiteY6" fmla="*/ 41960 h 446079"/>
                <a:gd name="connsiteX7" fmla="*/ 486284 w 528962"/>
                <a:gd name="connsiteY7" fmla="*/ 41960 h 446079"/>
                <a:gd name="connsiteX8" fmla="*/ 486284 w 528962"/>
                <a:gd name="connsiteY8" fmla="*/ 246577 h 446079"/>
                <a:gd name="connsiteX9" fmla="*/ 480486 w 528962"/>
                <a:gd name="connsiteY9" fmla="*/ 252074 h 446079"/>
                <a:gd name="connsiteX10" fmla="*/ 287090 w 528962"/>
                <a:gd name="connsiteY10" fmla="*/ 434393 h 446079"/>
                <a:gd name="connsiteX11" fmla="*/ 144288 w 528962"/>
                <a:gd name="connsiteY11" fmla="*/ 49524 h 446079"/>
                <a:gd name="connsiteX12" fmla="*/ 56652 w 528962"/>
                <a:gd name="connsiteY12" fmla="*/ 108031 h 446079"/>
                <a:gd name="connsiteX13" fmla="*/ 77236 w 528962"/>
                <a:gd name="connsiteY13" fmla="*/ 211373 h 446079"/>
                <a:gd name="connsiteX14" fmla="*/ 258744 w 528962"/>
                <a:gd name="connsiteY14" fmla="*/ 392570 h 446079"/>
                <a:gd name="connsiteX15" fmla="*/ 446643 w 528962"/>
                <a:gd name="connsiteY15" fmla="*/ 215394 h 446079"/>
                <a:gd name="connsiteX16" fmla="*/ 446871 w 528962"/>
                <a:gd name="connsiteY16" fmla="*/ 215186 h 446079"/>
                <a:gd name="connsiteX17" fmla="*/ 450851 w 528962"/>
                <a:gd name="connsiteY17" fmla="*/ 211425 h 446079"/>
                <a:gd name="connsiteX18" fmla="*/ 450903 w 528962"/>
                <a:gd name="connsiteY18" fmla="*/ 211425 h 446079"/>
                <a:gd name="connsiteX19" fmla="*/ 469291 w 528962"/>
                <a:gd name="connsiteY19" fmla="*/ 103371 h 446079"/>
                <a:gd name="connsiteX20" fmla="*/ 373477 w 528962"/>
                <a:gd name="connsiteY20" fmla="*/ 50138 h 446079"/>
                <a:gd name="connsiteX21" fmla="*/ 291444 w 528962"/>
                <a:gd name="connsiteY21" fmla="*/ 122832 h 446079"/>
                <a:gd name="connsiteX22" fmla="*/ 264064 w 528962"/>
                <a:gd name="connsiteY22" fmla="*/ 144362 h 446079"/>
                <a:gd name="connsiteX23" fmla="*/ 236684 w 528962"/>
                <a:gd name="connsiteY23" fmla="*/ 122822 h 446079"/>
                <a:gd name="connsiteX24" fmla="*/ 144288 w 528962"/>
                <a:gd name="connsiteY24" fmla="*/ 49576 h 446079"/>
                <a:gd name="connsiteX25" fmla="*/ 144288 w 528962"/>
                <a:gd name="connsiteY25" fmla="*/ 49524 h 446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8962" h="446079">
                  <a:moveTo>
                    <a:pt x="287090" y="434393"/>
                  </a:moveTo>
                  <a:cubicBezTo>
                    <a:pt x="270747" y="449806"/>
                    <a:pt x="245113" y="449442"/>
                    <a:pt x="229213" y="433572"/>
                  </a:cubicBezTo>
                  <a:lnTo>
                    <a:pt x="41979" y="246660"/>
                  </a:lnTo>
                  <a:cubicBezTo>
                    <a:pt x="-14454" y="190217"/>
                    <a:pt x="-14454" y="98403"/>
                    <a:pt x="41979" y="41960"/>
                  </a:cubicBezTo>
                  <a:cubicBezTo>
                    <a:pt x="98412" y="-14484"/>
                    <a:pt x="190216" y="-14453"/>
                    <a:pt x="246680" y="41960"/>
                  </a:cubicBezTo>
                  <a:cubicBezTo>
                    <a:pt x="253146" y="48410"/>
                    <a:pt x="258991" y="55455"/>
                    <a:pt x="264137" y="63001"/>
                  </a:cubicBezTo>
                  <a:cubicBezTo>
                    <a:pt x="269285" y="55459"/>
                    <a:pt x="275125" y="48415"/>
                    <a:pt x="281583" y="41960"/>
                  </a:cubicBezTo>
                  <a:cubicBezTo>
                    <a:pt x="338006" y="-14463"/>
                    <a:pt x="429820" y="-14463"/>
                    <a:pt x="486284" y="41960"/>
                  </a:cubicBezTo>
                  <a:cubicBezTo>
                    <a:pt x="542748" y="98382"/>
                    <a:pt x="542707" y="190155"/>
                    <a:pt x="486284" y="246577"/>
                  </a:cubicBezTo>
                  <a:cubicBezTo>
                    <a:pt x="484559" y="248323"/>
                    <a:pt x="482658" y="250121"/>
                    <a:pt x="480486" y="252074"/>
                  </a:cubicBezTo>
                  <a:lnTo>
                    <a:pt x="287090" y="434393"/>
                  </a:lnTo>
                  <a:moveTo>
                    <a:pt x="144288" y="49524"/>
                  </a:moveTo>
                  <a:cubicBezTo>
                    <a:pt x="105928" y="49496"/>
                    <a:pt x="71334" y="72592"/>
                    <a:pt x="56652" y="108031"/>
                  </a:cubicBezTo>
                  <a:cubicBezTo>
                    <a:pt x="41970" y="143470"/>
                    <a:pt x="50096" y="184264"/>
                    <a:pt x="77236" y="211373"/>
                  </a:cubicBezTo>
                  <a:lnTo>
                    <a:pt x="258744" y="392570"/>
                  </a:lnTo>
                  <a:lnTo>
                    <a:pt x="446643" y="215394"/>
                  </a:lnTo>
                  <a:lnTo>
                    <a:pt x="446871" y="215186"/>
                  </a:lnTo>
                  <a:cubicBezTo>
                    <a:pt x="448430" y="213784"/>
                    <a:pt x="449729" y="212557"/>
                    <a:pt x="450851" y="211425"/>
                  </a:cubicBezTo>
                  <a:lnTo>
                    <a:pt x="450903" y="211425"/>
                  </a:lnTo>
                  <a:cubicBezTo>
                    <a:pt x="479333" y="182954"/>
                    <a:pt x="486703" y="139642"/>
                    <a:pt x="469291" y="103371"/>
                  </a:cubicBezTo>
                  <a:cubicBezTo>
                    <a:pt x="451879" y="67098"/>
                    <a:pt x="413474" y="45762"/>
                    <a:pt x="373477" y="50138"/>
                  </a:cubicBezTo>
                  <a:cubicBezTo>
                    <a:pt x="333482" y="54515"/>
                    <a:pt x="300600" y="83653"/>
                    <a:pt x="291444" y="122832"/>
                  </a:cubicBezTo>
                  <a:cubicBezTo>
                    <a:pt x="288417" y="135491"/>
                    <a:pt x="277080" y="144406"/>
                    <a:pt x="264064" y="144362"/>
                  </a:cubicBezTo>
                  <a:cubicBezTo>
                    <a:pt x="251045" y="144405"/>
                    <a:pt x="239708" y="135485"/>
                    <a:pt x="236684" y="122822"/>
                  </a:cubicBezTo>
                  <a:cubicBezTo>
                    <a:pt x="226656" y="79898"/>
                    <a:pt x="188369" y="49546"/>
                    <a:pt x="144288" y="49576"/>
                  </a:cubicBezTo>
                  <a:lnTo>
                    <a:pt x="144288" y="49524"/>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sp>
          <p:nvSpPr>
            <p:cNvPr id="42" name="任意多边形: 形状 41"/>
            <p:cNvSpPr/>
            <p:nvPr/>
          </p:nvSpPr>
          <p:spPr>
            <a:xfrm>
              <a:off x="6393179" y="355369"/>
              <a:ext cx="914399" cy="798021"/>
            </a:xfrm>
            <a:custGeom>
              <a:avLst/>
              <a:gdLst>
                <a:gd name="connsiteX0" fmla="*/ 847514 w 914399"/>
                <a:gd name="connsiteY0" fmla="*/ 82727 h 798021"/>
                <a:gd name="connsiteX1" fmla="*/ 797638 w 914399"/>
                <a:gd name="connsiteY1" fmla="*/ 82727 h 798021"/>
                <a:gd name="connsiteX2" fmla="*/ 797638 w 914399"/>
                <a:gd name="connsiteY2" fmla="*/ 66102 h 798021"/>
                <a:gd name="connsiteX3" fmla="*/ 731136 w 914399"/>
                <a:gd name="connsiteY3" fmla="*/ -400 h 798021"/>
                <a:gd name="connsiteX4" fmla="*/ 66118 w 914399"/>
                <a:gd name="connsiteY4" fmla="*/ -400 h 798021"/>
                <a:gd name="connsiteX5" fmla="*/ -384 w 914399"/>
                <a:gd name="connsiteY5" fmla="*/ 66102 h 798021"/>
                <a:gd name="connsiteX6" fmla="*/ -384 w 914399"/>
                <a:gd name="connsiteY6" fmla="*/ 614420 h 798021"/>
                <a:gd name="connsiteX7" fmla="*/ 66118 w 914399"/>
                <a:gd name="connsiteY7" fmla="*/ 680921 h 798021"/>
                <a:gd name="connsiteX8" fmla="*/ 107681 w 914399"/>
                <a:gd name="connsiteY8" fmla="*/ 680921 h 798021"/>
                <a:gd name="connsiteX9" fmla="*/ 107681 w 914399"/>
                <a:gd name="connsiteY9" fmla="*/ 731120 h 798021"/>
                <a:gd name="connsiteX10" fmla="*/ 174183 w 914399"/>
                <a:gd name="connsiteY10" fmla="*/ 797622 h 798021"/>
                <a:gd name="connsiteX11" fmla="*/ 822576 w 914399"/>
                <a:gd name="connsiteY11" fmla="*/ 797622 h 798021"/>
                <a:gd name="connsiteX12" fmla="*/ 914016 w 914399"/>
                <a:gd name="connsiteY12" fmla="*/ 706182 h 798021"/>
                <a:gd name="connsiteX13" fmla="*/ 914016 w 914399"/>
                <a:gd name="connsiteY13" fmla="*/ 149229 h 798021"/>
                <a:gd name="connsiteX14" fmla="*/ 847514 w 914399"/>
                <a:gd name="connsiteY14" fmla="*/ 82727 h 798021"/>
                <a:gd name="connsiteX15" fmla="*/ 49492 w 914399"/>
                <a:gd name="connsiteY15" fmla="*/ 614420 h 798021"/>
                <a:gd name="connsiteX16" fmla="*/ 49492 w 914399"/>
                <a:gd name="connsiteY16" fmla="*/ 66102 h 798021"/>
                <a:gd name="connsiteX17" fmla="*/ 66118 w 914399"/>
                <a:gd name="connsiteY17" fmla="*/ 49476 h 798021"/>
                <a:gd name="connsiteX18" fmla="*/ 731136 w 914399"/>
                <a:gd name="connsiteY18" fmla="*/ 49476 h 798021"/>
                <a:gd name="connsiteX19" fmla="*/ 747761 w 914399"/>
                <a:gd name="connsiteY19" fmla="*/ 66102 h 798021"/>
                <a:gd name="connsiteX20" fmla="*/ 747761 w 914399"/>
                <a:gd name="connsiteY20" fmla="*/ 614420 h 798021"/>
                <a:gd name="connsiteX21" fmla="*/ 731136 w 914399"/>
                <a:gd name="connsiteY21" fmla="*/ 631045 h 798021"/>
                <a:gd name="connsiteX22" fmla="*/ 66118 w 914399"/>
                <a:gd name="connsiteY22" fmla="*/ 631045 h 798021"/>
                <a:gd name="connsiteX23" fmla="*/ 49492 w 914399"/>
                <a:gd name="connsiteY23" fmla="*/ 614420 h 798021"/>
                <a:gd name="connsiteX24" fmla="*/ 864139 w 914399"/>
                <a:gd name="connsiteY24" fmla="*/ 706182 h 798021"/>
                <a:gd name="connsiteX25" fmla="*/ 822576 w 914399"/>
                <a:gd name="connsiteY25" fmla="*/ 747745 h 798021"/>
                <a:gd name="connsiteX26" fmla="*/ 174183 w 914399"/>
                <a:gd name="connsiteY26" fmla="*/ 747745 h 798021"/>
                <a:gd name="connsiteX27" fmla="*/ 157558 w 914399"/>
                <a:gd name="connsiteY27" fmla="*/ 731120 h 798021"/>
                <a:gd name="connsiteX28" fmla="*/ 157558 w 914399"/>
                <a:gd name="connsiteY28" fmla="*/ 680921 h 798021"/>
                <a:gd name="connsiteX29" fmla="*/ 731136 w 914399"/>
                <a:gd name="connsiteY29" fmla="*/ 680921 h 798021"/>
                <a:gd name="connsiteX30" fmla="*/ 797638 w 914399"/>
                <a:gd name="connsiteY30" fmla="*/ 614420 h 798021"/>
                <a:gd name="connsiteX31" fmla="*/ 797638 w 914399"/>
                <a:gd name="connsiteY31" fmla="*/ 132604 h 798021"/>
                <a:gd name="connsiteX32" fmla="*/ 847514 w 914399"/>
                <a:gd name="connsiteY32" fmla="*/ 132604 h 798021"/>
                <a:gd name="connsiteX33" fmla="*/ 864139 w 914399"/>
                <a:gd name="connsiteY33" fmla="*/ 149229 h 798021"/>
                <a:gd name="connsiteX34" fmla="*/ 864139 w 914399"/>
                <a:gd name="connsiteY34" fmla="*/ 706182 h 79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399" h="798021">
                  <a:moveTo>
                    <a:pt x="847514" y="82727"/>
                  </a:moveTo>
                  <a:lnTo>
                    <a:pt x="797638" y="82727"/>
                  </a:lnTo>
                  <a:lnTo>
                    <a:pt x="797638" y="66102"/>
                  </a:lnTo>
                  <a:cubicBezTo>
                    <a:pt x="797597" y="29391"/>
                    <a:pt x="767847" y="-359"/>
                    <a:pt x="731136" y="-400"/>
                  </a:cubicBezTo>
                  <a:lnTo>
                    <a:pt x="66118" y="-400"/>
                  </a:lnTo>
                  <a:cubicBezTo>
                    <a:pt x="29407" y="-359"/>
                    <a:pt x="-344" y="29391"/>
                    <a:pt x="-384" y="66102"/>
                  </a:cubicBezTo>
                  <a:lnTo>
                    <a:pt x="-384" y="614420"/>
                  </a:lnTo>
                  <a:cubicBezTo>
                    <a:pt x="-344" y="651131"/>
                    <a:pt x="29407" y="680881"/>
                    <a:pt x="66118" y="680921"/>
                  </a:cubicBezTo>
                  <a:lnTo>
                    <a:pt x="107681" y="680921"/>
                  </a:lnTo>
                  <a:lnTo>
                    <a:pt x="107681" y="731120"/>
                  </a:lnTo>
                  <a:cubicBezTo>
                    <a:pt x="107722" y="767831"/>
                    <a:pt x="137472" y="797581"/>
                    <a:pt x="174183" y="797622"/>
                  </a:cubicBezTo>
                  <a:lnTo>
                    <a:pt x="822576" y="797622"/>
                  </a:lnTo>
                  <a:cubicBezTo>
                    <a:pt x="873053" y="797564"/>
                    <a:pt x="913959" y="756659"/>
                    <a:pt x="914016" y="706182"/>
                  </a:cubicBezTo>
                  <a:lnTo>
                    <a:pt x="914016" y="149229"/>
                  </a:lnTo>
                  <a:cubicBezTo>
                    <a:pt x="913975" y="112518"/>
                    <a:pt x="884225" y="82768"/>
                    <a:pt x="847514" y="82727"/>
                  </a:cubicBezTo>
                  <a:moveTo>
                    <a:pt x="49492" y="614420"/>
                  </a:moveTo>
                  <a:lnTo>
                    <a:pt x="49492" y="66102"/>
                  </a:lnTo>
                  <a:cubicBezTo>
                    <a:pt x="49492" y="56919"/>
                    <a:pt x="56935" y="49476"/>
                    <a:pt x="66118" y="49476"/>
                  </a:cubicBezTo>
                  <a:lnTo>
                    <a:pt x="731136" y="49476"/>
                  </a:lnTo>
                  <a:cubicBezTo>
                    <a:pt x="740318" y="49476"/>
                    <a:pt x="747761" y="56919"/>
                    <a:pt x="747761" y="66102"/>
                  </a:cubicBezTo>
                  <a:lnTo>
                    <a:pt x="747761" y="614420"/>
                  </a:lnTo>
                  <a:cubicBezTo>
                    <a:pt x="747761" y="623602"/>
                    <a:pt x="740318" y="631045"/>
                    <a:pt x="731136" y="631045"/>
                  </a:cubicBezTo>
                  <a:lnTo>
                    <a:pt x="66118" y="631045"/>
                  </a:lnTo>
                  <a:cubicBezTo>
                    <a:pt x="56935" y="631045"/>
                    <a:pt x="49492" y="623602"/>
                    <a:pt x="49492" y="614420"/>
                  </a:cubicBezTo>
                  <a:moveTo>
                    <a:pt x="864139" y="706182"/>
                  </a:moveTo>
                  <a:cubicBezTo>
                    <a:pt x="864139" y="729136"/>
                    <a:pt x="845530" y="747745"/>
                    <a:pt x="822576" y="747745"/>
                  </a:cubicBezTo>
                  <a:lnTo>
                    <a:pt x="174183" y="747745"/>
                  </a:lnTo>
                  <a:cubicBezTo>
                    <a:pt x="165001" y="747745"/>
                    <a:pt x="157558" y="740302"/>
                    <a:pt x="157558" y="731120"/>
                  </a:cubicBezTo>
                  <a:lnTo>
                    <a:pt x="157558" y="680921"/>
                  </a:lnTo>
                  <a:lnTo>
                    <a:pt x="731136" y="680921"/>
                  </a:lnTo>
                  <a:cubicBezTo>
                    <a:pt x="767847" y="680881"/>
                    <a:pt x="797597" y="651131"/>
                    <a:pt x="797638" y="614420"/>
                  </a:cubicBezTo>
                  <a:lnTo>
                    <a:pt x="797638" y="132604"/>
                  </a:lnTo>
                  <a:lnTo>
                    <a:pt x="847514" y="132604"/>
                  </a:lnTo>
                  <a:cubicBezTo>
                    <a:pt x="856696" y="132604"/>
                    <a:pt x="864139" y="140047"/>
                    <a:pt x="864139" y="149229"/>
                  </a:cubicBezTo>
                  <a:lnTo>
                    <a:pt x="864139" y="706182"/>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grpSp>
      <p:sp>
        <p:nvSpPr>
          <p:cNvPr id="6" name="椭圆 5"/>
          <p:cNvSpPr/>
          <p:nvPr/>
        </p:nvSpPr>
        <p:spPr>
          <a:xfrm>
            <a:off x="400113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3" name="图片 7" descr="32313538333630393b32313538333731323bd4dacfdfbdccd3fd"/>
          <p:cNvGrpSpPr/>
          <p:nvPr/>
        </p:nvGrpSpPr>
        <p:grpSpPr>
          <a:xfrm rot="0">
            <a:off x="4217670" y="3699510"/>
            <a:ext cx="375920" cy="310515"/>
            <a:chOff x="7830184" y="376792"/>
            <a:chExt cx="914398" cy="755173"/>
          </a:xfrm>
          <a:solidFill>
            <a:schemeClr val="bg1"/>
          </a:solidFill>
        </p:grpSpPr>
        <p:sp>
          <p:nvSpPr>
            <p:cNvPr id="44" name="任意多边形: 形状 43"/>
            <p:cNvSpPr/>
            <p:nvPr/>
          </p:nvSpPr>
          <p:spPr>
            <a:xfrm>
              <a:off x="7830184" y="376792"/>
              <a:ext cx="914398" cy="755173"/>
            </a:xfrm>
            <a:custGeom>
              <a:avLst/>
              <a:gdLst>
                <a:gd name="connsiteX0" fmla="*/ 896518 w 914398"/>
                <a:gd name="connsiteY0" fmla="*/ 211999 h 755173"/>
                <a:gd name="connsiteX1" fmla="*/ 485132 w 914398"/>
                <a:gd name="connsiteY1" fmla="*/ 6306 h 755173"/>
                <a:gd name="connsiteX2" fmla="*/ 428499 w 914398"/>
                <a:gd name="connsiteY2" fmla="*/ 6306 h 755173"/>
                <a:gd name="connsiteX3" fmla="*/ 17113 w 914398"/>
                <a:gd name="connsiteY3" fmla="*/ 211999 h 755173"/>
                <a:gd name="connsiteX4" fmla="*/ 17113 w 914398"/>
                <a:gd name="connsiteY4" fmla="*/ 268631 h 755173"/>
                <a:gd name="connsiteX5" fmla="*/ 179788 w 914398"/>
                <a:gd name="connsiteY5" fmla="*/ 349988 h 755173"/>
                <a:gd name="connsiteX6" fmla="*/ 179788 w 914398"/>
                <a:gd name="connsiteY6" fmla="*/ 351126 h 755173"/>
                <a:gd name="connsiteX7" fmla="*/ 179788 w 914398"/>
                <a:gd name="connsiteY7" fmla="*/ 620239 h 755173"/>
                <a:gd name="connsiteX8" fmla="*/ 268199 w 914398"/>
                <a:gd name="connsiteY8" fmla="*/ 720345 h 755173"/>
                <a:gd name="connsiteX9" fmla="*/ 456815 w 914398"/>
                <a:gd name="connsiteY9" fmla="*/ 754795 h 755173"/>
                <a:gd name="connsiteX10" fmla="*/ 645432 w 914398"/>
                <a:gd name="connsiteY10" fmla="*/ 720345 h 755173"/>
                <a:gd name="connsiteX11" fmla="*/ 733843 w 914398"/>
                <a:gd name="connsiteY11" fmla="*/ 620239 h 755173"/>
                <a:gd name="connsiteX12" fmla="*/ 733843 w 914398"/>
                <a:gd name="connsiteY12" fmla="*/ 351126 h 755173"/>
                <a:gd name="connsiteX13" fmla="*/ 733843 w 914398"/>
                <a:gd name="connsiteY13" fmla="*/ 349988 h 755173"/>
                <a:gd name="connsiteX14" fmla="*/ 820909 w 914398"/>
                <a:gd name="connsiteY14" fmla="*/ 306455 h 755173"/>
                <a:gd name="connsiteX15" fmla="*/ 820909 w 914398"/>
                <a:gd name="connsiteY15" fmla="*/ 413913 h 755173"/>
                <a:gd name="connsiteX16" fmla="*/ 845109 w 914398"/>
                <a:gd name="connsiteY16" fmla="*/ 438192 h 755173"/>
                <a:gd name="connsiteX17" fmla="*/ 868399 w 914398"/>
                <a:gd name="connsiteY17" fmla="*/ 414447 h 755173"/>
                <a:gd name="connsiteX18" fmla="*/ 868399 w 914398"/>
                <a:gd name="connsiteY18" fmla="*/ 282690 h 755173"/>
                <a:gd name="connsiteX19" fmla="*/ 896518 w 914398"/>
                <a:gd name="connsiteY19" fmla="*/ 268631 h 755173"/>
                <a:gd name="connsiteX20" fmla="*/ 896518 w 914398"/>
                <a:gd name="connsiteY20" fmla="*/ 211999 h 755173"/>
                <a:gd name="connsiteX21" fmla="*/ 456815 w 914398"/>
                <a:gd name="connsiteY21" fmla="*/ 45238 h 755173"/>
                <a:gd name="connsiteX22" fmla="*/ 846959 w 914398"/>
                <a:gd name="connsiteY22" fmla="*/ 240315 h 755173"/>
                <a:gd name="connsiteX23" fmla="*/ 456815 w 914398"/>
                <a:gd name="connsiteY23" fmla="*/ 435392 h 755173"/>
                <a:gd name="connsiteX24" fmla="*/ 66672 w 914398"/>
                <a:gd name="connsiteY24" fmla="*/ 240315 h 755173"/>
                <a:gd name="connsiteX25" fmla="*/ 456815 w 914398"/>
                <a:gd name="connsiteY25" fmla="*/ 45238 h 755173"/>
                <a:gd name="connsiteX26" fmla="*/ 686353 w 914398"/>
                <a:gd name="connsiteY26" fmla="*/ 620239 h 755173"/>
                <a:gd name="connsiteX27" fmla="*/ 626396 w 914398"/>
                <a:gd name="connsiteY27" fmla="*/ 676841 h 755173"/>
                <a:gd name="connsiteX28" fmla="*/ 456815 w 914398"/>
                <a:gd name="connsiteY28" fmla="*/ 707305 h 755173"/>
                <a:gd name="connsiteX29" fmla="*/ 287235 w 914398"/>
                <a:gd name="connsiteY29" fmla="*/ 676841 h 755173"/>
                <a:gd name="connsiteX30" fmla="*/ 227278 w 914398"/>
                <a:gd name="connsiteY30" fmla="*/ 620239 h 755173"/>
                <a:gd name="connsiteX31" fmla="*/ 227278 w 914398"/>
                <a:gd name="connsiteY31" fmla="*/ 373714 h 755173"/>
                <a:gd name="connsiteX32" fmla="*/ 428499 w 914398"/>
                <a:gd name="connsiteY32" fmla="*/ 474324 h 755173"/>
                <a:gd name="connsiteX33" fmla="*/ 485132 w 914398"/>
                <a:gd name="connsiteY33" fmla="*/ 474324 h 755173"/>
                <a:gd name="connsiteX34" fmla="*/ 686353 w 914398"/>
                <a:gd name="connsiteY34" fmla="*/ 373714 h 755173"/>
                <a:gd name="connsiteX35" fmla="*/ 686353 w 914398"/>
                <a:gd name="connsiteY35" fmla="*/ 620239 h 75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4398" h="755173">
                  <a:moveTo>
                    <a:pt x="896518" y="211999"/>
                  </a:moveTo>
                  <a:lnTo>
                    <a:pt x="485132" y="6306"/>
                  </a:lnTo>
                  <a:cubicBezTo>
                    <a:pt x="467306" y="-2606"/>
                    <a:pt x="446325" y="-2606"/>
                    <a:pt x="428499" y="6306"/>
                  </a:cubicBezTo>
                  <a:lnTo>
                    <a:pt x="17113" y="211999"/>
                  </a:lnTo>
                  <a:cubicBezTo>
                    <a:pt x="-6216" y="223664"/>
                    <a:pt x="-6216" y="256966"/>
                    <a:pt x="17113" y="268631"/>
                  </a:cubicBezTo>
                  <a:lnTo>
                    <a:pt x="179788" y="349988"/>
                  </a:lnTo>
                  <a:cubicBezTo>
                    <a:pt x="179788" y="350364"/>
                    <a:pt x="179788" y="350740"/>
                    <a:pt x="179788" y="351126"/>
                  </a:cubicBezTo>
                  <a:lnTo>
                    <a:pt x="179788" y="620239"/>
                  </a:lnTo>
                  <a:cubicBezTo>
                    <a:pt x="179788" y="659814"/>
                    <a:pt x="211191" y="695432"/>
                    <a:pt x="268199" y="720345"/>
                  </a:cubicBezTo>
                  <a:cubicBezTo>
                    <a:pt x="318974" y="742566"/>
                    <a:pt x="385956" y="754795"/>
                    <a:pt x="456815" y="754795"/>
                  </a:cubicBezTo>
                  <a:cubicBezTo>
                    <a:pt x="527675" y="754795"/>
                    <a:pt x="594657" y="742566"/>
                    <a:pt x="645432" y="720345"/>
                  </a:cubicBezTo>
                  <a:cubicBezTo>
                    <a:pt x="702440" y="695432"/>
                    <a:pt x="733843" y="659814"/>
                    <a:pt x="733843" y="620239"/>
                  </a:cubicBezTo>
                  <a:lnTo>
                    <a:pt x="733843" y="351126"/>
                  </a:lnTo>
                  <a:cubicBezTo>
                    <a:pt x="733843" y="350740"/>
                    <a:pt x="733843" y="350364"/>
                    <a:pt x="733843" y="349988"/>
                  </a:cubicBezTo>
                  <a:lnTo>
                    <a:pt x="820909" y="306455"/>
                  </a:lnTo>
                  <a:lnTo>
                    <a:pt x="820909" y="413913"/>
                  </a:lnTo>
                  <a:cubicBezTo>
                    <a:pt x="820909" y="427220"/>
                    <a:pt x="831792" y="438439"/>
                    <a:pt x="845109" y="438192"/>
                  </a:cubicBezTo>
                  <a:cubicBezTo>
                    <a:pt x="858045" y="437944"/>
                    <a:pt x="868401" y="427385"/>
                    <a:pt x="868399" y="414447"/>
                  </a:cubicBezTo>
                  <a:lnTo>
                    <a:pt x="868399" y="282690"/>
                  </a:lnTo>
                  <a:lnTo>
                    <a:pt x="896518" y="268631"/>
                  </a:lnTo>
                  <a:cubicBezTo>
                    <a:pt x="919847" y="256966"/>
                    <a:pt x="919847" y="223664"/>
                    <a:pt x="896518" y="211999"/>
                  </a:cubicBezTo>
                  <a:moveTo>
                    <a:pt x="456815" y="45238"/>
                  </a:moveTo>
                  <a:lnTo>
                    <a:pt x="846959" y="240315"/>
                  </a:lnTo>
                  <a:lnTo>
                    <a:pt x="456815" y="435392"/>
                  </a:lnTo>
                  <a:lnTo>
                    <a:pt x="66672" y="240315"/>
                  </a:lnTo>
                  <a:lnTo>
                    <a:pt x="456815" y="45238"/>
                  </a:lnTo>
                  <a:moveTo>
                    <a:pt x="686353" y="620239"/>
                  </a:moveTo>
                  <a:cubicBezTo>
                    <a:pt x="686353" y="639255"/>
                    <a:pt x="663943" y="660418"/>
                    <a:pt x="626396" y="676841"/>
                  </a:cubicBezTo>
                  <a:cubicBezTo>
                    <a:pt x="581478" y="696481"/>
                    <a:pt x="521264" y="707305"/>
                    <a:pt x="456815" y="707305"/>
                  </a:cubicBezTo>
                  <a:cubicBezTo>
                    <a:pt x="392367" y="707305"/>
                    <a:pt x="332153" y="696481"/>
                    <a:pt x="287235" y="676841"/>
                  </a:cubicBezTo>
                  <a:cubicBezTo>
                    <a:pt x="249638" y="660418"/>
                    <a:pt x="227278" y="639245"/>
                    <a:pt x="227278" y="620239"/>
                  </a:cubicBezTo>
                  <a:lnTo>
                    <a:pt x="227278" y="373714"/>
                  </a:lnTo>
                  <a:lnTo>
                    <a:pt x="428499" y="474324"/>
                  </a:lnTo>
                  <a:cubicBezTo>
                    <a:pt x="446325" y="483237"/>
                    <a:pt x="467306" y="483237"/>
                    <a:pt x="485132" y="474324"/>
                  </a:cubicBezTo>
                  <a:lnTo>
                    <a:pt x="686353" y="373714"/>
                  </a:lnTo>
                  <a:lnTo>
                    <a:pt x="686353" y="620239"/>
                  </a:ln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sp>
          <p:nvSpPr>
            <p:cNvPr id="45" name="任意多边形: 形状 44"/>
            <p:cNvSpPr/>
            <p:nvPr/>
          </p:nvSpPr>
          <p:spPr>
            <a:xfrm>
              <a:off x="8611902" y="783702"/>
              <a:ext cx="126641" cy="221622"/>
            </a:xfrm>
            <a:custGeom>
              <a:avLst/>
              <a:gdLst>
                <a:gd name="connsiteX0" fmla="*/ 62653 w 126641"/>
                <a:gd name="connsiteY0" fmla="*/ 221141 h 221622"/>
                <a:gd name="connsiteX1" fmla="*/ -667 w 126641"/>
                <a:gd name="connsiteY1" fmla="*/ 157821 h 221622"/>
                <a:gd name="connsiteX2" fmla="*/ -667 w 126641"/>
                <a:gd name="connsiteY2" fmla="*/ 62840 h 221622"/>
                <a:gd name="connsiteX3" fmla="*/ 62653 w 126641"/>
                <a:gd name="connsiteY3" fmla="*/ -481 h 221622"/>
                <a:gd name="connsiteX4" fmla="*/ 125974 w 126641"/>
                <a:gd name="connsiteY4" fmla="*/ 62840 h 221622"/>
                <a:gd name="connsiteX5" fmla="*/ 125974 w 126641"/>
                <a:gd name="connsiteY5" fmla="*/ 157821 h 221622"/>
                <a:gd name="connsiteX6" fmla="*/ 62653 w 126641"/>
                <a:gd name="connsiteY6" fmla="*/ 221141 h 221622"/>
                <a:gd name="connsiteX7" fmla="*/ 62653 w 126641"/>
                <a:gd name="connsiteY7" fmla="*/ 47010 h 221622"/>
                <a:gd name="connsiteX8" fmla="*/ 46823 w 126641"/>
                <a:gd name="connsiteY8" fmla="*/ 62840 h 221622"/>
                <a:gd name="connsiteX9" fmla="*/ 46823 w 126641"/>
                <a:gd name="connsiteY9" fmla="*/ 157821 h 221622"/>
                <a:gd name="connsiteX10" fmla="*/ 62653 w 126641"/>
                <a:gd name="connsiteY10" fmla="*/ 173651 h 221622"/>
                <a:gd name="connsiteX11" fmla="*/ 78483 w 126641"/>
                <a:gd name="connsiteY11" fmla="*/ 157821 h 221622"/>
                <a:gd name="connsiteX12" fmla="*/ 78483 w 126641"/>
                <a:gd name="connsiteY12" fmla="*/ 62840 h 221622"/>
                <a:gd name="connsiteX13" fmla="*/ 62653 w 126641"/>
                <a:gd name="connsiteY13" fmla="*/ 47010 h 2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641" h="221622">
                  <a:moveTo>
                    <a:pt x="62653" y="221141"/>
                  </a:moveTo>
                  <a:cubicBezTo>
                    <a:pt x="27698" y="221103"/>
                    <a:pt x="-629" y="192776"/>
                    <a:pt x="-667" y="157821"/>
                  </a:cubicBezTo>
                  <a:lnTo>
                    <a:pt x="-667" y="62840"/>
                  </a:lnTo>
                  <a:cubicBezTo>
                    <a:pt x="-667" y="27869"/>
                    <a:pt x="27682" y="-481"/>
                    <a:pt x="62653" y="-481"/>
                  </a:cubicBezTo>
                  <a:cubicBezTo>
                    <a:pt x="97624" y="-481"/>
                    <a:pt x="125974" y="27869"/>
                    <a:pt x="125974" y="62840"/>
                  </a:cubicBezTo>
                  <a:lnTo>
                    <a:pt x="125974" y="157821"/>
                  </a:lnTo>
                  <a:cubicBezTo>
                    <a:pt x="125935" y="192776"/>
                    <a:pt x="97608" y="221103"/>
                    <a:pt x="62653" y="221141"/>
                  </a:cubicBezTo>
                  <a:moveTo>
                    <a:pt x="62653" y="47010"/>
                  </a:moveTo>
                  <a:cubicBezTo>
                    <a:pt x="53910" y="47010"/>
                    <a:pt x="46823" y="54097"/>
                    <a:pt x="46823" y="62840"/>
                  </a:cubicBezTo>
                  <a:lnTo>
                    <a:pt x="46823" y="157821"/>
                  </a:lnTo>
                  <a:cubicBezTo>
                    <a:pt x="46823" y="166564"/>
                    <a:pt x="53910" y="173651"/>
                    <a:pt x="62653" y="173651"/>
                  </a:cubicBezTo>
                  <a:cubicBezTo>
                    <a:pt x="71396" y="173651"/>
                    <a:pt x="78483" y="166564"/>
                    <a:pt x="78483" y="157821"/>
                  </a:cubicBezTo>
                  <a:lnTo>
                    <a:pt x="78483" y="62840"/>
                  </a:lnTo>
                  <a:cubicBezTo>
                    <a:pt x="78483" y="54097"/>
                    <a:pt x="71396" y="47010"/>
                    <a:pt x="62653" y="47010"/>
                  </a:cubicBez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grpSp>
      <p:sp>
        <p:nvSpPr>
          <p:cNvPr id="5" name="椭圆 4"/>
          <p:cNvSpPr/>
          <p:nvPr/>
        </p:nvSpPr>
        <p:spPr>
          <a:xfrm>
            <a:off x="2264410" y="496760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67" name="图片 12" descr="32313538333630393b32313538333731393bcbd1cbf7bfceb3cc"/>
          <p:cNvGrpSpPr/>
          <p:nvPr/>
        </p:nvGrpSpPr>
        <p:grpSpPr>
          <a:xfrm rot="0">
            <a:off x="2482215" y="5194300"/>
            <a:ext cx="375285" cy="375285"/>
            <a:chOff x="3519169" y="2971799"/>
            <a:chExt cx="914399" cy="914399"/>
          </a:xfrm>
          <a:solidFill>
            <a:schemeClr val="bg1"/>
          </a:solidFill>
        </p:grpSpPr>
        <p:sp>
          <p:nvSpPr>
            <p:cNvPr id="68" name="任意多边形: 形状 67"/>
            <p:cNvSpPr/>
            <p:nvPr/>
          </p:nvSpPr>
          <p:spPr>
            <a:xfrm>
              <a:off x="3519169" y="2971799"/>
              <a:ext cx="393171" cy="393171"/>
            </a:xfrm>
            <a:custGeom>
              <a:avLst/>
              <a:gdLst>
                <a:gd name="connsiteX0" fmla="*/ 338081 w 393171"/>
                <a:gd name="connsiteY0" fmla="*/ -229 h 393171"/>
                <a:gd name="connsiteX1" fmla="*/ 54632 w 393171"/>
                <a:gd name="connsiteY1" fmla="*/ -229 h 393171"/>
                <a:gd name="connsiteX2" fmla="*/ -229 w 393171"/>
                <a:gd name="connsiteY2" fmla="*/ 54632 h 393171"/>
                <a:gd name="connsiteX3" fmla="*/ -229 w 393171"/>
                <a:gd name="connsiteY3" fmla="*/ 338081 h 393171"/>
                <a:gd name="connsiteX4" fmla="*/ 54632 w 393171"/>
                <a:gd name="connsiteY4" fmla="*/ 392942 h 393171"/>
                <a:gd name="connsiteX5" fmla="*/ 185133 w 393171"/>
                <a:gd name="connsiteY5" fmla="*/ 392942 h 393171"/>
                <a:gd name="connsiteX6" fmla="*/ 210746 w 393171"/>
                <a:gd name="connsiteY6" fmla="*/ 338081 h 393171"/>
                <a:gd name="connsiteX7" fmla="*/ 54632 w 393171"/>
                <a:gd name="connsiteY7" fmla="*/ 338081 h 393171"/>
                <a:gd name="connsiteX8" fmla="*/ 54632 w 393171"/>
                <a:gd name="connsiteY8" fmla="*/ 54632 h 393171"/>
                <a:gd name="connsiteX9" fmla="*/ 338081 w 393171"/>
                <a:gd name="connsiteY9" fmla="*/ 54632 h 393171"/>
                <a:gd name="connsiteX10" fmla="*/ 338081 w 393171"/>
                <a:gd name="connsiteY10" fmla="*/ 210746 h 393171"/>
                <a:gd name="connsiteX11" fmla="*/ 392942 w 393171"/>
                <a:gd name="connsiteY11" fmla="*/ 185133 h 393171"/>
                <a:gd name="connsiteX12" fmla="*/ 392942 w 393171"/>
                <a:gd name="connsiteY12" fmla="*/ 54632 h 393171"/>
                <a:gd name="connsiteX13" fmla="*/ 33808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29"/>
                  </a:moveTo>
                  <a:lnTo>
                    <a:pt x="54632" y="-229"/>
                  </a:lnTo>
                  <a:cubicBezTo>
                    <a:pt x="24333" y="-229"/>
                    <a:pt x="-229" y="24333"/>
                    <a:pt x="-229" y="54632"/>
                  </a:cubicBezTo>
                  <a:lnTo>
                    <a:pt x="-229" y="338081"/>
                  </a:lnTo>
                  <a:cubicBezTo>
                    <a:pt x="-229" y="368380"/>
                    <a:pt x="24333" y="392942"/>
                    <a:pt x="54632" y="392942"/>
                  </a:cubicBezTo>
                  <a:lnTo>
                    <a:pt x="185133" y="392942"/>
                  </a:lnTo>
                  <a:cubicBezTo>
                    <a:pt x="192027" y="373932"/>
                    <a:pt x="200598" y="355573"/>
                    <a:pt x="210746" y="338081"/>
                  </a:cubicBezTo>
                  <a:lnTo>
                    <a:pt x="54632" y="338081"/>
                  </a:lnTo>
                  <a:lnTo>
                    <a:pt x="54632" y="54632"/>
                  </a:lnTo>
                  <a:lnTo>
                    <a:pt x="338081" y="54632"/>
                  </a:lnTo>
                  <a:lnTo>
                    <a:pt x="338081" y="210746"/>
                  </a:lnTo>
                  <a:cubicBezTo>
                    <a:pt x="355573" y="200598"/>
                    <a:pt x="373932" y="192027"/>
                    <a:pt x="392942" y="185133"/>
                  </a:cubicBezTo>
                  <a:lnTo>
                    <a:pt x="392942" y="54632"/>
                  </a:lnTo>
                  <a:cubicBezTo>
                    <a:pt x="392942" y="24333"/>
                    <a:pt x="368380" y="-229"/>
                    <a:pt x="33808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69" name="任意多边形: 形状 68"/>
            <p:cNvSpPr/>
            <p:nvPr/>
          </p:nvSpPr>
          <p:spPr>
            <a:xfrm>
              <a:off x="4040350" y="2971799"/>
              <a:ext cx="393171" cy="393171"/>
            </a:xfrm>
            <a:custGeom>
              <a:avLst/>
              <a:gdLst>
                <a:gd name="connsiteX0" fmla="*/ 337771 w 393171"/>
                <a:gd name="connsiteY0" fmla="*/ -229 h 393171"/>
                <a:gd name="connsiteX1" fmla="*/ 54322 w 393171"/>
                <a:gd name="connsiteY1" fmla="*/ -229 h 393171"/>
                <a:gd name="connsiteX2" fmla="*/ -539 w 393171"/>
                <a:gd name="connsiteY2" fmla="*/ 54632 h 393171"/>
                <a:gd name="connsiteX3" fmla="*/ -539 w 393171"/>
                <a:gd name="connsiteY3" fmla="*/ 164469 h 393171"/>
                <a:gd name="connsiteX4" fmla="*/ 54322 w 393171"/>
                <a:gd name="connsiteY4" fmla="*/ 170183 h 393171"/>
                <a:gd name="connsiteX5" fmla="*/ 54322 w 393171"/>
                <a:gd name="connsiteY5" fmla="*/ 54632 h 393171"/>
                <a:gd name="connsiteX6" fmla="*/ 337771 w 393171"/>
                <a:gd name="connsiteY6" fmla="*/ 54632 h 393171"/>
                <a:gd name="connsiteX7" fmla="*/ 337771 w 393171"/>
                <a:gd name="connsiteY7" fmla="*/ 338081 h 393171"/>
                <a:gd name="connsiteX8" fmla="*/ 291379 w 393171"/>
                <a:gd name="connsiteY8" fmla="*/ 338081 h 393171"/>
                <a:gd name="connsiteX9" fmla="*/ 316992 w 393171"/>
                <a:gd name="connsiteY9" fmla="*/ 392942 h 393171"/>
                <a:gd name="connsiteX10" fmla="*/ 337771 w 393171"/>
                <a:gd name="connsiteY10" fmla="*/ 392942 h 393171"/>
                <a:gd name="connsiteX11" fmla="*/ 392632 w 393171"/>
                <a:gd name="connsiteY11" fmla="*/ 338081 h 393171"/>
                <a:gd name="connsiteX12" fmla="*/ 392632 w 393171"/>
                <a:gd name="connsiteY12" fmla="*/ 54632 h 393171"/>
                <a:gd name="connsiteX13" fmla="*/ 33777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7771" y="-229"/>
                  </a:moveTo>
                  <a:lnTo>
                    <a:pt x="54322" y="-229"/>
                  </a:lnTo>
                  <a:cubicBezTo>
                    <a:pt x="24023" y="-229"/>
                    <a:pt x="-539" y="24333"/>
                    <a:pt x="-539" y="54632"/>
                  </a:cubicBezTo>
                  <a:lnTo>
                    <a:pt x="-539" y="164469"/>
                  </a:lnTo>
                  <a:cubicBezTo>
                    <a:pt x="17869" y="164937"/>
                    <a:pt x="36212" y="166847"/>
                    <a:pt x="54322" y="170183"/>
                  </a:cubicBezTo>
                  <a:lnTo>
                    <a:pt x="54322" y="54632"/>
                  </a:lnTo>
                  <a:lnTo>
                    <a:pt x="337771" y="54632"/>
                  </a:lnTo>
                  <a:lnTo>
                    <a:pt x="337771" y="338081"/>
                  </a:lnTo>
                  <a:lnTo>
                    <a:pt x="291379" y="338081"/>
                  </a:lnTo>
                  <a:cubicBezTo>
                    <a:pt x="301527" y="355573"/>
                    <a:pt x="310098" y="373932"/>
                    <a:pt x="316992" y="392942"/>
                  </a:cubicBezTo>
                  <a:lnTo>
                    <a:pt x="337771" y="392942"/>
                  </a:lnTo>
                  <a:cubicBezTo>
                    <a:pt x="368070" y="392942"/>
                    <a:pt x="392632" y="368380"/>
                    <a:pt x="392632" y="338081"/>
                  </a:cubicBezTo>
                  <a:lnTo>
                    <a:pt x="392632" y="54632"/>
                  </a:lnTo>
                  <a:cubicBezTo>
                    <a:pt x="392632" y="24333"/>
                    <a:pt x="368070" y="-229"/>
                    <a:pt x="33777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0" name="任意多边形: 形状 69"/>
            <p:cNvSpPr/>
            <p:nvPr/>
          </p:nvSpPr>
          <p:spPr>
            <a:xfrm>
              <a:off x="3519169" y="3492980"/>
              <a:ext cx="393171" cy="393171"/>
            </a:xfrm>
            <a:custGeom>
              <a:avLst/>
              <a:gdLst>
                <a:gd name="connsiteX0" fmla="*/ 338081 w 393171"/>
                <a:gd name="connsiteY0" fmla="*/ 291379 h 393171"/>
                <a:gd name="connsiteX1" fmla="*/ 338081 w 393171"/>
                <a:gd name="connsiteY1" fmla="*/ 337771 h 393171"/>
                <a:gd name="connsiteX2" fmla="*/ 54632 w 393171"/>
                <a:gd name="connsiteY2" fmla="*/ 337771 h 393171"/>
                <a:gd name="connsiteX3" fmla="*/ 54632 w 393171"/>
                <a:gd name="connsiteY3" fmla="*/ 54322 h 393171"/>
                <a:gd name="connsiteX4" fmla="*/ 170195 w 393171"/>
                <a:gd name="connsiteY4" fmla="*/ 54322 h 393171"/>
                <a:gd name="connsiteX5" fmla="*/ 164480 w 393171"/>
                <a:gd name="connsiteY5" fmla="*/ -539 h 393171"/>
                <a:gd name="connsiteX6" fmla="*/ 54632 w 393171"/>
                <a:gd name="connsiteY6" fmla="*/ -539 h 393171"/>
                <a:gd name="connsiteX7" fmla="*/ -229 w 393171"/>
                <a:gd name="connsiteY7" fmla="*/ 54322 h 393171"/>
                <a:gd name="connsiteX8" fmla="*/ -229 w 393171"/>
                <a:gd name="connsiteY8" fmla="*/ 337771 h 393171"/>
                <a:gd name="connsiteX9" fmla="*/ 54632 w 393171"/>
                <a:gd name="connsiteY9" fmla="*/ 392632 h 393171"/>
                <a:gd name="connsiteX10" fmla="*/ 338081 w 393171"/>
                <a:gd name="connsiteY10" fmla="*/ 392632 h 393171"/>
                <a:gd name="connsiteX11" fmla="*/ 392942 w 393171"/>
                <a:gd name="connsiteY11" fmla="*/ 337771 h 393171"/>
                <a:gd name="connsiteX12" fmla="*/ 392942 w 393171"/>
                <a:gd name="connsiteY12" fmla="*/ 316992 h 393171"/>
                <a:gd name="connsiteX13" fmla="*/ 338081 w 393171"/>
                <a:gd name="connsiteY13" fmla="*/ 29137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91379"/>
                  </a:moveTo>
                  <a:lnTo>
                    <a:pt x="338081" y="337771"/>
                  </a:lnTo>
                  <a:lnTo>
                    <a:pt x="54632" y="337771"/>
                  </a:lnTo>
                  <a:lnTo>
                    <a:pt x="54632" y="54322"/>
                  </a:lnTo>
                  <a:lnTo>
                    <a:pt x="170195" y="54322"/>
                  </a:lnTo>
                  <a:cubicBezTo>
                    <a:pt x="166858" y="36212"/>
                    <a:pt x="164949" y="17869"/>
                    <a:pt x="164480" y="-539"/>
                  </a:cubicBezTo>
                  <a:lnTo>
                    <a:pt x="54632" y="-539"/>
                  </a:lnTo>
                  <a:cubicBezTo>
                    <a:pt x="24333" y="-539"/>
                    <a:pt x="-229" y="24023"/>
                    <a:pt x="-229" y="54322"/>
                  </a:cubicBezTo>
                  <a:lnTo>
                    <a:pt x="-229" y="337771"/>
                  </a:lnTo>
                  <a:cubicBezTo>
                    <a:pt x="-229" y="368070"/>
                    <a:pt x="24333" y="392632"/>
                    <a:pt x="54632" y="392632"/>
                  </a:cubicBezTo>
                  <a:lnTo>
                    <a:pt x="338081" y="392632"/>
                  </a:lnTo>
                  <a:cubicBezTo>
                    <a:pt x="368380" y="392632"/>
                    <a:pt x="392942" y="368070"/>
                    <a:pt x="392942" y="337771"/>
                  </a:cubicBezTo>
                  <a:lnTo>
                    <a:pt x="392942" y="316992"/>
                  </a:lnTo>
                  <a:cubicBezTo>
                    <a:pt x="373932" y="310098"/>
                    <a:pt x="355573" y="301527"/>
                    <a:pt x="338081" y="29137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1" name="任意多边形: 形状 70"/>
            <p:cNvSpPr/>
            <p:nvPr/>
          </p:nvSpPr>
          <p:spPr>
            <a:xfrm>
              <a:off x="4249508" y="3702138"/>
              <a:ext cx="184060" cy="184060"/>
            </a:xfrm>
            <a:custGeom>
              <a:avLst/>
              <a:gdLst>
                <a:gd name="connsiteX0" fmla="*/ 38259 w 184060"/>
                <a:gd name="connsiteY0" fmla="*/ -601 h 184060"/>
                <a:gd name="connsiteX1" fmla="*/ 175411 w 184060"/>
                <a:gd name="connsiteY1" fmla="*/ 136551 h 184060"/>
                <a:gd name="connsiteX2" fmla="*/ 175411 w 184060"/>
                <a:gd name="connsiteY2" fmla="*/ 175411 h 184060"/>
                <a:gd name="connsiteX3" fmla="*/ 136551 w 184060"/>
                <a:gd name="connsiteY3" fmla="*/ 175411 h 184060"/>
                <a:gd name="connsiteX4" fmla="*/ -601 w 184060"/>
                <a:gd name="connsiteY4" fmla="*/ 38259 h 184060"/>
                <a:gd name="connsiteX5" fmla="*/ 38259 w 184060"/>
                <a:gd name="connsiteY5" fmla="*/ -601 h 18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060" h="184060">
                  <a:moveTo>
                    <a:pt x="38259" y="-601"/>
                  </a:moveTo>
                  <a:lnTo>
                    <a:pt x="175411" y="136551"/>
                  </a:lnTo>
                  <a:cubicBezTo>
                    <a:pt x="186142" y="147282"/>
                    <a:pt x="186142" y="164680"/>
                    <a:pt x="175411" y="175411"/>
                  </a:cubicBezTo>
                  <a:cubicBezTo>
                    <a:pt x="164680" y="186142"/>
                    <a:pt x="147282" y="186142"/>
                    <a:pt x="136551" y="175411"/>
                  </a:cubicBezTo>
                  <a:lnTo>
                    <a:pt x="-601" y="38259"/>
                  </a:lnTo>
                  <a:lnTo>
                    <a:pt x="38259" y="-601"/>
                  </a:ln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2" name="任意多边形: 形状 71"/>
            <p:cNvSpPr/>
            <p:nvPr/>
          </p:nvSpPr>
          <p:spPr>
            <a:xfrm>
              <a:off x="4003776" y="3456406"/>
              <a:ext cx="237731" cy="237731"/>
            </a:xfrm>
            <a:custGeom>
              <a:avLst/>
              <a:gdLst>
                <a:gd name="connsiteX0" fmla="*/ 26959 w 237731"/>
                <a:gd name="connsiteY0" fmla="*/ 237260 h 237731"/>
                <a:gd name="connsiteX1" fmla="*/ -471 w 237731"/>
                <a:gd name="connsiteY1" fmla="*/ 209830 h 237731"/>
                <a:gd name="connsiteX2" fmla="*/ 26959 w 237731"/>
                <a:gd name="connsiteY2" fmla="*/ 182399 h 237731"/>
                <a:gd name="connsiteX3" fmla="*/ 182399 w 237731"/>
                <a:gd name="connsiteY3" fmla="*/ 26959 h 237731"/>
                <a:gd name="connsiteX4" fmla="*/ 209830 w 237731"/>
                <a:gd name="connsiteY4" fmla="*/ -471 h 237731"/>
                <a:gd name="connsiteX5" fmla="*/ 237260 w 237731"/>
                <a:gd name="connsiteY5" fmla="*/ 26959 h 237731"/>
                <a:gd name="connsiteX6" fmla="*/ 26959 w 237731"/>
                <a:gd name="connsiteY6" fmla="*/ 237260 h 23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31" h="237731">
                  <a:moveTo>
                    <a:pt x="26959" y="237260"/>
                  </a:moveTo>
                  <a:cubicBezTo>
                    <a:pt x="11810" y="237260"/>
                    <a:pt x="-471" y="224979"/>
                    <a:pt x="-471" y="209830"/>
                  </a:cubicBezTo>
                  <a:cubicBezTo>
                    <a:pt x="-471" y="194680"/>
                    <a:pt x="11810" y="182399"/>
                    <a:pt x="26959" y="182399"/>
                  </a:cubicBezTo>
                  <a:cubicBezTo>
                    <a:pt x="112680" y="182399"/>
                    <a:pt x="182399" y="112680"/>
                    <a:pt x="182399" y="26959"/>
                  </a:cubicBezTo>
                  <a:cubicBezTo>
                    <a:pt x="182399" y="11810"/>
                    <a:pt x="194680" y="-471"/>
                    <a:pt x="209830" y="-471"/>
                  </a:cubicBezTo>
                  <a:cubicBezTo>
                    <a:pt x="224979" y="-471"/>
                    <a:pt x="237260" y="11810"/>
                    <a:pt x="237260" y="26959"/>
                  </a:cubicBezTo>
                  <a:cubicBezTo>
                    <a:pt x="237260" y="142922"/>
                    <a:pt x="142922" y="237260"/>
                    <a:pt x="26959" y="237260"/>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3" name="任意多边形: 形状 72"/>
            <p:cNvSpPr/>
            <p:nvPr/>
          </p:nvSpPr>
          <p:spPr>
            <a:xfrm>
              <a:off x="3683736" y="3136382"/>
              <a:ext cx="694941" cy="694908"/>
            </a:xfrm>
            <a:custGeom>
              <a:avLst/>
              <a:gdLst>
                <a:gd name="connsiteX0" fmla="*/ 347054 w 694941"/>
                <a:gd name="connsiteY0" fmla="*/ 694491 h 694908"/>
                <a:gd name="connsiteX1" fmla="*/ -297 w 694941"/>
                <a:gd name="connsiteY1" fmla="*/ 355815 h 694908"/>
                <a:gd name="connsiteX2" fmla="*/ 347054 w 694941"/>
                <a:gd name="connsiteY2" fmla="*/ -416 h 694908"/>
                <a:gd name="connsiteX3" fmla="*/ 694405 w 694941"/>
                <a:gd name="connsiteY3" fmla="*/ 338260 h 694908"/>
                <a:gd name="connsiteX4" fmla="*/ 347054 w 694941"/>
                <a:gd name="connsiteY4" fmla="*/ 694491 h 694908"/>
                <a:gd name="connsiteX5" fmla="*/ 347054 w 694941"/>
                <a:gd name="connsiteY5" fmla="*/ 54445 h 694908"/>
                <a:gd name="connsiteX6" fmla="*/ 54633 w 694941"/>
                <a:gd name="connsiteY6" fmla="*/ 336751 h 694908"/>
                <a:gd name="connsiteX7" fmla="*/ 347054 w 694941"/>
                <a:gd name="connsiteY7" fmla="*/ 639630 h 694908"/>
                <a:gd name="connsiteX8" fmla="*/ 639475 w 694941"/>
                <a:gd name="connsiteY8" fmla="*/ 357324 h 694908"/>
                <a:gd name="connsiteX9" fmla="*/ 347054 w 694941"/>
                <a:gd name="connsiteY9" fmla="*/ 54445 h 69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941" h="694908">
                  <a:moveTo>
                    <a:pt x="347054" y="694491"/>
                  </a:moveTo>
                  <a:cubicBezTo>
                    <a:pt x="157555" y="694777"/>
                    <a:pt x="3955" y="542549"/>
                    <a:pt x="-297" y="355815"/>
                  </a:cubicBezTo>
                  <a:cubicBezTo>
                    <a:pt x="-5406" y="159378"/>
                    <a:pt x="153257" y="-770"/>
                    <a:pt x="347054" y="-416"/>
                  </a:cubicBezTo>
                  <a:cubicBezTo>
                    <a:pt x="536553" y="-702"/>
                    <a:pt x="690153" y="151526"/>
                    <a:pt x="694405" y="338260"/>
                  </a:cubicBezTo>
                  <a:cubicBezTo>
                    <a:pt x="699514" y="534697"/>
                    <a:pt x="540851" y="694845"/>
                    <a:pt x="347054" y="694491"/>
                  </a:cubicBezTo>
                  <a:moveTo>
                    <a:pt x="347054" y="54445"/>
                  </a:moveTo>
                  <a:cubicBezTo>
                    <a:pt x="188288" y="54205"/>
                    <a:pt x="59662" y="181037"/>
                    <a:pt x="54633" y="336751"/>
                  </a:cubicBezTo>
                  <a:cubicBezTo>
                    <a:pt x="48678" y="503506"/>
                    <a:pt x="183019" y="639961"/>
                    <a:pt x="347054" y="639630"/>
                  </a:cubicBezTo>
                  <a:cubicBezTo>
                    <a:pt x="505820" y="639870"/>
                    <a:pt x="634446" y="513038"/>
                    <a:pt x="639475" y="357324"/>
                  </a:cubicBezTo>
                  <a:cubicBezTo>
                    <a:pt x="645430" y="190569"/>
                    <a:pt x="511089" y="54114"/>
                    <a:pt x="347054" y="54445"/>
                  </a:cubicBezTo>
                </a:path>
              </a:pathLst>
            </a:custGeom>
            <a:grpFill/>
            <a:ln w="1143" cap="flat">
              <a:noFill/>
              <a:prstDash val="solid"/>
              <a:miter/>
            </a:ln>
          </p:spPr>
          <p:txBody>
            <a:bodyPr rtlCol="0" anchor="ctr"/>
            <a:lstStyle/>
            <a:p>
              <a:endParaRPr lang="zh-CN" altLang="en-US" dirty="0">
                <a:cs typeface="思源黑体 CN Light" panose="020B0300000000000000" pitchFamily="34" charset="-122"/>
              </a:endParaRPr>
            </a:p>
          </p:txBody>
        </p:sp>
      </p:grpSp>
      <p:sp>
        <p:nvSpPr>
          <p:cNvPr id="17" name="椭圆 16"/>
          <p:cNvSpPr/>
          <p:nvPr/>
        </p:nvSpPr>
        <p:spPr>
          <a:xfrm>
            <a:off x="63182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74" name="图片 13" descr="32313538333630393b32313538333732303bcad5b2d8bfceb3cc"/>
          <p:cNvGrpSpPr/>
          <p:nvPr/>
        </p:nvGrpSpPr>
        <p:grpSpPr>
          <a:xfrm rot="0">
            <a:off x="833755" y="3691255"/>
            <a:ext cx="375285" cy="327025"/>
            <a:chOff x="9267190" y="1667355"/>
            <a:chExt cx="914398" cy="796597"/>
          </a:xfrm>
          <a:solidFill>
            <a:schemeClr val="bg1"/>
          </a:solidFill>
        </p:grpSpPr>
        <p:sp>
          <p:nvSpPr>
            <p:cNvPr id="75" name="任意多边形: 形状 74"/>
            <p:cNvSpPr/>
            <p:nvPr/>
          </p:nvSpPr>
          <p:spPr>
            <a:xfrm>
              <a:off x="9267190" y="1667355"/>
              <a:ext cx="914398" cy="796597"/>
            </a:xfrm>
            <a:custGeom>
              <a:avLst/>
              <a:gdLst>
                <a:gd name="connsiteX0" fmla="*/ 896842 w 914398"/>
                <a:gd name="connsiteY0" fmla="*/ 258160 h 796597"/>
                <a:gd name="connsiteX1" fmla="*/ 872544 w 914398"/>
                <a:gd name="connsiteY1" fmla="*/ 241207 h 796597"/>
                <a:gd name="connsiteX2" fmla="*/ 872544 w 914398"/>
                <a:gd name="connsiteY2" fmla="*/ 187038 h 796597"/>
                <a:gd name="connsiteX3" fmla="*/ 806142 w 914398"/>
                <a:gd name="connsiteY3" fmla="*/ 120637 h 796597"/>
                <a:gd name="connsiteX4" fmla="*/ 763926 w 914398"/>
                <a:gd name="connsiteY4" fmla="*/ 120637 h 796597"/>
                <a:gd name="connsiteX5" fmla="*/ 739025 w 914398"/>
                <a:gd name="connsiteY5" fmla="*/ 145537 h 796597"/>
                <a:gd name="connsiteX6" fmla="*/ 763926 w 914398"/>
                <a:gd name="connsiteY6" fmla="*/ 170438 h 796597"/>
                <a:gd name="connsiteX7" fmla="*/ 806142 w 914398"/>
                <a:gd name="connsiteY7" fmla="*/ 170438 h 796597"/>
                <a:gd name="connsiteX8" fmla="*/ 822743 w 914398"/>
                <a:gd name="connsiteY8" fmla="*/ 187038 h 796597"/>
                <a:gd name="connsiteX9" fmla="*/ 822743 w 914398"/>
                <a:gd name="connsiteY9" fmla="*/ 236320 h 796597"/>
                <a:gd name="connsiteX10" fmla="*/ 90897 w 914398"/>
                <a:gd name="connsiteY10" fmla="*/ 236320 h 796597"/>
                <a:gd name="connsiteX11" fmla="*/ 90897 w 914398"/>
                <a:gd name="connsiteY11" fmla="*/ 66001 h 796597"/>
                <a:gd name="connsiteX12" fmla="*/ 107498 w 914398"/>
                <a:gd name="connsiteY12" fmla="*/ 49401 h 796597"/>
                <a:gd name="connsiteX13" fmla="*/ 401219 w 914398"/>
                <a:gd name="connsiteY13" fmla="*/ 49401 h 796597"/>
                <a:gd name="connsiteX14" fmla="*/ 417581 w 914398"/>
                <a:gd name="connsiteY14" fmla="*/ 63220 h 796597"/>
                <a:gd name="connsiteX15" fmla="*/ 422312 w 914398"/>
                <a:gd name="connsiteY15" fmla="*/ 91067 h 796597"/>
                <a:gd name="connsiteX16" fmla="*/ 451015 w 914398"/>
                <a:gd name="connsiteY16" fmla="*/ 111470 h 796597"/>
                <a:gd name="connsiteX17" fmla="*/ 471418 w 914398"/>
                <a:gd name="connsiteY17" fmla="*/ 82767 h 796597"/>
                <a:gd name="connsiteX18" fmla="*/ 466687 w 914398"/>
                <a:gd name="connsiteY18" fmla="*/ 54910 h 796597"/>
                <a:gd name="connsiteX19" fmla="*/ 401219 w 914398"/>
                <a:gd name="connsiteY19" fmla="*/ -380 h 796597"/>
                <a:gd name="connsiteX20" fmla="*/ 107498 w 914398"/>
                <a:gd name="connsiteY20" fmla="*/ -380 h 796597"/>
                <a:gd name="connsiteX21" fmla="*/ 41097 w 914398"/>
                <a:gd name="connsiteY21" fmla="*/ 66022 h 796597"/>
                <a:gd name="connsiteX22" fmla="*/ 41097 w 914398"/>
                <a:gd name="connsiteY22" fmla="*/ 241207 h 796597"/>
                <a:gd name="connsiteX23" fmla="*/ -51 w 914398"/>
                <a:gd name="connsiteY23" fmla="*/ 309309 h 796597"/>
                <a:gd name="connsiteX24" fmla="*/ 42850 w 914398"/>
                <a:gd name="connsiteY24" fmla="*/ 736404 h 796597"/>
                <a:gd name="connsiteX25" fmla="*/ 108930 w 914398"/>
                <a:gd name="connsiteY25" fmla="*/ 796217 h 796597"/>
                <a:gd name="connsiteX26" fmla="*/ 804711 w 914398"/>
                <a:gd name="connsiteY26" fmla="*/ 796217 h 796597"/>
                <a:gd name="connsiteX27" fmla="*/ 870790 w 914398"/>
                <a:gd name="connsiteY27" fmla="*/ 736404 h 796597"/>
                <a:gd name="connsiteX28" fmla="*/ 913691 w 914398"/>
                <a:gd name="connsiteY28" fmla="*/ 309309 h 796597"/>
                <a:gd name="connsiteX29" fmla="*/ 896842 w 914398"/>
                <a:gd name="connsiteY29" fmla="*/ 258160 h 796597"/>
                <a:gd name="connsiteX30" fmla="*/ 864140 w 914398"/>
                <a:gd name="connsiteY30" fmla="*/ 304371 h 796597"/>
                <a:gd name="connsiteX31" fmla="*/ 821228 w 914398"/>
                <a:gd name="connsiteY31" fmla="*/ 731466 h 796597"/>
                <a:gd name="connsiteX32" fmla="*/ 804711 w 914398"/>
                <a:gd name="connsiteY32" fmla="*/ 746416 h 796597"/>
                <a:gd name="connsiteX33" fmla="*/ 108930 w 914398"/>
                <a:gd name="connsiteY33" fmla="*/ 746416 h 796597"/>
                <a:gd name="connsiteX34" fmla="*/ 92412 w 914398"/>
                <a:gd name="connsiteY34" fmla="*/ 731466 h 796597"/>
                <a:gd name="connsiteX35" fmla="*/ 49500 w 914398"/>
                <a:gd name="connsiteY35" fmla="*/ 304371 h 796597"/>
                <a:gd name="connsiteX36" fmla="*/ 53711 w 914398"/>
                <a:gd name="connsiteY36" fmla="*/ 291581 h 796597"/>
                <a:gd name="connsiteX37" fmla="*/ 66018 w 914398"/>
                <a:gd name="connsiteY37" fmla="*/ 286121 h 796597"/>
                <a:gd name="connsiteX38" fmla="*/ 847622 w 914398"/>
                <a:gd name="connsiteY38" fmla="*/ 286121 h 796597"/>
                <a:gd name="connsiteX39" fmla="*/ 859929 w 914398"/>
                <a:gd name="connsiteY39" fmla="*/ 291581 h 796597"/>
                <a:gd name="connsiteX40" fmla="*/ 864140 w 914398"/>
                <a:gd name="connsiteY40" fmla="*/ 304371 h 796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14398" h="796597">
                  <a:moveTo>
                    <a:pt x="896842" y="258160"/>
                  </a:moveTo>
                  <a:cubicBezTo>
                    <a:pt x="890121" y="250753"/>
                    <a:pt x="881816" y="244957"/>
                    <a:pt x="872544" y="241207"/>
                  </a:cubicBezTo>
                  <a:lnTo>
                    <a:pt x="872544" y="187038"/>
                  </a:lnTo>
                  <a:cubicBezTo>
                    <a:pt x="872503" y="150382"/>
                    <a:pt x="842798" y="120677"/>
                    <a:pt x="806142" y="120637"/>
                  </a:cubicBezTo>
                  <a:lnTo>
                    <a:pt x="763926" y="120637"/>
                  </a:lnTo>
                  <a:cubicBezTo>
                    <a:pt x="750173" y="120637"/>
                    <a:pt x="739025" y="131785"/>
                    <a:pt x="739025" y="145537"/>
                  </a:cubicBezTo>
                  <a:cubicBezTo>
                    <a:pt x="739025" y="159289"/>
                    <a:pt x="750173" y="170438"/>
                    <a:pt x="763926" y="170438"/>
                  </a:cubicBezTo>
                  <a:lnTo>
                    <a:pt x="806142" y="170438"/>
                  </a:lnTo>
                  <a:cubicBezTo>
                    <a:pt x="815311" y="170438"/>
                    <a:pt x="822743" y="177869"/>
                    <a:pt x="822743" y="187038"/>
                  </a:cubicBezTo>
                  <a:lnTo>
                    <a:pt x="822743" y="236320"/>
                  </a:lnTo>
                  <a:lnTo>
                    <a:pt x="90897" y="236320"/>
                  </a:lnTo>
                  <a:lnTo>
                    <a:pt x="90897" y="66001"/>
                  </a:lnTo>
                  <a:cubicBezTo>
                    <a:pt x="90897" y="56832"/>
                    <a:pt x="98329" y="49401"/>
                    <a:pt x="107498" y="49401"/>
                  </a:cubicBezTo>
                  <a:lnTo>
                    <a:pt x="401219" y="49401"/>
                  </a:lnTo>
                  <a:cubicBezTo>
                    <a:pt x="409313" y="49403"/>
                    <a:pt x="416225" y="55241"/>
                    <a:pt x="417581" y="63220"/>
                  </a:cubicBezTo>
                  <a:lnTo>
                    <a:pt x="422312" y="91067"/>
                  </a:lnTo>
                  <a:cubicBezTo>
                    <a:pt x="424604" y="104628"/>
                    <a:pt x="437455" y="113762"/>
                    <a:pt x="451015" y="111470"/>
                  </a:cubicBezTo>
                  <a:cubicBezTo>
                    <a:pt x="464575" y="109178"/>
                    <a:pt x="473710" y="96328"/>
                    <a:pt x="471418" y="82767"/>
                  </a:cubicBezTo>
                  <a:lnTo>
                    <a:pt x="466687" y="54910"/>
                  </a:lnTo>
                  <a:cubicBezTo>
                    <a:pt x="461331" y="22945"/>
                    <a:pt x="433630" y="-449"/>
                    <a:pt x="401219" y="-380"/>
                  </a:cubicBezTo>
                  <a:lnTo>
                    <a:pt x="107498" y="-380"/>
                  </a:lnTo>
                  <a:cubicBezTo>
                    <a:pt x="70842" y="-339"/>
                    <a:pt x="41137" y="29366"/>
                    <a:pt x="41097" y="66022"/>
                  </a:cubicBezTo>
                  <a:lnTo>
                    <a:pt x="41097" y="241207"/>
                  </a:lnTo>
                  <a:cubicBezTo>
                    <a:pt x="13773" y="252244"/>
                    <a:pt x="-2990" y="279988"/>
                    <a:pt x="-51" y="309309"/>
                  </a:cubicBezTo>
                  <a:lnTo>
                    <a:pt x="42850" y="736404"/>
                  </a:lnTo>
                  <a:cubicBezTo>
                    <a:pt x="46143" y="770406"/>
                    <a:pt x="74769" y="796318"/>
                    <a:pt x="108930" y="796217"/>
                  </a:cubicBezTo>
                  <a:lnTo>
                    <a:pt x="804711" y="796217"/>
                  </a:lnTo>
                  <a:cubicBezTo>
                    <a:pt x="838871" y="796318"/>
                    <a:pt x="867497" y="770406"/>
                    <a:pt x="870790" y="736404"/>
                  </a:cubicBezTo>
                  <a:lnTo>
                    <a:pt x="913691" y="309309"/>
                  </a:lnTo>
                  <a:cubicBezTo>
                    <a:pt x="915538" y="290647"/>
                    <a:pt x="909419" y="272071"/>
                    <a:pt x="896842" y="258160"/>
                  </a:cubicBezTo>
                  <a:moveTo>
                    <a:pt x="864140" y="304371"/>
                  </a:moveTo>
                  <a:lnTo>
                    <a:pt x="821228" y="731466"/>
                  </a:lnTo>
                  <a:cubicBezTo>
                    <a:pt x="820408" y="739966"/>
                    <a:pt x="813250" y="746445"/>
                    <a:pt x="804711" y="746416"/>
                  </a:cubicBezTo>
                  <a:lnTo>
                    <a:pt x="108930" y="746416"/>
                  </a:lnTo>
                  <a:cubicBezTo>
                    <a:pt x="100390" y="746445"/>
                    <a:pt x="93232" y="739966"/>
                    <a:pt x="92412" y="731466"/>
                  </a:cubicBezTo>
                  <a:lnTo>
                    <a:pt x="49500" y="304371"/>
                  </a:lnTo>
                  <a:cubicBezTo>
                    <a:pt x="49035" y="299704"/>
                    <a:pt x="50564" y="295059"/>
                    <a:pt x="53711" y="291581"/>
                  </a:cubicBezTo>
                  <a:cubicBezTo>
                    <a:pt x="56857" y="288105"/>
                    <a:pt x="61328" y="286121"/>
                    <a:pt x="66018" y="286121"/>
                  </a:cubicBezTo>
                  <a:lnTo>
                    <a:pt x="847622" y="286121"/>
                  </a:lnTo>
                  <a:cubicBezTo>
                    <a:pt x="852312" y="286121"/>
                    <a:pt x="856783" y="288105"/>
                    <a:pt x="859929" y="291581"/>
                  </a:cubicBezTo>
                  <a:cubicBezTo>
                    <a:pt x="863076" y="295059"/>
                    <a:pt x="864605" y="299704"/>
                    <a:pt x="864140" y="304371"/>
                  </a:cubicBezTo>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6" name="任意多边形: 形状 75"/>
            <p:cNvSpPr/>
            <p:nvPr/>
          </p:nvSpPr>
          <p:spPr>
            <a:xfrm>
              <a:off x="9595368" y="2053229"/>
              <a:ext cx="258051" cy="258051"/>
            </a:xfrm>
            <a:custGeom>
              <a:avLst/>
              <a:gdLst>
                <a:gd name="connsiteX0" fmla="*/ 232767 w 258051"/>
                <a:gd name="connsiteY0" fmla="*/ 103666 h 258051"/>
                <a:gd name="connsiteX1" fmla="*/ 153542 w 258051"/>
                <a:gd name="connsiteY1" fmla="*/ 103666 h 258051"/>
                <a:gd name="connsiteX2" fmla="*/ 153542 w 258051"/>
                <a:gd name="connsiteY2" fmla="*/ 24441 h 258051"/>
                <a:gd name="connsiteX3" fmla="*/ 128642 w 258051"/>
                <a:gd name="connsiteY3" fmla="*/ -459 h 258051"/>
                <a:gd name="connsiteX4" fmla="*/ 103741 w 258051"/>
                <a:gd name="connsiteY4" fmla="*/ 24441 h 258051"/>
                <a:gd name="connsiteX5" fmla="*/ 103741 w 258051"/>
                <a:gd name="connsiteY5" fmla="*/ 103666 h 258051"/>
                <a:gd name="connsiteX6" fmla="*/ 24516 w 258051"/>
                <a:gd name="connsiteY6" fmla="*/ 103666 h 258051"/>
                <a:gd name="connsiteX7" fmla="*/ -384 w 258051"/>
                <a:gd name="connsiteY7" fmla="*/ 128566 h 258051"/>
                <a:gd name="connsiteX8" fmla="*/ 24516 w 258051"/>
                <a:gd name="connsiteY8" fmla="*/ 153467 h 258051"/>
                <a:gd name="connsiteX9" fmla="*/ 103741 w 258051"/>
                <a:gd name="connsiteY9" fmla="*/ 153467 h 258051"/>
                <a:gd name="connsiteX10" fmla="*/ 103741 w 258051"/>
                <a:gd name="connsiteY10" fmla="*/ 232692 h 258051"/>
                <a:gd name="connsiteX11" fmla="*/ 128642 w 258051"/>
                <a:gd name="connsiteY11" fmla="*/ 257592 h 258051"/>
                <a:gd name="connsiteX12" fmla="*/ 153542 w 258051"/>
                <a:gd name="connsiteY12" fmla="*/ 232692 h 258051"/>
                <a:gd name="connsiteX13" fmla="*/ 153542 w 258051"/>
                <a:gd name="connsiteY13" fmla="*/ 153467 h 258051"/>
                <a:gd name="connsiteX14" fmla="*/ 232767 w 258051"/>
                <a:gd name="connsiteY14" fmla="*/ 153467 h 258051"/>
                <a:gd name="connsiteX15" fmla="*/ 257668 w 258051"/>
                <a:gd name="connsiteY15" fmla="*/ 128566 h 258051"/>
                <a:gd name="connsiteX16" fmla="*/ 232767 w 258051"/>
                <a:gd name="connsiteY16" fmla="*/ 103666 h 25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051" h="258051">
                  <a:moveTo>
                    <a:pt x="232767" y="103666"/>
                  </a:moveTo>
                  <a:lnTo>
                    <a:pt x="153542" y="103666"/>
                  </a:lnTo>
                  <a:lnTo>
                    <a:pt x="153542" y="24441"/>
                  </a:lnTo>
                  <a:cubicBezTo>
                    <a:pt x="153542" y="10689"/>
                    <a:pt x="142394" y="-459"/>
                    <a:pt x="128642" y="-459"/>
                  </a:cubicBezTo>
                  <a:cubicBezTo>
                    <a:pt x="114890" y="-459"/>
                    <a:pt x="103741" y="10689"/>
                    <a:pt x="103741" y="24441"/>
                  </a:cubicBezTo>
                  <a:lnTo>
                    <a:pt x="103741" y="103666"/>
                  </a:lnTo>
                  <a:lnTo>
                    <a:pt x="24516" y="103666"/>
                  </a:lnTo>
                  <a:cubicBezTo>
                    <a:pt x="10764" y="103666"/>
                    <a:pt x="-384" y="114814"/>
                    <a:pt x="-384" y="128566"/>
                  </a:cubicBezTo>
                  <a:cubicBezTo>
                    <a:pt x="-384" y="142319"/>
                    <a:pt x="10764" y="153467"/>
                    <a:pt x="24516" y="153467"/>
                  </a:cubicBezTo>
                  <a:lnTo>
                    <a:pt x="103741" y="153467"/>
                  </a:lnTo>
                  <a:lnTo>
                    <a:pt x="103741" y="232692"/>
                  </a:lnTo>
                  <a:cubicBezTo>
                    <a:pt x="103741" y="246444"/>
                    <a:pt x="114890" y="257592"/>
                    <a:pt x="128642" y="257592"/>
                  </a:cubicBezTo>
                  <a:cubicBezTo>
                    <a:pt x="142394" y="257592"/>
                    <a:pt x="153542" y="246444"/>
                    <a:pt x="153542" y="232692"/>
                  </a:cubicBezTo>
                  <a:lnTo>
                    <a:pt x="153542" y="153467"/>
                  </a:lnTo>
                  <a:lnTo>
                    <a:pt x="232767" y="153467"/>
                  </a:lnTo>
                  <a:cubicBezTo>
                    <a:pt x="246520" y="153467"/>
                    <a:pt x="257668" y="142319"/>
                    <a:pt x="257668" y="128566"/>
                  </a:cubicBezTo>
                  <a:cubicBezTo>
                    <a:pt x="257668" y="114814"/>
                    <a:pt x="246520" y="103666"/>
                    <a:pt x="232767" y="103666"/>
                  </a:cubicBez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7" name="任意多边形: 形状 76"/>
            <p:cNvSpPr/>
            <p:nvPr/>
          </p:nvSpPr>
          <p:spPr>
            <a:xfrm>
              <a:off x="9404475" y="1746238"/>
              <a:ext cx="639837" cy="157817"/>
            </a:xfrm>
            <a:custGeom>
              <a:avLst/>
              <a:gdLst>
                <a:gd name="connsiteX0" fmla="*/ -384 w 639837"/>
                <a:gd name="connsiteY0" fmla="*/ 157602 h 157817"/>
                <a:gd name="connsiteX1" fmla="*/ -384 w 639837"/>
                <a:gd name="connsiteY1" fmla="*/ 66186 h 157817"/>
                <a:gd name="connsiteX2" fmla="*/ 66017 w 639837"/>
                <a:gd name="connsiteY2" fmla="*/ -215 h 157817"/>
                <a:gd name="connsiteX3" fmla="*/ 573053 w 639837"/>
                <a:gd name="connsiteY3" fmla="*/ -215 h 157817"/>
                <a:gd name="connsiteX4" fmla="*/ 639454 w 639837"/>
                <a:gd name="connsiteY4" fmla="*/ 66186 h 157817"/>
                <a:gd name="connsiteX5" fmla="*/ 639454 w 639837"/>
                <a:gd name="connsiteY5" fmla="*/ 157602 h 157817"/>
                <a:gd name="connsiteX6" fmla="*/ 589653 w 639837"/>
                <a:gd name="connsiteY6" fmla="*/ 157602 h 157817"/>
                <a:gd name="connsiteX7" fmla="*/ 589653 w 639837"/>
                <a:gd name="connsiteY7" fmla="*/ 66186 h 157817"/>
                <a:gd name="connsiteX8" fmla="*/ 573053 w 639837"/>
                <a:gd name="connsiteY8" fmla="*/ 49586 h 157817"/>
                <a:gd name="connsiteX9" fmla="*/ 66017 w 639837"/>
                <a:gd name="connsiteY9" fmla="*/ 49586 h 157817"/>
                <a:gd name="connsiteX10" fmla="*/ 49417 w 639837"/>
                <a:gd name="connsiteY10" fmla="*/ 66186 h 157817"/>
                <a:gd name="connsiteX11" fmla="*/ 49417 w 639837"/>
                <a:gd name="connsiteY11" fmla="*/ 157602 h 157817"/>
                <a:gd name="connsiteX12" fmla="*/ -384 w 639837"/>
                <a:gd name="connsiteY12" fmla="*/ 157602 h 15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837" h="157817">
                  <a:moveTo>
                    <a:pt x="-384" y="157602"/>
                  </a:moveTo>
                  <a:lnTo>
                    <a:pt x="-384" y="66186"/>
                  </a:lnTo>
                  <a:cubicBezTo>
                    <a:pt x="-344" y="29530"/>
                    <a:pt x="29362" y="-175"/>
                    <a:pt x="66017" y="-215"/>
                  </a:cubicBezTo>
                  <a:lnTo>
                    <a:pt x="573053" y="-215"/>
                  </a:lnTo>
                  <a:cubicBezTo>
                    <a:pt x="609708" y="-175"/>
                    <a:pt x="639413" y="29530"/>
                    <a:pt x="639454" y="66186"/>
                  </a:cubicBezTo>
                  <a:lnTo>
                    <a:pt x="639454" y="157602"/>
                  </a:lnTo>
                  <a:lnTo>
                    <a:pt x="589653" y="157602"/>
                  </a:lnTo>
                  <a:lnTo>
                    <a:pt x="589653" y="66186"/>
                  </a:lnTo>
                  <a:cubicBezTo>
                    <a:pt x="589653" y="57017"/>
                    <a:pt x="582221" y="49586"/>
                    <a:pt x="573053" y="49586"/>
                  </a:cubicBezTo>
                  <a:lnTo>
                    <a:pt x="66017" y="49586"/>
                  </a:lnTo>
                  <a:cubicBezTo>
                    <a:pt x="56849" y="49586"/>
                    <a:pt x="49417" y="57017"/>
                    <a:pt x="49417" y="66186"/>
                  </a:cubicBezTo>
                  <a:lnTo>
                    <a:pt x="49417" y="157602"/>
                  </a:lnTo>
                  <a:lnTo>
                    <a:pt x="-384" y="157602"/>
                  </a:ln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grpSp>
      <p:sp>
        <p:nvSpPr>
          <p:cNvPr id="28" name="文本框 27"/>
          <p:cNvSpPr txBox="1"/>
          <p:nvPr/>
        </p:nvSpPr>
        <p:spPr>
          <a:xfrm>
            <a:off x="5410835" y="1537335"/>
            <a:ext cx="3454400" cy="36830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b="1">
                <a:solidFill>
                  <a:schemeClr val="bg1"/>
                </a:solidFill>
                <a:latin typeface="思源黑体 CN Medium" panose="020B0600000000000000" charset="-122"/>
                <a:ea typeface="思源黑体 CN Medium" panose="020B0600000000000000" charset="-122"/>
                <a:sym typeface="+mn-ea"/>
              </a:rPr>
              <a:t>多模态数据融合预处理</a:t>
            </a:r>
            <a:endParaRPr lang="zh-CN" altLang="en-US" b="1">
              <a:solidFill>
                <a:schemeClr val="bg1"/>
              </a:solidFill>
              <a:latin typeface="思源黑体 CN Medium" panose="020B0600000000000000" charset="-122"/>
              <a:ea typeface="思源黑体 CN Medium" panose="020B0600000000000000" charset="-122"/>
              <a:sym typeface="+mn-ea"/>
            </a:endParaRPr>
          </a:p>
        </p:txBody>
      </p:sp>
      <p:sp>
        <p:nvSpPr>
          <p:cNvPr id="29" name="文本框 28"/>
          <p:cNvSpPr txBox="1"/>
          <p:nvPr/>
        </p:nvSpPr>
        <p:spPr>
          <a:xfrm>
            <a:off x="5436235" y="185674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EEG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信号噪声与</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fNIRS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信号延迟问题，采用</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db4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小波变换去噪并通过时间戳同步对齐双信号，提取节律与血氧特征融合，将数据信噪比提升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15%-20%</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。为后续解码提供高质量输入。</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37" name="文本框 36"/>
          <p:cNvSpPr txBox="1"/>
          <p:nvPr/>
        </p:nvSpPr>
        <p:spPr>
          <a:xfrm>
            <a:off x="5385435" y="3258820"/>
            <a:ext cx="3454400" cy="27559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200" b="1">
                <a:solidFill>
                  <a:schemeClr val="bg1"/>
                </a:solidFill>
                <a:latin typeface="思源黑体 CN Medium" panose="020B0600000000000000" charset="-122"/>
                <a:ea typeface="思源黑体 CN Medium" panose="020B0600000000000000" charset="-122"/>
                <a:sym typeface="+mn-ea"/>
              </a:rPr>
              <a:t>轻量化</a:t>
            </a:r>
            <a:r>
              <a:rPr lang="en-US" altLang="zh-CN" sz="1200" b="1">
                <a:solidFill>
                  <a:schemeClr val="bg1"/>
                </a:solidFill>
                <a:latin typeface="思源黑体 CN Medium" panose="020B0600000000000000" charset="-122"/>
                <a:ea typeface="思源黑体 CN Medium" panose="020B0600000000000000" charset="-122"/>
                <a:sym typeface="+mn-ea"/>
              </a:rPr>
              <a:t> Transformer </a:t>
            </a:r>
            <a:r>
              <a:rPr lang="zh-CN" altLang="en-US" sz="1200" b="1">
                <a:solidFill>
                  <a:schemeClr val="bg1"/>
                </a:solidFill>
                <a:latin typeface="思源黑体 CN Medium" panose="020B0600000000000000" charset="-122"/>
                <a:ea typeface="思源黑体 CN Medium" panose="020B0600000000000000" charset="-122"/>
                <a:sym typeface="+mn-ea"/>
              </a:rPr>
              <a:t>解码架构设计</a:t>
            </a:r>
            <a:endParaRPr lang="zh-CN" altLang="en-US" sz="1200" b="1">
              <a:solidFill>
                <a:schemeClr val="bg1"/>
              </a:solidFill>
              <a:latin typeface="思源黑体 CN Medium" panose="020B0600000000000000" charset="-122"/>
              <a:ea typeface="思源黑体 CN Medium" panose="020B0600000000000000" charset="-122"/>
              <a:sym typeface="+mn-ea"/>
            </a:endParaRPr>
          </a:p>
        </p:txBody>
      </p:sp>
      <p:sp>
        <p:nvSpPr>
          <p:cNvPr id="38" name="文本框 37"/>
          <p:cNvSpPr txBox="1"/>
          <p:nvPr/>
        </p:nvSpPr>
        <p:spPr>
          <a:xfrm>
            <a:off x="5436235" y="3565525"/>
            <a:ext cx="6489065"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为解决传统</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Transformer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参数量大的问题，剪枝</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60%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冗余注意力头并替换为深度可分离卷积，构建参数量＜</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5M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模型，推理速度提升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30%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以上。</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46" name="文本框 45"/>
          <p:cNvSpPr txBox="1"/>
          <p:nvPr/>
        </p:nvSpPr>
        <p:spPr>
          <a:xfrm>
            <a:off x="5461635" y="4802505"/>
            <a:ext cx="3454400" cy="306705"/>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400" b="1">
                <a:solidFill>
                  <a:schemeClr val="bg1"/>
                </a:solidFill>
                <a:latin typeface="思源黑体 CN Medium" panose="020B0600000000000000" charset="-122"/>
                <a:ea typeface="思源黑体 CN Medium" panose="020B0600000000000000" charset="-122"/>
                <a:sym typeface="+mn-ea"/>
              </a:rPr>
              <a:t>迁移学习与领域自适应优化</a:t>
            </a:r>
            <a:endParaRPr lang="zh-CN" altLang="en-US" sz="1400" b="1">
              <a:solidFill>
                <a:schemeClr val="bg1"/>
              </a:solidFill>
              <a:latin typeface="思源黑体 CN Medium" panose="020B0600000000000000" charset="-122"/>
              <a:ea typeface="思源黑体 CN Medium" panose="020B0600000000000000" charset="-122"/>
              <a:sym typeface="+mn-ea"/>
            </a:endParaRPr>
          </a:p>
        </p:txBody>
      </p:sp>
      <p:sp>
        <p:nvSpPr>
          <p:cNvPr id="47" name="文本框 46"/>
          <p:cNvSpPr txBox="1"/>
          <p:nvPr/>
        </p:nvSpPr>
        <p:spPr>
          <a:xfrm>
            <a:off x="5436235" y="509651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针对个体脑电差异，以多被试数据集预训练模型，用目标被试少量数据微调并引入</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MMD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损失，将跨被试解码精度提升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8%-12%</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grpSp>
        <p:nvGrpSpPr>
          <p:cNvPr id="52" name="组合 51"/>
          <p:cNvGrpSpPr/>
          <p:nvPr/>
        </p:nvGrpSpPr>
        <p:grpSpPr>
          <a:xfrm>
            <a:off x="5353050" y="2992120"/>
            <a:ext cx="6296727" cy="3136900"/>
            <a:chOff x="8505" y="4723"/>
            <a:chExt cx="8970" cy="4940"/>
          </a:xfrm>
        </p:grpSpPr>
        <p:cxnSp>
          <p:nvCxnSpPr>
            <p:cNvPr id="49" name="直接连接符 48"/>
            <p:cNvCxnSpPr/>
            <p:nvPr/>
          </p:nvCxnSpPr>
          <p:spPr>
            <a:xfrm>
              <a:off x="8550" y="472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505" y="711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550" y="966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中小学智能学习环境下学科认知迁移的支架设计研究</a:t>
            </a:r>
            <a:r>
              <a:rPr lang="zh-CN" altLang="en-US"/>
              <a:t>方法</a:t>
            </a:r>
            <a:endParaRPr lang="zh-CN" altLang="en-US"/>
          </a:p>
        </p:txBody>
      </p:sp>
      <p:sp>
        <p:nvSpPr>
          <p:cNvPr id="4" name="矩形 3"/>
          <p:cNvSpPr/>
          <p:nvPr/>
        </p:nvSpPr>
        <p:spPr>
          <a:xfrm>
            <a:off x="5759772" y="1544638"/>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5" name="矩形 4"/>
          <p:cNvSpPr/>
          <p:nvPr/>
        </p:nvSpPr>
        <p:spPr>
          <a:xfrm flipH="1">
            <a:off x="6102096" y="1541069"/>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6" name="矩形 5"/>
          <p:cNvSpPr/>
          <p:nvPr/>
        </p:nvSpPr>
        <p:spPr>
          <a:xfrm>
            <a:off x="792480" y="1544638"/>
            <a:ext cx="10607040" cy="48768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cxnSp>
        <p:nvCxnSpPr>
          <p:cNvPr id="7" name="直接连接符 6"/>
          <p:cNvCxnSpPr>
            <a:stCxn id="6" idx="0"/>
            <a:endCxn id="6" idx="2"/>
          </p:cNvCxnSpPr>
          <p:nvPr/>
        </p:nvCxnSpPr>
        <p:spPr>
          <a:xfrm>
            <a:off x="6096000" y="1544638"/>
            <a:ext cx="0" cy="48768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843280" y="1544638"/>
            <a:ext cx="50800" cy="4876800"/>
            <a:chOff x="843280" y="1168718"/>
            <a:chExt cx="50800" cy="4876800"/>
          </a:xfrm>
        </p:grpSpPr>
        <p:cxnSp>
          <p:nvCxnSpPr>
            <p:cNvPr id="9" name="直接连接符 8"/>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1297920" y="1544638"/>
            <a:ext cx="50800" cy="4876800"/>
            <a:chOff x="843280" y="1168718"/>
            <a:chExt cx="50800" cy="4876800"/>
          </a:xfrm>
        </p:grpSpPr>
        <p:cxnSp>
          <p:nvCxnSpPr>
            <p:cNvPr id="12" name="直接连接符 11"/>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4" name="直角三角形 13"/>
          <p:cNvSpPr/>
          <p:nvPr/>
        </p:nvSpPr>
        <p:spPr>
          <a:xfrm rot="18840308">
            <a:off x="5994400" y="1450175"/>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5" name="直角三角形 14"/>
          <p:cNvSpPr/>
          <p:nvPr/>
        </p:nvSpPr>
        <p:spPr>
          <a:xfrm rot="2759692" flipV="1">
            <a:off x="5994401" y="6319838"/>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6" name="矩形 15"/>
          <p:cNvSpPr/>
          <p:nvPr>
            <p:custDataLst>
              <p:tags r:id="rId2"/>
            </p:custDataLst>
          </p:nvPr>
        </p:nvSpPr>
        <p:spPr>
          <a:xfrm>
            <a:off x="1545064" y="3021070"/>
            <a:ext cx="4002646" cy="193865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向</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3</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所中小学数科学科师生发放问卷，调查智能学习环境使用频次、认知迁移难点，覆盖不同学段学情；再选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6</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个班级进行</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8</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周课堂观察，记录教师投放认知迁移支架的时机、形式及学生思维表现与迁移成果。通过量化与质性互补，分析支架对认知迁移的支撑作用，避免方法局限。</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7" name="文本框 16"/>
          <p:cNvSpPr txBox="1"/>
          <p:nvPr/>
        </p:nvSpPr>
        <p:spPr>
          <a:xfrm>
            <a:off x="154506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混合研究法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sp>
        <p:nvSpPr>
          <p:cNvPr id="18" name="矩形 17"/>
          <p:cNvSpPr/>
          <p:nvPr>
            <p:custDataLst>
              <p:tags r:id="rId3"/>
            </p:custDataLst>
          </p:nvPr>
        </p:nvSpPr>
        <p:spPr>
          <a:xfrm>
            <a:off x="6767304" y="3021070"/>
            <a:ext cx="4002646" cy="2261870"/>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依据</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智能环境配置差异</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原则，选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所设备完善，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所基础配置）的数科各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为案例。以一学期为周期，追踪认知迁移支架的设计、调整与应用：前期记录教师设计思路，中期观察学生表现，后期通过访谈、作业与测验分析总结支架的影响因素。最终提炼适配不同智能环境的支架设计范式，为中小学提供参考路径。</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9" name="文本框 18"/>
          <p:cNvSpPr txBox="1"/>
          <p:nvPr/>
        </p:nvSpPr>
        <p:spPr>
          <a:xfrm>
            <a:off x="676730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案例研究法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cxnSp>
        <p:nvCxnSpPr>
          <p:cNvPr id="20" name="直接连接符 19"/>
          <p:cNvCxnSpPr/>
          <p:nvPr/>
        </p:nvCxnSpPr>
        <p:spPr>
          <a:xfrm>
            <a:off x="154506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76730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箭头: 五边形 21"/>
          <p:cNvSpPr/>
          <p:nvPr/>
        </p:nvSpPr>
        <p:spPr>
          <a:xfrm rot="5400000">
            <a:off x="9967337" y="1787842"/>
            <a:ext cx="835030" cy="334347"/>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老年糖尿病照护者远程血糖人机协同研究</a:t>
            </a:r>
            <a:r>
              <a:rPr lang="zh-CN" altLang="en-US"/>
              <a:t>方法</a:t>
            </a:r>
            <a:endParaRPr lang="zh-CN" altLang="en-US"/>
          </a:p>
        </p:txBody>
      </p:sp>
      <p:sp>
        <p:nvSpPr>
          <p:cNvPr id="9" name="矩形 8"/>
          <p:cNvSpPr/>
          <p:nvPr/>
        </p:nvSpPr>
        <p:spPr>
          <a:xfrm rot="16200000" flipH="1">
            <a:off x="303195" y="1592141"/>
            <a:ext cx="4747351" cy="4557485"/>
          </a:xfrm>
          <a:prstGeom prst="rect">
            <a:avLst/>
          </a:prstGeom>
          <a:solidFill>
            <a:schemeClr val="bg1"/>
          </a:solidFill>
          <a:ln w="12700" cap="rnd">
            <a:noFill/>
            <a:prstDash val="solid"/>
            <a:round/>
          </a:ln>
          <a:effectLst>
            <a:outerShdw blurRad="635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dirty="0">
              <a:solidFill>
                <a:schemeClr val="bg1"/>
              </a:solidFill>
              <a:latin typeface="思源黑体 CN Medium" panose="020B0600000000000000" charset="-122"/>
              <a:ea typeface="思源黑体 CN Medium" panose="020B0600000000000000" charset="-122"/>
            </a:endParaRPr>
          </a:p>
        </p:txBody>
      </p:sp>
      <p:graphicFrame>
        <p:nvGraphicFramePr>
          <p:cNvPr id="7" name="图表 6"/>
          <p:cNvGraphicFramePr/>
          <p:nvPr/>
        </p:nvGraphicFramePr>
        <p:xfrm>
          <a:off x="-390104" y="1900129"/>
          <a:ext cx="5912261" cy="3941508"/>
        </p:xfrm>
        <a:graphic>
          <a:graphicData uri="http://schemas.openxmlformats.org/drawingml/2006/chart">
            <c:chart xmlns:c="http://schemas.openxmlformats.org/drawingml/2006/chart" xmlns:r="http://schemas.openxmlformats.org/officeDocument/2006/relationships" r:id="rId1"/>
          </a:graphicData>
        </a:graphic>
      </p:graphicFrame>
      <p:grpSp>
        <p:nvGrpSpPr>
          <p:cNvPr id="11" name="组合 10"/>
          <p:cNvGrpSpPr/>
          <p:nvPr/>
        </p:nvGrpSpPr>
        <p:grpSpPr>
          <a:xfrm>
            <a:off x="5212327" y="1497207"/>
            <a:ext cx="6520886" cy="4747353"/>
            <a:chOff x="7283848" y="1491640"/>
            <a:chExt cx="4419599" cy="4747353"/>
          </a:xfrm>
        </p:grpSpPr>
        <p:sp>
          <p:nvSpPr>
            <p:cNvPr id="17" name="矩形 16"/>
            <p:cNvSpPr/>
            <p:nvPr/>
          </p:nvSpPr>
          <p:spPr>
            <a:xfrm>
              <a:off x="7283848" y="1491640"/>
              <a:ext cx="4419599" cy="20992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rgbClr val="FECF02"/>
                </a:solidFill>
                <a:effectLst/>
                <a:uLnTx/>
                <a:uFillTx/>
                <a:latin typeface="思源黑体 CN Medium" panose="020B0600000000000000" charset="-122"/>
                <a:ea typeface="思源黑体 CN Medium" panose="020B0600000000000000" charset="-122"/>
                <a:cs typeface="HarmonyOS Sans SC" panose="00000500000000000000" charset="-122"/>
              </a:endParaRPr>
            </a:p>
          </p:txBody>
        </p:sp>
        <p:sp>
          <p:nvSpPr>
            <p:cNvPr id="18" name="矩形 17"/>
            <p:cNvSpPr/>
            <p:nvPr/>
          </p:nvSpPr>
          <p:spPr>
            <a:xfrm>
              <a:off x="7283848" y="1687270"/>
              <a:ext cx="4419599" cy="4551723"/>
            </a:xfrm>
            <a:prstGeom prst="rect">
              <a:avLst/>
            </a:prstGeom>
            <a:gradFill>
              <a:gsLst>
                <a:gs pos="0">
                  <a:schemeClr val="accent2">
                    <a:lumMod val="60000"/>
                    <a:lumOff val="40000"/>
                  </a:schemeClr>
                </a:gs>
                <a:gs pos="92000">
                  <a:schemeClr val="accent1">
                    <a:lumMod val="85000"/>
                  </a:schemeClr>
                </a:gs>
              </a:gsLst>
              <a:lin ang="2700000" scaled="1"/>
            </a:gradFill>
            <a:ln w="12700" cap="rnd">
              <a:noFill/>
              <a:prstDash val="solid"/>
              <a:round/>
            </a:ln>
            <a:effectLst>
              <a:outerShdw blurRad="50800" dist="38100" dir="8100000" algn="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a:solidFill>
                  <a:schemeClr val="bg1"/>
                </a:solidFill>
                <a:latin typeface="思源黑体 CN Medium" panose="020B0600000000000000" charset="-122"/>
                <a:ea typeface="思源黑体 CN Medium" panose="020B0600000000000000" charset="-122"/>
              </a:endParaRPr>
            </a:p>
          </p:txBody>
        </p:sp>
      </p:grpSp>
      <p:grpSp>
        <p:nvGrpSpPr>
          <p:cNvPr id="12" name="组合 11"/>
          <p:cNvGrpSpPr/>
          <p:nvPr/>
        </p:nvGrpSpPr>
        <p:grpSpPr>
          <a:xfrm>
            <a:off x="5629272" y="2212528"/>
            <a:ext cx="5796757" cy="1677459"/>
            <a:chOff x="5067675" y="2059975"/>
            <a:chExt cx="6043000" cy="1677459"/>
          </a:xfrm>
        </p:grpSpPr>
        <p:sp>
          <p:nvSpPr>
            <p:cNvPr id="13" name="文本框 12"/>
            <p:cNvSpPr txBox="1"/>
            <p:nvPr/>
          </p:nvSpPr>
          <p:spPr>
            <a:xfrm flipH="1">
              <a:off x="5067675" y="2538554"/>
              <a:ext cx="6043000" cy="119888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从</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户中抽取</a:t>
              </a:r>
              <a:r>
                <a:rPr lang="en-US" altLang="zh-CN" sz="1200" dirty="0">
                  <a:solidFill>
                    <a:schemeClr val="bg1"/>
                  </a:solidFill>
                  <a:latin typeface="思源黑体 CN Medium" panose="020B0600000000000000" charset="-122"/>
                  <a:ea typeface="思源黑体 CN Medium" panose="020B0600000000000000" charset="-122"/>
                </a:rPr>
                <a:t> 20%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100 </a:t>
              </a:r>
              <a:r>
                <a:rPr lang="zh-CN" altLang="en-US" sz="1200" dirty="0">
                  <a:solidFill>
                    <a:schemeClr val="bg1"/>
                  </a:solidFill>
                  <a:latin typeface="思源黑体 CN Medium" panose="020B0600000000000000" charset="-122"/>
                  <a:ea typeface="思源黑体 CN Medium" panose="020B0600000000000000" charset="-122"/>
                </a:rPr>
                <a:t>户）开展非正式调研，锁定</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人机协同信任度</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核心目标；再分层抽样</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户），结合半结构化访谈与定制量表，分析</a:t>
              </a:r>
              <a:r>
                <a:rPr lang="en-US" altLang="zh-CN" sz="1200" dirty="0">
                  <a:solidFill>
                    <a:schemeClr val="bg1"/>
                  </a:solidFill>
                  <a:latin typeface="思源黑体 CN Medium" panose="020B0600000000000000" charset="-122"/>
                  <a:ea typeface="思源黑体 CN Medium" panose="020B0600000000000000" charset="-122"/>
                </a:rPr>
                <a:t> 75% </a:t>
              </a:r>
              <a:r>
                <a:rPr lang="zh-CN" altLang="en-US" sz="1200" dirty="0">
                  <a:solidFill>
                    <a:schemeClr val="bg1"/>
                  </a:solidFill>
                  <a:latin typeface="思源黑体 CN Medium" panose="020B0600000000000000" charset="-122"/>
                  <a:ea typeface="思源黑体 CN Medium" panose="020B0600000000000000" charset="-122"/>
                </a:rPr>
                <a:t>照护者对</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设备</a:t>
              </a:r>
              <a:r>
                <a:rPr lang="en-US" altLang="zh-CN" sz="1200" dirty="0">
                  <a:solidFill>
                    <a:schemeClr val="bg1"/>
                  </a:solidFill>
                  <a:latin typeface="思源黑体 CN Medium" panose="020B0600000000000000" charset="-122"/>
                  <a:ea typeface="思源黑体 CN Medium" panose="020B0600000000000000" charset="-122"/>
                </a:rPr>
                <a:t> - </a:t>
              </a:r>
              <a:r>
                <a:rPr lang="zh-CN" altLang="en-US" sz="1200" dirty="0">
                  <a:solidFill>
                    <a:schemeClr val="bg1"/>
                  </a:solidFill>
                  <a:latin typeface="思源黑体 CN Medium" panose="020B0600000000000000" charset="-122"/>
                  <a:ea typeface="思源黑体 CN Medium" panose="020B0600000000000000" charset="-122"/>
                </a:rPr>
                <a:t>医疗人员</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协同模式的需求匹配度。</a:t>
              </a: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14" name="组合 13"/>
            <p:cNvGrpSpPr/>
            <p:nvPr/>
          </p:nvGrpSpPr>
          <p:grpSpPr>
            <a:xfrm>
              <a:off x="5079318" y="2059975"/>
              <a:ext cx="1983275" cy="358734"/>
              <a:chOff x="4409372" y="2495733"/>
              <a:chExt cx="1983275" cy="358734"/>
            </a:xfrm>
          </p:grpSpPr>
          <p:sp>
            <p:nvSpPr>
              <p:cNvPr id="15"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16" name="文本框 15"/>
              <p:cNvSpPr txBox="1"/>
              <p:nvPr/>
            </p:nvSpPr>
            <p:spPr>
              <a:xfrm>
                <a:off x="4409372" y="2505893"/>
                <a:ext cx="198327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多阶段混合调研法</a:t>
                </a:r>
                <a:endPar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grpSp>
        <p:nvGrpSpPr>
          <p:cNvPr id="25" name="组合 24"/>
          <p:cNvGrpSpPr/>
          <p:nvPr/>
        </p:nvGrpSpPr>
        <p:grpSpPr>
          <a:xfrm>
            <a:off x="5615042" y="4228544"/>
            <a:ext cx="5810987" cy="2047029"/>
            <a:chOff x="5052840" y="2059975"/>
            <a:chExt cx="6057834" cy="2047029"/>
          </a:xfrm>
        </p:grpSpPr>
        <p:sp>
          <p:nvSpPr>
            <p:cNvPr id="26" name="文本框 25"/>
            <p:cNvSpPr txBox="1"/>
            <p:nvPr/>
          </p:nvSpPr>
          <p:spPr>
            <a:xfrm flipH="1">
              <a:off x="5067674" y="2538554"/>
              <a:ext cx="6043000" cy="156845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提取</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户近</a:t>
              </a:r>
              <a:r>
                <a:rPr lang="en-US" altLang="zh-CN" sz="1200" dirty="0">
                  <a:solidFill>
                    <a:schemeClr val="bg1"/>
                  </a:solidFill>
                  <a:latin typeface="思源黑体 CN Medium" panose="020B0600000000000000" charset="-122"/>
                  <a:ea typeface="思源黑体 CN Medium" panose="020B0600000000000000" charset="-122"/>
                </a:rPr>
                <a:t> 1 </a:t>
              </a:r>
              <a:r>
                <a:rPr lang="zh-CN" altLang="en-US" sz="1200" dirty="0">
                  <a:solidFill>
                    <a:schemeClr val="bg1"/>
                  </a:solidFill>
                  <a:latin typeface="思源黑体 CN Medium" panose="020B0600000000000000" charset="-122"/>
                  <a:ea typeface="思源黑体 CN Medium" panose="020B0600000000000000" charset="-122"/>
                </a:rPr>
                <a:t>年动态血糖数据构建模拟场景，将</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户）照护者分为</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组实施</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个月干预，对比干预后</a:t>
              </a:r>
              <a:r>
                <a:rPr lang="en-US" altLang="zh-CN" sz="1200" dirty="0">
                  <a:solidFill>
                    <a:schemeClr val="bg1"/>
                  </a:solidFill>
                  <a:latin typeface="思源黑体 CN Medium" panose="020B0600000000000000" charset="-122"/>
                  <a:ea typeface="思源黑体 CN Medium" panose="020B0600000000000000" charset="-122"/>
                </a:rPr>
                <a:t> 90% </a:t>
              </a:r>
              <a:r>
                <a:rPr lang="zh-CN" altLang="en-US" sz="1200" dirty="0">
                  <a:solidFill>
                    <a:schemeClr val="bg1"/>
                  </a:solidFill>
                  <a:latin typeface="思源黑体 CN Medium" panose="020B0600000000000000" charset="-122"/>
                  <a:ea typeface="思源黑体 CN Medium" panose="020B0600000000000000" charset="-122"/>
                </a:rPr>
                <a:t>照护者的血糖管理操作规范率（如设备校准及时性、应急场景响应准确率）提升差异。</a:t>
              </a:r>
              <a:endParaRPr lang="zh-CN" altLang="en-US" sz="1200" dirty="0">
                <a:solidFill>
                  <a:schemeClr val="bg1"/>
                </a:solidFill>
                <a:latin typeface="思源黑体 CN Medium" panose="020B0600000000000000" charset="-122"/>
                <a:ea typeface="思源黑体 CN Medium" panose="020B0600000000000000" charset="-122"/>
              </a:endParaRPr>
            </a:p>
            <a:p>
              <a:pPr>
                <a:lnSpc>
                  <a:spcPct val="200000"/>
                </a:lnSpc>
              </a:pP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27" name="组合 26"/>
            <p:cNvGrpSpPr/>
            <p:nvPr/>
          </p:nvGrpSpPr>
          <p:grpSpPr>
            <a:xfrm>
              <a:off x="5052840" y="2059975"/>
              <a:ext cx="1956134" cy="358734"/>
              <a:chOff x="4382894" y="2495733"/>
              <a:chExt cx="1956134" cy="358734"/>
            </a:xfrm>
          </p:grpSpPr>
          <p:sp>
            <p:nvSpPr>
              <p:cNvPr id="28"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29" name="文本框 28"/>
              <p:cNvSpPr txBox="1"/>
              <p:nvPr/>
            </p:nvSpPr>
            <p:spPr>
              <a:xfrm>
                <a:off x="4382894" y="2531567"/>
                <a:ext cx="1956134"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人机协同模拟干预实验法</a:t>
                </a:r>
                <a:endPar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初中生物核心素养跨学科教研融合的机制与效能研究</a:t>
            </a:r>
            <a:r>
              <a:rPr lang="zh-CN" altLang="en-US"/>
              <a:t>方法</a:t>
            </a:r>
            <a:endParaRPr lang="zh-CN" altLang="en-US"/>
          </a:p>
        </p:txBody>
      </p:sp>
      <p:grpSp>
        <p:nvGrpSpPr>
          <p:cNvPr id="3" name="组合 2"/>
          <p:cNvGrpSpPr/>
          <p:nvPr/>
        </p:nvGrpSpPr>
        <p:grpSpPr>
          <a:xfrm>
            <a:off x="647701" y="1174858"/>
            <a:ext cx="10896599" cy="5326526"/>
            <a:chOff x="647700" y="832017"/>
            <a:chExt cx="10896599" cy="5326526"/>
          </a:xfrm>
        </p:grpSpPr>
        <p:grpSp>
          <p:nvGrpSpPr>
            <p:cNvPr id="4" name="图形 1"/>
            <p:cNvGrpSpPr/>
            <p:nvPr/>
          </p:nvGrpSpPr>
          <p:grpSpPr>
            <a:xfrm>
              <a:off x="981360" y="1549558"/>
              <a:ext cx="168118" cy="1555259"/>
              <a:chOff x="702415" y="1447038"/>
              <a:chExt cx="177306" cy="1640255"/>
            </a:xfrm>
            <a:solidFill>
              <a:schemeClr val="accent1"/>
            </a:solidFill>
          </p:grpSpPr>
          <p:sp>
            <p:nvSpPr>
              <p:cNvPr id="65" name="任意多边形: 形状 64"/>
              <p:cNvSpPr/>
              <p:nvPr/>
            </p:nvSpPr>
            <p:spPr>
              <a:xfrm>
                <a:off x="770349" y="1531276"/>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6" name="图形 1"/>
              <p:cNvGrpSpPr/>
              <p:nvPr/>
            </p:nvGrpSpPr>
            <p:grpSpPr>
              <a:xfrm>
                <a:off x="702415" y="1447038"/>
                <a:ext cx="177306" cy="177306"/>
                <a:chOff x="702415" y="1447038"/>
                <a:chExt cx="177306" cy="177306"/>
              </a:xfrm>
              <a:grpFill/>
            </p:grpSpPr>
            <p:sp>
              <p:nvSpPr>
                <p:cNvPr id="67" name="任意多边形: 形状 66"/>
                <p:cNvSpPr/>
                <p:nvPr/>
              </p:nvSpPr>
              <p:spPr>
                <a:xfrm>
                  <a:off x="712605" y="1457228"/>
                  <a:ext cx="156926" cy="156926"/>
                </a:xfrm>
                <a:custGeom>
                  <a:avLst/>
                  <a:gdLst>
                    <a:gd name="connsiteX0" fmla="*/ 156927 w 156926"/>
                    <a:gd name="connsiteY0" fmla="*/ 78463 h 156926"/>
                    <a:gd name="connsiteX1" fmla="*/ 78463 w 156926"/>
                    <a:gd name="connsiteY1" fmla="*/ 0 h 156926"/>
                    <a:gd name="connsiteX2" fmla="*/ 0 w 156926"/>
                    <a:gd name="connsiteY2" fmla="*/ 78463 h 156926"/>
                    <a:gd name="connsiteX3" fmla="*/ 78463 w 156926"/>
                    <a:gd name="connsiteY3" fmla="*/ 156926 h 156926"/>
                    <a:gd name="connsiteX4" fmla="*/ 156927 w 156926"/>
                    <a:gd name="connsiteY4" fmla="*/ 78463 h 156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6" h="156926">
                      <a:moveTo>
                        <a:pt x="156927" y="78463"/>
                      </a:moveTo>
                      <a:cubicBezTo>
                        <a:pt x="156927" y="35325"/>
                        <a:pt x="121941" y="0"/>
                        <a:pt x="78463" y="0"/>
                      </a:cubicBezTo>
                      <a:cubicBezTo>
                        <a:pt x="34986" y="0"/>
                        <a:pt x="0" y="34986"/>
                        <a:pt x="0" y="78463"/>
                      </a:cubicBezTo>
                      <a:cubicBezTo>
                        <a:pt x="0" y="121601"/>
                        <a:pt x="34986" y="156926"/>
                        <a:pt x="78463" y="156926"/>
                      </a:cubicBezTo>
                      <a:cubicBezTo>
                        <a:pt x="121941" y="156926"/>
                        <a:pt x="156927" y="121601"/>
                        <a:pt x="156927" y="7846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任意多边形: 形状 67"/>
                <p:cNvSpPr/>
                <p:nvPr/>
              </p:nvSpPr>
              <p:spPr>
                <a:xfrm>
                  <a:off x="702415" y="1447038"/>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017"/>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5" name="任意多边形: 形状 3"/>
            <p:cNvSpPr/>
            <p:nvPr/>
          </p:nvSpPr>
          <p:spPr>
            <a:xfrm>
              <a:off x="647700" y="2563865"/>
              <a:ext cx="2805964" cy="1924867"/>
            </a:xfrm>
            <a:custGeom>
              <a:avLst/>
              <a:gdLst>
                <a:gd name="connsiteX0" fmla="*/ 2930314 w 2959312"/>
                <a:gd name="connsiteY0" fmla="*/ 946868 h 2030062"/>
                <a:gd name="connsiteX1" fmla="*/ 1967695 w 2959312"/>
                <a:gd name="connsiteY1" fmla="*/ 26369 h 2030062"/>
                <a:gd name="connsiteX2" fmla="*/ 1808391 w 2959312"/>
                <a:gd name="connsiteY2" fmla="*/ 94642 h 2030062"/>
                <a:gd name="connsiteX3" fmla="*/ 1808391 w 2959312"/>
                <a:gd name="connsiteY3" fmla="*/ 429894 h 2030062"/>
                <a:gd name="connsiteX4" fmla="*/ 122960 w 2959312"/>
                <a:gd name="connsiteY4" fmla="*/ 429894 h 2030062"/>
                <a:gd name="connsiteX5" fmla="*/ 0 w 2959312"/>
                <a:gd name="connsiteY5" fmla="*/ 552854 h 2030062"/>
                <a:gd name="connsiteX6" fmla="*/ 0 w 2959312"/>
                <a:gd name="connsiteY6" fmla="*/ 1477090 h 2030062"/>
                <a:gd name="connsiteX7" fmla="*/ 122960 w 2959312"/>
                <a:gd name="connsiteY7" fmla="*/ 1600049 h 2030062"/>
                <a:gd name="connsiteX8" fmla="*/ 1808051 w 2959312"/>
                <a:gd name="connsiteY8" fmla="*/ 1600049 h 2030062"/>
                <a:gd name="connsiteX9" fmla="*/ 1808051 w 2959312"/>
                <a:gd name="connsiteY9" fmla="*/ 1935641 h 2030062"/>
                <a:gd name="connsiteX10" fmla="*/ 1967356 w 2959312"/>
                <a:gd name="connsiteY10" fmla="*/ 2003914 h 2030062"/>
                <a:gd name="connsiteX11" fmla="*/ 2929974 w 2959312"/>
                <a:gd name="connsiteY11" fmla="*/ 1083415 h 2030062"/>
                <a:gd name="connsiteX12" fmla="*/ 2930314 w 2959312"/>
                <a:gd name="connsiteY12"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59312" h="2030062">
                  <a:moveTo>
                    <a:pt x="2930314" y="946868"/>
                  </a:moveTo>
                  <a:lnTo>
                    <a:pt x="1967695" y="26369"/>
                  </a:lnTo>
                  <a:cubicBezTo>
                    <a:pt x="1907574" y="-31035"/>
                    <a:pt x="1808391" y="11423"/>
                    <a:pt x="1808391" y="94642"/>
                  </a:cubicBezTo>
                  <a:lnTo>
                    <a:pt x="1808391" y="429894"/>
                  </a:lnTo>
                  <a:lnTo>
                    <a:pt x="122960" y="429894"/>
                  </a:lnTo>
                  <a:cubicBezTo>
                    <a:pt x="55026" y="429894"/>
                    <a:pt x="0" y="484920"/>
                    <a:pt x="0" y="552854"/>
                  </a:cubicBezTo>
                  <a:lnTo>
                    <a:pt x="0" y="1477090"/>
                  </a:lnTo>
                  <a:cubicBezTo>
                    <a:pt x="0" y="1545023"/>
                    <a:pt x="55026" y="1600049"/>
                    <a:pt x="122960" y="1600049"/>
                  </a:cubicBezTo>
                  <a:lnTo>
                    <a:pt x="1808051" y="1600049"/>
                  </a:lnTo>
                  <a:lnTo>
                    <a:pt x="1808051" y="1935641"/>
                  </a:lnTo>
                  <a:cubicBezTo>
                    <a:pt x="1808051" y="2018520"/>
                    <a:pt x="1907574" y="2060978"/>
                    <a:pt x="1967356" y="2003914"/>
                  </a:cubicBezTo>
                  <a:lnTo>
                    <a:pt x="2929974" y="1083415"/>
                  </a:lnTo>
                  <a:cubicBezTo>
                    <a:pt x="2969036" y="1046051"/>
                    <a:pt x="2969036" y="983892"/>
                    <a:pt x="2930314" y="946868"/>
                  </a:cubicBezTo>
                  <a:close/>
                </a:path>
              </a:pathLst>
            </a:custGeom>
            <a:solidFill>
              <a:schemeClr val="accent1"/>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 name="图形 1"/>
            <p:cNvGrpSpPr/>
            <p:nvPr/>
          </p:nvGrpSpPr>
          <p:grpSpPr>
            <a:xfrm>
              <a:off x="3013280" y="1322502"/>
              <a:ext cx="168118" cy="1555258"/>
              <a:chOff x="2845379" y="1207573"/>
              <a:chExt cx="177306" cy="1640254"/>
            </a:xfrm>
            <a:solidFill>
              <a:schemeClr val="accent2"/>
            </a:solidFill>
          </p:grpSpPr>
          <p:sp>
            <p:nvSpPr>
              <p:cNvPr id="61" name="任意多边形: 形状 60"/>
              <p:cNvSpPr/>
              <p:nvPr/>
            </p:nvSpPr>
            <p:spPr>
              <a:xfrm>
                <a:off x="2912973" y="1291810"/>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2" name="图形 1"/>
              <p:cNvGrpSpPr/>
              <p:nvPr/>
            </p:nvGrpSpPr>
            <p:grpSpPr>
              <a:xfrm>
                <a:off x="2845379" y="1207573"/>
                <a:ext cx="177306" cy="177306"/>
                <a:chOff x="2845379" y="1207573"/>
                <a:chExt cx="177306" cy="177306"/>
              </a:xfrm>
              <a:grpFill/>
            </p:grpSpPr>
            <p:sp>
              <p:nvSpPr>
                <p:cNvPr id="63" name="任意多边形: 形状 62"/>
                <p:cNvSpPr/>
                <p:nvPr/>
              </p:nvSpPr>
              <p:spPr>
                <a:xfrm rot="-2278891">
                  <a:off x="2855475" y="1217746"/>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2845379" y="1207573"/>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356"/>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7" name="图形 1"/>
            <p:cNvGrpSpPr/>
            <p:nvPr/>
          </p:nvGrpSpPr>
          <p:grpSpPr>
            <a:xfrm>
              <a:off x="8931575" y="1694811"/>
              <a:ext cx="168118" cy="1555259"/>
              <a:chOff x="9087114" y="1600228"/>
              <a:chExt cx="177306" cy="1640255"/>
            </a:xfrm>
            <a:solidFill>
              <a:schemeClr val="accent5"/>
            </a:solidFill>
          </p:grpSpPr>
          <p:sp>
            <p:nvSpPr>
              <p:cNvPr id="57" name="任意多边形: 形状 56"/>
              <p:cNvSpPr/>
              <p:nvPr/>
            </p:nvSpPr>
            <p:spPr>
              <a:xfrm>
                <a:off x="9155047" y="1684466"/>
                <a:ext cx="41779" cy="1556017"/>
              </a:xfrm>
              <a:custGeom>
                <a:avLst/>
                <a:gdLst>
                  <a:gd name="connsiteX0" fmla="*/ 0 w 41779"/>
                  <a:gd name="connsiteY0" fmla="*/ 0 h 1556017"/>
                  <a:gd name="connsiteX1" fmla="*/ 41780 w 41779"/>
                  <a:gd name="connsiteY1" fmla="*/ 0 h 1556017"/>
                  <a:gd name="connsiteX2" fmla="*/ 41780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80" y="0"/>
                    </a:lnTo>
                    <a:lnTo>
                      <a:pt x="41780"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8" name="图形 1"/>
              <p:cNvGrpSpPr/>
              <p:nvPr/>
            </p:nvGrpSpPr>
            <p:grpSpPr>
              <a:xfrm>
                <a:off x="9087114" y="1600228"/>
                <a:ext cx="177306" cy="177306"/>
                <a:chOff x="9087114" y="1600228"/>
                <a:chExt cx="177306" cy="177306"/>
              </a:xfrm>
              <a:grpFill/>
            </p:grpSpPr>
            <p:sp>
              <p:nvSpPr>
                <p:cNvPr id="59" name="任意多边形: 形状 58"/>
                <p:cNvSpPr/>
                <p:nvPr/>
              </p:nvSpPr>
              <p:spPr>
                <a:xfrm rot="-2278891">
                  <a:off x="9097187" y="1610540"/>
                  <a:ext cx="156924" cy="156924"/>
                </a:xfrm>
                <a:custGeom>
                  <a:avLst/>
                  <a:gdLst>
                    <a:gd name="connsiteX0" fmla="*/ 156925 w 156924"/>
                    <a:gd name="connsiteY0" fmla="*/ 78462 h 156924"/>
                    <a:gd name="connsiteX1" fmla="*/ 78462 w 156924"/>
                    <a:gd name="connsiteY1" fmla="*/ 156925 h 156924"/>
                    <a:gd name="connsiteX2" fmla="*/ -1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8" y="156925"/>
                        <a:pt x="-1" y="121796"/>
                        <a:pt x="-1" y="78462"/>
                      </a:cubicBezTo>
                      <a:cubicBezTo>
                        <a:pt x="-1" y="35129"/>
                        <a:pt x="35128"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9087114" y="1600228"/>
                  <a:ext cx="177306" cy="177306"/>
                </a:xfrm>
                <a:custGeom>
                  <a:avLst/>
                  <a:gdLst>
                    <a:gd name="connsiteX0" fmla="*/ 177306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6 w 177306"/>
                    <a:gd name="connsiteY4" fmla="*/ 88653 h 177306"/>
                    <a:gd name="connsiteX5" fmla="*/ 177306 w 177306"/>
                    <a:gd name="connsiteY5" fmla="*/ 88653 h 177306"/>
                    <a:gd name="connsiteX6" fmla="*/ 20719 w 177306"/>
                    <a:gd name="connsiteY6" fmla="*/ 88653 h 177306"/>
                    <a:gd name="connsiteX7" fmla="*/ 88653 w 177306"/>
                    <a:gd name="connsiteY7" fmla="*/ 156587 h 177306"/>
                    <a:gd name="connsiteX8" fmla="*/ 156586 w 177306"/>
                    <a:gd name="connsiteY8" fmla="*/ 88653 h 177306"/>
                    <a:gd name="connsiteX9" fmla="*/ 88653 w 177306"/>
                    <a:gd name="connsiteY9" fmla="*/ 20720 h 177306"/>
                    <a:gd name="connsiteX10" fmla="*/ 20719 w 177306"/>
                    <a:gd name="connsiteY10" fmla="*/ 88653 h 177306"/>
                    <a:gd name="connsiteX11" fmla="*/ 20719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6" y="88653"/>
                      </a:moveTo>
                      <a:cubicBezTo>
                        <a:pt x="177306" y="137565"/>
                        <a:pt x="137565" y="177307"/>
                        <a:pt x="88653" y="177307"/>
                      </a:cubicBezTo>
                      <a:cubicBezTo>
                        <a:pt x="39741" y="177307"/>
                        <a:pt x="0" y="137565"/>
                        <a:pt x="0" y="88653"/>
                      </a:cubicBezTo>
                      <a:cubicBezTo>
                        <a:pt x="0" y="39741"/>
                        <a:pt x="39741" y="0"/>
                        <a:pt x="88653" y="0"/>
                      </a:cubicBezTo>
                      <a:cubicBezTo>
                        <a:pt x="137565" y="0"/>
                        <a:pt x="177306" y="39741"/>
                        <a:pt x="177306" y="88653"/>
                      </a:cubicBezTo>
                      <a:cubicBezTo>
                        <a:pt x="177306" y="137565"/>
                        <a:pt x="177306" y="39741"/>
                        <a:pt x="177306" y="88653"/>
                      </a:cubicBezTo>
                      <a:close/>
                      <a:moveTo>
                        <a:pt x="20719" y="88653"/>
                      </a:moveTo>
                      <a:cubicBezTo>
                        <a:pt x="20719" y="126017"/>
                        <a:pt x="51289" y="156587"/>
                        <a:pt x="88653" y="156587"/>
                      </a:cubicBezTo>
                      <a:cubicBezTo>
                        <a:pt x="126016" y="156587"/>
                        <a:pt x="156586" y="126017"/>
                        <a:pt x="156586" y="88653"/>
                      </a:cubicBezTo>
                      <a:cubicBezTo>
                        <a:pt x="156586" y="51290"/>
                        <a:pt x="126016" y="20720"/>
                        <a:pt x="88653" y="20720"/>
                      </a:cubicBezTo>
                      <a:cubicBezTo>
                        <a:pt x="51289" y="20720"/>
                        <a:pt x="20719" y="51290"/>
                        <a:pt x="20719" y="88653"/>
                      </a:cubicBezTo>
                      <a:cubicBezTo>
                        <a:pt x="20719" y="126356"/>
                        <a:pt x="20719" y="51290"/>
                        <a:pt x="20719"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8" name="图形 1"/>
            <p:cNvGrpSpPr/>
            <p:nvPr/>
          </p:nvGrpSpPr>
          <p:grpSpPr>
            <a:xfrm>
              <a:off x="4820394" y="4004995"/>
              <a:ext cx="168118" cy="1139149"/>
              <a:chOff x="4751255" y="4036665"/>
              <a:chExt cx="177306" cy="1201404"/>
            </a:xfrm>
            <a:solidFill>
              <a:schemeClr val="accent3"/>
            </a:solidFill>
          </p:grpSpPr>
          <p:sp>
            <p:nvSpPr>
              <p:cNvPr id="53" name="任意多边形: 形状 52"/>
              <p:cNvSpPr/>
              <p:nvPr/>
            </p:nvSpPr>
            <p:spPr>
              <a:xfrm>
                <a:off x="4819188" y="4036665"/>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图形 1"/>
              <p:cNvGrpSpPr/>
              <p:nvPr/>
            </p:nvGrpSpPr>
            <p:grpSpPr>
              <a:xfrm>
                <a:off x="4751255" y="5060763"/>
                <a:ext cx="177306" cy="177306"/>
                <a:chOff x="4751255" y="5060763"/>
                <a:chExt cx="177306" cy="177306"/>
              </a:xfrm>
              <a:grpFill/>
            </p:grpSpPr>
            <p:sp>
              <p:nvSpPr>
                <p:cNvPr id="55" name="任意多边形: 形状 54"/>
                <p:cNvSpPr/>
                <p:nvPr/>
              </p:nvSpPr>
              <p:spPr>
                <a:xfrm rot="-2278891">
                  <a:off x="4761394" y="5071063"/>
                  <a:ext cx="156924" cy="156924"/>
                </a:xfrm>
                <a:custGeom>
                  <a:avLst/>
                  <a:gdLst>
                    <a:gd name="connsiteX0" fmla="*/ 156925 w 156924"/>
                    <a:gd name="connsiteY0" fmla="*/ 78462 h 156924"/>
                    <a:gd name="connsiteX1" fmla="*/ 78463 w 156924"/>
                    <a:gd name="connsiteY1" fmla="*/ 156925 h 156924"/>
                    <a:gd name="connsiteX2" fmla="*/ 0 w 156924"/>
                    <a:gd name="connsiteY2" fmla="*/ 78462 h 156924"/>
                    <a:gd name="connsiteX3" fmla="*/ 78463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3" y="156925"/>
                      </a:cubicBezTo>
                      <a:cubicBezTo>
                        <a:pt x="35129" y="156925"/>
                        <a:pt x="0" y="121796"/>
                        <a:pt x="0" y="78462"/>
                      </a:cubicBezTo>
                      <a:cubicBezTo>
                        <a:pt x="0" y="35129"/>
                        <a:pt x="35129" y="0"/>
                        <a:pt x="78463"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5"/>
                <p:cNvSpPr/>
                <p:nvPr/>
              </p:nvSpPr>
              <p:spPr>
                <a:xfrm>
                  <a:off x="4751255" y="5060763"/>
                  <a:ext cx="177306" cy="177306"/>
                </a:xfrm>
                <a:custGeom>
                  <a:avLst/>
                  <a:gdLst>
                    <a:gd name="connsiteX0" fmla="*/ 0 w 177306"/>
                    <a:gd name="connsiteY0" fmla="*/ 88653 h 177306"/>
                    <a:gd name="connsiteX1" fmla="*/ 88653 w 177306"/>
                    <a:gd name="connsiteY1" fmla="*/ 0 h 177306"/>
                    <a:gd name="connsiteX2" fmla="*/ 177307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7" y="39741"/>
                        <a:pt x="177307" y="88653"/>
                      </a:cubicBezTo>
                      <a:cubicBezTo>
                        <a:pt x="177307"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35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9" name="图形 1"/>
            <p:cNvGrpSpPr/>
            <p:nvPr/>
          </p:nvGrpSpPr>
          <p:grpSpPr>
            <a:xfrm>
              <a:off x="6890639" y="4396299"/>
              <a:ext cx="168118" cy="1139148"/>
              <a:chOff x="6934639" y="4449361"/>
              <a:chExt cx="177306" cy="1201405"/>
            </a:xfrm>
            <a:solidFill>
              <a:schemeClr val="accent4"/>
            </a:solidFill>
          </p:grpSpPr>
          <p:sp>
            <p:nvSpPr>
              <p:cNvPr id="49" name="任意多边形: 形状 48"/>
              <p:cNvSpPr/>
              <p:nvPr/>
            </p:nvSpPr>
            <p:spPr>
              <a:xfrm>
                <a:off x="7002573" y="4449361"/>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图形 1"/>
              <p:cNvGrpSpPr/>
              <p:nvPr/>
            </p:nvGrpSpPr>
            <p:grpSpPr>
              <a:xfrm>
                <a:off x="6934639" y="5473460"/>
                <a:ext cx="177306" cy="177306"/>
                <a:chOff x="6934639" y="5473460"/>
                <a:chExt cx="177306" cy="177306"/>
              </a:xfrm>
              <a:grpFill/>
            </p:grpSpPr>
            <p:sp>
              <p:nvSpPr>
                <p:cNvPr id="51" name="任意多边形: 形状 50"/>
                <p:cNvSpPr/>
                <p:nvPr/>
              </p:nvSpPr>
              <p:spPr>
                <a:xfrm rot="-2278891">
                  <a:off x="6944761" y="5483715"/>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1"/>
                <p:cNvSpPr/>
                <p:nvPr/>
              </p:nvSpPr>
              <p:spPr>
                <a:xfrm>
                  <a:off x="6934639" y="5473460"/>
                  <a:ext cx="177306" cy="177306"/>
                </a:xfrm>
                <a:custGeom>
                  <a:avLst/>
                  <a:gdLst>
                    <a:gd name="connsiteX0" fmla="*/ 0 w 177306"/>
                    <a:gd name="connsiteY0" fmla="*/ 88653 h 177306"/>
                    <a:gd name="connsiteX1" fmla="*/ 88653 w 177306"/>
                    <a:gd name="connsiteY1" fmla="*/ 0 h 177306"/>
                    <a:gd name="connsiteX2" fmla="*/ 177306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6" y="39741"/>
                        <a:pt x="177306" y="88653"/>
                      </a:cubicBezTo>
                      <a:cubicBezTo>
                        <a:pt x="177306"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01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0" name="任意多边形: 形状 8"/>
            <p:cNvSpPr/>
            <p:nvPr/>
          </p:nvSpPr>
          <p:spPr>
            <a:xfrm>
              <a:off x="2665769" y="2023437"/>
              <a:ext cx="2805924" cy="1925188"/>
            </a:xfrm>
            <a:custGeom>
              <a:avLst/>
              <a:gdLst>
                <a:gd name="connsiteX0" fmla="*/ 2929974 w 2959270"/>
                <a:gd name="connsiteY0" fmla="*/ 946868 h 2030401"/>
                <a:gd name="connsiteX1" fmla="*/ 1967356 w 2959270"/>
                <a:gd name="connsiteY1" fmla="*/ 26369 h 2030401"/>
                <a:gd name="connsiteX2" fmla="*/ 1808052 w 2959270"/>
                <a:gd name="connsiteY2" fmla="*/ 94642 h 2030401"/>
                <a:gd name="connsiteX3" fmla="*/ 1808052 w 2959270"/>
                <a:gd name="connsiteY3" fmla="*/ 430233 h 2030401"/>
                <a:gd name="connsiteX4" fmla="*/ 122960 w 2959270"/>
                <a:gd name="connsiteY4" fmla="*/ 430233 h 2030401"/>
                <a:gd name="connsiteX5" fmla="*/ 0 w 2959270"/>
                <a:gd name="connsiteY5" fmla="*/ 553193 h 2030401"/>
                <a:gd name="connsiteX6" fmla="*/ 0 w 2959270"/>
                <a:gd name="connsiteY6" fmla="*/ 657471 h 2030401"/>
                <a:gd name="connsiteX7" fmla="*/ 849849 w 2959270"/>
                <a:gd name="connsiteY7" fmla="*/ 1470296 h 2030401"/>
                <a:gd name="connsiteX8" fmla="*/ 900459 w 2959270"/>
                <a:gd name="connsiteY8" fmla="*/ 1588501 h 2030401"/>
                <a:gd name="connsiteX9" fmla="*/ 899780 w 2959270"/>
                <a:gd name="connsiteY9" fmla="*/ 1600389 h 2030401"/>
                <a:gd name="connsiteX10" fmla="*/ 1808052 w 2959270"/>
                <a:gd name="connsiteY10" fmla="*/ 1600389 h 2030401"/>
                <a:gd name="connsiteX11" fmla="*/ 1808052 w 2959270"/>
                <a:gd name="connsiteY11" fmla="*/ 1935981 h 2030401"/>
                <a:gd name="connsiteX12" fmla="*/ 1967356 w 2959270"/>
                <a:gd name="connsiteY12" fmla="*/ 2004254 h 2030401"/>
                <a:gd name="connsiteX13" fmla="*/ 2929974 w 2959270"/>
                <a:gd name="connsiteY13" fmla="*/ 1083754 h 2030401"/>
                <a:gd name="connsiteX14" fmla="*/ 2929974 w 2959270"/>
                <a:gd name="connsiteY14" fmla="*/ 946868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270" h="2030401">
                  <a:moveTo>
                    <a:pt x="2929974" y="946868"/>
                  </a:moveTo>
                  <a:lnTo>
                    <a:pt x="1967356" y="26369"/>
                  </a:lnTo>
                  <a:cubicBezTo>
                    <a:pt x="1907234" y="-31035"/>
                    <a:pt x="1808052" y="11423"/>
                    <a:pt x="1808052" y="94642"/>
                  </a:cubicBezTo>
                  <a:lnTo>
                    <a:pt x="1808052" y="430233"/>
                  </a:lnTo>
                  <a:lnTo>
                    <a:pt x="122960" y="430233"/>
                  </a:lnTo>
                  <a:cubicBezTo>
                    <a:pt x="55026" y="430233"/>
                    <a:pt x="0" y="485260"/>
                    <a:pt x="0" y="553193"/>
                  </a:cubicBezTo>
                  <a:lnTo>
                    <a:pt x="0" y="657471"/>
                  </a:lnTo>
                  <a:lnTo>
                    <a:pt x="849849" y="1470296"/>
                  </a:lnTo>
                  <a:cubicBezTo>
                    <a:pt x="882117" y="1500866"/>
                    <a:pt x="900459" y="1544004"/>
                    <a:pt x="900459" y="1588501"/>
                  </a:cubicBezTo>
                  <a:cubicBezTo>
                    <a:pt x="900459" y="1592577"/>
                    <a:pt x="900120" y="1596653"/>
                    <a:pt x="899780" y="1600389"/>
                  </a:cubicBezTo>
                  <a:lnTo>
                    <a:pt x="1808052" y="1600389"/>
                  </a:lnTo>
                  <a:lnTo>
                    <a:pt x="1808052" y="1935981"/>
                  </a:lnTo>
                  <a:cubicBezTo>
                    <a:pt x="1808052" y="2018860"/>
                    <a:pt x="1907574" y="2061318"/>
                    <a:pt x="1967356" y="2004254"/>
                  </a:cubicBezTo>
                  <a:lnTo>
                    <a:pt x="2929974" y="1083754"/>
                  </a:lnTo>
                  <a:cubicBezTo>
                    <a:pt x="2969036" y="1046051"/>
                    <a:pt x="2969036" y="984232"/>
                    <a:pt x="2929974" y="946868"/>
                  </a:cubicBezTo>
                  <a:close/>
                </a:path>
              </a:pathLst>
            </a:custGeom>
            <a:solidFill>
              <a:schemeClr val="accent2"/>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9"/>
            <p:cNvSpPr/>
            <p:nvPr/>
          </p:nvSpPr>
          <p:spPr>
            <a:xfrm>
              <a:off x="4683839" y="2567086"/>
              <a:ext cx="2805683" cy="1924867"/>
            </a:xfrm>
            <a:custGeom>
              <a:avLst/>
              <a:gdLst>
                <a:gd name="connsiteX0" fmla="*/ 2929974 w 2959015"/>
                <a:gd name="connsiteY0" fmla="*/ 946868 h 2030062"/>
                <a:gd name="connsiteX1" fmla="*/ 1967356 w 2959015"/>
                <a:gd name="connsiteY1" fmla="*/ 26369 h 2030062"/>
                <a:gd name="connsiteX2" fmla="*/ 1808052 w 2959015"/>
                <a:gd name="connsiteY2" fmla="*/ 94642 h 2030062"/>
                <a:gd name="connsiteX3" fmla="*/ 1808052 w 2959015"/>
                <a:gd name="connsiteY3" fmla="*/ 429894 h 2030062"/>
                <a:gd name="connsiteX4" fmla="*/ 899780 w 2959015"/>
                <a:gd name="connsiteY4" fmla="*/ 429894 h 2030062"/>
                <a:gd name="connsiteX5" fmla="*/ 900460 w 2959015"/>
                <a:gd name="connsiteY5" fmla="*/ 441782 h 2030062"/>
                <a:gd name="connsiteX6" fmla="*/ 849849 w 2959015"/>
                <a:gd name="connsiteY6" fmla="*/ 559987 h 2030062"/>
                <a:gd name="connsiteX7" fmla="*/ 0 w 2959015"/>
                <a:gd name="connsiteY7" fmla="*/ 1372811 h 2030062"/>
                <a:gd name="connsiteX8" fmla="*/ 0 w 2959015"/>
                <a:gd name="connsiteY8" fmla="*/ 1477090 h 2030062"/>
                <a:gd name="connsiteX9" fmla="*/ 122960 w 2959015"/>
                <a:gd name="connsiteY9" fmla="*/ 1600049 h 2030062"/>
                <a:gd name="connsiteX10" fmla="*/ 1808052 w 2959015"/>
                <a:gd name="connsiteY10" fmla="*/ 1600049 h 2030062"/>
                <a:gd name="connsiteX11" fmla="*/ 1808052 w 2959015"/>
                <a:gd name="connsiteY11" fmla="*/ 1935641 h 2030062"/>
                <a:gd name="connsiteX12" fmla="*/ 1967356 w 2959015"/>
                <a:gd name="connsiteY12" fmla="*/ 2003914 h 2030062"/>
                <a:gd name="connsiteX13" fmla="*/ 2929974 w 2959015"/>
                <a:gd name="connsiteY13" fmla="*/ 1083415 h 2030062"/>
                <a:gd name="connsiteX14" fmla="*/ 2929974 w 2959015"/>
                <a:gd name="connsiteY14"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062">
                  <a:moveTo>
                    <a:pt x="2929974" y="946868"/>
                  </a:moveTo>
                  <a:lnTo>
                    <a:pt x="1967356" y="26369"/>
                  </a:lnTo>
                  <a:cubicBezTo>
                    <a:pt x="1907234" y="-31035"/>
                    <a:pt x="1808052" y="11423"/>
                    <a:pt x="1808052" y="94642"/>
                  </a:cubicBezTo>
                  <a:lnTo>
                    <a:pt x="1808052" y="429894"/>
                  </a:lnTo>
                  <a:lnTo>
                    <a:pt x="899780" y="429894"/>
                  </a:lnTo>
                  <a:cubicBezTo>
                    <a:pt x="900120" y="433970"/>
                    <a:pt x="900460" y="437706"/>
                    <a:pt x="900460" y="441782"/>
                  </a:cubicBezTo>
                  <a:cubicBezTo>
                    <a:pt x="900460" y="486279"/>
                    <a:pt x="882117" y="529416"/>
                    <a:pt x="849849" y="559987"/>
                  </a:cubicBezTo>
                  <a:lnTo>
                    <a:pt x="0" y="1372811"/>
                  </a:lnTo>
                  <a:lnTo>
                    <a:pt x="0" y="1477090"/>
                  </a:lnTo>
                  <a:cubicBezTo>
                    <a:pt x="0" y="1545023"/>
                    <a:pt x="55026" y="1600049"/>
                    <a:pt x="122960" y="1600049"/>
                  </a:cubicBezTo>
                  <a:lnTo>
                    <a:pt x="1808052" y="1600049"/>
                  </a:lnTo>
                  <a:lnTo>
                    <a:pt x="1808052" y="1935641"/>
                  </a:lnTo>
                  <a:cubicBezTo>
                    <a:pt x="1808052" y="2018520"/>
                    <a:pt x="1907574" y="2060978"/>
                    <a:pt x="1967356" y="2003914"/>
                  </a:cubicBezTo>
                  <a:lnTo>
                    <a:pt x="2929974" y="1083415"/>
                  </a:lnTo>
                  <a:cubicBezTo>
                    <a:pt x="2968696" y="1046051"/>
                    <a:pt x="2968696" y="983892"/>
                    <a:pt x="2929974" y="946868"/>
                  </a:cubicBezTo>
                  <a:close/>
                </a:path>
              </a:pathLst>
            </a:custGeom>
            <a:solidFill>
              <a:schemeClr val="accent3"/>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p:cNvSpPr/>
            <p:nvPr/>
          </p:nvSpPr>
          <p:spPr>
            <a:xfrm>
              <a:off x="6720588" y="3103536"/>
              <a:ext cx="2805683" cy="1925188"/>
            </a:xfrm>
            <a:custGeom>
              <a:avLst/>
              <a:gdLst>
                <a:gd name="connsiteX0" fmla="*/ 2929974 w 2959015"/>
                <a:gd name="connsiteY0" fmla="*/ 1083534 h 2030401"/>
                <a:gd name="connsiteX1" fmla="*/ 1967356 w 2959015"/>
                <a:gd name="connsiteY1" fmla="*/ 2004033 h 2030401"/>
                <a:gd name="connsiteX2" fmla="*/ 1808051 w 2959015"/>
                <a:gd name="connsiteY2" fmla="*/ 1935760 h 2030401"/>
                <a:gd name="connsiteX3" fmla="*/ 1808051 w 2959015"/>
                <a:gd name="connsiteY3" fmla="*/ 1600168 h 2030401"/>
                <a:gd name="connsiteX4" fmla="*/ 122960 w 2959015"/>
                <a:gd name="connsiteY4" fmla="*/ 1600168 h 2030401"/>
                <a:gd name="connsiteX5" fmla="*/ 0 w 2959015"/>
                <a:gd name="connsiteY5" fmla="*/ 1477209 h 2030401"/>
                <a:gd name="connsiteX6" fmla="*/ 0 w 2959015"/>
                <a:gd name="connsiteY6" fmla="*/ 1372931 h 2030401"/>
                <a:gd name="connsiteX7" fmla="*/ 849849 w 2959015"/>
                <a:gd name="connsiteY7" fmla="*/ 560106 h 2030401"/>
                <a:gd name="connsiteX8" fmla="*/ 900459 w 2959015"/>
                <a:gd name="connsiteY8" fmla="*/ 441901 h 2030401"/>
                <a:gd name="connsiteX9" fmla="*/ 899780 w 2959015"/>
                <a:gd name="connsiteY9" fmla="*/ 430013 h 2030401"/>
                <a:gd name="connsiteX10" fmla="*/ 1808051 w 2959015"/>
                <a:gd name="connsiteY10" fmla="*/ 430013 h 2030401"/>
                <a:gd name="connsiteX11" fmla="*/ 1808051 w 2959015"/>
                <a:gd name="connsiteY11" fmla="*/ 94421 h 2030401"/>
                <a:gd name="connsiteX12" fmla="*/ 1967356 w 2959015"/>
                <a:gd name="connsiteY12" fmla="*/ 26148 h 2030401"/>
                <a:gd name="connsiteX13" fmla="*/ 2929974 w 2959015"/>
                <a:gd name="connsiteY13" fmla="*/ 946648 h 2030401"/>
                <a:gd name="connsiteX14" fmla="*/ 2929974 w 2959015"/>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401">
                  <a:moveTo>
                    <a:pt x="2929974" y="1083534"/>
                  </a:moveTo>
                  <a:lnTo>
                    <a:pt x="1967356" y="2004033"/>
                  </a:lnTo>
                  <a:cubicBezTo>
                    <a:pt x="1907235" y="2061437"/>
                    <a:pt x="1808051" y="2018979"/>
                    <a:pt x="1808051" y="1935760"/>
                  </a:cubicBezTo>
                  <a:lnTo>
                    <a:pt x="1808051" y="1600168"/>
                  </a:lnTo>
                  <a:lnTo>
                    <a:pt x="122960" y="1600168"/>
                  </a:lnTo>
                  <a:cubicBezTo>
                    <a:pt x="55026" y="1600168"/>
                    <a:pt x="0" y="1545142"/>
                    <a:pt x="0" y="1477209"/>
                  </a:cubicBezTo>
                  <a:lnTo>
                    <a:pt x="0" y="1372931"/>
                  </a:lnTo>
                  <a:lnTo>
                    <a:pt x="849849" y="560106"/>
                  </a:lnTo>
                  <a:cubicBezTo>
                    <a:pt x="882117" y="529536"/>
                    <a:pt x="900459" y="486398"/>
                    <a:pt x="900459" y="441901"/>
                  </a:cubicBezTo>
                  <a:cubicBezTo>
                    <a:pt x="900459" y="437825"/>
                    <a:pt x="900120" y="433749"/>
                    <a:pt x="899780" y="430013"/>
                  </a:cubicBezTo>
                  <a:lnTo>
                    <a:pt x="1808051" y="430013"/>
                  </a:lnTo>
                  <a:lnTo>
                    <a:pt x="1808051" y="94421"/>
                  </a:lnTo>
                  <a:cubicBezTo>
                    <a:pt x="1808051" y="11542"/>
                    <a:pt x="1907574" y="-30916"/>
                    <a:pt x="1967356" y="26148"/>
                  </a:cubicBezTo>
                  <a:lnTo>
                    <a:pt x="2929974" y="946648"/>
                  </a:lnTo>
                  <a:cubicBezTo>
                    <a:pt x="2968697" y="984351"/>
                    <a:pt x="2968697" y="1046510"/>
                    <a:pt x="2929974" y="1083534"/>
                  </a:cubicBezTo>
                  <a:close/>
                </a:path>
              </a:pathLst>
            </a:custGeom>
            <a:solidFill>
              <a:schemeClr val="accent4"/>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p:cNvSpPr/>
            <p:nvPr/>
          </p:nvSpPr>
          <p:spPr>
            <a:xfrm>
              <a:off x="8738335" y="2563430"/>
              <a:ext cx="2805964" cy="1925188"/>
            </a:xfrm>
            <a:custGeom>
              <a:avLst/>
              <a:gdLst>
                <a:gd name="connsiteX0" fmla="*/ 2930314 w 2959312"/>
                <a:gd name="connsiteY0" fmla="*/ 1083534 h 2030401"/>
                <a:gd name="connsiteX1" fmla="*/ 1967695 w 2959312"/>
                <a:gd name="connsiteY1" fmla="*/ 2004033 h 2030401"/>
                <a:gd name="connsiteX2" fmla="*/ 1808391 w 2959312"/>
                <a:gd name="connsiteY2" fmla="*/ 1935760 h 2030401"/>
                <a:gd name="connsiteX3" fmla="*/ 1808391 w 2959312"/>
                <a:gd name="connsiteY3" fmla="*/ 1600168 h 2030401"/>
                <a:gd name="connsiteX4" fmla="*/ 899780 w 2959312"/>
                <a:gd name="connsiteY4" fmla="*/ 1600168 h 2030401"/>
                <a:gd name="connsiteX5" fmla="*/ 900459 w 2959312"/>
                <a:gd name="connsiteY5" fmla="*/ 1588280 h 2030401"/>
                <a:gd name="connsiteX6" fmla="*/ 849849 w 2959312"/>
                <a:gd name="connsiteY6" fmla="*/ 1470076 h 2030401"/>
                <a:gd name="connsiteX7" fmla="*/ 0 w 2959312"/>
                <a:gd name="connsiteY7" fmla="*/ 657251 h 2030401"/>
                <a:gd name="connsiteX8" fmla="*/ 0 w 2959312"/>
                <a:gd name="connsiteY8" fmla="*/ 552973 h 2030401"/>
                <a:gd name="connsiteX9" fmla="*/ 122960 w 2959312"/>
                <a:gd name="connsiteY9" fmla="*/ 430013 h 2030401"/>
                <a:gd name="connsiteX10" fmla="*/ 1808051 w 2959312"/>
                <a:gd name="connsiteY10" fmla="*/ 430013 h 2030401"/>
                <a:gd name="connsiteX11" fmla="*/ 1808051 w 2959312"/>
                <a:gd name="connsiteY11" fmla="*/ 94421 h 2030401"/>
                <a:gd name="connsiteX12" fmla="*/ 1967356 w 2959312"/>
                <a:gd name="connsiteY12" fmla="*/ 26148 h 2030401"/>
                <a:gd name="connsiteX13" fmla="*/ 2929974 w 2959312"/>
                <a:gd name="connsiteY13" fmla="*/ 946648 h 2030401"/>
                <a:gd name="connsiteX14" fmla="*/ 2930314 w 2959312"/>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312" h="2030401">
                  <a:moveTo>
                    <a:pt x="2930314" y="1083534"/>
                  </a:moveTo>
                  <a:lnTo>
                    <a:pt x="1967695" y="2004033"/>
                  </a:lnTo>
                  <a:cubicBezTo>
                    <a:pt x="1907574" y="2061437"/>
                    <a:pt x="1808391" y="2018979"/>
                    <a:pt x="1808391" y="1935760"/>
                  </a:cubicBezTo>
                  <a:lnTo>
                    <a:pt x="1808391" y="1600168"/>
                  </a:lnTo>
                  <a:lnTo>
                    <a:pt x="899780" y="1600168"/>
                  </a:lnTo>
                  <a:cubicBezTo>
                    <a:pt x="900120" y="1596092"/>
                    <a:pt x="900459" y="1592356"/>
                    <a:pt x="900459" y="1588280"/>
                  </a:cubicBezTo>
                  <a:cubicBezTo>
                    <a:pt x="900459" y="1543783"/>
                    <a:pt x="882117" y="1500646"/>
                    <a:pt x="849849" y="1470076"/>
                  </a:cubicBezTo>
                  <a:lnTo>
                    <a:pt x="0" y="657251"/>
                  </a:lnTo>
                  <a:lnTo>
                    <a:pt x="0" y="552973"/>
                  </a:lnTo>
                  <a:cubicBezTo>
                    <a:pt x="0" y="485039"/>
                    <a:pt x="55026" y="430013"/>
                    <a:pt x="122960" y="430013"/>
                  </a:cubicBezTo>
                  <a:lnTo>
                    <a:pt x="1808051" y="430013"/>
                  </a:lnTo>
                  <a:lnTo>
                    <a:pt x="1808051" y="94421"/>
                  </a:lnTo>
                  <a:cubicBezTo>
                    <a:pt x="1808051" y="11542"/>
                    <a:pt x="1907574" y="-30916"/>
                    <a:pt x="1967356" y="26148"/>
                  </a:cubicBezTo>
                  <a:lnTo>
                    <a:pt x="2929974" y="946648"/>
                  </a:lnTo>
                  <a:cubicBezTo>
                    <a:pt x="2969035" y="984351"/>
                    <a:pt x="2969035" y="1046510"/>
                    <a:pt x="2930314" y="1083534"/>
                  </a:cubicBezTo>
                  <a:close/>
                </a:path>
              </a:pathLst>
            </a:custGeom>
            <a:solidFill>
              <a:schemeClr val="accent5"/>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4" name="图形 3"/>
            <p:cNvGrpSpPr/>
            <p:nvPr/>
          </p:nvGrpSpPr>
          <p:grpSpPr>
            <a:xfrm>
              <a:off x="6558667" y="3349279"/>
              <a:ext cx="464275" cy="417235"/>
              <a:chOff x="6330348" y="5742654"/>
              <a:chExt cx="626646" cy="563155"/>
            </a:xfrm>
            <a:solidFill>
              <a:schemeClr val="bg1"/>
            </a:solidFill>
          </p:grpSpPr>
          <p:sp>
            <p:nvSpPr>
              <p:cNvPr id="47" name="任意多边形: 形状 4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8" name="任意多边形: 形状 4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5" name="图形 3"/>
            <p:cNvGrpSpPr/>
            <p:nvPr/>
          </p:nvGrpSpPr>
          <p:grpSpPr>
            <a:xfrm>
              <a:off x="4608456" y="2810539"/>
              <a:ext cx="370875" cy="439530"/>
              <a:chOff x="7464782" y="1390927"/>
              <a:chExt cx="523160" cy="620006"/>
            </a:xfrm>
            <a:solidFill>
              <a:schemeClr val="bg1"/>
            </a:solidFill>
          </p:grpSpPr>
          <p:sp>
            <p:nvSpPr>
              <p:cNvPr id="45" name="任意多边形: 形状 44"/>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6" name="任意多边形: 形状 45"/>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6" name="图形 3"/>
            <p:cNvGrpSpPr/>
            <p:nvPr/>
          </p:nvGrpSpPr>
          <p:grpSpPr>
            <a:xfrm>
              <a:off x="10667264" y="3336945"/>
              <a:ext cx="402348" cy="320798"/>
              <a:chOff x="5678602" y="5225087"/>
              <a:chExt cx="543062" cy="432991"/>
            </a:xfrm>
            <a:solidFill>
              <a:schemeClr val="bg1"/>
            </a:solidFill>
          </p:grpSpPr>
          <p:sp>
            <p:nvSpPr>
              <p:cNvPr id="43" name="任意多边形: 形状 42"/>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4" name="任意多边形: 形状 43"/>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7" name="图形 3"/>
            <p:cNvGrpSpPr/>
            <p:nvPr/>
          </p:nvGrpSpPr>
          <p:grpSpPr>
            <a:xfrm>
              <a:off x="8633961" y="3848237"/>
              <a:ext cx="388941" cy="359586"/>
              <a:chOff x="4726156" y="4236001"/>
              <a:chExt cx="524966" cy="485345"/>
            </a:xfrm>
            <a:solidFill>
              <a:schemeClr val="bg1"/>
            </a:solidFill>
          </p:grpSpPr>
          <p:sp>
            <p:nvSpPr>
              <p:cNvPr id="41" name="任意多边形: 形状 40"/>
              <p:cNvSpPr/>
              <p:nvPr/>
            </p:nvSpPr>
            <p:spPr>
              <a:xfrm>
                <a:off x="4726156" y="4236001"/>
                <a:ext cx="524966" cy="485345"/>
              </a:xfrm>
              <a:custGeom>
                <a:avLst/>
                <a:gdLst>
                  <a:gd name="connsiteX0" fmla="*/ 498081 w 524966"/>
                  <a:gd name="connsiteY0" fmla="*/ 137255 h 485345"/>
                  <a:gd name="connsiteX1" fmla="*/ 292906 w 524966"/>
                  <a:gd name="connsiteY1" fmla="*/ 8490 h 485345"/>
                  <a:gd name="connsiteX2" fmla="*/ 230645 w 524966"/>
                  <a:gd name="connsiteY2" fmla="*/ 8490 h 485345"/>
                  <a:gd name="connsiteX3" fmla="*/ 25470 w 524966"/>
                  <a:gd name="connsiteY3" fmla="*/ 137255 h 485345"/>
                  <a:gd name="connsiteX4" fmla="*/ 0 w 524966"/>
                  <a:gd name="connsiteY4" fmla="*/ 182535 h 485345"/>
                  <a:gd name="connsiteX5" fmla="*/ 0 w 524966"/>
                  <a:gd name="connsiteY5" fmla="*/ 432991 h 485345"/>
                  <a:gd name="connsiteX6" fmla="*/ 55185 w 524966"/>
                  <a:gd name="connsiteY6" fmla="*/ 485346 h 485345"/>
                  <a:gd name="connsiteX7" fmla="*/ 469781 w 524966"/>
                  <a:gd name="connsiteY7" fmla="*/ 485346 h 485345"/>
                  <a:gd name="connsiteX8" fmla="*/ 524966 w 524966"/>
                  <a:gd name="connsiteY8" fmla="*/ 432991 h 485345"/>
                  <a:gd name="connsiteX9" fmla="*/ 524966 w 524966"/>
                  <a:gd name="connsiteY9" fmla="*/ 182535 h 485345"/>
                  <a:gd name="connsiteX10" fmla="*/ 498081 w 524966"/>
                  <a:gd name="connsiteY10" fmla="*/ 137255 h 485345"/>
                  <a:gd name="connsiteX11" fmla="*/ 195270 w 524966"/>
                  <a:gd name="connsiteY11" fmla="*/ 348091 h 485345"/>
                  <a:gd name="connsiteX12" fmla="*/ 67920 w 524966"/>
                  <a:gd name="connsiteY12" fmla="*/ 447141 h 485345"/>
                  <a:gd name="connsiteX13" fmla="*/ 56600 w 524966"/>
                  <a:gd name="connsiteY13" fmla="*/ 451386 h 485345"/>
                  <a:gd name="connsiteX14" fmla="*/ 42450 w 524966"/>
                  <a:gd name="connsiteY14" fmla="*/ 444311 h 485345"/>
                  <a:gd name="connsiteX15" fmla="*/ 45280 w 524966"/>
                  <a:gd name="connsiteY15" fmla="*/ 418841 h 485345"/>
                  <a:gd name="connsiteX16" fmla="*/ 172630 w 524966"/>
                  <a:gd name="connsiteY16" fmla="*/ 319791 h 485345"/>
                  <a:gd name="connsiteX17" fmla="*/ 198100 w 524966"/>
                  <a:gd name="connsiteY17" fmla="*/ 322621 h 485345"/>
                  <a:gd name="connsiteX18" fmla="*/ 195270 w 524966"/>
                  <a:gd name="connsiteY18" fmla="*/ 348091 h 485345"/>
                  <a:gd name="connsiteX19" fmla="*/ 244795 w 524966"/>
                  <a:gd name="connsiteY19" fmla="*/ 307055 h 485345"/>
                  <a:gd name="connsiteX20" fmla="*/ 83485 w 524966"/>
                  <a:gd name="connsiteY20" fmla="*/ 192441 h 485345"/>
                  <a:gd name="connsiteX21" fmla="*/ 96220 w 524966"/>
                  <a:gd name="connsiteY21" fmla="*/ 152820 h 485345"/>
                  <a:gd name="connsiteX22" fmla="*/ 425916 w 524966"/>
                  <a:gd name="connsiteY22" fmla="*/ 152820 h 485345"/>
                  <a:gd name="connsiteX23" fmla="*/ 438651 w 524966"/>
                  <a:gd name="connsiteY23" fmla="*/ 192441 h 485345"/>
                  <a:gd name="connsiteX24" fmla="*/ 277341 w 524966"/>
                  <a:gd name="connsiteY24" fmla="*/ 307055 h 485345"/>
                  <a:gd name="connsiteX25" fmla="*/ 244795 w 524966"/>
                  <a:gd name="connsiteY25" fmla="*/ 307055 h 485345"/>
                  <a:gd name="connsiteX26" fmla="*/ 481101 w 524966"/>
                  <a:gd name="connsiteY26" fmla="*/ 444311 h 485345"/>
                  <a:gd name="connsiteX27" fmla="*/ 466951 w 524966"/>
                  <a:gd name="connsiteY27" fmla="*/ 451386 h 485345"/>
                  <a:gd name="connsiteX28" fmla="*/ 455631 w 524966"/>
                  <a:gd name="connsiteY28" fmla="*/ 447141 h 485345"/>
                  <a:gd name="connsiteX29" fmla="*/ 328281 w 524966"/>
                  <a:gd name="connsiteY29" fmla="*/ 348091 h 485345"/>
                  <a:gd name="connsiteX30" fmla="*/ 325451 w 524966"/>
                  <a:gd name="connsiteY30" fmla="*/ 322621 h 485345"/>
                  <a:gd name="connsiteX31" fmla="*/ 350921 w 524966"/>
                  <a:gd name="connsiteY31" fmla="*/ 319791 h 485345"/>
                  <a:gd name="connsiteX32" fmla="*/ 478271 w 524966"/>
                  <a:gd name="connsiteY32" fmla="*/ 418841 h 485345"/>
                  <a:gd name="connsiteX33" fmla="*/ 481101 w 524966"/>
                  <a:gd name="connsiteY33" fmla="*/ 444311 h 48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24966" h="485345">
                    <a:moveTo>
                      <a:pt x="498081" y="137255"/>
                    </a:moveTo>
                    <a:lnTo>
                      <a:pt x="292906" y="8490"/>
                    </a:lnTo>
                    <a:cubicBezTo>
                      <a:pt x="274510" y="-2830"/>
                      <a:pt x="250455" y="-2830"/>
                      <a:pt x="230645" y="8490"/>
                    </a:cubicBezTo>
                    <a:lnTo>
                      <a:pt x="25470" y="137255"/>
                    </a:lnTo>
                    <a:cubicBezTo>
                      <a:pt x="9905" y="147160"/>
                      <a:pt x="0" y="164141"/>
                      <a:pt x="0" y="182535"/>
                    </a:cubicBezTo>
                    <a:lnTo>
                      <a:pt x="0" y="432991"/>
                    </a:lnTo>
                    <a:cubicBezTo>
                      <a:pt x="0" y="462706"/>
                      <a:pt x="24055" y="485346"/>
                      <a:pt x="55185" y="485346"/>
                    </a:cubicBezTo>
                    <a:lnTo>
                      <a:pt x="469781" y="485346"/>
                    </a:lnTo>
                    <a:cubicBezTo>
                      <a:pt x="499496" y="485346"/>
                      <a:pt x="524966" y="461291"/>
                      <a:pt x="524966" y="432991"/>
                    </a:cubicBezTo>
                    <a:lnTo>
                      <a:pt x="524966" y="182535"/>
                    </a:lnTo>
                    <a:cubicBezTo>
                      <a:pt x="523551" y="164141"/>
                      <a:pt x="513646" y="147160"/>
                      <a:pt x="498081" y="137255"/>
                    </a:cubicBezTo>
                    <a:close/>
                    <a:moveTo>
                      <a:pt x="195270" y="348091"/>
                    </a:moveTo>
                    <a:lnTo>
                      <a:pt x="67920" y="447141"/>
                    </a:lnTo>
                    <a:cubicBezTo>
                      <a:pt x="65090" y="449971"/>
                      <a:pt x="60845" y="451386"/>
                      <a:pt x="56600" y="451386"/>
                    </a:cubicBezTo>
                    <a:cubicBezTo>
                      <a:pt x="50940" y="451386"/>
                      <a:pt x="46695" y="448556"/>
                      <a:pt x="42450" y="444311"/>
                    </a:cubicBezTo>
                    <a:cubicBezTo>
                      <a:pt x="36790" y="437236"/>
                      <a:pt x="38205" y="425916"/>
                      <a:pt x="45280" y="418841"/>
                    </a:cubicBezTo>
                    <a:lnTo>
                      <a:pt x="172630" y="319791"/>
                    </a:lnTo>
                    <a:cubicBezTo>
                      <a:pt x="179705" y="314130"/>
                      <a:pt x="191025" y="315546"/>
                      <a:pt x="198100" y="322621"/>
                    </a:cubicBezTo>
                    <a:cubicBezTo>
                      <a:pt x="203760" y="331111"/>
                      <a:pt x="202345" y="342431"/>
                      <a:pt x="195270" y="348091"/>
                    </a:cubicBezTo>
                    <a:close/>
                    <a:moveTo>
                      <a:pt x="244795" y="307055"/>
                    </a:moveTo>
                    <a:lnTo>
                      <a:pt x="83485" y="192441"/>
                    </a:lnTo>
                    <a:cubicBezTo>
                      <a:pt x="65090" y="179705"/>
                      <a:pt x="74995" y="152820"/>
                      <a:pt x="96220" y="152820"/>
                    </a:cubicBezTo>
                    <a:lnTo>
                      <a:pt x="425916" y="152820"/>
                    </a:lnTo>
                    <a:cubicBezTo>
                      <a:pt x="448556" y="152820"/>
                      <a:pt x="457046" y="179705"/>
                      <a:pt x="438651" y="192441"/>
                    </a:cubicBezTo>
                    <a:lnTo>
                      <a:pt x="277341" y="307055"/>
                    </a:lnTo>
                    <a:cubicBezTo>
                      <a:pt x="268851" y="314130"/>
                      <a:pt x="254700" y="314130"/>
                      <a:pt x="244795" y="307055"/>
                    </a:cubicBezTo>
                    <a:close/>
                    <a:moveTo>
                      <a:pt x="481101" y="444311"/>
                    </a:moveTo>
                    <a:cubicBezTo>
                      <a:pt x="478271" y="448556"/>
                      <a:pt x="472611" y="451386"/>
                      <a:pt x="466951" y="451386"/>
                    </a:cubicBezTo>
                    <a:cubicBezTo>
                      <a:pt x="462706" y="451386"/>
                      <a:pt x="459876" y="449971"/>
                      <a:pt x="455631" y="447141"/>
                    </a:cubicBezTo>
                    <a:lnTo>
                      <a:pt x="328281" y="348091"/>
                    </a:lnTo>
                    <a:cubicBezTo>
                      <a:pt x="321206" y="342431"/>
                      <a:pt x="319791" y="331111"/>
                      <a:pt x="325451" y="322621"/>
                    </a:cubicBezTo>
                    <a:cubicBezTo>
                      <a:pt x="331111" y="315546"/>
                      <a:pt x="342431" y="314130"/>
                      <a:pt x="350921" y="319791"/>
                    </a:cubicBezTo>
                    <a:lnTo>
                      <a:pt x="478271" y="418841"/>
                    </a:lnTo>
                    <a:cubicBezTo>
                      <a:pt x="485346" y="425916"/>
                      <a:pt x="486761" y="437236"/>
                      <a:pt x="481101" y="444311"/>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2" name="任意多边形: 形状 41"/>
              <p:cNvSpPr/>
              <p:nvPr/>
            </p:nvSpPr>
            <p:spPr>
              <a:xfrm>
                <a:off x="4917182" y="4422781"/>
                <a:ext cx="155650" cy="42450"/>
              </a:xfrm>
              <a:custGeom>
                <a:avLst/>
                <a:gdLst>
                  <a:gd name="connsiteX0" fmla="*/ 134425 w 155650"/>
                  <a:gd name="connsiteY0" fmla="*/ 0 h 42450"/>
                  <a:gd name="connsiteX1" fmla="*/ 21225 w 155650"/>
                  <a:gd name="connsiteY1" fmla="*/ 0 h 42450"/>
                  <a:gd name="connsiteX2" fmla="*/ 0 w 155650"/>
                  <a:gd name="connsiteY2" fmla="*/ 21225 h 42450"/>
                  <a:gd name="connsiteX3" fmla="*/ 21225 w 155650"/>
                  <a:gd name="connsiteY3" fmla="*/ 42450 h 42450"/>
                  <a:gd name="connsiteX4" fmla="*/ 134425 w 155650"/>
                  <a:gd name="connsiteY4" fmla="*/ 42450 h 42450"/>
                  <a:gd name="connsiteX5" fmla="*/ 155650 w 155650"/>
                  <a:gd name="connsiteY5" fmla="*/ 21225 h 42450"/>
                  <a:gd name="connsiteX6" fmla="*/ 134425 w 155650"/>
                  <a:gd name="connsiteY6" fmla="*/ 0 h 4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650" h="42450">
                    <a:moveTo>
                      <a:pt x="134425" y="0"/>
                    </a:moveTo>
                    <a:lnTo>
                      <a:pt x="21225" y="0"/>
                    </a:lnTo>
                    <a:cubicBezTo>
                      <a:pt x="9905" y="0"/>
                      <a:pt x="0" y="9905"/>
                      <a:pt x="0" y="21225"/>
                    </a:cubicBezTo>
                    <a:cubicBezTo>
                      <a:pt x="0" y="32545"/>
                      <a:pt x="9905" y="42450"/>
                      <a:pt x="21225" y="42450"/>
                    </a:cubicBezTo>
                    <a:lnTo>
                      <a:pt x="134425" y="42450"/>
                    </a:lnTo>
                    <a:cubicBezTo>
                      <a:pt x="145745" y="42450"/>
                      <a:pt x="155650" y="32545"/>
                      <a:pt x="155650" y="21225"/>
                    </a:cubicBezTo>
                    <a:cubicBezTo>
                      <a:pt x="155650" y="9905"/>
                      <a:pt x="145745" y="0"/>
                      <a:pt x="134425" y="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8" name="图形 3"/>
            <p:cNvGrpSpPr/>
            <p:nvPr/>
          </p:nvGrpSpPr>
          <p:grpSpPr>
            <a:xfrm>
              <a:off x="2536612" y="3295612"/>
              <a:ext cx="456218" cy="419705"/>
              <a:chOff x="3464954" y="1598078"/>
              <a:chExt cx="615770" cy="566489"/>
            </a:xfrm>
            <a:solidFill>
              <a:schemeClr val="bg1"/>
            </a:solidFill>
          </p:grpSpPr>
          <p:sp>
            <p:nvSpPr>
              <p:cNvPr id="39" name="任意多边形: 形状 3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0" name="任意多边形: 形状 3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19" name="文本框 23"/>
            <p:cNvSpPr txBox="1"/>
            <p:nvPr/>
          </p:nvSpPr>
          <p:spPr>
            <a:xfrm>
              <a:off x="840825" y="331783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01</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0" name="文本框 23"/>
            <p:cNvSpPr txBox="1"/>
            <p:nvPr/>
          </p:nvSpPr>
          <p:spPr>
            <a:xfrm>
              <a:off x="3111423" y="2780598"/>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02</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1" name="文本框 23"/>
            <p:cNvSpPr txBox="1"/>
            <p:nvPr/>
          </p:nvSpPr>
          <p:spPr>
            <a:xfrm>
              <a:off x="5068457" y="333694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03</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2" name="文本框 23"/>
            <p:cNvSpPr txBox="1"/>
            <p:nvPr/>
          </p:nvSpPr>
          <p:spPr>
            <a:xfrm>
              <a:off x="7077474" y="3859650"/>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04</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3" name="文本框 23"/>
            <p:cNvSpPr txBox="1"/>
            <p:nvPr/>
          </p:nvSpPr>
          <p:spPr>
            <a:xfrm>
              <a:off x="9181248" y="3311676"/>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05</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nvGrpSpPr>
            <p:cNvPr id="24" name="组合 23"/>
            <p:cNvGrpSpPr/>
            <p:nvPr/>
          </p:nvGrpSpPr>
          <p:grpSpPr>
            <a:xfrm>
              <a:off x="1203800" y="1397289"/>
              <a:ext cx="1756818" cy="1100739"/>
              <a:chOff x="788263" y="4595654"/>
              <a:chExt cx="1756818" cy="1100739"/>
            </a:xfrm>
          </p:grpSpPr>
          <p:sp>
            <p:nvSpPr>
              <p:cNvPr id="37" name="文本框 23"/>
              <p:cNvSpPr txBox="1"/>
              <p:nvPr/>
            </p:nvSpPr>
            <p:spPr>
              <a:xfrm>
                <a:off x="788263" y="4595654"/>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文献计量法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8263" y="4886133"/>
                <a:ext cx="1756818"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基于数据库，量化分析初中生物跨学科教研的研究热点与空白。</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5" name="组合 24"/>
            <p:cNvGrpSpPr/>
            <p:nvPr/>
          </p:nvGrpSpPr>
          <p:grpSpPr>
            <a:xfrm>
              <a:off x="3249392" y="832017"/>
              <a:ext cx="2009140" cy="1130535"/>
              <a:chOff x="788263" y="4349075"/>
              <a:chExt cx="2009140" cy="1130535"/>
            </a:xfrm>
          </p:grpSpPr>
          <p:sp>
            <p:nvSpPr>
              <p:cNvPr id="35" name="文本框 23"/>
              <p:cNvSpPr txBox="1"/>
              <p:nvPr/>
            </p:nvSpPr>
            <p:spPr>
              <a:xfrm>
                <a:off x="788263" y="434907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行动研究法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4"/>
              <p:cNvSpPr txBox="1"/>
              <p:nvPr>
                <p:custDataLst>
                  <p:tags r:id="rId2"/>
                </p:custDataLst>
              </p:nvPr>
            </p:nvSpPr>
            <p:spPr>
              <a:xfrm>
                <a:off x="788263" y="4669350"/>
                <a:ext cx="2009140"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以</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3</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所初中试点，经</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实践</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调整</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循环，完善核心素养融合机制。</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6" name="组合 25"/>
            <p:cNvGrpSpPr/>
            <p:nvPr/>
          </p:nvGrpSpPr>
          <p:grpSpPr>
            <a:xfrm>
              <a:off x="5032430" y="4472065"/>
              <a:ext cx="1837690" cy="1373505"/>
              <a:chOff x="788263" y="4638235"/>
              <a:chExt cx="1837690" cy="1373505"/>
            </a:xfrm>
          </p:grpSpPr>
          <p:sp>
            <p:nvSpPr>
              <p:cNvPr id="33"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案例研究法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4" name="文本框 24"/>
              <p:cNvSpPr txBox="1"/>
              <p:nvPr/>
            </p:nvSpPr>
            <p:spPr>
              <a:xfrm>
                <a:off x="788263" y="4961450"/>
                <a:ext cx="1837690" cy="105029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选取</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5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个优秀跨学科教研案例，深度剖析其设计逻辑、实施流程与核心素养落地路径。</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7" name="组合 26"/>
            <p:cNvGrpSpPr/>
            <p:nvPr/>
          </p:nvGrpSpPr>
          <p:grpSpPr>
            <a:xfrm>
              <a:off x="7164384" y="5025068"/>
              <a:ext cx="2361565" cy="1133475"/>
              <a:chOff x="788263" y="4638235"/>
              <a:chExt cx="2361565" cy="1133475"/>
            </a:xfrm>
          </p:grpSpPr>
          <p:sp>
            <p:nvSpPr>
              <p:cNvPr id="31"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问卷调查法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2" name="文本框 24"/>
              <p:cNvSpPr txBox="1"/>
              <p:nvPr/>
            </p:nvSpPr>
            <p:spPr>
              <a:xfrm>
                <a:off x="788263" y="4961450"/>
                <a:ext cx="2361565"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面向</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200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名初中生物教师，调研其跨学科教研参与度、能力缺口及对融合机制的认可度。</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8" name="组合 27"/>
            <p:cNvGrpSpPr/>
            <p:nvPr/>
          </p:nvGrpSpPr>
          <p:grpSpPr>
            <a:xfrm>
              <a:off x="9148866" y="1292559"/>
              <a:ext cx="2023110" cy="1280160"/>
              <a:chOff x="788263" y="4426411"/>
              <a:chExt cx="2023110" cy="1280160"/>
            </a:xfrm>
          </p:grpSpPr>
          <p:sp>
            <p:nvSpPr>
              <p:cNvPr id="29" name="文本框 23"/>
              <p:cNvSpPr txBox="1"/>
              <p:nvPr/>
            </p:nvSpPr>
            <p:spPr>
              <a:xfrm>
                <a:off x="788263" y="4426411"/>
                <a:ext cx="1757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结构方程模型法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0" name="文本框 24"/>
              <p:cNvSpPr txBox="1"/>
              <p:nvPr/>
            </p:nvSpPr>
            <p:spPr>
              <a:xfrm>
                <a:off x="788263" y="4693111"/>
                <a:ext cx="2023110" cy="101346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构建</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教研要素</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融合机制</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素养效能</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模型，分析各变量对核心素养培养效果的影响权重。</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高动态无人机集群分布式协同导航与避障研究</a:t>
            </a:r>
            <a:r>
              <a:rPr lang="zh-CN" altLang="en-US"/>
              <a:t>方法</a:t>
            </a:r>
            <a:endParaRPr lang="zh-CN" altLang="en-US"/>
          </a:p>
        </p:txBody>
      </p:sp>
      <p:sp>
        <p:nvSpPr>
          <p:cNvPr id="3" name="椭圆 2"/>
          <p:cNvSpPr/>
          <p:nvPr/>
        </p:nvSpPr>
        <p:spPr>
          <a:xfrm>
            <a:off x="5020987" y="2704001"/>
            <a:ext cx="2150026" cy="2150024"/>
          </a:xfrm>
          <a:prstGeom prst="ellipse">
            <a:avLst/>
          </a:prstGeom>
          <a:solidFill>
            <a:schemeClr val="bg1"/>
          </a:solidFill>
          <a:ln>
            <a:noFill/>
          </a:ln>
          <a:effectLst>
            <a:outerShdw blurRad="342900" sx="110000" sy="11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4438650" y="2121663"/>
            <a:ext cx="3314700" cy="3314700"/>
          </a:xfrm>
          <a:prstGeom prst="arc">
            <a:avLst>
              <a:gd name="adj1" fmla="val 6168660"/>
              <a:gd name="adj2" fmla="val 4674309"/>
            </a:avLst>
          </a:prstGeom>
          <a:ln w="38100">
            <a:gradFill>
              <a:gsLst>
                <a:gs pos="0">
                  <a:schemeClr val="accent2"/>
                </a:gs>
                <a:gs pos="94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椭圆 4"/>
          <p:cNvSpPr/>
          <p:nvPr/>
        </p:nvSpPr>
        <p:spPr>
          <a:xfrm>
            <a:off x="4798737"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6" name="椭圆 5"/>
          <p:cNvSpPr/>
          <p:nvPr/>
        </p:nvSpPr>
        <p:spPr>
          <a:xfrm>
            <a:off x="4355168"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7" name="椭圆 6"/>
          <p:cNvSpPr/>
          <p:nvPr/>
        </p:nvSpPr>
        <p:spPr>
          <a:xfrm>
            <a:off x="4798737"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8" name="椭圆 7"/>
          <p:cNvSpPr/>
          <p:nvPr/>
        </p:nvSpPr>
        <p:spPr>
          <a:xfrm>
            <a:off x="7227908"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9" name="椭圆 8"/>
          <p:cNvSpPr/>
          <p:nvPr/>
        </p:nvSpPr>
        <p:spPr>
          <a:xfrm>
            <a:off x="7669869"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0" name="椭圆 9"/>
          <p:cNvSpPr/>
          <p:nvPr/>
        </p:nvSpPr>
        <p:spPr>
          <a:xfrm>
            <a:off x="7227908"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1" name="文本框 10"/>
          <p:cNvSpPr txBox="1"/>
          <p:nvPr/>
        </p:nvSpPr>
        <p:spPr>
          <a:xfrm>
            <a:off x="1766147" y="1704862"/>
            <a:ext cx="2540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多源导航数据时空校准</a:t>
            </a:r>
            <a:endParaRPr lang="zh-CN" altLang="en-US" sz="2000" b="1" dirty="0">
              <a:solidFill>
                <a:schemeClr val="accent2"/>
              </a:solidFill>
              <a:latin typeface="+mj-ea"/>
              <a:ea typeface="+mj-ea"/>
            </a:endParaRPr>
          </a:p>
        </p:txBody>
      </p:sp>
      <p:sp>
        <p:nvSpPr>
          <p:cNvPr id="13" name="文本框 12"/>
          <p:cNvSpPr txBox="1"/>
          <p:nvPr/>
        </p:nvSpPr>
        <p:spPr>
          <a:xfrm>
            <a:off x="868282" y="3360217"/>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分布式联邦定位算法设计</a:t>
            </a:r>
            <a:endParaRPr lang="zh-CN" altLang="en-US" sz="2000" b="1" dirty="0">
              <a:solidFill>
                <a:schemeClr val="accent2"/>
              </a:solidFill>
              <a:latin typeface="+mj-ea"/>
              <a:ea typeface="+mj-ea"/>
            </a:endParaRPr>
          </a:p>
        </p:txBody>
      </p:sp>
      <p:sp>
        <p:nvSpPr>
          <p:cNvPr id="15" name="文本框 14"/>
          <p:cNvSpPr txBox="1"/>
          <p:nvPr/>
        </p:nvSpPr>
        <p:spPr>
          <a:xfrm>
            <a:off x="1512147" y="4921423"/>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低时延集群通信协议优化</a:t>
            </a:r>
            <a:endParaRPr lang="zh-CN" altLang="en-US" sz="2000" b="1" dirty="0">
              <a:solidFill>
                <a:schemeClr val="accent2"/>
              </a:solidFill>
              <a:latin typeface="+mj-ea"/>
              <a:ea typeface="+mj-ea"/>
            </a:endParaRPr>
          </a:p>
        </p:txBody>
      </p:sp>
      <p:sp>
        <p:nvSpPr>
          <p:cNvPr id="17" name="文本框 16"/>
          <p:cNvSpPr txBox="1"/>
          <p:nvPr/>
        </p:nvSpPr>
        <p:spPr>
          <a:xfrm>
            <a:off x="7969334" y="1704862"/>
            <a:ext cx="2794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动态障碍物预测避障模型</a:t>
            </a:r>
            <a:endParaRPr lang="zh-CN" altLang="en-US" sz="2000" b="1" dirty="0">
              <a:solidFill>
                <a:schemeClr val="accent2"/>
              </a:solidFill>
              <a:latin typeface="+mj-ea"/>
              <a:ea typeface="+mj-ea"/>
            </a:endParaRPr>
          </a:p>
        </p:txBody>
      </p:sp>
      <p:sp>
        <p:nvSpPr>
          <p:cNvPr id="19" name="文本框 18"/>
          <p:cNvSpPr txBox="1"/>
          <p:nvPr/>
        </p:nvSpPr>
        <p:spPr>
          <a:xfrm>
            <a:off x="8505098" y="3360217"/>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能耗感知导航资源分配</a:t>
            </a:r>
            <a:endParaRPr lang="zh-CN" altLang="en-US" sz="2000" b="1" dirty="0">
              <a:solidFill>
                <a:schemeClr val="accent2"/>
              </a:solidFill>
              <a:latin typeface="+mj-ea"/>
              <a:ea typeface="+mj-ea"/>
            </a:endParaRPr>
          </a:p>
        </p:txBody>
      </p:sp>
      <p:sp>
        <p:nvSpPr>
          <p:cNvPr id="21" name="文本框 20"/>
          <p:cNvSpPr txBox="1"/>
          <p:nvPr/>
        </p:nvSpPr>
        <p:spPr>
          <a:xfrm>
            <a:off x="7969334" y="4921423"/>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虚实结合协同性能验证</a:t>
            </a:r>
            <a:endParaRPr lang="zh-CN" altLang="en-US" sz="2000" b="1" dirty="0">
              <a:solidFill>
                <a:schemeClr val="accent2"/>
              </a:solidFill>
              <a:latin typeface="+mj-ea"/>
              <a:ea typeface="+mj-ea"/>
            </a:endParaRPr>
          </a:p>
        </p:txBody>
      </p:sp>
      <p:sp>
        <p:nvSpPr>
          <p:cNvPr id="24" name="文本框 23"/>
          <p:cNvSpPr txBox="1"/>
          <p:nvPr/>
        </p:nvSpPr>
        <p:spPr>
          <a:xfrm>
            <a:off x="1270635" y="2047240"/>
            <a:ext cx="30346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融合无人机</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GPS</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IMU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与视觉传感器数据，通过扩展卡尔曼滤波实现时空同步，降低数据偏差。</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5" name="文本框 24"/>
          <p:cNvSpPr txBox="1"/>
          <p:nvPr/>
        </p:nvSpPr>
        <p:spPr>
          <a:xfrm>
            <a:off x="705485" y="3718560"/>
            <a:ext cx="29838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基于联邦学习框架拆分定位计算任务，各无人机本地训练后共享参数，提升集群定位精度。</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文本框 25"/>
          <p:cNvSpPr txBox="1"/>
          <p:nvPr/>
        </p:nvSpPr>
        <p:spPr>
          <a:xfrm>
            <a:off x="1511300" y="5264150"/>
            <a:ext cx="2819400"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改进</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TDMA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通信协议，动态分配时隙资源，将无人机间数据交互时延控制在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100ms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内。</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7" name="文本框 26"/>
          <p:cNvSpPr txBox="1"/>
          <p:nvPr/>
        </p:nvSpPr>
        <p:spPr>
          <a:xfrm>
            <a:off x="7972425" y="2047240"/>
            <a:ext cx="3072130"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采用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LSTM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网络预测障碍物运动轨迹，结合碰撞风险评估，生成实时避障路径。</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8" name="文本框 27"/>
          <p:cNvSpPr txBox="1"/>
          <p:nvPr/>
        </p:nvSpPr>
        <p:spPr>
          <a:xfrm>
            <a:off x="8502015" y="3718560"/>
            <a:ext cx="275907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以无人机剩余电量为约束，通过贪心算法分配导航计算资源，延长集群续航时间。</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9" name="文本框 28"/>
          <p:cNvSpPr txBox="1"/>
          <p:nvPr/>
        </p:nvSpPr>
        <p:spPr>
          <a:xfrm>
            <a:off x="7972425" y="5266055"/>
            <a:ext cx="318833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ROS/Gazebo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仿真平台构建高动态场景，结合实飞测试，验证导航与避障协同效果。</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pic>
        <p:nvPicPr>
          <p:cNvPr id="32" name="图片 20" descr="32313538313534373b32313538313532353bc8abc7f2b5e7bbb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4263" y="3336938"/>
            <a:ext cx="884150" cy="884150"/>
          </a:xfrm>
          <a:prstGeom prst="rect">
            <a:avLst/>
          </a:prstGeom>
        </p:spPr>
      </p:pic>
    </p:spTree>
    <p:custDataLst>
      <p:tags r:id="rId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帕金森病居家照护者运动训练智能督导研究</a:t>
            </a:r>
            <a:r>
              <a:rPr lang="zh-CN" altLang="en-US"/>
              <a:t>方法</a:t>
            </a:r>
            <a:endParaRPr lang="zh-CN" altLang="en-US"/>
          </a:p>
        </p:txBody>
      </p:sp>
      <p:grpSp>
        <p:nvGrpSpPr>
          <p:cNvPr id="4" name="组合 3"/>
          <p:cNvGrpSpPr/>
          <p:nvPr/>
        </p:nvGrpSpPr>
        <p:grpSpPr>
          <a:xfrm>
            <a:off x="1976384" y="4007759"/>
            <a:ext cx="2223994" cy="1888446"/>
            <a:chOff x="1571254" y="2807208"/>
            <a:chExt cx="2223994" cy="1888446"/>
          </a:xfrm>
          <a:solidFill>
            <a:schemeClr val="accent4"/>
          </a:solidFill>
        </p:grpSpPr>
        <p:sp>
          <p:nvSpPr>
            <p:cNvPr id="5" name="任意多边形 15"/>
            <p:cNvSpPr/>
            <p:nvPr/>
          </p:nvSpPr>
          <p:spPr bwMode="auto">
            <a:xfrm>
              <a:off x="1941025" y="3448099"/>
              <a:ext cx="742226" cy="1247555"/>
            </a:xfrm>
            <a:custGeom>
              <a:avLst/>
              <a:gdLst>
                <a:gd name="T0" fmla="*/ 0 w 1106"/>
                <a:gd name="T1" fmla="*/ 0 h 1859"/>
                <a:gd name="T2" fmla="*/ 0 w 1106"/>
                <a:gd name="T3" fmla="*/ 1222 h 1859"/>
                <a:gd name="T4" fmla="*/ 1106 w 1106"/>
                <a:gd name="T5" fmla="*/ 1859 h 1859"/>
                <a:gd name="T6" fmla="*/ 1106 w 1106"/>
                <a:gd name="T7" fmla="*/ 637 h 1859"/>
                <a:gd name="T8" fmla="*/ 0 w 1106"/>
                <a:gd name="T9" fmla="*/ 0 h 1859"/>
              </a:gdLst>
              <a:ahLst/>
              <a:cxnLst>
                <a:cxn ang="0">
                  <a:pos x="T0" y="T1"/>
                </a:cxn>
                <a:cxn ang="0">
                  <a:pos x="T2" y="T3"/>
                </a:cxn>
                <a:cxn ang="0">
                  <a:pos x="T4" y="T5"/>
                </a:cxn>
                <a:cxn ang="0">
                  <a:pos x="T6" y="T7"/>
                </a:cxn>
                <a:cxn ang="0">
                  <a:pos x="T8" y="T9"/>
                </a:cxn>
              </a:cxnLst>
              <a:rect l="0" t="0" r="r" b="b"/>
              <a:pathLst>
                <a:path w="1106" h="1859">
                  <a:moveTo>
                    <a:pt x="0" y="0"/>
                  </a:moveTo>
                  <a:lnTo>
                    <a:pt x="0" y="1222"/>
                  </a:lnTo>
                  <a:lnTo>
                    <a:pt x="1106" y="1859"/>
                  </a:lnTo>
                  <a:lnTo>
                    <a:pt x="1106" y="637"/>
                  </a:lnTo>
                  <a:lnTo>
                    <a:pt x="0"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 name="任意多边形 16"/>
            <p:cNvSpPr/>
            <p:nvPr/>
          </p:nvSpPr>
          <p:spPr bwMode="auto">
            <a:xfrm>
              <a:off x="2683251" y="3448099"/>
              <a:ext cx="741555" cy="1247555"/>
            </a:xfrm>
            <a:custGeom>
              <a:avLst/>
              <a:gdLst>
                <a:gd name="T0" fmla="*/ 1105 w 1105"/>
                <a:gd name="T1" fmla="*/ 0 h 1859"/>
                <a:gd name="T2" fmla="*/ 1105 w 1105"/>
                <a:gd name="T3" fmla="*/ 1222 h 1859"/>
                <a:gd name="T4" fmla="*/ 0 w 1105"/>
                <a:gd name="T5" fmla="*/ 1859 h 1859"/>
                <a:gd name="T6" fmla="*/ 0 w 1105"/>
                <a:gd name="T7" fmla="*/ 637 h 1859"/>
                <a:gd name="T8" fmla="*/ 1105 w 1105"/>
                <a:gd name="T9" fmla="*/ 0 h 1859"/>
              </a:gdLst>
              <a:ahLst/>
              <a:cxnLst>
                <a:cxn ang="0">
                  <a:pos x="T0" y="T1"/>
                </a:cxn>
                <a:cxn ang="0">
                  <a:pos x="T2" y="T3"/>
                </a:cxn>
                <a:cxn ang="0">
                  <a:pos x="T4" y="T5"/>
                </a:cxn>
                <a:cxn ang="0">
                  <a:pos x="T6" y="T7"/>
                </a:cxn>
                <a:cxn ang="0">
                  <a:pos x="T8" y="T9"/>
                </a:cxn>
              </a:cxnLst>
              <a:rect l="0" t="0" r="r" b="b"/>
              <a:pathLst>
                <a:path w="1105" h="1859">
                  <a:moveTo>
                    <a:pt x="1105" y="0"/>
                  </a:moveTo>
                  <a:lnTo>
                    <a:pt x="1105" y="1222"/>
                  </a:lnTo>
                  <a:lnTo>
                    <a:pt x="0" y="1859"/>
                  </a:lnTo>
                  <a:lnTo>
                    <a:pt x="0" y="637"/>
                  </a:lnTo>
                  <a:lnTo>
                    <a:pt x="1105"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7" name="任意多边形 17"/>
            <p:cNvSpPr/>
            <p:nvPr/>
          </p:nvSpPr>
          <p:spPr bwMode="auto">
            <a:xfrm>
              <a:off x="2683251" y="3448099"/>
              <a:ext cx="1111997" cy="640219"/>
            </a:xfrm>
            <a:custGeom>
              <a:avLst/>
              <a:gdLst>
                <a:gd name="T0" fmla="*/ 1657 w 1657"/>
                <a:gd name="T1" fmla="*/ 317 h 954"/>
                <a:gd name="T2" fmla="*/ 551 w 1657"/>
                <a:gd name="T3" fmla="*/ 954 h 954"/>
                <a:gd name="T4" fmla="*/ 0 w 1657"/>
                <a:gd name="T5" fmla="*/ 637 h 954"/>
                <a:gd name="T6" fmla="*/ 1105 w 1657"/>
                <a:gd name="T7" fmla="*/ 0 h 954"/>
                <a:gd name="T8" fmla="*/ 1657 w 1657"/>
                <a:gd name="T9" fmla="*/ 317 h 954"/>
              </a:gdLst>
              <a:ahLst/>
              <a:cxnLst>
                <a:cxn ang="0">
                  <a:pos x="T0" y="T1"/>
                </a:cxn>
                <a:cxn ang="0">
                  <a:pos x="T2" y="T3"/>
                </a:cxn>
                <a:cxn ang="0">
                  <a:pos x="T4" y="T5"/>
                </a:cxn>
                <a:cxn ang="0">
                  <a:pos x="T6" y="T7"/>
                </a:cxn>
                <a:cxn ang="0">
                  <a:pos x="T8" y="T9"/>
                </a:cxn>
              </a:cxnLst>
              <a:rect l="0" t="0" r="r" b="b"/>
              <a:pathLst>
                <a:path w="1657" h="954">
                  <a:moveTo>
                    <a:pt x="1657" y="317"/>
                  </a:moveTo>
                  <a:lnTo>
                    <a:pt x="551" y="954"/>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8" name="任意多边形 18"/>
            <p:cNvSpPr/>
            <p:nvPr/>
          </p:nvSpPr>
          <p:spPr bwMode="auto">
            <a:xfrm>
              <a:off x="1571254" y="3448099"/>
              <a:ext cx="1111997" cy="640219"/>
            </a:xfrm>
            <a:custGeom>
              <a:avLst/>
              <a:gdLst>
                <a:gd name="T0" fmla="*/ 551 w 1657"/>
                <a:gd name="T1" fmla="*/ 0 h 954"/>
                <a:gd name="T2" fmla="*/ 1657 w 1657"/>
                <a:gd name="T3" fmla="*/ 637 h 954"/>
                <a:gd name="T4" fmla="*/ 1105 w 1657"/>
                <a:gd name="T5" fmla="*/ 954 h 954"/>
                <a:gd name="T6" fmla="*/ 0 w 1657"/>
                <a:gd name="T7" fmla="*/ 317 h 954"/>
                <a:gd name="T8" fmla="*/ 551 w 1657"/>
                <a:gd name="T9" fmla="*/ 0 h 954"/>
              </a:gdLst>
              <a:ahLst/>
              <a:cxnLst>
                <a:cxn ang="0">
                  <a:pos x="T0" y="T1"/>
                </a:cxn>
                <a:cxn ang="0">
                  <a:pos x="T2" y="T3"/>
                </a:cxn>
                <a:cxn ang="0">
                  <a:pos x="T4" y="T5"/>
                </a:cxn>
                <a:cxn ang="0">
                  <a:pos x="T6" y="T7"/>
                </a:cxn>
                <a:cxn ang="0">
                  <a:pos x="T8" y="T9"/>
                </a:cxn>
              </a:cxnLst>
              <a:rect l="0" t="0" r="r" b="b"/>
              <a:pathLst>
                <a:path w="1657" h="954">
                  <a:moveTo>
                    <a:pt x="551" y="0"/>
                  </a:moveTo>
                  <a:lnTo>
                    <a:pt x="1657" y="637"/>
                  </a:lnTo>
                  <a:lnTo>
                    <a:pt x="1105" y="954"/>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9" name="任意多边形 19"/>
            <p:cNvSpPr/>
            <p:nvPr/>
          </p:nvSpPr>
          <p:spPr bwMode="auto">
            <a:xfrm>
              <a:off x="2683251" y="3019943"/>
              <a:ext cx="741555" cy="855639"/>
            </a:xfrm>
            <a:custGeom>
              <a:avLst/>
              <a:gdLst>
                <a:gd name="T0" fmla="*/ 1105 w 1105"/>
                <a:gd name="T1" fmla="*/ 638 h 1275"/>
                <a:gd name="T2" fmla="*/ 0 w 1105"/>
                <a:gd name="T3" fmla="*/ 1275 h 1275"/>
                <a:gd name="T4" fmla="*/ 0 w 1105"/>
                <a:gd name="T5" fmla="*/ 0 h 1275"/>
                <a:gd name="T6" fmla="*/ 1105 w 1105"/>
                <a:gd name="T7" fmla="*/ 638 h 1275"/>
              </a:gdLst>
              <a:ahLst/>
              <a:cxnLst>
                <a:cxn ang="0">
                  <a:pos x="T0" y="T1"/>
                </a:cxn>
                <a:cxn ang="0">
                  <a:pos x="T2" y="T3"/>
                </a:cxn>
                <a:cxn ang="0">
                  <a:pos x="T4" y="T5"/>
                </a:cxn>
                <a:cxn ang="0">
                  <a:pos x="T6" y="T7"/>
                </a:cxn>
              </a:cxnLst>
              <a:rect l="0" t="0" r="r" b="b"/>
              <a:pathLst>
                <a:path w="1105" h="1275">
                  <a:moveTo>
                    <a:pt x="1105" y="638"/>
                  </a:moveTo>
                  <a:lnTo>
                    <a:pt x="0" y="1275"/>
                  </a:lnTo>
                  <a:lnTo>
                    <a:pt x="0" y="0"/>
                  </a:lnTo>
                  <a:lnTo>
                    <a:pt x="1105" y="638"/>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2" name="任意多边形 20"/>
            <p:cNvSpPr/>
            <p:nvPr/>
          </p:nvSpPr>
          <p:spPr bwMode="auto">
            <a:xfrm>
              <a:off x="1571254" y="2807208"/>
              <a:ext cx="1111997" cy="640891"/>
            </a:xfrm>
            <a:custGeom>
              <a:avLst/>
              <a:gdLst>
                <a:gd name="T0" fmla="*/ 1657 w 1657"/>
                <a:gd name="T1" fmla="*/ 317 h 955"/>
                <a:gd name="T2" fmla="*/ 551 w 1657"/>
                <a:gd name="T3" fmla="*/ 955 h 955"/>
                <a:gd name="T4" fmla="*/ 0 w 1657"/>
                <a:gd name="T5" fmla="*/ 637 h 955"/>
                <a:gd name="T6" fmla="*/ 1105 w 1657"/>
                <a:gd name="T7" fmla="*/ 0 h 955"/>
                <a:gd name="T8" fmla="*/ 1657 w 1657"/>
                <a:gd name="T9" fmla="*/ 317 h 955"/>
              </a:gdLst>
              <a:ahLst/>
              <a:cxnLst>
                <a:cxn ang="0">
                  <a:pos x="T0" y="T1"/>
                </a:cxn>
                <a:cxn ang="0">
                  <a:pos x="T2" y="T3"/>
                </a:cxn>
                <a:cxn ang="0">
                  <a:pos x="T4" y="T5"/>
                </a:cxn>
                <a:cxn ang="0">
                  <a:pos x="T6" y="T7"/>
                </a:cxn>
                <a:cxn ang="0">
                  <a:pos x="T8" y="T9"/>
                </a:cxn>
              </a:cxnLst>
              <a:rect l="0" t="0" r="r" b="b"/>
              <a:pathLst>
                <a:path w="1657" h="955">
                  <a:moveTo>
                    <a:pt x="1657" y="317"/>
                  </a:moveTo>
                  <a:lnTo>
                    <a:pt x="551" y="955"/>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3" name="任意多边形 21"/>
            <p:cNvSpPr/>
            <p:nvPr/>
          </p:nvSpPr>
          <p:spPr bwMode="auto">
            <a:xfrm>
              <a:off x="2683251" y="2807208"/>
              <a:ext cx="1111997" cy="640891"/>
            </a:xfrm>
            <a:custGeom>
              <a:avLst/>
              <a:gdLst>
                <a:gd name="T0" fmla="*/ 551 w 1657"/>
                <a:gd name="T1" fmla="*/ 0 h 955"/>
                <a:gd name="T2" fmla="*/ 1657 w 1657"/>
                <a:gd name="T3" fmla="*/ 637 h 955"/>
                <a:gd name="T4" fmla="*/ 1105 w 1657"/>
                <a:gd name="T5" fmla="*/ 955 h 955"/>
                <a:gd name="T6" fmla="*/ 0 w 1657"/>
                <a:gd name="T7" fmla="*/ 317 h 955"/>
                <a:gd name="T8" fmla="*/ 551 w 1657"/>
                <a:gd name="T9" fmla="*/ 0 h 955"/>
              </a:gdLst>
              <a:ahLst/>
              <a:cxnLst>
                <a:cxn ang="0">
                  <a:pos x="T0" y="T1"/>
                </a:cxn>
                <a:cxn ang="0">
                  <a:pos x="T2" y="T3"/>
                </a:cxn>
                <a:cxn ang="0">
                  <a:pos x="T4" y="T5"/>
                </a:cxn>
                <a:cxn ang="0">
                  <a:pos x="T6" y="T7"/>
                </a:cxn>
                <a:cxn ang="0">
                  <a:pos x="T8" y="T9"/>
                </a:cxn>
              </a:cxnLst>
              <a:rect l="0" t="0" r="r" b="b"/>
              <a:pathLst>
                <a:path w="1657" h="955">
                  <a:moveTo>
                    <a:pt x="551" y="0"/>
                  </a:moveTo>
                  <a:lnTo>
                    <a:pt x="1657" y="637"/>
                  </a:lnTo>
                  <a:lnTo>
                    <a:pt x="1105" y="955"/>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4" name="任意多边形 22"/>
            <p:cNvSpPr/>
            <p:nvPr/>
          </p:nvSpPr>
          <p:spPr bwMode="auto">
            <a:xfrm>
              <a:off x="1941025" y="3019943"/>
              <a:ext cx="742226" cy="855639"/>
            </a:xfrm>
            <a:custGeom>
              <a:avLst/>
              <a:gdLst>
                <a:gd name="T0" fmla="*/ 1106 w 1106"/>
                <a:gd name="T1" fmla="*/ 0 h 1275"/>
                <a:gd name="T2" fmla="*/ 1106 w 1106"/>
                <a:gd name="T3" fmla="*/ 0 h 1275"/>
                <a:gd name="T4" fmla="*/ 0 w 1106"/>
                <a:gd name="T5" fmla="*/ 638 h 1275"/>
                <a:gd name="T6" fmla="*/ 1106 w 1106"/>
                <a:gd name="T7" fmla="*/ 1275 h 1275"/>
                <a:gd name="T8" fmla="*/ 1106 w 1106"/>
                <a:gd name="T9" fmla="*/ 1275 h 1275"/>
                <a:gd name="T10" fmla="*/ 1106 w 1106"/>
                <a:gd name="T11" fmla="*/ 0 h 1275"/>
              </a:gdLst>
              <a:ahLst/>
              <a:cxnLst>
                <a:cxn ang="0">
                  <a:pos x="T0" y="T1"/>
                </a:cxn>
                <a:cxn ang="0">
                  <a:pos x="T2" y="T3"/>
                </a:cxn>
                <a:cxn ang="0">
                  <a:pos x="T4" y="T5"/>
                </a:cxn>
                <a:cxn ang="0">
                  <a:pos x="T6" y="T7"/>
                </a:cxn>
                <a:cxn ang="0">
                  <a:pos x="T8" y="T9"/>
                </a:cxn>
                <a:cxn ang="0">
                  <a:pos x="T10" y="T11"/>
                </a:cxn>
              </a:cxnLst>
              <a:rect l="0" t="0" r="r" b="b"/>
              <a:pathLst>
                <a:path w="1106" h="1275">
                  <a:moveTo>
                    <a:pt x="1106" y="0"/>
                  </a:moveTo>
                  <a:lnTo>
                    <a:pt x="1106" y="0"/>
                  </a:lnTo>
                  <a:lnTo>
                    <a:pt x="0" y="638"/>
                  </a:lnTo>
                  <a:lnTo>
                    <a:pt x="1106" y="1275"/>
                  </a:lnTo>
                  <a:lnTo>
                    <a:pt x="1106" y="1275"/>
                  </a:lnTo>
                  <a:lnTo>
                    <a:pt x="1106" y="0"/>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grpSp>
      <p:sp>
        <p:nvSpPr>
          <p:cNvPr id="15" name="椭圆 19"/>
          <p:cNvSpPr>
            <a:spLocks noChangeAspect="1" noChangeArrowheads="1"/>
          </p:cNvSpPr>
          <p:nvPr/>
        </p:nvSpPr>
        <p:spPr bwMode="auto">
          <a:xfrm>
            <a:off x="2149547" y="2194284"/>
            <a:ext cx="896258" cy="894464"/>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6" name="椭圆 18"/>
          <p:cNvSpPr>
            <a:spLocks noChangeAspect="1" noChangeArrowheads="1"/>
          </p:cNvSpPr>
          <p:nvPr/>
        </p:nvSpPr>
        <p:spPr bwMode="auto">
          <a:xfrm>
            <a:off x="1842252" y="3195483"/>
            <a:ext cx="755424" cy="753912"/>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7" name="椭圆 12"/>
          <p:cNvSpPr>
            <a:spLocks noChangeAspect="1" noChangeArrowheads="1"/>
          </p:cNvSpPr>
          <p:nvPr/>
        </p:nvSpPr>
        <p:spPr bwMode="auto">
          <a:xfrm>
            <a:off x="3672219" y="3263533"/>
            <a:ext cx="675260" cy="673908"/>
          </a:xfrm>
          <a:prstGeom prst="ellipse">
            <a:avLst/>
          </a:prstGeom>
          <a:solidFill>
            <a:schemeClr val="accent4"/>
          </a:solidFill>
          <a:ln>
            <a:noFill/>
          </a:ln>
        </p:spPr>
        <p:txBody>
          <a:bodyPr vert="horz" wrap="square" lIns="91440" tIns="45720" rIns="91440" bIns="45720" numCol="1" anchor="ctr" anchorCtr="0" compatLnSpc="1"/>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8" name="椭圆 14"/>
          <p:cNvSpPr>
            <a:spLocks noChangeAspect="1" noChangeArrowheads="1"/>
          </p:cNvSpPr>
          <p:nvPr/>
        </p:nvSpPr>
        <p:spPr bwMode="auto">
          <a:xfrm>
            <a:off x="3228470" y="1989420"/>
            <a:ext cx="1036324" cy="1034252"/>
          </a:xfrm>
          <a:prstGeom prst="ellipse">
            <a:avLst/>
          </a:prstGeom>
          <a:solidFill>
            <a:schemeClr val="accent4"/>
          </a:solidFill>
          <a:ln>
            <a:noFill/>
          </a:ln>
        </p:spPr>
        <p:txBody>
          <a:bodyPr vert="horz" wrap="square" lIns="91440" tIns="45720" rIns="91440" bIns="45720" numCol="1" anchor="ctr" anchorCtr="0" compatLnSpc="1"/>
          <a:lstStyle/>
          <a:p>
            <a:pPr algn="ctr"/>
            <a:endParaRPr lang="en-US" sz="32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9" name="任意多边形 43"/>
          <p:cNvSpPr/>
          <p:nvPr/>
        </p:nvSpPr>
        <p:spPr>
          <a:xfrm rot="607103">
            <a:off x="2813045" y="3210061"/>
            <a:ext cx="379488" cy="835149"/>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0" name="任意多边形 45"/>
          <p:cNvSpPr/>
          <p:nvPr/>
        </p:nvSpPr>
        <p:spPr>
          <a:xfrm rot="21145872">
            <a:off x="2631003" y="3916410"/>
            <a:ext cx="291995" cy="69421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1" name="矩形 83"/>
          <p:cNvSpPr/>
          <p:nvPr/>
        </p:nvSpPr>
        <p:spPr>
          <a:xfrm rot="12942405">
            <a:off x="3193745" y="3107698"/>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2" name="矩形 84"/>
          <p:cNvSpPr/>
          <p:nvPr/>
        </p:nvSpPr>
        <p:spPr>
          <a:xfrm rot="13696296">
            <a:off x="3433420" y="3925003"/>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3" name="矩形 87"/>
          <p:cNvSpPr/>
          <p:nvPr/>
        </p:nvSpPr>
        <p:spPr>
          <a:xfrm>
            <a:off x="5145453"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4" name="矩形 14"/>
          <p:cNvSpPr/>
          <p:nvPr/>
        </p:nvSpPr>
        <p:spPr>
          <a:xfrm>
            <a:off x="8125898"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5" name="矩形 19"/>
          <p:cNvSpPr/>
          <p:nvPr/>
        </p:nvSpPr>
        <p:spPr>
          <a:xfrm>
            <a:off x="5145453"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6" name="矩形 12"/>
          <p:cNvSpPr/>
          <p:nvPr/>
        </p:nvSpPr>
        <p:spPr>
          <a:xfrm>
            <a:off x="8125898"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9" name="文本框 28"/>
          <p:cNvSpPr txBox="1"/>
          <p:nvPr/>
        </p:nvSpPr>
        <p:spPr>
          <a:xfrm>
            <a:off x="5323205" y="36753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1</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38" name="文本框 37"/>
          <p:cNvSpPr txBox="1"/>
          <p:nvPr/>
        </p:nvSpPr>
        <p:spPr>
          <a:xfrm>
            <a:off x="3700145" y="3423285"/>
            <a:ext cx="85534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追踪</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39" name="文本框 38"/>
          <p:cNvSpPr txBox="1"/>
          <p:nvPr/>
        </p:nvSpPr>
        <p:spPr>
          <a:xfrm>
            <a:off x="3423920" y="2336800"/>
            <a:ext cx="840740"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干预</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0" name="文本框 39"/>
          <p:cNvSpPr txBox="1"/>
          <p:nvPr/>
        </p:nvSpPr>
        <p:spPr>
          <a:xfrm>
            <a:off x="2275205" y="2475865"/>
            <a:ext cx="81343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量表</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1" name="文本框 40"/>
          <p:cNvSpPr txBox="1"/>
          <p:nvPr/>
        </p:nvSpPr>
        <p:spPr>
          <a:xfrm>
            <a:off x="1897380" y="3393440"/>
            <a:ext cx="76009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抽样</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2" name="文本框 41"/>
          <p:cNvSpPr txBox="1"/>
          <p:nvPr>
            <p:custDataLst>
              <p:tags r:id="rId2"/>
            </p:custDataLst>
          </p:nvPr>
        </p:nvSpPr>
        <p:spPr>
          <a:xfrm>
            <a:off x="8893039" y="5108392"/>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随访</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个月，评估智能督导工具使用率及与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患者运动功能改善关联度。</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3" name="文本框 42"/>
          <p:cNvSpPr txBox="1"/>
          <p:nvPr/>
        </p:nvSpPr>
        <p:spPr>
          <a:xfrm>
            <a:off x="8907262"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追踪评估法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4" name="文本框 43"/>
          <p:cNvSpPr txBox="1"/>
          <p:nvPr>
            <p:custDataLst>
              <p:tags r:id="rId3"/>
            </p:custDataLst>
          </p:nvPr>
        </p:nvSpPr>
        <p:spPr>
          <a:xfrm>
            <a:off x="8893039" y="3557481"/>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修订</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照护者智能督导接受度量表，参考成熟量表及</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照护者反馈，信效度达标率</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92%</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5" name="文本框 44"/>
          <p:cNvSpPr txBox="1"/>
          <p:nvPr/>
        </p:nvSpPr>
        <p:spPr>
          <a:xfrm>
            <a:off x="8907262"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量表修订法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6" name="文本框 45"/>
          <p:cNvSpPr txBox="1"/>
          <p:nvPr>
            <p:custDataLst>
              <p:tags r:id="rId4"/>
            </p:custDataLst>
          </p:nvPr>
        </p:nvSpPr>
        <p:spPr>
          <a:xfrm>
            <a:off x="5913673" y="5108392"/>
            <a:ext cx="2039442" cy="5530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en-US"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180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名照护者分</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3</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组干预</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月，比规范率提升差异。</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7" name="文本框 46"/>
          <p:cNvSpPr txBox="1"/>
          <p:nvPr/>
        </p:nvSpPr>
        <p:spPr>
          <a:xfrm>
            <a:off x="5927896"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分组干预法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8" name="文本框 47"/>
          <p:cNvSpPr txBox="1"/>
          <p:nvPr>
            <p:custDataLst>
              <p:tags r:id="rId5"/>
            </p:custDataLst>
          </p:nvPr>
        </p:nvSpPr>
        <p:spPr>
          <a:xfrm>
            <a:off x="5913673" y="3557481"/>
            <a:ext cx="2039442" cy="78359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基于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400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照护者数据，抽样</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240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人）调研智能督导工具使用意愿。</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9" name="文本框 48"/>
          <p:cNvSpPr txBox="1"/>
          <p:nvPr/>
        </p:nvSpPr>
        <p:spPr>
          <a:xfrm>
            <a:off x="5927896"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分层抽样法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52" name="文本框 1"/>
          <p:cNvSpPr>
            <a:spLocks noChangeArrowheads="1"/>
          </p:cNvSpPr>
          <p:nvPr/>
        </p:nvSpPr>
        <p:spPr bwMode="auto">
          <a:xfrm>
            <a:off x="5145405" y="2507615"/>
            <a:ext cx="8425180" cy="413385"/>
          </a:xfrm>
          <a:prstGeom prst="rect">
            <a:avLst/>
          </a:prstGeom>
          <a:noFill/>
          <a:ln>
            <a:noFill/>
          </a:ln>
          <a:extLst>
            <a:ext uri="{909E8E84-426E-40DD-AFC4-6F175D3DCCD1}">
              <a14:hiddenFill xmlns:a14="http://schemas.microsoft.com/office/drawing/2010/main">
                <a:solidFill>
                  <a:schemeClr val="accent4"/>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Open Sans Light" panose="020B0306030504020204" charset="0"/>
              </a:defRPr>
            </a:lvl1pPr>
            <a:lvl2pPr marL="742950" indent="-285750">
              <a:defRPr>
                <a:solidFill>
                  <a:schemeClr val="tx1"/>
                </a:solidFill>
                <a:latin typeface="Open Sans Light" panose="020B0306030504020204" charset="0"/>
              </a:defRPr>
            </a:lvl2pPr>
            <a:lvl3pPr marL="1143000" indent="-228600">
              <a:defRPr>
                <a:solidFill>
                  <a:schemeClr val="tx1"/>
                </a:solidFill>
                <a:latin typeface="Open Sans Light" panose="020B0306030504020204" charset="0"/>
              </a:defRPr>
            </a:lvl3pPr>
            <a:lvl4pPr marL="1600200" indent="-228600">
              <a:defRPr>
                <a:solidFill>
                  <a:schemeClr val="tx1"/>
                </a:solidFill>
                <a:latin typeface="Open Sans Light" panose="020B0306030504020204" charset="0"/>
              </a:defRPr>
            </a:lvl4pPr>
            <a:lvl5pPr marL="2057400" indent="-228600">
              <a:defRPr>
                <a:solidFill>
                  <a:schemeClr val="tx1"/>
                </a:solidFill>
                <a:latin typeface="Open Sans Light" panose="020B0306030504020204" charset="0"/>
              </a:defRPr>
            </a:lvl5pPr>
            <a:lvl6pPr marL="2514600" indent="-228600" fontAlgn="base">
              <a:spcBef>
                <a:spcPct val="0"/>
              </a:spcBef>
              <a:spcAft>
                <a:spcPct val="0"/>
              </a:spcAft>
              <a:defRPr>
                <a:solidFill>
                  <a:schemeClr val="tx1"/>
                </a:solidFill>
                <a:latin typeface="Open Sans Light" panose="020B0306030504020204" charset="0"/>
              </a:defRPr>
            </a:lvl6pPr>
            <a:lvl7pPr marL="2971800" indent="-228600" fontAlgn="base">
              <a:spcBef>
                <a:spcPct val="0"/>
              </a:spcBef>
              <a:spcAft>
                <a:spcPct val="0"/>
              </a:spcAft>
              <a:defRPr>
                <a:solidFill>
                  <a:schemeClr val="tx1"/>
                </a:solidFill>
                <a:latin typeface="Open Sans Light" panose="020B0306030504020204" charset="0"/>
              </a:defRPr>
            </a:lvl7pPr>
            <a:lvl8pPr marL="3429000" indent="-228600" fontAlgn="base">
              <a:spcBef>
                <a:spcPct val="0"/>
              </a:spcBef>
              <a:spcAft>
                <a:spcPct val="0"/>
              </a:spcAft>
              <a:defRPr>
                <a:solidFill>
                  <a:schemeClr val="tx1"/>
                </a:solidFill>
                <a:latin typeface="Open Sans Light" panose="020B0306030504020204" charset="0"/>
              </a:defRPr>
            </a:lvl8pPr>
            <a:lvl9pPr marL="3886200" indent="-228600" fontAlgn="base">
              <a:spcBef>
                <a:spcPct val="0"/>
              </a:spcBef>
              <a:spcAft>
                <a:spcPct val="0"/>
              </a:spcAft>
              <a:defRPr>
                <a:solidFill>
                  <a:schemeClr val="tx1"/>
                </a:solidFill>
                <a:latin typeface="Open Sans Light" panose="020B030603050402020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rPr>
              <a:t>RESERCH METHOD</a:t>
            </a:r>
            <a:endPar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endParaRPr>
          </a:p>
        </p:txBody>
      </p:sp>
      <p:sp>
        <p:nvSpPr>
          <p:cNvPr id="53" name="文本框 23"/>
          <p:cNvSpPr txBox="1"/>
          <p:nvPr/>
        </p:nvSpPr>
        <p:spPr>
          <a:xfrm>
            <a:off x="5145088" y="2002790"/>
            <a:ext cx="1607820" cy="521970"/>
          </a:xfrm>
          <a:prstGeom prst="rect">
            <a:avLst/>
          </a:prstGeom>
          <a:noFill/>
          <a:extLst>
            <a:ext uri="{909E8E84-426E-40DD-AFC4-6F175D3DCCD1}">
              <a14:hiddenFill xmlns:a14="http://schemas.microsoft.com/office/drawing/2010/main">
                <a:solidFill>
                  <a:schemeClr val="accent4"/>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rPr>
              <a:t>研究方法</a:t>
            </a:r>
            <a:endPar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endParaRPr>
          </a:p>
        </p:txBody>
      </p:sp>
      <p:sp>
        <p:nvSpPr>
          <p:cNvPr id="55" name="文本框 54"/>
          <p:cNvSpPr txBox="1"/>
          <p:nvPr/>
        </p:nvSpPr>
        <p:spPr>
          <a:xfrm>
            <a:off x="8302625"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4</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1" name="文本框 60"/>
          <p:cNvSpPr txBox="1"/>
          <p:nvPr/>
        </p:nvSpPr>
        <p:spPr>
          <a:xfrm>
            <a:off x="5330190"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3</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3" name="文本框 62"/>
          <p:cNvSpPr txBox="1"/>
          <p:nvPr/>
        </p:nvSpPr>
        <p:spPr>
          <a:xfrm>
            <a:off x="8302625" y="36880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2</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Tree>
    <p:custDataLst>
      <p:tags r:id="rId6"/>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高中历史大概念教学认知负荷调控的教研融合策略研究</a:t>
            </a:r>
            <a:r>
              <a:rPr lang="zh-CN" altLang="en-US"/>
              <a:t>方法</a:t>
            </a:r>
            <a:endParaRPr lang="zh-CN" altLang="en-US"/>
          </a:p>
        </p:txBody>
      </p:sp>
      <p:sp>
        <p:nvSpPr>
          <p:cNvPr id="26" name="圆角矩形 25"/>
          <p:cNvSpPr/>
          <p:nvPr/>
        </p:nvSpPr>
        <p:spPr>
          <a:xfrm>
            <a:off x="6230620" y="208216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7" name="椭圆 26"/>
          <p:cNvSpPr/>
          <p:nvPr/>
        </p:nvSpPr>
        <p:spPr>
          <a:xfrm>
            <a:off x="6343015" y="236982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8" name="任意多边形 2"/>
          <p:cNvSpPr>
            <a:spLocks noEditPoints="1"/>
          </p:cNvSpPr>
          <p:nvPr/>
        </p:nvSpPr>
        <p:spPr bwMode="auto">
          <a:xfrm>
            <a:off x="6562090" y="2574290"/>
            <a:ext cx="219710" cy="219710"/>
          </a:xfrm>
          <a:custGeom>
            <a:avLst/>
            <a:gdLst>
              <a:gd name="T0" fmla="*/ 145 w 166"/>
              <a:gd name="T1" fmla="*/ 0 h 166"/>
              <a:gd name="T2" fmla="*/ 21 w 166"/>
              <a:gd name="T3" fmla="*/ 0 h 166"/>
              <a:gd name="T4" fmla="*/ 0 w 166"/>
              <a:gd name="T5" fmla="*/ 21 h 166"/>
              <a:gd name="T6" fmla="*/ 0 w 166"/>
              <a:gd name="T7" fmla="*/ 145 h 166"/>
              <a:gd name="T8" fmla="*/ 21 w 166"/>
              <a:gd name="T9" fmla="*/ 166 h 166"/>
              <a:gd name="T10" fmla="*/ 145 w 166"/>
              <a:gd name="T11" fmla="*/ 166 h 166"/>
              <a:gd name="T12" fmla="*/ 166 w 166"/>
              <a:gd name="T13" fmla="*/ 145 h 166"/>
              <a:gd name="T14" fmla="*/ 166 w 166"/>
              <a:gd name="T15" fmla="*/ 21 h 166"/>
              <a:gd name="T16" fmla="*/ 145 w 166"/>
              <a:gd name="T17" fmla="*/ 0 h 166"/>
              <a:gd name="T18" fmla="*/ 119 w 166"/>
              <a:gd name="T19" fmla="*/ 26 h 166"/>
              <a:gd name="T20" fmla="*/ 125 w 166"/>
              <a:gd name="T21" fmla="*/ 20 h 166"/>
              <a:gd name="T22" fmla="*/ 140 w 166"/>
              <a:gd name="T23" fmla="*/ 20 h 166"/>
              <a:gd name="T24" fmla="*/ 146 w 166"/>
              <a:gd name="T25" fmla="*/ 26 h 166"/>
              <a:gd name="T26" fmla="*/ 146 w 166"/>
              <a:gd name="T27" fmla="*/ 41 h 166"/>
              <a:gd name="T28" fmla="*/ 140 w 166"/>
              <a:gd name="T29" fmla="*/ 47 h 166"/>
              <a:gd name="T30" fmla="*/ 125 w 166"/>
              <a:gd name="T31" fmla="*/ 47 h 166"/>
              <a:gd name="T32" fmla="*/ 119 w 166"/>
              <a:gd name="T33" fmla="*/ 41 h 166"/>
              <a:gd name="T34" fmla="*/ 119 w 166"/>
              <a:gd name="T35" fmla="*/ 26 h 166"/>
              <a:gd name="T36" fmla="*/ 83 w 166"/>
              <a:gd name="T37" fmla="*/ 47 h 166"/>
              <a:gd name="T38" fmla="*/ 118 w 166"/>
              <a:gd name="T39" fmla="*/ 83 h 166"/>
              <a:gd name="T40" fmla="*/ 83 w 166"/>
              <a:gd name="T41" fmla="*/ 118 h 166"/>
              <a:gd name="T42" fmla="*/ 47 w 166"/>
              <a:gd name="T43" fmla="*/ 83 h 166"/>
              <a:gd name="T44" fmla="*/ 83 w 166"/>
              <a:gd name="T45" fmla="*/ 47 h 166"/>
              <a:gd name="T46" fmla="*/ 150 w 166"/>
              <a:gd name="T47" fmla="*/ 144 h 166"/>
              <a:gd name="T48" fmla="*/ 144 w 166"/>
              <a:gd name="T49" fmla="*/ 150 h 166"/>
              <a:gd name="T50" fmla="*/ 22 w 166"/>
              <a:gd name="T51" fmla="*/ 150 h 166"/>
              <a:gd name="T52" fmla="*/ 16 w 166"/>
              <a:gd name="T53" fmla="*/ 144 h 166"/>
              <a:gd name="T54" fmla="*/ 16 w 166"/>
              <a:gd name="T55" fmla="*/ 71 h 166"/>
              <a:gd name="T56" fmla="*/ 33 w 166"/>
              <a:gd name="T57" fmla="*/ 71 h 166"/>
              <a:gd name="T58" fmla="*/ 31 w 166"/>
              <a:gd name="T59" fmla="*/ 83 h 166"/>
              <a:gd name="T60" fmla="*/ 83 w 166"/>
              <a:gd name="T61" fmla="*/ 134 h 166"/>
              <a:gd name="T62" fmla="*/ 135 w 166"/>
              <a:gd name="T63" fmla="*/ 83 h 166"/>
              <a:gd name="T64" fmla="*/ 133 w 166"/>
              <a:gd name="T65" fmla="*/ 71 h 166"/>
              <a:gd name="T66" fmla="*/ 150 w 166"/>
              <a:gd name="T67" fmla="*/ 71 h 166"/>
              <a:gd name="T68" fmla="*/ 150 w 166"/>
              <a:gd name="T69" fmla="*/ 14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6" h="166">
                <a:moveTo>
                  <a:pt x="145" y="0"/>
                </a:moveTo>
                <a:cubicBezTo>
                  <a:pt x="21" y="0"/>
                  <a:pt x="21" y="0"/>
                  <a:pt x="21" y="0"/>
                </a:cubicBezTo>
                <a:cubicBezTo>
                  <a:pt x="9" y="0"/>
                  <a:pt x="0" y="9"/>
                  <a:pt x="0" y="21"/>
                </a:cubicBezTo>
                <a:cubicBezTo>
                  <a:pt x="0" y="145"/>
                  <a:pt x="0" y="145"/>
                  <a:pt x="0" y="145"/>
                </a:cubicBezTo>
                <a:cubicBezTo>
                  <a:pt x="0" y="156"/>
                  <a:pt x="9" y="166"/>
                  <a:pt x="21" y="166"/>
                </a:cubicBezTo>
                <a:cubicBezTo>
                  <a:pt x="145" y="166"/>
                  <a:pt x="145" y="166"/>
                  <a:pt x="145" y="166"/>
                </a:cubicBezTo>
                <a:cubicBezTo>
                  <a:pt x="156" y="166"/>
                  <a:pt x="166" y="156"/>
                  <a:pt x="166" y="145"/>
                </a:cubicBezTo>
                <a:cubicBezTo>
                  <a:pt x="166" y="21"/>
                  <a:pt x="166" y="21"/>
                  <a:pt x="166" y="21"/>
                </a:cubicBezTo>
                <a:cubicBezTo>
                  <a:pt x="166" y="9"/>
                  <a:pt x="156" y="0"/>
                  <a:pt x="145" y="0"/>
                </a:cubicBezTo>
                <a:close/>
                <a:moveTo>
                  <a:pt x="119" y="26"/>
                </a:moveTo>
                <a:cubicBezTo>
                  <a:pt x="119" y="22"/>
                  <a:pt x="121" y="20"/>
                  <a:pt x="125" y="20"/>
                </a:cubicBezTo>
                <a:cubicBezTo>
                  <a:pt x="140" y="20"/>
                  <a:pt x="140" y="20"/>
                  <a:pt x="140" y="20"/>
                </a:cubicBezTo>
                <a:cubicBezTo>
                  <a:pt x="143" y="20"/>
                  <a:pt x="146" y="22"/>
                  <a:pt x="146" y="26"/>
                </a:cubicBezTo>
                <a:cubicBezTo>
                  <a:pt x="146" y="41"/>
                  <a:pt x="146" y="41"/>
                  <a:pt x="146" y="41"/>
                </a:cubicBezTo>
                <a:cubicBezTo>
                  <a:pt x="146" y="44"/>
                  <a:pt x="143" y="47"/>
                  <a:pt x="140" y="47"/>
                </a:cubicBezTo>
                <a:cubicBezTo>
                  <a:pt x="125" y="47"/>
                  <a:pt x="125" y="47"/>
                  <a:pt x="125" y="47"/>
                </a:cubicBezTo>
                <a:cubicBezTo>
                  <a:pt x="121" y="47"/>
                  <a:pt x="119" y="44"/>
                  <a:pt x="119" y="41"/>
                </a:cubicBezTo>
                <a:lnTo>
                  <a:pt x="119" y="26"/>
                </a:lnTo>
                <a:close/>
                <a:moveTo>
                  <a:pt x="83" y="47"/>
                </a:moveTo>
                <a:cubicBezTo>
                  <a:pt x="103" y="47"/>
                  <a:pt x="118" y="63"/>
                  <a:pt x="118" y="83"/>
                </a:cubicBezTo>
                <a:cubicBezTo>
                  <a:pt x="118" y="102"/>
                  <a:pt x="103" y="118"/>
                  <a:pt x="83" y="118"/>
                </a:cubicBezTo>
                <a:cubicBezTo>
                  <a:pt x="63" y="118"/>
                  <a:pt x="47" y="102"/>
                  <a:pt x="47" y="83"/>
                </a:cubicBezTo>
                <a:cubicBezTo>
                  <a:pt x="47" y="63"/>
                  <a:pt x="63" y="47"/>
                  <a:pt x="83" y="47"/>
                </a:cubicBezTo>
                <a:close/>
                <a:moveTo>
                  <a:pt x="150" y="144"/>
                </a:moveTo>
                <a:cubicBezTo>
                  <a:pt x="150" y="147"/>
                  <a:pt x="147" y="150"/>
                  <a:pt x="144" y="150"/>
                </a:cubicBezTo>
                <a:cubicBezTo>
                  <a:pt x="22" y="150"/>
                  <a:pt x="22" y="150"/>
                  <a:pt x="22" y="150"/>
                </a:cubicBezTo>
                <a:cubicBezTo>
                  <a:pt x="19" y="150"/>
                  <a:pt x="16" y="147"/>
                  <a:pt x="16" y="144"/>
                </a:cubicBezTo>
                <a:cubicBezTo>
                  <a:pt x="16" y="71"/>
                  <a:pt x="16" y="71"/>
                  <a:pt x="16" y="71"/>
                </a:cubicBezTo>
                <a:cubicBezTo>
                  <a:pt x="33" y="71"/>
                  <a:pt x="33" y="71"/>
                  <a:pt x="33" y="71"/>
                </a:cubicBezTo>
                <a:cubicBezTo>
                  <a:pt x="32" y="75"/>
                  <a:pt x="31" y="79"/>
                  <a:pt x="31" y="83"/>
                </a:cubicBezTo>
                <a:cubicBezTo>
                  <a:pt x="31" y="111"/>
                  <a:pt x="54" y="134"/>
                  <a:pt x="83" y="134"/>
                </a:cubicBezTo>
                <a:cubicBezTo>
                  <a:pt x="111" y="134"/>
                  <a:pt x="135" y="111"/>
                  <a:pt x="135" y="83"/>
                </a:cubicBezTo>
                <a:cubicBezTo>
                  <a:pt x="135" y="79"/>
                  <a:pt x="134" y="75"/>
                  <a:pt x="133" y="71"/>
                </a:cubicBezTo>
                <a:cubicBezTo>
                  <a:pt x="150" y="71"/>
                  <a:pt x="150" y="71"/>
                  <a:pt x="150" y="71"/>
                </a:cubicBezTo>
                <a:lnTo>
                  <a:pt x="150" y="144"/>
                </a:lnTo>
                <a:close/>
              </a:path>
            </a:pathLst>
          </a:custGeom>
          <a:solidFill>
            <a:schemeClr val="bg1"/>
          </a:solidFill>
          <a:ln>
            <a:noFill/>
          </a:ln>
        </p:spPr>
        <p:txBody>
          <a:bodyPr vert="horz" wrap="square" lIns="91440" tIns="45720" rIns="91440" bIns="45720" numCol="1" anchor="t" anchorCtr="0" compatLnSpc="1"/>
          <a:p>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7" name="圆角矩形 46"/>
          <p:cNvSpPr/>
          <p:nvPr/>
        </p:nvSpPr>
        <p:spPr>
          <a:xfrm>
            <a:off x="1065530" y="207708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8" name="椭圆 47"/>
          <p:cNvSpPr/>
          <p:nvPr/>
        </p:nvSpPr>
        <p:spPr>
          <a:xfrm>
            <a:off x="1178560" y="236474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9" name="任意多边形 1"/>
          <p:cNvSpPr>
            <a:spLocks noEditPoints="1"/>
          </p:cNvSpPr>
          <p:nvPr/>
        </p:nvSpPr>
        <p:spPr bwMode="auto">
          <a:xfrm>
            <a:off x="1353185" y="2563495"/>
            <a:ext cx="288290" cy="231775"/>
          </a:xfrm>
          <a:custGeom>
            <a:avLst/>
            <a:gdLst>
              <a:gd name="T0" fmla="*/ 192 w 222"/>
              <a:gd name="T1" fmla="*/ 56 h 178"/>
              <a:gd name="T2" fmla="*/ 199 w 222"/>
              <a:gd name="T3" fmla="*/ 9 h 178"/>
              <a:gd name="T4" fmla="*/ 136 w 222"/>
              <a:gd name="T5" fmla="*/ 27 h 178"/>
              <a:gd name="T6" fmla="*/ 111 w 222"/>
              <a:gd name="T7" fmla="*/ 40 h 178"/>
              <a:gd name="T8" fmla="*/ 93 w 222"/>
              <a:gd name="T9" fmla="*/ 33 h 178"/>
              <a:gd name="T10" fmla="*/ 86 w 222"/>
              <a:gd name="T11" fmla="*/ 27 h 178"/>
              <a:gd name="T12" fmla="*/ 86 w 222"/>
              <a:gd name="T13" fmla="*/ 27 h 178"/>
              <a:gd name="T14" fmla="*/ 23 w 222"/>
              <a:gd name="T15" fmla="*/ 9 h 178"/>
              <a:gd name="T16" fmla="*/ 30 w 222"/>
              <a:gd name="T17" fmla="*/ 56 h 178"/>
              <a:gd name="T18" fmla="*/ 0 w 222"/>
              <a:gd name="T19" fmla="*/ 63 h 178"/>
              <a:gd name="T20" fmla="*/ 23 w 222"/>
              <a:gd name="T21" fmla="*/ 110 h 178"/>
              <a:gd name="T22" fmla="*/ 42 w 222"/>
              <a:gd name="T23" fmla="*/ 178 h 178"/>
              <a:gd name="T24" fmla="*/ 199 w 222"/>
              <a:gd name="T25" fmla="*/ 159 h 178"/>
              <a:gd name="T26" fmla="*/ 222 w 222"/>
              <a:gd name="T27" fmla="*/ 110 h 178"/>
              <a:gd name="T28" fmla="*/ 179 w 222"/>
              <a:gd name="T29" fmla="*/ 63 h 178"/>
              <a:gd name="T30" fmla="*/ 148 w 222"/>
              <a:gd name="T31" fmla="*/ 37 h 178"/>
              <a:gd name="T32" fmla="*/ 190 w 222"/>
              <a:gd name="T33" fmla="*/ 27 h 178"/>
              <a:gd name="T34" fmla="*/ 159 w 222"/>
              <a:gd name="T35" fmla="*/ 51 h 178"/>
              <a:gd name="T36" fmla="*/ 148 w 222"/>
              <a:gd name="T37" fmla="*/ 37 h 178"/>
              <a:gd name="T38" fmla="*/ 32 w 222"/>
              <a:gd name="T39" fmla="*/ 27 h 178"/>
              <a:gd name="T40" fmla="*/ 43 w 222"/>
              <a:gd name="T41" fmla="*/ 16 h 178"/>
              <a:gd name="T42" fmla="*/ 74 w 222"/>
              <a:gd name="T43" fmla="*/ 37 h 178"/>
              <a:gd name="T44" fmla="*/ 63 w 222"/>
              <a:gd name="T45" fmla="*/ 51 h 178"/>
              <a:gd name="T46" fmla="*/ 76 w 222"/>
              <a:gd name="T47" fmla="*/ 90 h 178"/>
              <a:gd name="T48" fmla="*/ 51 w 222"/>
              <a:gd name="T49" fmla="*/ 94 h 178"/>
              <a:gd name="T50" fmla="*/ 47 w 222"/>
              <a:gd name="T51" fmla="*/ 80 h 178"/>
              <a:gd name="T52" fmla="*/ 76 w 222"/>
              <a:gd name="T53" fmla="*/ 90 h 178"/>
              <a:gd name="T54" fmla="*/ 123 w 222"/>
              <a:gd name="T55" fmla="*/ 156 h 178"/>
              <a:gd name="T56" fmla="*/ 88 w 222"/>
              <a:gd name="T57" fmla="*/ 145 h 178"/>
              <a:gd name="T58" fmla="*/ 134 w 222"/>
              <a:gd name="T59" fmla="*/ 80 h 178"/>
              <a:gd name="T60" fmla="*/ 175 w 222"/>
              <a:gd name="T61" fmla="*/ 90 h 178"/>
              <a:gd name="T62" fmla="*/ 150 w 222"/>
              <a:gd name="T63" fmla="*/ 94 h 178"/>
              <a:gd name="T64" fmla="*/ 146 w 222"/>
              <a:gd name="T65" fmla="*/ 80 h 178"/>
              <a:gd name="T66" fmla="*/ 175 w 222"/>
              <a:gd name="T67" fmla="*/ 9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2" h="178">
                <a:moveTo>
                  <a:pt x="179" y="63"/>
                </a:moveTo>
                <a:cubicBezTo>
                  <a:pt x="184" y="61"/>
                  <a:pt x="188" y="59"/>
                  <a:pt x="192" y="56"/>
                </a:cubicBezTo>
                <a:cubicBezTo>
                  <a:pt x="200" y="49"/>
                  <a:pt x="206" y="39"/>
                  <a:pt x="206" y="27"/>
                </a:cubicBezTo>
                <a:cubicBezTo>
                  <a:pt x="206" y="20"/>
                  <a:pt x="204" y="14"/>
                  <a:pt x="199" y="9"/>
                </a:cubicBezTo>
                <a:cubicBezTo>
                  <a:pt x="194" y="4"/>
                  <a:pt x="187" y="0"/>
                  <a:pt x="179" y="0"/>
                </a:cubicBezTo>
                <a:cubicBezTo>
                  <a:pt x="166" y="0"/>
                  <a:pt x="151" y="8"/>
                  <a:pt x="136" y="27"/>
                </a:cubicBezTo>
                <a:cubicBezTo>
                  <a:pt x="136" y="27"/>
                  <a:pt x="136" y="27"/>
                  <a:pt x="136" y="27"/>
                </a:cubicBezTo>
                <a:cubicBezTo>
                  <a:pt x="133" y="30"/>
                  <a:pt x="122" y="40"/>
                  <a:pt x="111" y="40"/>
                </a:cubicBezTo>
                <a:cubicBezTo>
                  <a:pt x="111" y="40"/>
                  <a:pt x="111" y="40"/>
                  <a:pt x="111" y="40"/>
                </a:cubicBezTo>
                <a:cubicBezTo>
                  <a:pt x="104" y="40"/>
                  <a:pt x="98" y="37"/>
                  <a:pt x="93" y="33"/>
                </a:cubicBezTo>
                <a:cubicBezTo>
                  <a:pt x="91" y="32"/>
                  <a:pt x="89" y="30"/>
                  <a:pt x="88" y="29"/>
                </a:cubicBezTo>
                <a:cubicBezTo>
                  <a:pt x="87" y="28"/>
                  <a:pt x="87" y="28"/>
                  <a:pt x="86" y="27"/>
                </a:cubicBezTo>
                <a:cubicBezTo>
                  <a:pt x="86" y="27"/>
                  <a:pt x="86" y="27"/>
                  <a:pt x="86" y="27"/>
                </a:cubicBezTo>
                <a:cubicBezTo>
                  <a:pt x="86" y="27"/>
                  <a:pt x="86" y="27"/>
                  <a:pt x="86" y="27"/>
                </a:cubicBezTo>
                <a:cubicBezTo>
                  <a:pt x="71" y="8"/>
                  <a:pt x="56" y="0"/>
                  <a:pt x="43" y="0"/>
                </a:cubicBezTo>
                <a:cubicBezTo>
                  <a:pt x="35" y="0"/>
                  <a:pt x="28" y="4"/>
                  <a:pt x="23" y="9"/>
                </a:cubicBezTo>
                <a:cubicBezTo>
                  <a:pt x="18" y="14"/>
                  <a:pt x="16" y="20"/>
                  <a:pt x="16" y="27"/>
                </a:cubicBezTo>
                <a:cubicBezTo>
                  <a:pt x="16" y="39"/>
                  <a:pt x="22" y="49"/>
                  <a:pt x="30" y="56"/>
                </a:cubicBezTo>
                <a:cubicBezTo>
                  <a:pt x="34" y="59"/>
                  <a:pt x="38" y="61"/>
                  <a:pt x="43" y="63"/>
                </a:cubicBezTo>
                <a:cubicBezTo>
                  <a:pt x="0" y="63"/>
                  <a:pt x="0" y="63"/>
                  <a:pt x="0" y="63"/>
                </a:cubicBezTo>
                <a:cubicBezTo>
                  <a:pt x="0" y="110"/>
                  <a:pt x="0" y="110"/>
                  <a:pt x="0" y="110"/>
                </a:cubicBezTo>
                <a:cubicBezTo>
                  <a:pt x="23" y="110"/>
                  <a:pt x="23" y="110"/>
                  <a:pt x="23" y="110"/>
                </a:cubicBezTo>
                <a:cubicBezTo>
                  <a:pt x="23" y="159"/>
                  <a:pt x="23" y="159"/>
                  <a:pt x="23" y="159"/>
                </a:cubicBezTo>
                <a:cubicBezTo>
                  <a:pt x="23" y="169"/>
                  <a:pt x="31" y="178"/>
                  <a:pt x="42" y="178"/>
                </a:cubicBezTo>
                <a:cubicBezTo>
                  <a:pt x="180" y="178"/>
                  <a:pt x="180" y="178"/>
                  <a:pt x="180" y="178"/>
                </a:cubicBezTo>
                <a:cubicBezTo>
                  <a:pt x="191" y="178"/>
                  <a:pt x="199" y="169"/>
                  <a:pt x="199" y="159"/>
                </a:cubicBezTo>
                <a:cubicBezTo>
                  <a:pt x="199" y="110"/>
                  <a:pt x="199" y="110"/>
                  <a:pt x="199" y="110"/>
                </a:cubicBezTo>
                <a:cubicBezTo>
                  <a:pt x="222" y="110"/>
                  <a:pt x="222" y="110"/>
                  <a:pt x="222" y="110"/>
                </a:cubicBezTo>
                <a:cubicBezTo>
                  <a:pt x="222" y="63"/>
                  <a:pt x="222" y="63"/>
                  <a:pt x="222" y="63"/>
                </a:cubicBezTo>
                <a:lnTo>
                  <a:pt x="179" y="63"/>
                </a:lnTo>
                <a:close/>
                <a:moveTo>
                  <a:pt x="148" y="37"/>
                </a:moveTo>
                <a:cubicBezTo>
                  <a:pt x="148" y="37"/>
                  <a:pt x="148" y="37"/>
                  <a:pt x="148" y="37"/>
                </a:cubicBezTo>
                <a:cubicBezTo>
                  <a:pt x="162" y="20"/>
                  <a:pt x="173" y="16"/>
                  <a:pt x="179" y="16"/>
                </a:cubicBezTo>
                <a:cubicBezTo>
                  <a:pt x="186" y="16"/>
                  <a:pt x="190" y="21"/>
                  <a:pt x="190" y="27"/>
                </a:cubicBezTo>
                <a:cubicBezTo>
                  <a:pt x="190" y="33"/>
                  <a:pt x="187" y="39"/>
                  <a:pt x="182" y="43"/>
                </a:cubicBezTo>
                <a:cubicBezTo>
                  <a:pt x="176" y="48"/>
                  <a:pt x="168" y="51"/>
                  <a:pt x="159" y="51"/>
                </a:cubicBezTo>
                <a:cubicBezTo>
                  <a:pt x="131" y="51"/>
                  <a:pt x="131" y="51"/>
                  <a:pt x="131" y="51"/>
                </a:cubicBezTo>
                <a:cubicBezTo>
                  <a:pt x="141" y="45"/>
                  <a:pt x="148" y="37"/>
                  <a:pt x="148" y="37"/>
                </a:cubicBezTo>
                <a:close/>
                <a:moveTo>
                  <a:pt x="40" y="43"/>
                </a:moveTo>
                <a:cubicBezTo>
                  <a:pt x="35" y="39"/>
                  <a:pt x="32" y="33"/>
                  <a:pt x="32" y="27"/>
                </a:cubicBezTo>
                <a:cubicBezTo>
                  <a:pt x="32" y="21"/>
                  <a:pt x="36" y="16"/>
                  <a:pt x="43" y="16"/>
                </a:cubicBezTo>
                <a:cubicBezTo>
                  <a:pt x="43" y="16"/>
                  <a:pt x="43" y="16"/>
                  <a:pt x="43" y="16"/>
                </a:cubicBezTo>
                <a:cubicBezTo>
                  <a:pt x="49" y="16"/>
                  <a:pt x="60" y="20"/>
                  <a:pt x="74" y="37"/>
                </a:cubicBezTo>
                <a:cubicBezTo>
                  <a:pt x="74" y="37"/>
                  <a:pt x="74" y="37"/>
                  <a:pt x="74" y="37"/>
                </a:cubicBezTo>
                <a:cubicBezTo>
                  <a:pt x="74" y="37"/>
                  <a:pt x="81" y="45"/>
                  <a:pt x="91" y="51"/>
                </a:cubicBezTo>
                <a:cubicBezTo>
                  <a:pt x="63" y="51"/>
                  <a:pt x="63" y="51"/>
                  <a:pt x="63" y="51"/>
                </a:cubicBezTo>
                <a:cubicBezTo>
                  <a:pt x="54" y="51"/>
                  <a:pt x="46" y="48"/>
                  <a:pt x="40" y="43"/>
                </a:cubicBezTo>
                <a:close/>
                <a:moveTo>
                  <a:pt x="76" y="90"/>
                </a:moveTo>
                <a:cubicBezTo>
                  <a:pt x="76" y="92"/>
                  <a:pt x="74" y="94"/>
                  <a:pt x="72" y="94"/>
                </a:cubicBezTo>
                <a:cubicBezTo>
                  <a:pt x="51" y="94"/>
                  <a:pt x="51" y="94"/>
                  <a:pt x="51" y="94"/>
                </a:cubicBezTo>
                <a:cubicBezTo>
                  <a:pt x="49" y="94"/>
                  <a:pt x="47" y="92"/>
                  <a:pt x="47" y="90"/>
                </a:cubicBezTo>
                <a:cubicBezTo>
                  <a:pt x="47" y="80"/>
                  <a:pt x="47" y="80"/>
                  <a:pt x="47" y="80"/>
                </a:cubicBezTo>
                <a:cubicBezTo>
                  <a:pt x="76" y="80"/>
                  <a:pt x="76" y="80"/>
                  <a:pt x="76" y="80"/>
                </a:cubicBezTo>
                <a:lnTo>
                  <a:pt x="76" y="90"/>
                </a:lnTo>
                <a:close/>
                <a:moveTo>
                  <a:pt x="134" y="145"/>
                </a:moveTo>
                <a:cubicBezTo>
                  <a:pt x="134" y="151"/>
                  <a:pt x="129" y="156"/>
                  <a:pt x="123" y="156"/>
                </a:cubicBezTo>
                <a:cubicBezTo>
                  <a:pt x="99" y="156"/>
                  <a:pt x="99" y="156"/>
                  <a:pt x="99" y="156"/>
                </a:cubicBezTo>
                <a:cubicBezTo>
                  <a:pt x="93" y="156"/>
                  <a:pt x="88" y="151"/>
                  <a:pt x="88" y="145"/>
                </a:cubicBezTo>
                <a:cubicBezTo>
                  <a:pt x="88" y="80"/>
                  <a:pt x="88" y="80"/>
                  <a:pt x="88" y="80"/>
                </a:cubicBezTo>
                <a:cubicBezTo>
                  <a:pt x="134" y="80"/>
                  <a:pt x="134" y="80"/>
                  <a:pt x="134" y="80"/>
                </a:cubicBezTo>
                <a:lnTo>
                  <a:pt x="134" y="145"/>
                </a:lnTo>
                <a:close/>
                <a:moveTo>
                  <a:pt x="175" y="90"/>
                </a:moveTo>
                <a:cubicBezTo>
                  <a:pt x="175" y="92"/>
                  <a:pt x="173" y="94"/>
                  <a:pt x="171" y="94"/>
                </a:cubicBezTo>
                <a:cubicBezTo>
                  <a:pt x="150" y="94"/>
                  <a:pt x="150" y="94"/>
                  <a:pt x="150" y="94"/>
                </a:cubicBezTo>
                <a:cubicBezTo>
                  <a:pt x="148" y="94"/>
                  <a:pt x="146" y="92"/>
                  <a:pt x="146" y="90"/>
                </a:cubicBezTo>
                <a:cubicBezTo>
                  <a:pt x="146" y="80"/>
                  <a:pt x="146" y="80"/>
                  <a:pt x="146" y="80"/>
                </a:cubicBezTo>
                <a:cubicBezTo>
                  <a:pt x="175" y="80"/>
                  <a:pt x="175" y="80"/>
                  <a:pt x="175" y="80"/>
                </a:cubicBezTo>
                <a:lnTo>
                  <a:pt x="175" y="90"/>
                </a:lnTo>
                <a:close/>
              </a:path>
            </a:pathLst>
          </a:custGeom>
          <a:solidFill>
            <a:schemeClr val="bg1"/>
          </a:solidFill>
          <a:ln>
            <a:noFill/>
          </a:ln>
        </p:spPr>
        <p:txBody>
          <a:bodyPr vert="horz" wrap="square" lIns="121920" tIns="60960" rIns="121920" bIns="60960" numCol="1" anchor="t" anchorCtr="0" compatLnSpc="1"/>
          <a:p>
            <a:pPr defTabSz="1218565"/>
            <a:endParaRPr lang="en-US" sz="240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0" name="椭圆 49"/>
          <p:cNvSpPr/>
          <p:nvPr/>
        </p:nvSpPr>
        <p:spPr>
          <a:xfrm>
            <a:off x="1332865"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1" name="椭圆 50"/>
          <p:cNvSpPr/>
          <p:nvPr/>
        </p:nvSpPr>
        <p:spPr>
          <a:xfrm>
            <a:off x="1413510"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2" name="椭圆 51"/>
          <p:cNvSpPr/>
          <p:nvPr/>
        </p:nvSpPr>
        <p:spPr>
          <a:xfrm>
            <a:off x="6497320"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3" name="椭圆 52"/>
          <p:cNvSpPr/>
          <p:nvPr/>
        </p:nvSpPr>
        <p:spPr>
          <a:xfrm>
            <a:off x="6577965"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4" name="椭圆 53"/>
          <p:cNvSpPr/>
          <p:nvPr/>
        </p:nvSpPr>
        <p:spPr>
          <a:xfrm>
            <a:off x="1332865"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5" name="椭圆 54"/>
          <p:cNvSpPr/>
          <p:nvPr/>
        </p:nvSpPr>
        <p:spPr>
          <a:xfrm>
            <a:off x="1413510"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2" name="椭圆 61"/>
          <p:cNvSpPr/>
          <p:nvPr/>
        </p:nvSpPr>
        <p:spPr>
          <a:xfrm>
            <a:off x="6497320"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3" name="椭圆 62"/>
          <p:cNvSpPr/>
          <p:nvPr/>
        </p:nvSpPr>
        <p:spPr>
          <a:xfrm>
            <a:off x="6577965"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4" name="文本框 63"/>
          <p:cNvSpPr txBox="1"/>
          <p:nvPr/>
        </p:nvSpPr>
        <p:spPr>
          <a:xfrm>
            <a:off x="2253819"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理论分析层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5" name="文本框 64"/>
          <p:cNvSpPr txBox="1"/>
          <p:nvPr/>
        </p:nvSpPr>
        <p:spPr>
          <a:xfrm>
            <a:off x="7418486"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实践验证层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6" name="文本框 8"/>
          <p:cNvSpPr/>
          <p:nvPr/>
        </p:nvSpPr>
        <p:spPr>
          <a:xfrm>
            <a:off x="214058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文献研究法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厘清理论框架</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7" name="文本框 7"/>
          <p:cNvSpPr/>
          <p:nvPr/>
        </p:nvSpPr>
        <p:spPr>
          <a:xfrm>
            <a:off x="214058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系统梳理大概念教学、认知负荷理论与教研融合的相关文献，明确三者耦合的核心逻辑。</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68" name="文本框 6"/>
          <p:cNvSpPr/>
          <p:nvPr/>
        </p:nvSpPr>
        <p:spPr>
          <a:xfrm>
            <a:off x="2159000"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理论建模法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构建调控模型</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9" name="文本框 5"/>
          <p:cNvSpPr/>
          <p:nvPr/>
        </p:nvSpPr>
        <p:spPr>
          <a:xfrm>
            <a:off x="214058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基于认知负荷调控原则，结合高中历史学科特性，搭建</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教学</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认知负荷</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的关联模型。</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0" name="文本框 4"/>
          <p:cNvSpPr/>
          <p:nvPr/>
        </p:nvSpPr>
        <p:spPr>
          <a:xfrm>
            <a:off x="741870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行动研究法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迭代融合策略</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1" name="文本框 3"/>
          <p:cNvSpPr/>
          <p:nvPr/>
        </p:nvSpPr>
        <p:spPr>
          <a:xfrm>
            <a:off x="741616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以</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2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所高中为试点，通过</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教研设计调控方案</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课堂实践验证</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教研复盘优化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循环，完善策略。</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2" name="文本框 2"/>
          <p:cNvSpPr/>
          <p:nvPr/>
        </p:nvSpPr>
        <p:spPr>
          <a:xfrm>
            <a:off x="7418705"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案例比较法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验证策略效能</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3" name="文本框 1"/>
          <p:cNvSpPr/>
          <p:nvPr/>
        </p:nvSpPr>
        <p:spPr>
          <a:xfrm>
            <a:off x="741616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选取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4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个不同类型的高中历史大概念教学案例，比较教研融合调控策略的实施效果差异。</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智慧农业作物病虫害智能监测研究</a:t>
            </a:r>
            <a:r>
              <a:rPr lang="zh-CN" altLang="en-US"/>
              <a:t>方法</a:t>
            </a:r>
            <a:endParaRPr lang="zh-CN" altLang="en-US"/>
          </a:p>
        </p:txBody>
      </p:sp>
      <p:grpSp>
        <p:nvGrpSpPr>
          <p:cNvPr id="4" name="组合 3"/>
          <p:cNvGrpSpPr/>
          <p:nvPr/>
        </p:nvGrpSpPr>
        <p:grpSpPr>
          <a:xfrm>
            <a:off x="1208494" y="1652022"/>
            <a:ext cx="9697814" cy="2166620"/>
            <a:chOff x="1407580" y="2704465"/>
            <a:chExt cx="9697814" cy="2166620"/>
          </a:xfrm>
        </p:grpSpPr>
        <p:grpSp>
          <p:nvGrpSpPr>
            <p:cNvPr id="7" name="组合 6"/>
            <p:cNvGrpSpPr/>
            <p:nvPr/>
          </p:nvGrpSpPr>
          <p:grpSpPr>
            <a:xfrm>
              <a:off x="4013200" y="2704465"/>
              <a:ext cx="4224744" cy="2166620"/>
              <a:chOff x="4013200" y="2704465"/>
              <a:chExt cx="4224744" cy="2166620"/>
            </a:xfrm>
          </p:grpSpPr>
          <p:grpSp>
            <p:nvGrpSpPr>
              <p:cNvPr id="3" name="组合 2"/>
              <p:cNvGrpSpPr/>
              <p:nvPr/>
            </p:nvGrpSpPr>
            <p:grpSpPr>
              <a:xfrm>
                <a:off x="4013200" y="2704465"/>
                <a:ext cx="4224744" cy="2166620"/>
                <a:chOff x="4243314" y="2614060"/>
                <a:chExt cx="3705373" cy="1899871"/>
              </a:xfrm>
              <a:solidFill>
                <a:schemeClr val="bg1">
                  <a:lumMod val="75000"/>
                </a:schemeClr>
              </a:solidFill>
            </p:grpSpPr>
            <p:sp>
              <p:nvSpPr>
                <p:cNvPr id="5" name="文本"/>
                <p:cNvSpPr>
                  <a:spLocks noChangeArrowheads="1"/>
                </p:cNvSpPr>
                <p:nvPr/>
              </p:nvSpPr>
              <p:spPr bwMode="auto">
                <a:xfrm>
                  <a:off x="5147411" y="2614060"/>
                  <a:ext cx="101066" cy="101092"/>
                </a:xfrm>
                <a:custGeom>
                  <a:avLst/>
                  <a:gdLst>
                    <a:gd name="T0" fmla="*/ 187 w 407"/>
                    <a:gd name="T1" fmla="*/ 406 h 407"/>
                    <a:gd name="T2" fmla="*/ 187 w 407"/>
                    <a:gd name="T3" fmla="*/ 406 h 407"/>
                    <a:gd name="T4" fmla="*/ 0 w 407"/>
                    <a:gd name="T5" fmla="*/ 187 h 407"/>
                    <a:gd name="T6" fmla="*/ 187 w 407"/>
                    <a:gd name="T7" fmla="*/ 0 h 407"/>
                    <a:gd name="T8" fmla="*/ 406 w 407"/>
                    <a:gd name="T9" fmla="*/ 187 h 407"/>
                    <a:gd name="T10" fmla="*/ 187 w 407"/>
                    <a:gd name="T11" fmla="*/ 406 h 407"/>
                  </a:gdLst>
                  <a:ahLst/>
                  <a:cxnLst>
                    <a:cxn ang="0">
                      <a:pos x="T0" y="T1"/>
                    </a:cxn>
                    <a:cxn ang="0">
                      <a:pos x="T2" y="T3"/>
                    </a:cxn>
                    <a:cxn ang="0">
                      <a:pos x="T4" y="T5"/>
                    </a:cxn>
                    <a:cxn ang="0">
                      <a:pos x="T6" y="T7"/>
                    </a:cxn>
                    <a:cxn ang="0">
                      <a:pos x="T8" y="T9"/>
                    </a:cxn>
                    <a:cxn ang="0">
                      <a:pos x="T10" y="T11"/>
                    </a:cxn>
                  </a:cxnLst>
                  <a:rect l="0" t="0" r="r" b="b"/>
                  <a:pathLst>
                    <a:path w="407" h="407">
                      <a:moveTo>
                        <a:pt x="187" y="406"/>
                      </a:moveTo>
                      <a:lnTo>
                        <a:pt x="187" y="406"/>
                      </a:lnTo>
                      <a:cubicBezTo>
                        <a:pt x="94" y="406"/>
                        <a:pt x="0" y="312"/>
                        <a:pt x="0" y="187"/>
                      </a:cubicBezTo>
                      <a:cubicBezTo>
                        <a:pt x="0" y="93"/>
                        <a:pt x="94" y="0"/>
                        <a:pt x="187" y="0"/>
                      </a:cubicBezTo>
                      <a:cubicBezTo>
                        <a:pt x="312" y="0"/>
                        <a:pt x="406" y="93"/>
                        <a:pt x="406" y="187"/>
                      </a:cubicBezTo>
                      <a:cubicBezTo>
                        <a:pt x="406" y="312"/>
                        <a:pt x="312" y="406"/>
                        <a:pt x="187"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 name="文本"/>
                <p:cNvSpPr>
                  <a:spLocks noChangeArrowheads="1"/>
                </p:cNvSpPr>
                <p:nvPr>
                  <p:custDataLst>
                    <p:tags r:id="rId2"/>
                  </p:custDataLst>
                </p:nvPr>
              </p:nvSpPr>
              <p:spPr bwMode="auto">
                <a:xfrm>
                  <a:off x="5147411" y="4411740"/>
                  <a:ext cx="101066" cy="102191"/>
                </a:xfrm>
                <a:custGeom>
                  <a:avLst/>
                  <a:gdLst>
                    <a:gd name="T0" fmla="*/ 187 w 407"/>
                    <a:gd name="T1" fmla="*/ 407 h 408"/>
                    <a:gd name="T2" fmla="*/ 187 w 407"/>
                    <a:gd name="T3" fmla="*/ 407 h 408"/>
                    <a:gd name="T4" fmla="*/ 0 w 407"/>
                    <a:gd name="T5" fmla="*/ 219 h 408"/>
                    <a:gd name="T6" fmla="*/ 187 w 407"/>
                    <a:gd name="T7" fmla="*/ 0 h 408"/>
                    <a:gd name="T8" fmla="*/ 406 w 407"/>
                    <a:gd name="T9" fmla="*/ 219 h 408"/>
                    <a:gd name="T10" fmla="*/ 187 w 407"/>
                    <a:gd name="T11" fmla="*/ 407 h 408"/>
                  </a:gdLst>
                  <a:ahLst/>
                  <a:cxnLst>
                    <a:cxn ang="0">
                      <a:pos x="T0" y="T1"/>
                    </a:cxn>
                    <a:cxn ang="0">
                      <a:pos x="T2" y="T3"/>
                    </a:cxn>
                    <a:cxn ang="0">
                      <a:pos x="T4" y="T5"/>
                    </a:cxn>
                    <a:cxn ang="0">
                      <a:pos x="T6" y="T7"/>
                    </a:cxn>
                    <a:cxn ang="0">
                      <a:pos x="T8" y="T9"/>
                    </a:cxn>
                    <a:cxn ang="0">
                      <a:pos x="T10" y="T11"/>
                    </a:cxn>
                  </a:cxnLst>
                  <a:rect l="0" t="0" r="r" b="b"/>
                  <a:pathLst>
                    <a:path w="407" h="408">
                      <a:moveTo>
                        <a:pt x="187" y="407"/>
                      </a:moveTo>
                      <a:lnTo>
                        <a:pt x="187" y="407"/>
                      </a:lnTo>
                      <a:cubicBezTo>
                        <a:pt x="94" y="407"/>
                        <a:pt x="0" y="313"/>
                        <a:pt x="0" y="219"/>
                      </a:cubicBezTo>
                      <a:cubicBezTo>
                        <a:pt x="0" y="94"/>
                        <a:pt x="94" y="0"/>
                        <a:pt x="187" y="0"/>
                      </a:cubicBezTo>
                      <a:cubicBezTo>
                        <a:pt x="312" y="0"/>
                        <a:pt x="406" y="94"/>
                        <a:pt x="406" y="219"/>
                      </a:cubicBezTo>
                      <a:cubicBezTo>
                        <a:pt x="406" y="313"/>
                        <a:pt x="312" y="407"/>
                        <a:pt x="187"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8" name="文本"/>
                <p:cNvSpPr>
                  <a:spLocks noChangeArrowheads="1"/>
                </p:cNvSpPr>
                <p:nvPr>
                  <p:custDataLst>
                    <p:tags r:id="rId3"/>
                  </p:custDataLst>
                </p:nvPr>
              </p:nvSpPr>
              <p:spPr bwMode="auto">
                <a:xfrm>
                  <a:off x="6042722" y="3517296"/>
                  <a:ext cx="101066" cy="93401"/>
                </a:xfrm>
                <a:custGeom>
                  <a:avLst/>
                  <a:gdLst>
                    <a:gd name="T0" fmla="*/ 0 w 406"/>
                    <a:gd name="T1" fmla="*/ 187 h 375"/>
                    <a:gd name="T2" fmla="*/ 0 w 406"/>
                    <a:gd name="T3" fmla="*/ 187 h 375"/>
                    <a:gd name="T4" fmla="*/ 218 w 406"/>
                    <a:gd name="T5" fmla="*/ 0 h 375"/>
                    <a:gd name="T6" fmla="*/ 405 w 406"/>
                    <a:gd name="T7" fmla="*/ 187 h 375"/>
                    <a:gd name="T8" fmla="*/ 218 w 406"/>
                    <a:gd name="T9" fmla="*/ 374 h 375"/>
                    <a:gd name="T10" fmla="*/ 0 w 406"/>
                    <a:gd name="T11" fmla="*/ 187 h 375"/>
                  </a:gdLst>
                  <a:ahLst/>
                  <a:cxnLst>
                    <a:cxn ang="0">
                      <a:pos x="T0" y="T1"/>
                    </a:cxn>
                    <a:cxn ang="0">
                      <a:pos x="T2" y="T3"/>
                    </a:cxn>
                    <a:cxn ang="0">
                      <a:pos x="T4" y="T5"/>
                    </a:cxn>
                    <a:cxn ang="0">
                      <a:pos x="T6" y="T7"/>
                    </a:cxn>
                    <a:cxn ang="0">
                      <a:pos x="T8" y="T9"/>
                    </a:cxn>
                    <a:cxn ang="0">
                      <a:pos x="T10" y="T11"/>
                    </a:cxn>
                  </a:cxnLst>
                  <a:rect l="0" t="0" r="r" b="b"/>
                  <a:pathLst>
                    <a:path w="406" h="375">
                      <a:moveTo>
                        <a:pt x="0" y="187"/>
                      </a:moveTo>
                      <a:lnTo>
                        <a:pt x="0" y="187"/>
                      </a:lnTo>
                      <a:cubicBezTo>
                        <a:pt x="0" y="62"/>
                        <a:pt x="93" y="0"/>
                        <a:pt x="218" y="0"/>
                      </a:cubicBezTo>
                      <a:cubicBezTo>
                        <a:pt x="311" y="0"/>
                        <a:pt x="405" y="62"/>
                        <a:pt x="405" y="187"/>
                      </a:cubicBezTo>
                      <a:cubicBezTo>
                        <a:pt x="405" y="280"/>
                        <a:pt x="311" y="374"/>
                        <a:pt x="218" y="374"/>
                      </a:cubicBezTo>
                      <a:cubicBezTo>
                        <a:pt x="93"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9" name="文本"/>
                <p:cNvSpPr>
                  <a:spLocks noChangeArrowheads="1"/>
                </p:cNvSpPr>
                <p:nvPr>
                  <p:custDataLst>
                    <p:tags r:id="rId4"/>
                  </p:custDataLst>
                </p:nvPr>
              </p:nvSpPr>
              <p:spPr bwMode="auto">
                <a:xfrm>
                  <a:off x="4243314" y="3517296"/>
                  <a:ext cx="101066" cy="93401"/>
                </a:xfrm>
                <a:custGeom>
                  <a:avLst/>
                  <a:gdLst>
                    <a:gd name="T0" fmla="*/ 0 w 407"/>
                    <a:gd name="T1" fmla="*/ 187 h 375"/>
                    <a:gd name="T2" fmla="*/ 0 w 407"/>
                    <a:gd name="T3" fmla="*/ 187 h 375"/>
                    <a:gd name="T4" fmla="*/ 219 w 407"/>
                    <a:gd name="T5" fmla="*/ 0 h 375"/>
                    <a:gd name="T6" fmla="*/ 406 w 407"/>
                    <a:gd name="T7" fmla="*/ 187 h 375"/>
                    <a:gd name="T8" fmla="*/ 219 w 407"/>
                    <a:gd name="T9" fmla="*/ 374 h 375"/>
                    <a:gd name="T10" fmla="*/ 0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0" y="187"/>
                      </a:moveTo>
                      <a:lnTo>
                        <a:pt x="0" y="187"/>
                      </a:lnTo>
                      <a:cubicBezTo>
                        <a:pt x="0" y="62"/>
                        <a:pt x="94" y="0"/>
                        <a:pt x="219" y="0"/>
                      </a:cubicBezTo>
                      <a:cubicBezTo>
                        <a:pt x="312" y="0"/>
                        <a:pt x="406" y="62"/>
                        <a:pt x="406" y="187"/>
                      </a:cubicBezTo>
                      <a:cubicBezTo>
                        <a:pt x="406" y="280"/>
                        <a:pt x="312" y="374"/>
                        <a:pt x="219" y="374"/>
                      </a:cubicBezTo>
                      <a:cubicBezTo>
                        <a:pt x="94"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0" name="文本"/>
                <p:cNvSpPr>
                  <a:spLocks noChangeArrowheads="1"/>
                </p:cNvSpPr>
                <p:nvPr>
                  <p:custDataLst>
                    <p:tags r:id="rId5"/>
                  </p:custDataLst>
                </p:nvPr>
              </p:nvSpPr>
              <p:spPr bwMode="auto">
                <a:xfrm>
                  <a:off x="4500373" y="4146923"/>
                  <a:ext cx="109854" cy="108783"/>
                </a:xfrm>
                <a:custGeom>
                  <a:avLst/>
                  <a:gdLst>
                    <a:gd name="T0" fmla="*/ 94 w 439"/>
                    <a:gd name="T1" fmla="*/ 344 h 438"/>
                    <a:gd name="T2" fmla="*/ 94 w 439"/>
                    <a:gd name="T3" fmla="*/ 344 h 438"/>
                    <a:gd name="T4" fmla="*/ 94 w 439"/>
                    <a:gd name="T5" fmla="*/ 62 h 438"/>
                    <a:gd name="T6" fmla="*/ 375 w 439"/>
                    <a:gd name="T7" fmla="*/ 62 h 438"/>
                    <a:gd name="T8" fmla="*/ 375 w 439"/>
                    <a:gd name="T9" fmla="*/ 344 h 438"/>
                    <a:gd name="T10" fmla="*/ 94 w 439"/>
                    <a:gd name="T11" fmla="*/ 344 h 438"/>
                  </a:gdLst>
                  <a:ahLst/>
                  <a:cxnLst>
                    <a:cxn ang="0">
                      <a:pos x="T0" y="T1"/>
                    </a:cxn>
                    <a:cxn ang="0">
                      <a:pos x="T2" y="T3"/>
                    </a:cxn>
                    <a:cxn ang="0">
                      <a:pos x="T4" y="T5"/>
                    </a:cxn>
                    <a:cxn ang="0">
                      <a:pos x="T6" y="T7"/>
                    </a:cxn>
                    <a:cxn ang="0">
                      <a:pos x="T8" y="T9"/>
                    </a:cxn>
                    <a:cxn ang="0">
                      <a:pos x="T10" y="T11"/>
                    </a:cxn>
                  </a:cxnLst>
                  <a:rect l="0" t="0" r="r" b="b"/>
                  <a:pathLst>
                    <a:path w="439" h="438">
                      <a:moveTo>
                        <a:pt x="94" y="344"/>
                      </a:moveTo>
                      <a:lnTo>
                        <a:pt x="94" y="344"/>
                      </a:lnTo>
                      <a:cubicBezTo>
                        <a:pt x="0" y="281"/>
                        <a:pt x="0" y="156"/>
                        <a:pt x="94" y="62"/>
                      </a:cubicBezTo>
                      <a:cubicBezTo>
                        <a:pt x="156" y="0"/>
                        <a:pt x="281" y="0"/>
                        <a:pt x="375" y="62"/>
                      </a:cubicBezTo>
                      <a:cubicBezTo>
                        <a:pt x="438" y="156"/>
                        <a:pt x="438" y="281"/>
                        <a:pt x="375" y="344"/>
                      </a:cubicBezTo>
                      <a:cubicBezTo>
                        <a:pt x="281" y="437"/>
                        <a:pt x="156" y="437"/>
                        <a:pt x="94"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2" name="文本"/>
                <p:cNvSpPr>
                  <a:spLocks noChangeArrowheads="1"/>
                </p:cNvSpPr>
                <p:nvPr>
                  <p:custDataLst>
                    <p:tags r:id="rId6"/>
                  </p:custDataLst>
                </p:nvPr>
              </p:nvSpPr>
              <p:spPr bwMode="auto">
                <a:xfrm>
                  <a:off x="5777973" y="4146923"/>
                  <a:ext cx="109854" cy="108783"/>
                </a:xfrm>
                <a:custGeom>
                  <a:avLst/>
                  <a:gdLst>
                    <a:gd name="T0" fmla="*/ 63 w 439"/>
                    <a:gd name="T1" fmla="*/ 62 h 438"/>
                    <a:gd name="T2" fmla="*/ 63 w 439"/>
                    <a:gd name="T3" fmla="*/ 62 h 438"/>
                    <a:gd name="T4" fmla="*/ 344 w 439"/>
                    <a:gd name="T5" fmla="*/ 62 h 438"/>
                    <a:gd name="T6" fmla="*/ 344 w 439"/>
                    <a:gd name="T7" fmla="*/ 344 h 438"/>
                    <a:gd name="T8" fmla="*/ 63 w 439"/>
                    <a:gd name="T9" fmla="*/ 344 h 438"/>
                    <a:gd name="T10" fmla="*/ 63 w 439"/>
                    <a:gd name="T11" fmla="*/ 62 h 438"/>
                  </a:gdLst>
                  <a:ahLst/>
                  <a:cxnLst>
                    <a:cxn ang="0">
                      <a:pos x="T0" y="T1"/>
                    </a:cxn>
                    <a:cxn ang="0">
                      <a:pos x="T2" y="T3"/>
                    </a:cxn>
                    <a:cxn ang="0">
                      <a:pos x="T4" y="T5"/>
                    </a:cxn>
                    <a:cxn ang="0">
                      <a:pos x="T6" y="T7"/>
                    </a:cxn>
                    <a:cxn ang="0">
                      <a:pos x="T8" y="T9"/>
                    </a:cxn>
                    <a:cxn ang="0">
                      <a:pos x="T10" y="T11"/>
                    </a:cxn>
                  </a:cxnLst>
                  <a:rect l="0" t="0" r="r" b="b"/>
                  <a:pathLst>
                    <a:path w="439" h="438">
                      <a:moveTo>
                        <a:pt x="63" y="62"/>
                      </a:moveTo>
                      <a:lnTo>
                        <a:pt x="63" y="62"/>
                      </a:lnTo>
                      <a:cubicBezTo>
                        <a:pt x="156" y="0"/>
                        <a:pt x="281" y="0"/>
                        <a:pt x="344" y="62"/>
                      </a:cubicBezTo>
                      <a:cubicBezTo>
                        <a:pt x="438" y="156"/>
                        <a:pt x="438" y="281"/>
                        <a:pt x="344" y="344"/>
                      </a:cubicBezTo>
                      <a:cubicBezTo>
                        <a:pt x="281" y="437"/>
                        <a:pt x="156" y="437"/>
                        <a:pt x="63" y="344"/>
                      </a:cubicBezTo>
                      <a:cubicBezTo>
                        <a:pt x="0" y="281"/>
                        <a:pt x="0" y="156"/>
                        <a:pt x="63" y="6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3" name="文本"/>
                <p:cNvSpPr>
                  <a:spLocks noChangeArrowheads="1"/>
                </p:cNvSpPr>
                <p:nvPr>
                  <p:custDataLst>
                    <p:tags r:id="rId7"/>
                  </p:custDataLst>
                </p:nvPr>
              </p:nvSpPr>
              <p:spPr bwMode="auto">
                <a:xfrm>
                  <a:off x="4500373" y="2870088"/>
                  <a:ext cx="109854" cy="108783"/>
                </a:xfrm>
                <a:custGeom>
                  <a:avLst/>
                  <a:gdLst>
                    <a:gd name="T0" fmla="*/ 94 w 439"/>
                    <a:gd name="T1" fmla="*/ 93 h 438"/>
                    <a:gd name="T2" fmla="*/ 94 w 439"/>
                    <a:gd name="T3" fmla="*/ 93 h 438"/>
                    <a:gd name="T4" fmla="*/ 375 w 439"/>
                    <a:gd name="T5" fmla="*/ 93 h 438"/>
                    <a:gd name="T6" fmla="*/ 375 w 439"/>
                    <a:gd name="T7" fmla="*/ 375 h 438"/>
                    <a:gd name="T8" fmla="*/ 94 w 439"/>
                    <a:gd name="T9" fmla="*/ 375 h 438"/>
                    <a:gd name="T10" fmla="*/ 94 w 439"/>
                    <a:gd name="T11" fmla="*/ 93 h 438"/>
                  </a:gdLst>
                  <a:ahLst/>
                  <a:cxnLst>
                    <a:cxn ang="0">
                      <a:pos x="T0" y="T1"/>
                    </a:cxn>
                    <a:cxn ang="0">
                      <a:pos x="T2" y="T3"/>
                    </a:cxn>
                    <a:cxn ang="0">
                      <a:pos x="T4" y="T5"/>
                    </a:cxn>
                    <a:cxn ang="0">
                      <a:pos x="T6" y="T7"/>
                    </a:cxn>
                    <a:cxn ang="0">
                      <a:pos x="T8" y="T9"/>
                    </a:cxn>
                    <a:cxn ang="0">
                      <a:pos x="T10" y="T11"/>
                    </a:cxn>
                  </a:cxnLst>
                  <a:rect l="0" t="0" r="r" b="b"/>
                  <a:pathLst>
                    <a:path w="439" h="438">
                      <a:moveTo>
                        <a:pt x="94" y="93"/>
                      </a:moveTo>
                      <a:lnTo>
                        <a:pt x="94" y="93"/>
                      </a:lnTo>
                      <a:cubicBezTo>
                        <a:pt x="156" y="0"/>
                        <a:pt x="281" y="0"/>
                        <a:pt x="375" y="93"/>
                      </a:cubicBezTo>
                      <a:cubicBezTo>
                        <a:pt x="438" y="156"/>
                        <a:pt x="438" y="281"/>
                        <a:pt x="375" y="375"/>
                      </a:cubicBezTo>
                      <a:cubicBezTo>
                        <a:pt x="281" y="437"/>
                        <a:pt x="156" y="437"/>
                        <a:pt x="94" y="375"/>
                      </a:cubicBezTo>
                      <a:cubicBezTo>
                        <a:pt x="0" y="281"/>
                        <a:pt x="0" y="156"/>
                        <a:pt x="94"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6" name="文本"/>
                <p:cNvSpPr>
                  <a:spLocks noChangeArrowheads="1"/>
                </p:cNvSpPr>
                <p:nvPr>
                  <p:custDataLst>
                    <p:tags r:id="rId8"/>
                  </p:custDataLst>
                </p:nvPr>
              </p:nvSpPr>
              <p:spPr bwMode="auto">
                <a:xfrm>
                  <a:off x="4796980" y="4341414"/>
                  <a:ext cx="108755" cy="109883"/>
                </a:xfrm>
                <a:custGeom>
                  <a:avLst/>
                  <a:gdLst>
                    <a:gd name="T0" fmla="*/ 156 w 438"/>
                    <a:gd name="T1" fmla="*/ 406 h 439"/>
                    <a:gd name="T2" fmla="*/ 156 w 438"/>
                    <a:gd name="T3" fmla="*/ 406 h 439"/>
                    <a:gd name="T4" fmla="*/ 31 w 438"/>
                    <a:gd name="T5" fmla="*/ 125 h 439"/>
                    <a:gd name="T6" fmla="*/ 281 w 438"/>
                    <a:gd name="T7" fmla="*/ 31 h 439"/>
                    <a:gd name="T8" fmla="*/ 406 w 438"/>
                    <a:gd name="T9" fmla="*/ 281 h 439"/>
                    <a:gd name="T10" fmla="*/ 156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156" y="406"/>
                      </a:moveTo>
                      <a:lnTo>
                        <a:pt x="156" y="406"/>
                      </a:lnTo>
                      <a:cubicBezTo>
                        <a:pt x="31" y="344"/>
                        <a:pt x="0" y="250"/>
                        <a:pt x="31" y="125"/>
                      </a:cubicBezTo>
                      <a:cubicBezTo>
                        <a:pt x="62" y="31"/>
                        <a:pt x="187" y="0"/>
                        <a:pt x="281" y="31"/>
                      </a:cubicBezTo>
                      <a:cubicBezTo>
                        <a:pt x="406" y="63"/>
                        <a:pt x="437" y="188"/>
                        <a:pt x="406" y="281"/>
                      </a:cubicBezTo>
                      <a:cubicBezTo>
                        <a:pt x="343" y="406"/>
                        <a:pt x="250" y="438"/>
                        <a:pt x="156"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5" name="文本"/>
                <p:cNvSpPr>
                  <a:spLocks noChangeArrowheads="1"/>
                </p:cNvSpPr>
                <p:nvPr>
                  <p:custDataLst>
                    <p:tags r:id="rId9"/>
                  </p:custDataLst>
                </p:nvPr>
              </p:nvSpPr>
              <p:spPr bwMode="auto">
                <a:xfrm>
                  <a:off x="5972415" y="3851338"/>
                  <a:ext cx="109854" cy="109883"/>
                </a:xfrm>
                <a:custGeom>
                  <a:avLst/>
                  <a:gdLst>
                    <a:gd name="T0" fmla="*/ 32 w 439"/>
                    <a:gd name="T1" fmla="*/ 157 h 439"/>
                    <a:gd name="T2" fmla="*/ 32 w 439"/>
                    <a:gd name="T3" fmla="*/ 157 h 439"/>
                    <a:gd name="T4" fmla="*/ 282 w 439"/>
                    <a:gd name="T5" fmla="*/ 32 h 439"/>
                    <a:gd name="T6" fmla="*/ 407 w 439"/>
                    <a:gd name="T7" fmla="*/ 313 h 439"/>
                    <a:gd name="T8" fmla="*/ 157 w 439"/>
                    <a:gd name="T9" fmla="*/ 407 h 439"/>
                    <a:gd name="T10" fmla="*/ 32 w 439"/>
                    <a:gd name="T11" fmla="*/ 157 h 439"/>
                  </a:gdLst>
                  <a:ahLst/>
                  <a:cxnLst>
                    <a:cxn ang="0">
                      <a:pos x="T0" y="T1"/>
                    </a:cxn>
                    <a:cxn ang="0">
                      <a:pos x="T2" y="T3"/>
                    </a:cxn>
                    <a:cxn ang="0">
                      <a:pos x="T4" y="T5"/>
                    </a:cxn>
                    <a:cxn ang="0">
                      <a:pos x="T6" y="T7"/>
                    </a:cxn>
                    <a:cxn ang="0">
                      <a:pos x="T8" y="T9"/>
                    </a:cxn>
                    <a:cxn ang="0">
                      <a:pos x="T10" y="T11"/>
                    </a:cxn>
                  </a:cxnLst>
                  <a:rect l="0" t="0" r="r" b="b"/>
                  <a:pathLst>
                    <a:path w="439" h="439">
                      <a:moveTo>
                        <a:pt x="32" y="157"/>
                      </a:moveTo>
                      <a:lnTo>
                        <a:pt x="32" y="157"/>
                      </a:lnTo>
                      <a:cubicBezTo>
                        <a:pt x="94" y="63"/>
                        <a:pt x="188" y="0"/>
                        <a:pt x="282" y="32"/>
                      </a:cubicBezTo>
                      <a:cubicBezTo>
                        <a:pt x="407" y="94"/>
                        <a:pt x="438" y="188"/>
                        <a:pt x="407" y="313"/>
                      </a:cubicBezTo>
                      <a:cubicBezTo>
                        <a:pt x="375" y="407"/>
                        <a:pt x="250" y="438"/>
                        <a:pt x="157" y="407"/>
                      </a:cubicBezTo>
                      <a:cubicBezTo>
                        <a:pt x="32" y="375"/>
                        <a:pt x="0" y="250"/>
                        <a:pt x="32" y="15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6" name="文本"/>
                <p:cNvSpPr>
                  <a:spLocks noChangeArrowheads="1"/>
                </p:cNvSpPr>
                <p:nvPr>
                  <p:custDataLst>
                    <p:tags r:id="rId10"/>
                  </p:custDataLst>
                </p:nvPr>
              </p:nvSpPr>
              <p:spPr bwMode="auto">
                <a:xfrm>
                  <a:off x="4305931" y="3157979"/>
                  <a:ext cx="117544" cy="117574"/>
                </a:xfrm>
                <a:custGeom>
                  <a:avLst/>
                  <a:gdLst>
                    <a:gd name="T0" fmla="*/ 31 w 470"/>
                    <a:gd name="T1" fmla="*/ 156 h 470"/>
                    <a:gd name="T2" fmla="*/ 31 w 470"/>
                    <a:gd name="T3" fmla="*/ 156 h 470"/>
                    <a:gd name="T4" fmla="*/ 312 w 470"/>
                    <a:gd name="T5" fmla="*/ 63 h 470"/>
                    <a:gd name="T6" fmla="*/ 406 w 470"/>
                    <a:gd name="T7" fmla="*/ 313 h 470"/>
                    <a:gd name="T8" fmla="*/ 156 w 470"/>
                    <a:gd name="T9" fmla="*/ 438 h 470"/>
                    <a:gd name="T10" fmla="*/ 31 w 470"/>
                    <a:gd name="T11" fmla="*/ 156 h 470"/>
                  </a:gdLst>
                  <a:ahLst/>
                  <a:cxnLst>
                    <a:cxn ang="0">
                      <a:pos x="T0" y="T1"/>
                    </a:cxn>
                    <a:cxn ang="0">
                      <a:pos x="T2" y="T3"/>
                    </a:cxn>
                    <a:cxn ang="0">
                      <a:pos x="T4" y="T5"/>
                    </a:cxn>
                    <a:cxn ang="0">
                      <a:pos x="T6" y="T7"/>
                    </a:cxn>
                    <a:cxn ang="0">
                      <a:pos x="T8" y="T9"/>
                    </a:cxn>
                    <a:cxn ang="0">
                      <a:pos x="T10" y="T11"/>
                    </a:cxn>
                  </a:cxnLst>
                  <a:rect l="0" t="0" r="r" b="b"/>
                  <a:pathLst>
                    <a:path w="470" h="470">
                      <a:moveTo>
                        <a:pt x="31" y="156"/>
                      </a:moveTo>
                      <a:lnTo>
                        <a:pt x="31" y="156"/>
                      </a:lnTo>
                      <a:cubicBezTo>
                        <a:pt x="94" y="63"/>
                        <a:pt x="219" y="0"/>
                        <a:pt x="312" y="63"/>
                      </a:cubicBezTo>
                      <a:cubicBezTo>
                        <a:pt x="406" y="94"/>
                        <a:pt x="469" y="219"/>
                        <a:pt x="406" y="313"/>
                      </a:cubicBezTo>
                      <a:cubicBezTo>
                        <a:pt x="375" y="406"/>
                        <a:pt x="250" y="469"/>
                        <a:pt x="156" y="438"/>
                      </a:cubicBezTo>
                      <a:cubicBezTo>
                        <a:pt x="62" y="375"/>
                        <a:pt x="0" y="281"/>
                        <a:pt x="31"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7" name="文本"/>
                <p:cNvSpPr>
                  <a:spLocks noChangeArrowheads="1"/>
                </p:cNvSpPr>
                <p:nvPr>
                  <p:custDataLst>
                    <p:tags r:id="rId11"/>
                  </p:custDataLst>
                </p:nvPr>
              </p:nvSpPr>
              <p:spPr bwMode="auto">
                <a:xfrm>
                  <a:off x="4305931" y="3851338"/>
                  <a:ext cx="117544" cy="109883"/>
                </a:xfrm>
                <a:custGeom>
                  <a:avLst/>
                  <a:gdLst>
                    <a:gd name="T0" fmla="*/ 31 w 470"/>
                    <a:gd name="T1" fmla="*/ 313 h 439"/>
                    <a:gd name="T2" fmla="*/ 31 w 470"/>
                    <a:gd name="T3" fmla="*/ 313 h 439"/>
                    <a:gd name="T4" fmla="*/ 156 w 470"/>
                    <a:gd name="T5" fmla="*/ 32 h 439"/>
                    <a:gd name="T6" fmla="*/ 406 w 470"/>
                    <a:gd name="T7" fmla="*/ 157 h 439"/>
                    <a:gd name="T8" fmla="*/ 312 w 470"/>
                    <a:gd name="T9" fmla="*/ 407 h 439"/>
                    <a:gd name="T10" fmla="*/ 31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31" y="313"/>
                      </a:moveTo>
                      <a:lnTo>
                        <a:pt x="31" y="313"/>
                      </a:lnTo>
                      <a:cubicBezTo>
                        <a:pt x="0" y="188"/>
                        <a:pt x="62" y="94"/>
                        <a:pt x="156" y="32"/>
                      </a:cubicBezTo>
                      <a:cubicBezTo>
                        <a:pt x="250" y="0"/>
                        <a:pt x="375" y="63"/>
                        <a:pt x="406" y="157"/>
                      </a:cubicBezTo>
                      <a:cubicBezTo>
                        <a:pt x="469" y="250"/>
                        <a:pt x="406" y="375"/>
                        <a:pt x="312" y="407"/>
                      </a:cubicBezTo>
                      <a:cubicBezTo>
                        <a:pt x="219" y="438"/>
                        <a:pt x="94" y="407"/>
                        <a:pt x="31"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8" name="文本"/>
                <p:cNvSpPr>
                  <a:spLocks noChangeArrowheads="1"/>
                </p:cNvSpPr>
                <p:nvPr>
                  <p:custDataLst>
                    <p:tags r:id="rId12"/>
                  </p:custDataLst>
                </p:nvPr>
              </p:nvSpPr>
              <p:spPr bwMode="auto">
                <a:xfrm>
                  <a:off x="5481368" y="4341414"/>
                  <a:ext cx="116446" cy="109883"/>
                </a:xfrm>
                <a:custGeom>
                  <a:avLst/>
                  <a:gdLst>
                    <a:gd name="T0" fmla="*/ 156 w 469"/>
                    <a:gd name="T1" fmla="*/ 31 h 439"/>
                    <a:gd name="T2" fmla="*/ 156 w 469"/>
                    <a:gd name="T3" fmla="*/ 31 h 439"/>
                    <a:gd name="T4" fmla="*/ 406 w 469"/>
                    <a:gd name="T5" fmla="*/ 125 h 439"/>
                    <a:gd name="T6" fmla="*/ 312 w 469"/>
                    <a:gd name="T7" fmla="*/ 406 h 439"/>
                    <a:gd name="T8" fmla="*/ 62 w 469"/>
                    <a:gd name="T9" fmla="*/ 281 h 439"/>
                    <a:gd name="T10" fmla="*/ 156 w 469"/>
                    <a:gd name="T11" fmla="*/ 31 h 439"/>
                  </a:gdLst>
                  <a:ahLst/>
                  <a:cxnLst>
                    <a:cxn ang="0">
                      <a:pos x="T0" y="T1"/>
                    </a:cxn>
                    <a:cxn ang="0">
                      <a:pos x="T2" y="T3"/>
                    </a:cxn>
                    <a:cxn ang="0">
                      <a:pos x="T4" y="T5"/>
                    </a:cxn>
                    <a:cxn ang="0">
                      <a:pos x="T6" y="T7"/>
                    </a:cxn>
                    <a:cxn ang="0">
                      <a:pos x="T8" y="T9"/>
                    </a:cxn>
                    <a:cxn ang="0">
                      <a:pos x="T10" y="T11"/>
                    </a:cxn>
                  </a:cxnLst>
                  <a:rect l="0" t="0" r="r" b="b"/>
                  <a:pathLst>
                    <a:path w="469" h="439">
                      <a:moveTo>
                        <a:pt x="156" y="31"/>
                      </a:moveTo>
                      <a:lnTo>
                        <a:pt x="156" y="31"/>
                      </a:lnTo>
                      <a:cubicBezTo>
                        <a:pt x="250" y="0"/>
                        <a:pt x="375" y="31"/>
                        <a:pt x="406" y="125"/>
                      </a:cubicBezTo>
                      <a:cubicBezTo>
                        <a:pt x="468" y="250"/>
                        <a:pt x="406" y="344"/>
                        <a:pt x="312" y="406"/>
                      </a:cubicBezTo>
                      <a:cubicBezTo>
                        <a:pt x="218" y="438"/>
                        <a:pt x="93" y="406"/>
                        <a:pt x="62" y="281"/>
                      </a:cubicBezTo>
                      <a:cubicBezTo>
                        <a:pt x="0" y="188"/>
                        <a:pt x="62" y="6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9" name="文本"/>
                <p:cNvSpPr>
                  <a:spLocks noChangeArrowheads="1"/>
                </p:cNvSpPr>
                <p:nvPr/>
              </p:nvSpPr>
              <p:spPr bwMode="auto">
                <a:xfrm>
                  <a:off x="4796980" y="2675595"/>
                  <a:ext cx="108755" cy="108784"/>
                </a:xfrm>
                <a:custGeom>
                  <a:avLst/>
                  <a:gdLst>
                    <a:gd name="T0" fmla="*/ 156 w 438"/>
                    <a:gd name="T1" fmla="*/ 31 h 438"/>
                    <a:gd name="T2" fmla="*/ 156 w 438"/>
                    <a:gd name="T3" fmla="*/ 31 h 438"/>
                    <a:gd name="T4" fmla="*/ 406 w 438"/>
                    <a:gd name="T5" fmla="*/ 156 h 438"/>
                    <a:gd name="T6" fmla="*/ 281 w 438"/>
                    <a:gd name="T7" fmla="*/ 406 h 438"/>
                    <a:gd name="T8" fmla="*/ 31 w 438"/>
                    <a:gd name="T9" fmla="*/ 312 h 438"/>
                    <a:gd name="T10" fmla="*/ 156 w 438"/>
                    <a:gd name="T11" fmla="*/ 31 h 438"/>
                  </a:gdLst>
                  <a:ahLst/>
                  <a:cxnLst>
                    <a:cxn ang="0">
                      <a:pos x="T0" y="T1"/>
                    </a:cxn>
                    <a:cxn ang="0">
                      <a:pos x="T2" y="T3"/>
                    </a:cxn>
                    <a:cxn ang="0">
                      <a:pos x="T4" y="T5"/>
                    </a:cxn>
                    <a:cxn ang="0">
                      <a:pos x="T6" y="T7"/>
                    </a:cxn>
                    <a:cxn ang="0">
                      <a:pos x="T8" y="T9"/>
                    </a:cxn>
                    <a:cxn ang="0">
                      <a:pos x="T10" y="T11"/>
                    </a:cxn>
                  </a:cxnLst>
                  <a:rect l="0" t="0" r="r" b="b"/>
                  <a:pathLst>
                    <a:path w="438" h="438">
                      <a:moveTo>
                        <a:pt x="156" y="31"/>
                      </a:moveTo>
                      <a:lnTo>
                        <a:pt x="156" y="31"/>
                      </a:lnTo>
                      <a:cubicBezTo>
                        <a:pt x="250" y="0"/>
                        <a:pt x="343" y="31"/>
                        <a:pt x="406" y="156"/>
                      </a:cubicBezTo>
                      <a:cubicBezTo>
                        <a:pt x="437" y="250"/>
                        <a:pt x="406" y="375"/>
                        <a:pt x="281" y="406"/>
                      </a:cubicBezTo>
                      <a:cubicBezTo>
                        <a:pt x="187" y="437"/>
                        <a:pt x="62" y="406"/>
                        <a:pt x="31" y="312"/>
                      </a:cubicBezTo>
                      <a:cubicBezTo>
                        <a:pt x="0" y="187"/>
                        <a:pt x="31" y="9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0" name="文本"/>
                <p:cNvSpPr>
                  <a:spLocks noChangeArrowheads="1"/>
                </p:cNvSpPr>
                <p:nvPr/>
              </p:nvSpPr>
              <p:spPr bwMode="auto">
                <a:xfrm>
                  <a:off x="4967252" y="2629444"/>
                  <a:ext cx="109854" cy="101092"/>
                </a:xfrm>
                <a:custGeom>
                  <a:avLst/>
                  <a:gdLst>
                    <a:gd name="T0" fmla="*/ 250 w 439"/>
                    <a:gd name="T1" fmla="*/ 406 h 407"/>
                    <a:gd name="T2" fmla="*/ 250 w 439"/>
                    <a:gd name="T3" fmla="*/ 406 h 407"/>
                    <a:gd name="T4" fmla="*/ 0 w 439"/>
                    <a:gd name="T5" fmla="*/ 250 h 407"/>
                    <a:gd name="T6" fmla="*/ 156 w 439"/>
                    <a:gd name="T7" fmla="*/ 0 h 407"/>
                    <a:gd name="T8" fmla="*/ 406 w 439"/>
                    <a:gd name="T9" fmla="*/ 156 h 407"/>
                    <a:gd name="T10" fmla="*/ 250 w 439"/>
                    <a:gd name="T11" fmla="*/ 406 h 407"/>
                  </a:gdLst>
                  <a:ahLst/>
                  <a:cxnLst>
                    <a:cxn ang="0">
                      <a:pos x="T0" y="T1"/>
                    </a:cxn>
                    <a:cxn ang="0">
                      <a:pos x="T2" y="T3"/>
                    </a:cxn>
                    <a:cxn ang="0">
                      <a:pos x="T4" y="T5"/>
                    </a:cxn>
                    <a:cxn ang="0">
                      <a:pos x="T6" y="T7"/>
                    </a:cxn>
                    <a:cxn ang="0">
                      <a:pos x="T8" y="T9"/>
                    </a:cxn>
                    <a:cxn ang="0">
                      <a:pos x="T10" y="T11"/>
                    </a:cxn>
                  </a:cxnLst>
                  <a:rect l="0" t="0" r="r" b="b"/>
                  <a:pathLst>
                    <a:path w="439" h="407">
                      <a:moveTo>
                        <a:pt x="250" y="406"/>
                      </a:moveTo>
                      <a:lnTo>
                        <a:pt x="250" y="406"/>
                      </a:lnTo>
                      <a:cubicBezTo>
                        <a:pt x="125" y="406"/>
                        <a:pt x="31" y="344"/>
                        <a:pt x="0" y="250"/>
                      </a:cubicBezTo>
                      <a:cubicBezTo>
                        <a:pt x="0" y="125"/>
                        <a:pt x="63" y="31"/>
                        <a:pt x="156" y="0"/>
                      </a:cubicBezTo>
                      <a:cubicBezTo>
                        <a:pt x="281" y="0"/>
                        <a:pt x="375" y="63"/>
                        <a:pt x="406" y="156"/>
                      </a:cubicBezTo>
                      <a:cubicBezTo>
                        <a:pt x="438" y="281"/>
                        <a:pt x="344" y="375"/>
                        <a:pt x="250"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2" name="文本"/>
                <p:cNvSpPr>
                  <a:spLocks noChangeArrowheads="1"/>
                </p:cNvSpPr>
                <p:nvPr>
                  <p:custDataLst>
                    <p:tags r:id="rId13"/>
                  </p:custDataLst>
                </p:nvPr>
              </p:nvSpPr>
              <p:spPr bwMode="auto">
                <a:xfrm>
                  <a:off x="5317686" y="4388665"/>
                  <a:ext cx="109854" cy="108783"/>
                </a:xfrm>
                <a:custGeom>
                  <a:avLst/>
                  <a:gdLst>
                    <a:gd name="T0" fmla="*/ 250 w 439"/>
                    <a:gd name="T1" fmla="*/ 437 h 438"/>
                    <a:gd name="T2" fmla="*/ 250 w 439"/>
                    <a:gd name="T3" fmla="*/ 437 h 438"/>
                    <a:gd name="T4" fmla="*/ 32 w 439"/>
                    <a:gd name="T5" fmla="*/ 281 h 438"/>
                    <a:gd name="T6" fmla="*/ 188 w 439"/>
                    <a:gd name="T7" fmla="*/ 31 h 438"/>
                    <a:gd name="T8" fmla="*/ 407 w 439"/>
                    <a:gd name="T9" fmla="*/ 187 h 438"/>
                    <a:gd name="T10" fmla="*/ 250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250" y="437"/>
                      </a:moveTo>
                      <a:lnTo>
                        <a:pt x="250" y="437"/>
                      </a:lnTo>
                      <a:cubicBezTo>
                        <a:pt x="157" y="437"/>
                        <a:pt x="32" y="375"/>
                        <a:pt x="32" y="281"/>
                      </a:cubicBezTo>
                      <a:cubicBezTo>
                        <a:pt x="0" y="156"/>
                        <a:pt x="63" y="62"/>
                        <a:pt x="188" y="31"/>
                      </a:cubicBezTo>
                      <a:cubicBezTo>
                        <a:pt x="282" y="0"/>
                        <a:pt x="375" y="93"/>
                        <a:pt x="407" y="187"/>
                      </a:cubicBezTo>
                      <a:cubicBezTo>
                        <a:pt x="438" y="312"/>
                        <a:pt x="344" y="406"/>
                        <a:pt x="250"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3" name="文本"/>
                <p:cNvSpPr>
                  <a:spLocks noChangeArrowheads="1"/>
                </p:cNvSpPr>
                <p:nvPr>
                  <p:custDataLst>
                    <p:tags r:id="rId14"/>
                  </p:custDataLst>
                </p:nvPr>
              </p:nvSpPr>
              <p:spPr bwMode="auto">
                <a:xfrm>
                  <a:off x="4259792" y="3687613"/>
                  <a:ext cx="109854" cy="101092"/>
                </a:xfrm>
                <a:custGeom>
                  <a:avLst/>
                  <a:gdLst>
                    <a:gd name="T0" fmla="*/ 32 w 439"/>
                    <a:gd name="T1" fmla="*/ 250 h 407"/>
                    <a:gd name="T2" fmla="*/ 32 w 439"/>
                    <a:gd name="T3" fmla="*/ 250 h 407"/>
                    <a:gd name="T4" fmla="*/ 188 w 439"/>
                    <a:gd name="T5" fmla="*/ 0 h 407"/>
                    <a:gd name="T6" fmla="*/ 407 w 439"/>
                    <a:gd name="T7" fmla="*/ 156 h 407"/>
                    <a:gd name="T8" fmla="*/ 250 w 439"/>
                    <a:gd name="T9" fmla="*/ 406 h 407"/>
                    <a:gd name="T10" fmla="*/ 32 w 439"/>
                    <a:gd name="T11" fmla="*/ 250 h 407"/>
                  </a:gdLst>
                  <a:ahLst/>
                  <a:cxnLst>
                    <a:cxn ang="0">
                      <a:pos x="T0" y="T1"/>
                    </a:cxn>
                    <a:cxn ang="0">
                      <a:pos x="T2" y="T3"/>
                    </a:cxn>
                    <a:cxn ang="0">
                      <a:pos x="T4" y="T5"/>
                    </a:cxn>
                    <a:cxn ang="0">
                      <a:pos x="T6" y="T7"/>
                    </a:cxn>
                    <a:cxn ang="0">
                      <a:pos x="T8" y="T9"/>
                    </a:cxn>
                    <a:cxn ang="0">
                      <a:pos x="T10" y="T11"/>
                    </a:cxn>
                  </a:cxnLst>
                  <a:rect l="0" t="0" r="r" b="b"/>
                  <a:pathLst>
                    <a:path w="439" h="407">
                      <a:moveTo>
                        <a:pt x="32" y="250"/>
                      </a:moveTo>
                      <a:lnTo>
                        <a:pt x="32" y="250"/>
                      </a:lnTo>
                      <a:cubicBezTo>
                        <a:pt x="0" y="125"/>
                        <a:pt x="63" y="31"/>
                        <a:pt x="188" y="0"/>
                      </a:cubicBezTo>
                      <a:cubicBezTo>
                        <a:pt x="282" y="0"/>
                        <a:pt x="375" y="63"/>
                        <a:pt x="407" y="156"/>
                      </a:cubicBezTo>
                      <a:cubicBezTo>
                        <a:pt x="438" y="281"/>
                        <a:pt x="344" y="375"/>
                        <a:pt x="250" y="406"/>
                      </a:cubicBezTo>
                      <a:cubicBezTo>
                        <a:pt x="157" y="406"/>
                        <a:pt x="32" y="344"/>
                        <a:pt x="32"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4" name="文本"/>
                <p:cNvSpPr>
                  <a:spLocks noChangeArrowheads="1"/>
                </p:cNvSpPr>
                <p:nvPr>
                  <p:custDataLst>
                    <p:tags r:id="rId15"/>
                  </p:custDataLst>
                </p:nvPr>
              </p:nvSpPr>
              <p:spPr bwMode="auto">
                <a:xfrm>
                  <a:off x="4640987" y="4255706"/>
                  <a:ext cx="108755" cy="109883"/>
                </a:xfrm>
                <a:custGeom>
                  <a:avLst/>
                  <a:gdLst>
                    <a:gd name="T0" fmla="*/ 93 w 438"/>
                    <a:gd name="T1" fmla="*/ 375 h 439"/>
                    <a:gd name="T2" fmla="*/ 93 w 438"/>
                    <a:gd name="T3" fmla="*/ 375 h 439"/>
                    <a:gd name="T4" fmla="*/ 62 w 438"/>
                    <a:gd name="T5" fmla="*/ 125 h 439"/>
                    <a:gd name="T6" fmla="*/ 312 w 438"/>
                    <a:gd name="T7" fmla="*/ 63 h 439"/>
                    <a:gd name="T8" fmla="*/ 375 w 438"/>
                    <a:gd name="T9" fmla="*/ 344 h 439"/>
                    <a:gd name="T10" fmla="*/ 93 w 438"/>
                    <a:gd name="T11" fmla="*/ 375 h 439"/>
                  </a:gdLst>
                  <a:ahLst/>
                  <a:cxnLst>
                    <a:cxn ang="0">
                      <a:pos x="T0" y="T1"/>
                    </a:cxn>
                    <a:cxn ang="0">
                      <a:pos x="T2" y="T3"/>
                    </a:cxn>
                    <a:cxn ang="0">
                      <a:pos x="T4" y="T5"/>
                    </a:cxn>
                    <a:cxn ang="0">
                      <a:pos x="T6" y="T7"/>
                    </a:cxn>
                    <a:cxn ang="0">
                      <a:pos x="T8" y="T9"/>
                    </a:cxn>
                    <a:cxn ang="0">
                      <a:pos x="T10" y="T11"/>
                    </a:cxn>
                  </a:cxnLst>
                  <a:rect l="0" t="0" r="r" b="b"/>
                  <a:pathLst>
                    <a:path w="438" h="439">
                      <a:moveTo>
                        <a:pt x="93" y="375"/>
                      </a:moveTo>
                      <a:lnTo>
                        <a:pt x="93" y="375"/>
                      </a:lnTo>
                      <a:cubicBezTo>
                        <a:pt x="0" y="313"/>
                        <a:pt x="0" y="219"/>
                        <a:pt x="62" y="125"/>
                      </a:cubicBezTo>
                      <a:cubicBezTo>
                        <a:pt x="125" y="32"/>
                        <a:pt x="250" y="0"/>
                        <a:pt x="312" y="63"/>
                      </a:cubicBezTo>
                      <a:cubicBezTo>
                        <a:pt x="406" y="125"/>
                        <a:pt x="437" y="250"/>
                        <a:pt x="375" y="344"/>
                      </a:cubicBezTo>
                      <a:cubicBezTo>
                        <a:pt x="312" y="438"/>
                        <a:pt x="187" y="438"/>
                        <a:pt x="93"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5" name="文本"/>
                <p:cNvSpPr>
                  <a:spLocks noChangeArrowheads="1"/>
                </p:cNvSpPr>
                <p:nvPr>
                  <p:custDataLst>
                    <p:tags r:id="rId16"/>
                  </p:custDataLst>
                </p:nvPr>
              </p:nvSpPr>
              <p:spPr bwMode="auto">
                <a:xfrm>
                  <a:off x="5886730" y="4007372"/>
                  <a:ext cx="116446" cy="109883"/>
                </a:xfrm>
                <a:custGeom>
                  <a:avLst/>
                  <a:gdLst>
                    <a:gd name="T0" fmla="*/ 62 w 469"/>
                    <a:gd name="T1" fmla="*/ 125 h 439"/>
                    <a:gd name="T2" fmla="*/ 62 w 469"/>
                    <a:gd name="T3" fmla="*/ 125 h 439"/>
                    <a:gd name="T4" fmla="*/ 343 w 469"/>
                    <a:gd name="T5" fmla="*/ 63 h 439"/>
                    <a:gd name="T6" fmla="*/ 406 w 469"/>
                    <a:gd name="T7" fmla="*/ 344 h 439"/>
                    <a:gd name="T8" fmla="*/ 125 w 469"/>
                    <a:gd name="T9" fmla="*/ 407 h 439"/>
                    <a:gd name="T10" fmla="*/ 62 w 469"/>
                    <a:gd name="T11" fmla="*/ 125 h 439"/>
                  </a:gdLst>
                  <a:ahLst/>
                  <a:cxnLst>
                    <a:cxn ang="0">
                      <a:pos x="T0" y="T1"/>
                    </a:cxn>
                    <a:cxn ang="0">
                      <a:pos x="T2" y="T3"/>
                    </a:cxn>
                    <a:cxn ang="0">
                      <a:pos x="T4" y="T5"/>
                    </a:cxn>
                    <a:cxn ang="0">
                      <a:pos x="T6" y="T7"/>
                    </a:cxn>
                    <a:cxn ang="0">
                      <a:pos x="T8" y="T9"/>
                    </a:cxn>
                    <a:cxn ang="0">
                      <a:pos x="T10" y="T11"/>
                    </a:cxn>
                  </a:cxnLst>
                  <a:rect l="0" t="0" r="r" b="b"/>
                  <a:pathLst>
                    <a:path w="469" h="439">
                      <a:moveTo>
                        <a:pt x="62" y="125"/>
                      </a:moveTo>
                      <a:lnTo>
                        <a:pt x="62" y="125"/>
                      </a:lnTo>
                      <a:cubicBezTo>
                        <a:pt x="125" y="32"/>
                        <a:pt x="250" y="0"/>
                        <a:pt x="343" y="63"/>
                      </a:cubicBezTo>
                      <a:cubicBezTo>
                        <a:pt x="437" y="125"/>
                        <a:pt x="468" y="250"/>
                        <a:pt x="406" y="344"/>
                      </a:cubicBezTo>
                      <a:cubicBezTo>
                        <a:pt x="343" y="438"/>
                        <a:pt x="218" y="438"/>
                        <a:pt x="125" y="407"/>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6" name="文本"/>
                <p:cNvSpPr>
                  <a:spLocks noChangeArrowheads="1"/>
                </p:cNvSpPr>
                <p:nvPr>
                  <p:custDataLst>
                    <p:tags r:id="rId17"/>
                  </p:custDataLst>
                </p:nvPr>
              </p:nvSpPr>
              <p:spPr bwMode="auto">
                <a:xfrm>
                  <a:off x="4391618" y="3003045"/>
                  <a:ext cx="108755" cy="117575"/>
                </a:xfrm>
                <a:custGeom>
                  <a:avLst/>
                  <a:gdLst>
                    <a:gd name="T0" fmla="*/ 62 w 438"/>
                    <a:gd name="T1" fmla="*/ 125 h 470"/>
                    <a:gd name="T2" fmla="*/ 62 w 438"/>
                    <a:gd name="T3" fmla="*/ 125 h 470"/>
                    <a:gd name="T4" fmla="*/ 343 w 438"/>
                    <a:gd name="T5" fmla="*/ 63 h 470"/>
                    <a:gd name="T6" fmla="*/ 375 w 438"/>
                    <a:gd name="T7" fmla="*/ 344 h 470"/>
                    <a:gd name="T8" fmla="*/ 125 w 438"/>
                    <a:gd name="T9" fmla="*/ 406 h 470"/>
                    <a:gd name="T10" fmla="*/ 62 w 438"/>
                    <a:gd name="T11" fmla="*/ 125 h 470"/>
                  </a:gdLst>
                  <a:ahLst/>
                  <a:cxnLst>
                    <a:cxn ang="0">
                      <a:pos x="T0" y="T1"/>
                    </a:cxn>
                    <a:cxn ang="0">
                      <a:pos x="T2" y="T3"/>
                    </a:cxn>
                    <a:cxn ang="0">
                      <a:pos x="T4" y="T5"/>
                    </a:cxn>
                    <a:cxn ang="0">
                      <a:pos x="T6" y="T7"/>
                    </a:cxn>
                    <a:cxn ang="0">
                      <a:pos x="T8" y="T9"/>
                    </a:cxn>
                    <a:cxn ang="0">
                      <a:pos x="T10" y="T11"/>
                    </a:cxn>
                  </a:cxnLst>
                  <a:rect l="0" t="0" r="r" b="b"/>
                  <a:pathLst>
                    <a:path w="438" h="470">
                      <a:moveTo>
                        <a:pt x="62" y="125"/>
                      </a:moveTo>
                      <a:lnTo>
                        <a:pt x="62" y="125"/>
                      </a:lnTo>
                      <a:cubicBezTo>
                        <a:pt x="125" y="31"/>
                        <a:pt x="250" y="0"/>
                        <a:pt x="343" y="63"/>
                      </a:cubicBezTo>
                      <a:cubicBezTo>
                        <a:pt x="437" y="125"/>
                        <a:pt x="437" y="250"/>
                        <a:pt x="375" y="344"/>
                      </a:cubicBezTo>
                      <a:cubicBezTo>
                        <a:pt x="312" y="438"/>
                        <a:pt x="187" y="469"/>
                        <a:pt x="125" y="406"/>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7" name="文本"/>
                <p:cNvSpPr>
                  <a:spLocks noChangeArrowheads="1"/>
                </p:cNvSpPr>
                <p:nvPr>
                  <p:custDataLst>
                    <p:tags r:id="rId18"/>
                  </p:custDataLst>
                </p:nvPr>
              </p:nvSpPr>
              <p:spPr bwMode="auto">
                <a:xfrm>
                  <a:off x="4967252" y="4388665"/>
                  <a:ext cx="109854" cy="108783"/>
                </a:xfrm>
                <a:custGeom>
                  <a:avLst/>
                  <a:gdLst>
                    <a:gd name="T0" fmla="*/ 156 w 439"/>
                    <a:gd name="T1" fmla="*/ 437 h 438"/>
                    <a:gd name="T2" fmla="*/ 156 w 439"/>
                    <a:gd name="T3" fmla="*/ 437 h 438"/>
                    <a:gd name="T4" fmla="*/ 0 w 439"/>
                    <a:gd name="T5" fmla="*/ 187 h 438"/>
                    <a:gd name="T6" fmla="*/ 250 w 439"/>
                    <a:gd name="T7" fmla="*/ 31 h 438"/>
                    <a:gd name="T8" fmla="*/ 406 w 439"/>
                    <a:gd name="T9" fmla="*/ 281 h 438"/>
                    <a:gd name="T10" fmla="*/ 156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156" y="437"/>
                      </a:moveTo>
                      <a:lnTo>
                        <a:pt x="156" y="437"/>
                      </a:lnTo>
                      <a:cubicBezTo>
                        <a:pt x="63" y="406"/>
                        <a:pt x="0" y="312"/>
                        <a:pt x="0" y="187"/>
                      </a:cubicBezTo>
                      <a:cubicBezTo>
                        <a:pt x="31" y="93"/>
                        <a:pt x="125" y="0"/>
                        <a:pt x="250" y="31"/>
                      </a:cubicBezTo>
                      <a:cubicBezTo>
                        <a:pt x="344" y="62"/>
                        <a:pt x="438" y="156"/>
                        <a:pt x="406" y="281"/>
                      </a:cubicBezTo>
                      <a:cubicBezTo>
                        <a:pt x="375" y="375"/>
                        <a:pt x="281" y="437"/>
                        <a:pt x="156"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8" name="文本"/>
                <p:cNvSpPr>
                  <a:spLocks noChangeArrowheads="1"/>
                </p:cNvSpPr>
                <p:nvPr>
                  <p:custDataLst>
                    <p:tags r:id="rId19"/>
                  </p:custDataLst>
                </p:nvPr>
              </p:nvSpPr>
              <p:spPr bwMode="auto">
                <a:xfrm>
                  <a:off x="6026245" y="3687613"/>
                  <a:ext cx="108755" cy="101092"/>
                </a:xfrm>
                <a:custGeom>
                  <a:avLst/>
                  <a:gdLst>
                    <a:gd name="T0" fmla="*/ 0 w 438"/>
                    <a:gd name="T1" fmla="*/ 156 h 407"/>
                    <a:gd name="T2" fmla="*/ 0 w 438"/>
                    <a:gd name="T3" fmla="*/ 156 h 407"/>
                    <a:gd name="T4" fmla="*/ 250 w 438"/>
                    <a:gd name="T5" fmla="*/ 0 h 407"/>
                    <a:gd name="T6" fmla="*/ 405 w 438"/>
                    <a:gd name="T7" fmla="*/ 250 h 407"/>
                    <a:gd name="T8" fmla="*/ 156 w 438"/>
                    <a:gd name="T9" fmla="*/ 406 h 407"/>
                    <a:gd name="T10" fmla="*/ 0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0" y="156"/>
                      </a:moveTo>
                      <a:lnTo>
                        <a:pt x="0" y="156"/>
                      </a:lnTo>
                      <a:cubicBezTo>
                        <a:pt x="31" y="63"/>
                        <a:pt x="125" y="0"/>
                        <a:pt x="250" y="0"/>
                      </a:cubicBezTo>
                      <a:cubicBezTo>
                        <a:pt x="343" y="31"/>
                        <a:pt x="437" y="125"/>
                        <a:pt x="405" y="250"/>
                      </a:cubicBezTo>
                      <a:cubicBezTo>
                        <a:pt x="374" y="344"/>
                        <a:pt x="281" y="406"/>
                        <a:pt x="156" y="406"/>
                      </a:cubicBezTo>
                      <a:cubicBezTo>
                        <a:pt x="63" y="375"/>
                        <a:pt x="0" y="281"/>
                        <a:pt x="0"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9" name="文本"/>
                <p:cNvSpPr>
                  <a:spLocks noChangeArrowheads="1"/>
                </p:cNvSpPr>
                <p:nvPr>
                  <p:custDataLst>
                    <p:tags r:id="rId20"/>
                  </p:custDataLst>
                </p:nvPr>
              </p:nvSpPr>
              <p:spPr bwMode="auto">
                <a:xfrm>
                  <a:off x="4259792" y="3330495"/>
                  <a:ext cx="109854" cy="108784"/>
                </a:xfrm>
                <a:custGeom>
                  <a:avLst/>
                  <a:gdLst>
                    <a:gd name="T0" fmla="*/ 32 w 439"/>
                    <a:gd name="T1" fmla="*/ 187 h 438"/>
                    <a:gd name="T2" fmla="*/ 32 w 439"/>
                    <a:gd name="T3" fmla="*/ 187 h 438"/>
                    <a:gd name="T4" fmla="*/ 250 w 439"/>
                    <a:gd name="T5" fmla="*/ 31 h 438"/>
                    <a:gd name="T6" fmla="*/ 407 w 439"/>
                    <a:gd name="T7" fmla="*/ 281 h 438"/>
                    <a:gd name="T8" fmla="*/ 188 w 439"/>
                    <a:gd name="T9" fmla="*/ 437 h 438"/>
                    <a:gd name="T10" fmla="*/ 32 w 439"/>
                    <a:gd name="T11" fmla="*/ 187 h 438"/>
                  </a:gdLst>
                  <a:ahLst/>
                  <a:cxnLst>
                    <a:cxn ang="0">
                      <a:pos x="T0" y="T1"/>
                    </a:cxn>
                    <a:cxn ang="0">
                      <a:pos x="T2" y="T3"/>
                    </a:cxn>
                    <a:cxn ang="0">
                      <a:pos x="T4" y="T5"/>
                    </a:cxn>
                    <a:cxn ang="0">
                      <a:pos x="T6" y="T7"/>
                    </a:cxn>
                    <a:cxn ang="0">
                      <a:pos x="T8" y="T9"/>
                    </a:cxn>
                    <a:cxn ang="0">
                      <a:pos x="T10" y="T11"/>
                    </a:cxn>
                  </a:cxnLst>
                  <a:rect l="0" t="0" r="r" b="b"/>
                  <a:pathLst>
                    <a:path w="439" h="438">
                      <a:moveTo>
                        <a:pt x="32" y="187"/>
                      </a:moveTo>
                      <a:lnTo>
                        <a:pt x="32" y="187"/>
                      </a:lnTo>
                      <a:cubicBezTo>
                        <a:pt x="32" y="93"/>
                        <a:pt x="157" y="0"/>
                        <a:pt x="250" y="31"/>
                      </a:cubicBezTo>
                      <a:cubicBezTo>
                        <a:pt x="344" y="62"/>
                        <a:pt x="438" y="156"/>
                        <a:pt x="407" y="281"/>
                      </a:cubicBezTo>
                      <a:cubicBezTo>
                        <a:pt x="375" y="375"/>
                        <a:pt x="282" y="437"/>
                        <a:pt x="188" y="437"/>
                      </a:cubicBezTo>
                      <a:cubicBezTo>
                        <a:pt x="63" y="406"/>
                        <a:pt x="0" y="312"/>
                        <a:pt x="32"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1" name="文本"/>
                <p:cNvSpPr>
                  <a:spLocks noChangeArrowheads="1"/>
                </p:cNvSpPr>
                <p:nvPr>
                  <p:custDataLst>
                    <p:tags r:id="rId21"/>
                  </p:custDataLst>
                </p:nvPr>
              </p:nvSpPr>
              <p:spPr bwMode="auto">
                <a:xfrm>
                  <a:off x="4391618" y="4007372"/>
                  <a:ext cx="108755" cy="109883"/>
                </a:xfrm>
                <a:custGeom>
                  <a:avLst/>
                  <a:gdLst>
                    <a:gd name="T0" fmla="*/ 62 w 438"/>
                    <a:gd name="T1" fmla="*/ 344 h 439"/>
                    <a:gd name="T2" fmla="*/ 62 w 438"/>
                    <a:gd name="T3" fmla="*/ 344 h 439"/>
                    <a:gd name="T4" fmla="*/ 125 w 438"/>
                    <a:gd name="T5" fmla="*/ 63 h 439"/>
                    <a:gd name="T6" fmla="*/ 375 w 438"/>
                    <a:gd name="T7" fmla="*/ 125 h 439"/>
                    <a:gd name="T8" fmla="*/ 343 w 438"/>
                    <a:gd name="T9" fmla="*/ 407 h 439"/>
                    <a:gd name="T10" fmla="*/ 62 w 438"/>
                    <a:gd name="T11" fmla="*/ 344 h 439"/>
                  </a:gdLst>
                  <a:ahLst/>
                  <a:cxnLst>
                    <a:cxn ang="0">
                      <a:pos x="T0" y="T1"/>
                    </a:cxn>
                    <a:cxn ang="0">
                      <a:pos x="T2" y="T3"/>
                    </a:cxn>
                    <a:cxn ang="0">
                      <a:pos x="T4" y="T5"/>
                    </a:cxn>
                    <a:cxn ang="0">
                      <a:pos x="T6" y="T7"/>
                    </a:cxn>
                    <a:cxn ang="0">
                      <a:pos x="T8" y="T9"/>
                    </a:cxn>
                    <a:cxn ang="0">
                      <a:pos x="T10" y="T11"/>
                    </a:cxn>
                  </a:cxnLst>
                  <a:rect l="0" t="0" r="r" b="b"/>
                  <a:pathLst>
                    <a:path w="438" h="439">
                      <a:moveTo>
                        <a:pt x="62" y="344"/>
                      </a:moveTo>
                      <a:lnTo>
                        <a:pt x="62" y="344"/>
                      </a:lnTo>
                      <a:cubicBezTo>
                        <a:pt x="0" y="250"/>
                        <a:pt x="31" y="125"/>
                        <a:pt x="125" y="63"/>
                      </a:cubicBezTo>
                      <a:cubicBezTo>
                        <a:pt x="187" y="0"/>
                        <a:pt x="312" y="32"/>
                        <a:pt x="375" y="125"/>
                      </a:cubicBezTo>
                      <a:cubicBezTo>
                        <a:pt x="437" y="219"/>
                        <a:pt x="437" y="344"/>
                        <a:pt x="343" y="407"/>
                      </a:cubicBezTo>
                      <a:cubicBezTo>
                        <a:pt x="250" y="438"/>
                        <a:pt x="125" y="438"/>
                        <a:pt x="62"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9" name="文本"/>
                <p:cNvSpPr>
                  <a:spLocks noChangeArrowheads="1"/>
                </p:cNvSpPr>
                <p:nvPr>
                  <p:custDataLst>
                    <p:tags r:id="rId22"/>
                  </p:custDataLst>
                </p:nvPr>
              </p:nvSpPr>
              <p:spPr bwMode="auto">
                <a:xfrm>
                  <a:off x="5637361" y="4255706"/>
                  <a:ext cx="116446" cy="109883"/>
                </a:xfrm>
                <a:custGeom>
                  <a:avLst/>
                  <a:gdLst>
                    <a:gd name="T0" fmla="*/ 125 w 469"/>
                    <a:gd name="T1" fmla="*/ 63 h 439"/>
                    <a:gd name="T2" fmla="*/ 125 w 469"/>
                    <a:gd name="T3" fmla="*/ 63 h 439"/>
                    <a:gd name="T4" fmla="*/ 406 w 469"/>
                    <a:gd name="T5" fmla="*/ 125 h 439"/>
                    <a:gd name="T6" fmla="*/ 343 w 469"/>
                    <a:gd name="T7" fmla="*/ 375 h 439"/>
                    <a:gd name="T8" fmla="*/ 62 w 469"/>
                    <a:gd name="T9" fmla="*/ 344 h 439"/>
                    <a:gd name="T10" fmla="*/ 125 w 469"/>
                    <a:gd name="T11" fmla="*/ 63 h 439"/>
                  </a:gdLst>
                  <a:ahLst/>
                  <a:cxnLst>
                    <a:cxn ang="0">
                      <a:pos x="T0" y="T1"/>
                    </a:cxn>
                    <a:cxn ang="0">
                      <a:pos x="T2" y="T3"/>
                    </a:cxn>
                    <a:cxn ang="0">
                      <a:pos x="T4" y="T5"/>
                    </a:cxn>
                    <a:cxn ang="0">
                      <a:pos x="T6" y="T7"/>
                    </a:cxn>
                    <a:cxn ang="0">
                      <a:pos x="T8" y="T9"/>
                    </a:cxn>
                    <a:cxn ang="0">
                      <a:pos x="T10" y="T11"/>
                    </a:cxn>
                  </a:cxnLst>
                  <a:rect l="0" t="0" r="r" b="b"/>
                  <a:pathLst>
                    <a:path w="469" h="439">
                      <a:moveTo>
                        <a:pt x="125" y="63"/>
                      </a:moveTo>
                      <a:lnTo>
                        <a:pt x="125" y="63"/>
                      </a:lnTo>
                      <a:cubicBezTo>
                        <a:pt x="218" y="0"/>
                        <a:pt x="343" y="32"/>
                        <a:pt x="406" y="125"/>
                      </a:cubicBezTo>
                      <a:cubicBezTo>
                        <a:pt x="468" y="219"/>
                        <a:pt x="437" y="313"/>
                        <a:pt x="343" y="375"/>
                      </a:cubicBezTo>
                      <a:cubicBezTo>
                        <a:pt x="250" y="438"/>
                        <a:pt x="125" y="438"/>
                        <a:pt x="62" y="344"/>
                      </a:cubicBezTo>
                      <a:cubicBezTo>
                        <a:pt x="0" y="250"/>
                        <a:pt x="31" y="125"/>
                        <a:pt x="125"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0" name="文本"/>
                <p:cNvSpPr>
                  <a:spLocks noChangeArrowheads="1"/>
                </p:cNvSpPr>
                <p:nvPr>
                  <p:custDataLst>
                    <p:tags r:id="rId23"/>
                  </p:custDataLst>
                </p:nvPr>
              </p:nvSpPr>
              <p:spPr bwMode="auto">
                <a:xfrm>
                  <a:off x="4640987" y="2761304"/>
                  <a:ext cx="108755" cy="109883"/>
                </a:xfrm>
                <a:custGeom>
                  <a:avLst/>
                  <a:gdLst>
                    <a:gd name="T0" fmla="*/ 93 w 438"/>
                    <a:gd name="T1" fmla="*/ 63 h 439"/>
                    <a:gd name="T2" fmla="*/ 93 w 438"/>
                    <a:gd name="T3" fmla="*/ 63 h 439"/>
                    <a:gd name="T4" fmla="*/ 375 w 438"/>
                    <a:gd name="T5" fmla="*/ 94 h 439"/>
                    <a:gd name="T6" fmla="*/ 312 w 438"/>
                    <a:gd name="T7" fmla="*/ 375 h 439"/>
                    <a:gd name="T8" fmla="*/ 62 w 438"/>
                    <a:gd name="T9" fmla="*/ 313 h 439"/>
                    <a:gd name="T10" fmla="*/ 93 w 438"/>
                    <a:gd name="T11" fmla="*/ 63 h 439"/>
                  </a:gdLst>
                  <a:ahLst/>
                  <a:cxnLst>
                    <a:cxn ang="0">
                      <a:pos x="T0" y="T1"/>
                    </a:cxn>
                    <a:cxn ang="0">
                      <a:pos x="T2" y="T3"/>
                    </a:cxn>
                    <a:cxn ang="0">
                      <a:pos x="T4" y="T5"/>
                    </a:cxn>
                    <a:cxn ang="0">
                      <a:pos x="T6" y="T7"/>
                    </a:cxn>
                    <a:cxn ang="0">
                      <a:pos x="T8" y="T9"/>
                    </a:cxn>
                    <a:cxn ang="0">
                      <a:pos x="T10" y="T11"/>
                    </a:cxn>
                  </a:cxnLst>
                  <a:rect l="0" t="0" r="r" b="b"/>
                  <a:pathLst>
                    <a:path w="438" h="439">
                      <a:moveTo>
                        <a:pt x="93" y="63"/>
                      </a:moveTo>
                      <a:lnTo>
                        <a:pt x="93" y="63"/>
                      </a:lnTo>
                      <a:cubicBezTo>
                        <a:pt x="187" y="0"/>
                        <a:pt x="312" y="0"/>
                        <a:pt x="375" y="94"/>
                      </a:cubicBezTo>
                      <a:cubicBezTo>
                        <a:pt x="437" y="188"/>
                        <a:pt x="406" y="313"/>
                        <a:pt x="312" y="375"/>
                      </a:cubicBezTo>
                      <a:cubicBezTo>
                        <a:pt x="250" y="438"/>
                        <a:pt x="125" y="407"/>
                        <a:pt x="62" y="313"/>
                      </a:cubicBezTo>
                      <a:cubicBezTo>
                        <a:pt x="0" y="219"/>
                        <a:pt x="0" y="94"/>
                        <a:pt x="93"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1" name="文本"/>
                <p:cNvSpPr>
                  <a:spLocks noChangeArrowheads="1"/>
                </p:cNvSpPr>
                <p:nvPr>
                  <p:custDataLst>
                    <p:tags r:id="rId24"/>
                  </p:custDataLst>
                </p:nvPr>
              </p:nvSpPr>
              <p:spPr bwMode="auto">
                <a:xfrm>
                  <a:off x="6944622" y="4411740"/>
                  <a:ext cx="101066" cy="102191"/>
                </a:xfrm>
                <a:custGeom>
                  <a:avLst/>
                  <a:gdLst>
                    <a:gd name="T0" fmla="*/ 187 w 407"/>
                    <a:gd name="T1" fmla="*/ 0 h 408"/>
                    <a:gd name="T2" fmla="*/ 187 w 407"/>
                    <a:gd name="T3" fmla="*/ 0 h 408"/>
                    <a:gd name="T4" fmla="*/ 406 w 407"/>
                    <a:gd name="T5" fmla="*/ 219 h 408"/>
                    <a:gd name="T6" fmla="*/ 187 w 407"/>
                    <a:gd name="T7" fmla="*/ 407 h 408"/>
                    <a:gd name="T8" fmla="*/ 0 w 407"/>
                    <a:gd name="T9" fmla="*/ 219 h 408"/>
                    <a:gd name="T10" fmla="*/ 187 w 407"/>
                    <a:gd name="T11" fmla="*/ 0 h 408"/>
                  </a:gdLst>
                  <a:ahLst/>
                  <a:cxnLst>
                    <a:cxn ang="0">
                      <a:pos x="T0" y="T1"/>
                    </a:cxn>
                    <a:cxn ang="0">
                      <a:pos x="T2" y="T3"/>
                    </a:cxn>
                    <a:cxn ang="0">
                      <a:pos x="T4" y="T5"/>
                    </a:cxn>
                    <a:cxn ang="0">
                      <a:pos x="T6" y="T7"/>
                    </a:cxn>
                    <a:cxn ang="0">
                      <a:pos x="T8" y="T9"/>
                    </a:cxn>
                    <a:cxn ang="0">
                      <a:pos x="T10" y="T11"/>
                    </a:cxn>
                  </a:cxnLst>
                  <a:rect l="0" t="0" r="r" b="b"/>
                  <a:pathLst>
                    <a:path w="407" h="408">
                      <a:moveTo>
                        <a:pt x="187" y="0"/>
                      </a:moveTo>
                      <a:lnTo>
                        <a:pt x="187" y="0"/>
                      </a:lnTo>
                      <a:cubicBezTo>
                        <a:pt x="312" y="0"/>
                        <a:pt x="406" y="94"/>
                        <a:pt x="406" y="219"/>
                      </a:cubicBezTo>
                      <a:cubicBezTo>
                        <a:pt x="406" y="313"/>
                        <a:pt x="312" y="407"/>
                        <a:pt x="187" y="407"/>
                      </a:cubicBezTo>
                      <a:cubicBezTo>
                        <a:pt x="93" y="407"/>
                        <a:pt x="0" y="313"/>
                        <a:pt x="0" y="219"/>
                      </a:cubicBezTo>
                      <a:cubicBezTo>
                        <a:pt x="0" y="94"/>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2" name="文本"/>
                <p:cNvSpPr>
                  <a:spLocks noChangeArrowheads="1"/>
                </p:cNvSpPr>
                <p:nvPr/>
              </p:nvSpPr>
              <p:spPr bwMode="auto">
                <a:xfrm>
                  <a:off x="6944622" y="2614060"/>
                  <a:ext cx="101066" cy="101092"/>
                </a:xfrm>
                <a:custGeom>
                  <a:avLst/>
                  <a:gdLst>
                    <a:gd name="T0" fmla="*/ 187 w 407"/>
                    <a:gd name="T1" fmla="*/ 0 h 407"/>
                    <a:gd name="T2" fmla="*/ 187 w 407"/>
                    <a:gd name="T3" fmla="*/ 0 h 407"/>
                    <a:gd name="T4" fmla="*/ 406 w 407"/>
                    <a:gd name="T5" fmla="*/ 187 h 407"/>
                    <a:gd name="T6" fmla="*/ 187 w 407"/>
                    <a:gd name="T7" fmla="*/ 406 h 407"/>
                    <a:gd name="T8" fmla="*/ 0 w 407"/>
                    <a:gd name="T9" fmla="*/ 187 h 407"/>
                    <a:gd name="T10" fmla="*/ 187 w 407"/>
                    <a:gd name="T11" fmla="*/ 0 h 407"/>
                  </a:gdLst>
                  <a:ahLst/>
                  <a:cxnLst>
                    <a:cxn ang="0">
                      <a:pos x="T0" y="T1"/>
                    </a:cxn>
                    <a:cxn ang="0">
                      <a:pos x="T2" y="T3"/>
                    </a:cxn>
                    <a:cxn ang="0">
                      <a:pos x="T4" y="T5"/>
                    </a:cxn>
                    <a:cxn ang="0">
                      <a:pos x="T6" y="T7"/>
                    </a:cxn>
                    <a:cxn ang="0">
                      <a:pos x="T8" y="T9"/>
                    </a:cxn>
                    <a:cxn ang="0">
                      <a:pos x="T10" y="T11"/>
                    </a:cxn>
                  </a:cxnLst>
                  <a:rect l="0" t="0" r="r" b="b"/>
                  <a:pathLst>
                    <a:path w="407" h="407">
                      <a:moveTo>
                        <a:pt x="187" y="0"/>
                      </a:moveTo>
                      <a:lnTo>
                        <a:pt x="187" y="0"/>
                      </a:lnTo>
                      <a:cubicBezTo>
                        <a:pt x="312" y="0"/>
                        <a:pt x="406" y="93"/>
                        <a:pt x="406" y="187"/>
                      </a:cubicBezTo>
                      <a:cubicBezTo>
                        <a:pt x="406" y="312"/>
                        <a:pt x="312" y="406"/>
                        <a:pt x="187" y="406"/>
                      </a:cubicBezTo>
                      <a:cubicBezTo>
                        <a:pt x="93" y="406"/>
                        <a:pt x="0" y="312"/>
                        <a:pt x="0" y="187"/>
                      </a:cubicBezTo>
                      <a:cubicBezTo>
                        <a:pt x="0" y="93"/>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3" name="文本"/>
                <p:cNvSpPr>
                  <a:spLocks noChangeArrowheads="1"/>
                </p:cNvSpPr>
                <p:nvPr>
                  <p:custDataLst>
                    <p:tags r:id="rId25"/>
                  </p:custDataLst>
                </p:nvPr>
              </p:nvSpPr>
              <p:spPr bwMode="auto">
                <a:xfrm>
                  <a:off x="7847621" y="3517296"/>
                  <a:ext cx="101066" cy="93401"/>
                </a:xfrm>
                <a:custGeom>
                  <a:avLst/>
                  <a:gdLst>
                    <a:gd name="T0" fmla="*/ 406 w 407"/>
                    <a:gd name="T1" fmla="*/ 187 h 375"/>
                    <a:gd name="T2" fmla="*/ 406 w 407"/>
                    <a:gd name="T3" fmla="*/ 187 h 375"/>
                    <a:gd name="T4" fmla="*/ 187 w 407"/>
                    <a:gd name="T5" fmla="*/ 374 h 375"/>
                    <a:gd name="T6" fmla="*/ 0 w 407"/>
                    <a:gd name="T7" fmla="*/ 187 h 375"/>
                    <a:gd name="T8" fmla="*/ 187 w 407"/>
                    <a:gd name="T9" fmla="*/ 0 h 375"/>
                    <a:gd name="T10" fmla="*/ 406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406" y="187"/>
                      </a:moveTo>
                      <a:lnTo>
                        <a:pt x="406" y="187"/>
                      </a:lnTo>
                      <a:cubicBezTo>
                        <a:pt x="406" y="311"/>
                        <a:pt x="312" y="374"/>
                        <a:pt x="187" y="374"/>
                      </a:cubicBezTo>
                      <a:cubicBezTo>
                        <a:pt x="93" y="374"/>
                        <a:pt x="0" y="311"/>
                        <a:pt x="0" y="187"/>
                      </a:cubicBezTo>
                      <a:cubicBezTo>
                        <a:pt x="0" y="93"/>
                        <a:pt x="93" y="0"/>
                        <a:pt x="187" y="0"/>
                      </a:cubicBezTo>
                      <a:cubicBezTo>
                        <a:pt x="312" y="0"/>
                        <a:pt x="406" y="93"/>
                        <a:pt x="406"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4" name="文本"/>
                <p:cNvSpPr>
                  <a:spLocks noChangeArrowheads="1"/>
                </p:cNvSpPr>
                <p:nvPr>
                  <p:custDataLst>
                    <p:tags r:id="rId26"/>
                  </p:custDataLst>
                </p:nvPr>
              </p:nvSpPr>
              <p:spPr bwMode="auto">
                <a:xfrm>
                  <a:off x="7575186" y="2870088"/>
                  <a:ext cx="108755" cy="108783"/>
                </a:xfrm>
                <a:custGeom>
                  <a:avLst/>
                  <a:gdLst>
                    <a:gd name="T0" fmla="*/ 375 w 438"/>
                    <a:gd name="T1" fmla="*/ 93 h 438"/>
                    <a:gd name="T2" fmla="*/ 375 w 438"/>
                    <a:gd name="T3" fmla="*/ 93 h 438"/>
                    <a:gd name="T4" fmla="*/ 375 w 438"/>
                    <a:gd name="T5" fmla="*/ 375 h 438"/>
                    <a:gd name="T6" fmla="*/ 94 w 438"/>
                    <a:gd name="T7" fmla="*/ 375 h 438"/>
                    <a:gd name="T8" fmla="*/ 94 w 438"/>
                    <a:gd name="T9" fmla="*/ 93 h 438"/>
                    <a:gd name="T10" fmla="*/ 375 w 438"/>
                    <a:gd name="T11" fmla="*/ 93 h 438"/>
                  </a:gdLst>
                  <a:ahLst/>
                  <a:cxnLst>
                    <a:cxn ang="0">
                      <a:pos x="T0" y="T1"/>
                    </a:cxn>
                    <a:cxn ang="0">
                      <a:pos x="T2" y="T3"/>
                    </a:cxn>
                    <a:cxn ang="0">
                      <a:pos x="T4" y="T5"/>
                    </a:cxn>
                    <a:cxn ang="0">
                      <a:pos x="T6" y="T7"/>
                    </a:cxn>
                    <a:cxn ang="0">
                      <a:pos x="T8" y="T9"/>
                    </a:cxn>
                    <a:cxn ang="0">
                      <a:pos x="T10" y="T11"/>
                    </a:cxn>
                  </a:cxnLst>
                  <a:rect l="0" t="0" r="r" b="b"/>
                  <a:pathLst>
                    <a:path w="438" h="438">
                      <a:moveTo>
                        <a:pt x="375" y="93"/>
                      </a:moveTo>
                      <a:lnTo>
                        <a:pt x="375" y="93"/>
                      </a:lnTo>
                      <a:cubicBezTo>
                        <a:pt x="437" y="156"/>
                        <a:pt x="437" y="281"/>
                        <a:pt x="375" y="375"/>
                      </a:cubicBezTo>
                      <a:cubicBezTo>
                        <a:pt x="281" y="437"/>
                        <a:pt x="156" y="437"/>
                        <a:pt x="94" y="375"/>
                      </a:cubicBezTo>
                      <a:cubicBezTo>
                        <a:pt x="0" y="281"/>
                        <a:pt x="0" y="156"/>
                        <a:pt x="94" y="93"/>
                      </a:cubicBezTo>
                      <a:cubicBezTo>
                        <a:pt x="156" y="0"/>
                        <a:pt x="281" y="0"/>
                        <a:pt x="375"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5" name="文本"/>
                <p:cNvSpPr>
                  <a:spLocks noChangeArrowheads="1"/>
                </p:cNvSpPr>
                <p:nvPr>
                  <p:custDataLst>
                    <p:tags r:id="rId27"/>
                  </p:custDataLst>
                </p:nvPr>
              </p:nvSpPr>
              <p:spPr bwMode="auto">
                <a:xfrm>
                  <a:off x="6306371" y="2870088"/>
                  <a:ext cx="109854" cy="108783"/>
                </a:xfrm>
                <a:custGeom>
                  <a:avLst/>
                  <a:gdLst>
                    <a:gd name="T0" fmla="*/ 344 w 439"/>
                    <a:gd name="T1" fmla="*/ 375 h 438"/>
                    <a:gd name="T2" fmla="*/ 344 w 439"/>
                    <a:gd name="T3" fmla="*/ 375 h 438"/>
                    <a:gd name="T4" fmla="*/ 63 w 439"/>
                    <a:gd name="T5" fmla="*/ 375 h 438"/>
                    <a:gd name="T6" fmla="*/ 63 w 439"/>
                    <a:gd name="T7" fmla="*/ 93 h 438"/>
                    <a:gd name="T8" fmla="*/ 344 w 439"/>
                    <a:gd name="T9" fmla="*/ 93 h 438"/>
                    <a:gd name="T10" fmla="*/ 344 w 439"/>
                    <a:gd name="T11" fmla="*/ 375 h 438"/>
                  </a:gdLst>
                  <a:ahLst/>
                  <a:cxnLst>
                    <a:cxn ang="0">
                      <a:pos x="T0" y="T1"/>
                    </a:cxn>
                    <a:cxn ang="0">
                      <a:pos x="T2" y="T3"/>
                    </a:cxn>
                    <a:cxn ang="0">
                      <a:pos x="T4" y="T5"/>
                    </a:cxn>
                    <a:cxn ang="0">
                      <a:pos x="T6" y="T7"/>
                    </a:cxn>
                    <a:cxn ang="0">
                      <a:pos x="T8" y="T9"/>
                    </a:cxn>
                    <a:cxn ang="0">
                      <a:pos x="T10" y="T11"/>
                    </a:cxn>
                  </a:cxnLst>
                  <a:rect l="0" t="0" r="r" b="b"/>
                  <a:pathLst>
                    <a:path w="439" h="438">
                      <a:moveTo>
                        <a:pt x="344" y="375"/>
                      </a:moveTo>
                      <a:lnTo>
                        <a:pt x="344" y="375"/>
                      </a:lnTo>
                      <a:cubicBezTo>
                        <a:pt x="281" y="437"/>
                        <a:pt x="156" y="437"/>
                        <a:pt x="63" y="375"/>
                      </a:cubicBezTo>
                      <a:cubicBezTo>
                        <a:pt x="0" y="281"/>
                        <a:pt x="0" y="156"/>
                        <a:pt x="63" y="93"/>
                      </a:cubicBezTo>
                      <a:cubicBezTo>
                        <a:pt x="156" y="0"/>
                        <a:pt x="281" y="0"/>
                        <a:pt x="344" y="93"/>
                      </a:cubicBezTo>
                      <a:cubicBezTo>
                        <a:pt x="438" y="156"/>
                        <a:pt x="438" y="281"/>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6" name="文本"/>
                <p:cNvSpPr>
                  <a:spLocks noChangeArrowheads="1"/>
                </p:cNvSpPr>
                <p:nvPr>
                  <p:custDataLst>
                    <p:tags r:id="rId28"/>
                  </p:custDataLst>
                </p:nvPr>
              </p:nvSpPr>
              <p:spPr bwMode="auto">
                <a:xfrm>
                  <a:off x="7575186" y="4146923"/>
                  <a:ext cx="108755" cy="108783"/>
                </a:xfrm>
                <a:custGeom>
                  <a:avLst/>
                  <a:gdLst>
                    <a:gd name="T0" fmla="*/ 375 w 438"/>
                    <a:gd name="T1" fmla="*/ 344 h 438"/>
                    <a:gd name="T2" fmla="*/ 375 w 438"/>
                    <a:gd name="T3" fmla="*/ 344 h 438"/>
                    <a:gd name="T4" fmla="*/ 94 w 438"/>
                    <a:gd name="T5" fmla="*/ 344 h 438"/>
                    <a:gd name="T6" fmla="*/ 94 w 438"/>
                    <a:gd name="T7" fmla="*/ 62 h 438"/>
                    <a:gd name="T8" fmla="*/ 375 w 438"/>
                    <a:gd name="T9" fmla="*/ 62 h 438"/>
                    <a:gd name="T10" fmla="*/ 375 w 438"/>
                    <a:gd name="T11" fmla="*/ 344 h 438"/>
                  </a:gdLst>
                  <a:ahLst/>
                  <a:cxnLst>
                    <a:cxn ang="0">
                      <a:pos x="T0" y="T1"/>
                    </a:cxn>
                    <a:cxn ang="0">
                      <a:pos x="T2" y="T3"/>
                    </a:cxn>
                    <a:cxn ang="0">
                      <a:pos x="T4" y="T5"/>
                    </a:cxn>
                    <a:cxn ang="0">
                      <a:pos x="T6" y="T7"/>
                    </a:cxn>
                    <a:cxn ang="0">
                      <a:pos x="T8" y="T9"/>
                    </a:cxn>
                    <a:cxn ang="0">
                      <a:pos x="T10" y="T11"/>
                    </a:cxn>
                  </a:cxnLst>
                  <a:rect l="0" t="0" r="r" b="b"/>
                  <a:pathLst>
                    <a:path w="438" h="438">
                      <a:moveTo>
                        <a:pt x="375" y="344"/>
                      </a:moveTo>
                      <a:lnTo>
                        <a:pt x="375" y="344"/>
                      </a:lnTo>
                      <a:cubicBezTo>
                        <a:pt x="281" y="437"/>
                        <a:pt x="156" y="437"/>
                        <a:pt x="94" y="344"/>
                      </a:cubicBezTo>
                      <a:cubicBezTo>
                        <a:pt x="0" y="281"/>
                        <a:pt x="0" y="156"/>
                        <a:pt x="94" y="62"/>
                      </a:cubicBezTo>
                      <a:cubicBezTo>
                        <a:pt x="156" y="0"/>
                        <a:pt x="281" y="0"/>
                        <a:pt x="375" y="62"/>
                      </a:cubicBezTo>
                      <a:cubicBezTo>
                        <a:pt x="437" y="156"/>
                        <a:pt x="437" y="281"/>
                        <a:pt x="375"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7" name="文本"/>
                <p:cNvSpPr>
                  <a:spLocks noChangeArrowheads="1"/>
                </p:cNvSpPr>
                <p:nvPr/>
              </p:nvSpPr>
              <p:spPr bwMode="auto">
                <a:xfrm>
                  <a:off x="7287368" y="2675595"/>
                  <a:ext cx="108755" cy="116476"/>
                </a:xfrm>
                <a:custGeom>
                  <a:avLst/>
                  <a:gdLst>
                    <a:gd name="T0" fmla="*/ 281 w 438"/>
                    <a:gd name="T1" fmla="*/ 31 h 469"/>
                    <a:gd name="T2" fmla="*/ 281 w 438"/>
                    <a:gd name="T3" fmla="*/ 31 h 469"/>
                    <a:gd name="T4" fmla="*/ 406 w 438"/>
                    <a:gd name="T5" fmla="*/ 312 h 469"/>
                    <a:gd name="T6" fmla="*/ 125 w 438"/>
                    <a:gd name="T7" fmla="*/ 406 h 469"/>
                    <a:gd name="T8" fmla="*/ 31 w 438"/>
                    <a:gd name="T9" fmla="*/ 156 h 469"/>
                    <a:gd name="T10" fmla="*/ 281 w 438"/>
                    <a:gd name="T11" fmla="*/ 31 h 469"/>
                  </a:gdLst>
                  <a:ahLst/>
                  <a:cxnLst>
                    <a:cxn ang="0">
                      <a:pos x="T0" y="T1"/>
                    </a:cxn>
                    <a:cxn ang="0">
                      <a:pos x="T2" y="T3"/>
                    </a:cxn>
                    <a:cxn ang="0">
                      <a:pos x="T4" y="T5"/>
                    </a:cxn>
                    <a:cxn ang="0">
                      <a:pos x="T6" y="T7"/>
                    </a:cxn>
                    <a:cxn ang="0">
                      <a:pos x="T8" y="T9"/>
                    </a:cxn>
                    <a:cxn ang="0">
                      <a:pos x="T10" y="T11"/>
                    </a:cxn>
                  </a:cxnLst>
                  <a:rect l="0" t="0" r="r" b="b"/>
                  <a:pathLst>
                    <a:path w="438" h="469">
                      <a:moveTo>
                        <a:pt x="281" y="31"/>
                      </a:moveTo>
                      <a:lnTo>
                        <a:pt x="281" y="31"/>
                      </a:lnTo>
                      <a:cubicBezTo>
                        <a:pt x="375" y="93"/>
                        <a:pt x="437" y="187"/>
                        <a:pt x="406" y="312"/>
                      </a:cubicBezTo>
                      <a:cubicBezTo>
                        <a:pt x="343" y="406"/>
                        <a:pt x="250" y="468"/>
                        <a:pt x="125" y="406"/>
                      </a:cubicBezTo>
                      <a:cubicBezTo>
                        <a:pt x="31" y="375"/>
                        <a:pt x="0" y="250"/>
                        <a:pt x="31" y="156"/>
                      </a:cubicBezTo>
                      <a:cubicBezTo>
                        <a:pt x="62" y="62"/>
                        <a:pt x="187" y="0"/>
                        <a:pt x="281"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8" name="文本"/>
                <p:cNvSpPr>
                  <a:spLocks noChangeArrowheads="1"/>
                </p:cNvSpPr>
                <p:nvPr>
                  <p:custDataLst>
                    <p:tags r:id="rId29"/>
                  </p:custDataLst>
                </p:nvPr>
              </p:nvSpPr>
              <p:spPr bwMode="auto">
                <a:xfrm>
                  <a:off x="6104240" y="3166770"/>
                  <a:ext cx="116446" cy="109883"/>
                </a:xfrm>
                <a:custGeom>
                  <a:avLst/>
                  <a:gdLst>
                    <a:gd name="T0" fmla="*/ 437 w 469"/>
                    <a:gd name="T1" fmla="*/ 282 h 439"/>
                    <a:gd name="T2" fmla="*/ 437 w 469"/>
                    <a:gd name="T3" fmla="*/ 282 h 439"/>
                    <a:gd name="T4" fmla="*/ 156 w 469"/>
                    <a:gd name="T5" fmla="*/ 407 h 439"/>
                    <a:gd name="T6" fmla="*/ 62 w 469"/>
                    <a:gd name="T7" fmla="*/ 125 h 439"/>
                    <a:gd name="T8" fmla="*/ 312 w 469"/>
                    <a:gd name="T9" fmla="*/ 32 h 439"/>
                    <a:gd name="T10" fmla="*/ 437 w 469"/>
                    <a:gd name="T11" fmla="*/ 282 h 439"/>
                  </a:gdLst>
                  <a:ahLst/>
                  <a:cxnLst>
                    <a:cxn ang="0">
                      <a:pos x="T0" y="T1"/>
                    </a:cxn>
                    <a:cxn ang="0">
                      <a:pos x="T2" y="T3"/>
                    </a:cxn>
                    <a:cxn ang="0">
                      <a:pos x="T4" y="T5"/>
                    </a:cxn>
                    <a:cxn ang="0">
                      <a:pos x="T6" y="T7"/>
                    </a:cxn>
                    <a:cxn ang="0">
                      <a:pos x="T8" y="T9"/>
                    </a:cxn>
                    <a:cxn ang="0">
                      <a:pos x="T10" y="T11"/>
                    </a:cxn>
                  </a:cxnLst>
                  <a:rect l="0" t="0" r="r" b="b"/>
                  <a:pathLst>
                    <a:path w="469" h="439">
                      <a:moveTo>
                        <a:pt x="437" y="282"/>
                      </a:moveTo>
                      <a:lnTo>
                        <a:pt x="437" y="282"/>
                      </a:lnTo>
                      <a:cubicBezTo>
                        <a:pt x="375" y="407"/>
                        <a:pt x="250" y="438"/>
                        <a:pt x="156" y="407"/>
                      </a:cubicBezTo>
                      <a:cubicBezTo>
                        <a:pt x="62" y="344"/>
                        <a:pt x="0" y="250"/>
                        <a:pt x="62" y="125"/>
                      </a:cubicBezTo>
                      <a:cubicBezTo>
                        <a:pt x="93" y="32"/>
                        <a:pt x="218" y="0"/>
                        <a:pt x="312" y="32"/>
                      </a:cubicBezTo>
                      <a:cubicBezTo>
                        <a:pt x="406" y="63"/>
                        <a:pt x="468" y="188"/>
                        <a:pt x="437" y="28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9" name="文本"/>
                <p:cNvSpPr>
                  <a:spLocks noChangeArrowheads="1"/>
                </p:cNvSpPr>
                <p:nvPr>
                  <p:custDataLst>
                    <p:tags r:id="rId30"/>
                  </p:custDataLst>
                </p:nvPr>
              </p:nvSpPr>
              <p:spPr bwMode="auto">
                <a:xfrm>
                  <a:off x="7769626" y="3851338"/>
                  <a:ext cx="117543" cy="117575"/>
                </a:xfrm>
                <a:custGeom>
                  <a:avLst/>
                  <a:gdLst>
                    <a:gd name="T0" fmla="*/ 406 w 470"/>
                    <a:gd name="T1" fmla="*/ 313 h 470"/>
                    <a:gd name="T2" fmla="*/ 406 w 470"/>
                    <a:gd name="T3" fmla="*/ 313 h 470"/>
                    <a:gd name="T4" fmla="*/ 156 w 470"/>
                    <a:gd name="T5" fmla="*/ 407 h 470"/>
                    <a:gd name="T6" fmla="*/ 31 w 470"/>
                    <a:gd name="T7" fmla="*/ 157 h 470"/>
                    <a:gd name="T8" fmla="*/ 313 w 470"/>
                    <a:gd name="T9" fmla="*/ 32 h 470"/>
                    <a:gd name="T10" fmla="*/ 406 w 470"/>
                    <a:gd name="T11" fmla="*/ 313 h 470"/>
                  </a:gdLst>
                  <a:ahLst/>
                  <a:cxnLst>
                    <a:cxn ang="0">
                      <a:pos x="T0" y="T1"/>
                    </a:cxn>
                    <a:cxn ang="0">
                      <a:pos x="T2" y="T3"/>
                    </a:cxn>
                    <a:cxn ang="0">
                      <a:pos x="T4" y="T5"/>
                    </a:cxn>
                    <a:cxn ang="0">
                      <a:pos x="T6" y="T7"/>
                    </a:cxn>
                    <a:cxn ang="0">
                      <a:pos x="T8" y="T9"/>
                    </a:cxn>
                    <a:cxn ang="0">
                      <a:pos x="T10" y="T11"/>
                    </a:cxn>
                  </a:cxnLst>
                  <a:rect l="0" t="0" r="r" b="b"/>
                  <a:pathLst>
                    <a:path w="470" h="470">
                      <a:moveTo>
                        <a:pt x="406" y="313"/>
                      </a:moveTo>
                      <a:lnTo>
                        <a:pt x="406" y="313"/>
                      </a:lnTo>
                      <a:cubicBezTo>
                        <a:pt x="375" y="407"/>
                        <a:pt x="250" y="469"/>
                        <a:pt x="156" y="407"/>
                      </a:cubicBezTo>
                      <a:cubicBezTo>
                        <a:pt x="63" y="375"/>
                        <a:pt x="0" y="250"/>
                        <a:pt x="31" y="157"/>
                      </a:cubicBezTo>
                      <a:cubicBezTo>
                        <a:pt x="94" y="63"/>
                        <a:pt x="219" y="0"/>
                        <a:pt x="313" y="32"/>
                      </a:cubicBezTo>
                      <a:cubicBezTo>
                        <a:pt x="406" y="94"/>
                        <a:pt x="469" y="219"/>
                        <a:pt x="406"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0" name="文本"/>
                <p:cNvSpPr>
                  <a:spLocks noChangeArrowheads="1"/>
                </p:cNvSpPr>
                <p:nvPr>
                  <p:custDataLst>
                    <p:tags r:id="rId31"/>
                  </p:custDataLst>
                </p:nvPr>
              </p:nvSpPr>
              <p:spPr bwMode="auto">
                <a:xfrm>
                  <a:off x="7769626" y="3166770"/>
                  <a:ext cx="117543" cy="109883"/>
                </a:xfrm>
                <a:custGeom>
                  <a:avLst/>
                  <a:gdLst>
                    <a:gd name="T0" fmla="*/ 406 w 470"/>
                    <a:gd name="T1" fmla="*/ 125 h 439"/>
                    <a:gd name="T2" fmla="*/ 406 w 470"/>
                    <a:gd name="T3" fmla="*/ 125 h 439"/>
                    <a:gd name="T4" fmla="*/ 313 w 470"/>
                    <a:gd name="T5" fmla="*/ 407 h 439"/>
                    <a:gd name="T6" fmla="*/ 31 w 470"/>
                    <a:gd name="T7" fmla="*/ 282 h 439"/>
                    <a:gd name="T8" fmla="*/ 156 w 470"/>
                    <a:gd name="T9" fmla="*/ 32 h 439"/>
                    <a:gd name="T10" fmla="*/ 406 w 470"/>
                    <a:gd name="T11" fmla="*/ 125 h 439"/>
                  </a:gdLst>
                  <a:ahLst/>
                  <a:cxnLst>
                    <a:cxn ang="0">
                      <a:pos x="T0" y="T1"/>
                    </a:cxn>
                    <a:cxn ang="0">
                      <a:pos x="T2" y="T3"/>
                    </a:cxn>
                    <a:cxn ang="0">
                      <a:pos x="T4" y="T5"/>
                    </a:cxn>
                    <a:cxn ang="0">
                      <a:pos x="T6" y="T7"/>
                    </a:cxn>
                    <a:cxn ang="0">
                      <a:pos x="T8" y="T9"/>
                    </a:cxn>
                    <a:cxn ang="0">
                      <a:pos x="T10" y="T11"/>
                    </a:cxn>
                  </a:cxnLst>
                  <a:rect l="0" t="0" r="r" b="b"/>
                  <a:pathLst>
                    <a:path w="470" h="439">
                      <a:moveTo>
                        <a:pt x="406" y="125"/>
                      </a:moveTo>
                      <a:lnTo>
                        <a:pt x="406" y="125"/>
                      </a:lnTo>
                      <a:cubicBezTo>
                        <a:pt x="469" y="250"/>
                        <a:pt x="406" y="344"/>
                        <a:pt x="313" y="407"/>
                      </a:cubicBezTo>
                      <a:cubicBezTo>
                        <a:pt x="219" y="438"/>
                        <a:pt x="94" y="407"/>
                        <a:pt x="31" y="282"/>
                      </a:cubicBezTo>
                      <a:cubicBezTo>
                        <a:pt x="0" y="188"/>
                        <a:pt x="63" y="63"/>
                        <a:pt x="156" y="32"/>
                      </a:cubicBezTo>
                      <a:cubicBezTo>
                        <a:pt x="250" y="0"/>
                        <a:pt x="375" y="32"/>
                        <a:pt x="406"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1" name="文本"/>
                <p:cNvSpPr>
                  <a:spLocks noChangeArrowheads="1"/>
                </p:cNvSpPr>
                <p:nvPr/>
              </p:nvSpPr>
              <p:spPr bwMode="auto">
                <a:xfrm>
                  <a:off x="6594188" y="2675595"/>
                  <a:ext cx="109854" cy="116476"/>
                </a:xfrm>
                <a:custGeom>
                  <a:avLst/>
                  <a:gdLst>
                    <a:gd name="T0" fmla="*/ 313 w 439"/>
                    <a:gd name="T1" fmla="*/ 406 h 469"/>
                    <a:gd name="T2" fmla="*/ 313 w 439"/>
                    <a:gd name="T3" fmla="*/ 406 h 469"/>
                    <a:gd name="T4" fmla="*/ 32 w 439"/>
                    <a:gd name="T5" fmla="*/ 312 h 469"/>
                    <a:gd name="T6" fmla="*/ 157 w 439"/>
                    <a:gd name="T7" fmla="*/ 31 h 469"/>
                    <a:gd name="T8" fmla="*/ 406 w 439"/>
                    <a:gd name="T9" fmla="*/ 156 h 469"/>
                    <a:gd name="T10" fmla="*/ 313 w 439"/>
                    <a:gd name="T11" fmla="*/ 406 h 469"/>
                  </a:gdLst>
                  <a:ahLst/>
                  <a:cxnLst>
                    <a:cxn ang="0">
                      <a:pos x="T0" y="T1"/>
                    </a:cxn>
                    <a:cxn ang="0">
                      <a:pos x="T2" y="T3"/>
                    </a:cxn>
                    <a:cxn ang="0">
                      <a:pos x="T4" y="T5"/>
                    </a:cxn>
                    <a:cxn ang="0">
                      <a:pos x="T6" y="T7"/>
                    </a:cxn>
                    <a:cxn ang="0">
                      <a:pos x="T8" y="T9"/>
                    </a:cxn>
                    <a:cxn ang="0">
                      <a:pos x="T10" y="T11"/>
                    </a:cxn>
                  </a:cxnLst>
                  <a:rect l="0" t="0" r="r" b="b"/>
                  <a:pathLst>
                    <a:path w="439" h="469">
                      <a:moveTo>
                        <a:pt x="313" y="406"/>
                      </a:moveTo>
                      <a:lnTo>
                        <a:pt x="313" y="406"/>
                      </a:lnTo>
                      <a:cubicBezTo>
                        <a:pt x="188" y="468"/>
                        <a:pt x="94" y="406"/>
                        <a:pt x="32" y="312"/>
                      </a:cubicBezTo>
                      <a:cubicBezTo>
                        <a:pt x="0" y="187"/>
                        <a:pt x="63" y="93"/>
                        <a:pt x="157" y="31"/>
                      </a:cubicBezTo>
                      <a:cubicBezTo>
                        <a:pt x="250" y="0"/>
                        <a:pt x="375" y="62"/>
                        <a:pt x="406" y="156"/>
                      </a:cubicBezTo>
                      <a:cubicBezTo>
                        <a:pt x="438" y="250"/>
                        <a:pt x="406" y="375"/>
                        <a:pt x="313"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2" name="文本"/>
                <p:cNvSpPr>
                  <a:spLocks noChangeArrowheads="1"/>
                </p:cNvSpPr>
                <p:nvPr>
                  <p:custDataLst>
                    <p:tags r:id="rId32"/>
                  </p:custDataLst>
                </p:nvPr>
              </p:nvSpPr>
              <p:spPr bwMode="auto">
                <a:xfrm>
                  <a:off x="7287368" y="4341414"/>
                  <a:ext cx="108755" cy="109883"/>
                </a:xfrm>
                <a:custGeom>
                  <a:avLst/>
                  <a:gdLst>
                    <a:gd name="T0" fmla="*/ 281 w 438"/>
                    <a:gd name="T1" fmla="*/ 406 h 439"/>
                    <a:gd name="T2" fmla="*/ 281 w 438"/>
                    <a:gd name="T3" fmla="*/ 406 h 439"/>
                    <a:gd name="T4" fmla="*/ 31 w 438"/>
                    <a:gd name="T5" fmla="*/ 281 h 439"/>
                    <a:gd name="T6" fmla="*/ 125 w 438"/>
                    <a:gd name="T7" fmla="*/ 31 h 439"/>
                    <a:gd name="T8" fmla="*/ 406 w 438"/>
                    <a:gd name="T9" fmla="*/ 156 h 439"/>
                    <a:gd name="T10" fmla="*/ 281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281" y="406"/>
                      </a:moveTo>
                      <a:lnTo>
                        <a:pt x="281" y="406"/>
                      </a:lnTo>
                      <a:cubicBezTo>
                        <a:pt x="187" y="438"/>
                        <a:pt x="62" y="406"/>
                        <a:pt x="31" y="281"/>
                      </a:cubicBezTo>
                      <a:cubicBezTo>
                        <a:pt x="0" y="188"/>
                        <a:pt x="31" y="63"/>
                        <a:pt x="125" y="31"/>
                      </a:cubicBezTo>
                      <a:cubicBezTo>
                        <a:pt x="250" y="0"/>
                        <a:pt x="343" y="31"/>
                        <a:pt x="406" y="156"/>
                      </a:cubicBezTo>
                      <a:cubicBezTo>
                        <a:pt x="437" y="250"/>
                        <a:pt x="375" y="344"/>
                        <a:pt x="281"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3" name="文本"/>
                <p:cNvSpPr>
                  <a:spLocks noChangeArrowheads="1"/>
                </p:cNvSpPr>
                <p:nvPr>
                  <p:custDataLst>
                    <p:tags r:id="rId33"/>
                  </p:custDataLst>
                </p:nvPr>
              </p:nvSpPr>
              <p:spPr bwMode="auto">
                <a:xfrm>
                  <a:off x="7115994" y="4396355"/>
                  <a:ext cx="109854" cy="101092"/>
                </a:xfrm>
                <a:custGeom>
                  <a:avLst/>
                  <a:gdLst>
                    <a:gd name="T0" fmla="*/ 188 w 439"/>
                    <a:gd name="T1" fmla="*/ 0 h 407"/>
                    <a:gd name="T2" fmla="*/ 188 w 439"/>
                    <a:gd name="T3" fmla="*/ 0 h 407"/>
                    <a:gd name="T4" fmla="*/ 406 w 439"/>
                    <a:gd name="T5" fmla="*/ 156 h 407"/>
                    <a:gd name="T6" fmla="*/ 250 w 439"/>
                    <a:gd name="T7" fmla="*/ 406 h 407"/>
                    <a:gd name="T8" fmla="*/ 31 w 439"/>
                    <a:gd name="T9" fmla="*/ 250 h 407"/>
                    <a:gd name="T10" fmla="*/ 188 w 439"/>
                    <a:gd name="T11" fmla="*/ 0 h 407"/>
                  </a:gdLst>
                  <a:ahLst/>
                  <a:cxnLst>
                    <a:cxn ang="0">
                      <a:pos x="T0" y="T1"/>
                    </a:cxn>
                    <a:cxn ang="0">
                      <a:pos x="T2" y="T3"/>
                    </a:cxn>
                    <a:cxn ang="0">
                      <a:pos x="T4" y="T5"/>
                    </a:cxn>
                    <a:cxn ang="0">
                      <a:pos x="T6" y="T7"/>
                    </a:cxn>
                    <a:cxn ang="0">
                      <a:pos x="T8" y="T9"/>
                    </a:cxn>
                    <a:cxn ang="0">
                      <a:pos x="T10" y="T11"/>
                    </a:cxn>
                  </a:cxnLst>
                  <a:rect l="0" t="0" r="r" b="b"/>
                  <a:pathLst>
                    <a:path w="439" h="407">
                      <a:moveTo>
                        <a:pt x="188" y="0"/>
                      </a:moveTo>
                      <a:lnTo>
                        <a:pt x="188" y="0"/>
                      </a:lnTo>
                      <a:cubicBezTo>
                        <a:pt x="281" y="0"/>
                        <a:pt x="406" y="62"/>
                        <a:pt x="406" y="156"/>
                      </a:cubicBezTo>
                      <a:cubicBezTo>
                        <a:pt x="438" y="281"/>
                        <a:pt x="375" y="375"/>
                        <a:pt x="250" y="406"/>
                      </a:cubicBezTo>
                      <a:cubicBezTo>
                        <a:pt x="156" y="406"/>
                        <a:pt x="31" y="344"/>
                        <a:pt x="31" y="250"/>
                      </a:cubicBezTo>
                      <a:cubicBezTo>
                        <a:pt x="0" y="125"/>
                        <a:pt x="63" y="31"/>
                        <a:pt x="188"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4" name="文本"/>
                <p:cNvSpPr>
                  <a:spLocks noChangeArrowheads="1"/>
                </p:cNvSpPr>
                <p:nvPr/>
              </p:nvSpPr>
              <p:spPr bwMode="auto">
                <a:xfrm>
                  <a:off x="6765562" y="2629445"/>
                  <a:ext cx="108755" cy="109883"/>
                </a:xfrm>
                <a:custGeom>
                  <a:avLst/>
                  <a:gdLst>
                    <a:gd name="T0" fmla="*/ 187 w 438"/>
                    <a:gd name="T1" fmla="*/ 0 h 439"/>
                    <a:gd name="T2" fmla="*/ 187 w 438"/>
                    <a:gd name="T3" fmla="*/ 0 h 439"/>
                    <a:gd name="T4" fmla="*/ 406 w 438"/>
                    <a:gd name="T5" fmla="*/ 156 h 439"/>
                    <a:gd name="T6" fmla="*/ 250 w 438"/>
                    <a:gd name="T7" fmla="*/ 406 h 439"/>
                    <a:gd name="T8" fmla="*/ 31 w 438"/>
                    <a:gd name="T9" fmla="*/ 250 h 439"/>
                    <a:gd name="T10" fmla="*/ 187 w 438"/>
                    <a:gd name="T11" fmla="*/ 0 h 439"/>
                  </a:gdLst>
                  <a:ahLst/>
                  <a:cxnLst>
                    <a:cxn ang="0">
                      <a:pos x="T0" y="T1"/>
                    </a:cxn>
                    <a:cxn ang="0">
                      <a:pos x="T2" y="T3"/>
                    </a:cxn>
                    <a:cxn ang="0">
                      <a:pos x="T4" y="T5"/>
                    </a:cxn>
                    <a:cxn ang="0">
                      <a:pos x="T6" y="T7"/>
                    </a:cxn>
                    <a:cxn ang="0">
                      <a:pos x="T8" y="T9"/>
                    </a:cxn>
                    <a:cxn ang="0">
                      <a:pos x="T10" y="T11"/>
                    </a:cxn>
                  </a:cxnLst>
                  <a:rect l="0" t="0" r="r" b="b"/>
                  <a:pathLst>
                    <a:path w="438" h="439">
                      <a:moveTo>
                        <a:pt x="187" y="0"/>
                      </a:moveTo>
                      <a:lnTo>
                        <a:pt x="187" y="0"/>
                      </a:lnTo>
                      <a:cubicBezTo>
                        <a:pt x="281" y="0"/>
                        <a:pt x="375" y="63"/>
                        <a:pt x="406" y="156"/>
                      </a:cubicBezTo>
                      <a:cubicBezTo>
                        <a:pt x="437" y="281"/>
                        <a:pt x="375" y="375"/>
                        <a:pt x="250" y="406"/>
                      </a:cubicBezTo>
                      <a:cubicBezTo>
                        <a:pt x="156" y="438"/>
                        <a:pt x="31" y="344"/>
                        <a:pt x="31" y="250"/>
                      </a:cubicBezTo>
                      <a:cubicBezTo>
                        <a:pt x="0" y="125"/>
                        <a:pt x="62" y="31"/>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5" name="文本"/>
                <p:cNvSpPr>
                  <a:spLocks noChangeArrowheads="1"/>
                </p:cNvSpPr>
                <p:nvPr>
                  <p:custDataLst>
                    <p:tags r:id="rId34"/>
                  </p:custDataLst>
                </p:nvPr>
              </p:nvSpPr>
              <p:spPr bwMode="auto">
                <a:xfrm>
                  <a:off x="7824554" y="3338187"/>
                  <a:ext cx="108755" cy="101092"/>
                </a:xfrm>
                <a:custGeom>
                  <a:avLst/>
                  <a:gdLst>
                    <a:gd name="T0" fmla="*/ 406 w 438"/>
                    <a:gd name="T1" fmla="*/ 156 h 407"/>
                    <a:gd name="T2" fmla="*/ 406 w 438"/>
                    <a:gd name="T3" fmla="*/ 156 h 407"/>
                    <a:gd name="T4" fmla="*/ 250 w 438"/>
                    <a:gd name="T5" fmla="*/ 406 h 407"/>
                    <a:gd name="T6" fmla="*/ 31 w 438"/>
                    <a:gd name="T7" fmla="*/ 250 h 407"/>
                    <a:gd name="T8" fmla="*/ 187 w 438"/>
                    <a:gd name="T9" fmla="*/ 0 h 407"/>
                    <a:gd name="T10" fmla="*/ 406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406" y="156"/>
                      </a:moveTo>
                      <a:lnTo>
                        <a:pt x="406" y="156"/>
                      </a:lnTo>
                      <a:cubicBezTo>
                        <a:pt x="437" y="281"/>
                        <a:pt x="375" y="375"/>
                        <a:pt x="250" y="406"/>
                      </a:cubicBezTo>
                      <a:cubicBezTo>
                        <a:pt x="156" y="406"/>
                        <a:pt x="31" y="344"/>
                        <a:pt x="31" y="250"/>
                      </a:cubicBezTo>
                      <a:cubicBezTo>
                        <a:pt x="0" y="125"/>
                        <a:pt x="62" y="31"/>
                        <a:pt x="187" y="0"/>
                      </a:cubicBezTo>
                      <a:cubicBezTo>
                        <a:pt x="281" y="0"/>
                        <a:pt x="375" y="62"/>
                        <a:pt x="406"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6" name="文本"/>
                <p:cNvSpPr>
                  <a:spLocks noChangeArrowheads="1"/>
                </p:cNvSpPr>
                <p:nvPr>
                  <p:custDataLst>
                    <p:tags r:id="rId35"/>
                  </p:custDataLst>
                </p:nvPr>
              </p:nvSpPr>
              <p:spPr bwMode="auto">
                <a:xfrm>
                  <a:off x="7435670" y="2761304"/>
                  <a:ext cx="117543" cy="109883"/>
                </a:xfrm>
                <a:custGeom>
                  <a:avLst/>
                  <a:gdLst>
                    <a:gd name="T0" fmla="*/ 344 w 470"/>
                    <a:gd name="T1" fmla="*/ 63 h 439"/>
                    <a:gd name="T2" fmla="*/ 344 w 470"/>
                    <a:gd name="T3" fmla="*/ 63 h 439"/>
                    <a:gd name="T4" fmla="*/ 407 w 470"/>
                    <a:gd name="T5" fmla="*/ 313 h 439"/>
                    <a:gd name="T6" fmla="*/ 125 w 470"/>
                    <a:gd name="T7" fmla="*/ 375 h 439"/>
                    <a:gd name="T8" fmla="*/ 63 w 470"/>
                    <a:gd name="T9" fmla="*/ 94 h 439"/>
                    <a:gd name="T10" fmla="*/ 344 w 470"/>
                    <a:gd name="T11" fmla="*/ 63 h 439"/>
                  </a:gdLst>
                  <a:ahLst/>
                  <a:cxnLst>
                    <a:cxn ang="0">
                      <a:pos x="T0" y="T1"/>
                    </a:cxn>
                    <a:cxn ang="0">
                      <a:pos x="T2" y="T3"/>
                    </a:cxn>
                    <a:cxn ang="0">
                      <a:pos x="T4" y="T5"/>
                    </a:cxn>
                    <a:cxn ang="0">
                      <a:pos x="T6" y="T7"/>
                    </a:cxn>
                    <a:cxn ang="0">
                      <a:pos x="T8" y="T9"/>
                    </a:cxn>
                    <a:cxn ang="0">
                      <a:pos x="T10" y="T11"/>
                    </a:cxn>
                  </a:cxnLst>
                  <a:rect l="0" t="0" r="r" b="b"/>
                  <a:pathLst>
                    <a:path w="470" h="439">
                      <a:moveTo>
                        <a:pt x="344" y="63"/>
                      </a:moveTo>
                      <a:lnTo>
                        <a:pt x="344" y="63"/>
                      </a:lnTo>
                      <a:cubicBezTo>
                        <a:pt x="438" y="125"/>
                        <a:pt x="469" y="250"/>
                        <a:pt x="407" y="313"/>
                      </a:cubicBezTo>
                      <a:cubicBezTo>
                        <a:pt x="344" y="407"/>
                        <a:pt x="219" y="438"/>
                        <a:pt x="125" y="375"/>
                      </a:cubicBezTo>
                      <a:cubicBezTo>
                        <a:pt x="32" y="313"/>
                        <a:pt x="0" y="188"/>
                        <a:pt x="63" y="94"/>
                      </a:cubicBezTo>
                      <a:cubicBezTo>
                        <a:pt x="125" y="0"/>
                        <a:pt x="250" y="0"/>
                        <a:pt x="344"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7" name="文本"/>
                <p:cNvSpPr>
                  <a:spLocks noChangeArrowheads="1"/>
                </p:cNvSpPr>
                <p:nvPr>
                  <p:custDataLst>
                    <p:tags r:id="rId36"/>
                  </p:custDataLst>
                </p:nvPr>
              </p:nvSpPr>
              <p:spPr bwMode="auto">
                <a:xfrm>
                  <a:off x="6189927" y="3010737"/>
                  <a:ext cx="117543" cy="109883"/>
                </a:xfrm>
                <a:custGeom>
                  <a:avLst/>
                  <a:gdLst>
                    <a:gd name="T0" fmla="*/ 407 w 470"/>
                    <a:gd name="T1" fmla="*/ 313 h 439"/>
                    <a:gd name="T2" fmla="*/ 407 w 470"/>
                    <a:gd name="T3" fmla="*/ 313 h 439"/>
                    <a:gd name="T4" fmla="*/ 125 w 470"/>
                    <a:gd name="T5" fmla="*/ 375 h 439"/>
                    <a:gd name="T6" fmla="*/ 63 w 470"/>
                    <a:gd name="T7" fmla="*/ 94 h 439"/>
                    <a:gd name="T8" fmla="*/ 344 w 470"/>
                    <a:gd name="T9" fmla="*/ 63 h 439"/>
                    <a:gd name="T10" fmla="*/ 407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407" y="313"/>
                      </a:moveTo>
                      <a:lnTo>
                        <a:pt x="407" y="313"/>
                      </a:lnTo>
                      <a:cubicBezTo>
                        <a:pt x="344" y="407"/>
                        <a:pt x="219" y="438"/>
                        <a:pt x="125" y="375"/>
                      </a:cubicBezTo>
                      <a:cubicBezTo>
                        <a:pt x="32" y="313"/>
                        <a:pt x="0" y="188"/>
                        <a:pt x="63" y="94"/>
                      </a:cubicBezTo>
                      <a:cubicBezTo>
                        <a:pt x="125" y="0"/>
                        <a:pt x="250" y="0"/>
                        <a:pt x="344" y="63"/>
                      </a:cubicBezTo>
                      <a:cubicBezTo>
                        <a:pt x="438" y="125"/>
                        <a:pt x="469" y="219"/>
                        <a:pt x="407"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8" name="文本"/>
                <p:cNvSpPr>
                  <a:spLocks noChangeArrowheads="1"/>
                </p:cNvSpPr>
                <p:nvPr>
                  <p:custDataLst>
                    <p:tags r:id="rId37"/>
                  </p:custDataLst>
                </p:nvPr>
              </p:nvSpPr>
              <p:spPr bwMode="auto">
                <a:xfrm>
                  <a:off x="7683940" y="4007372"/>
                  <a:ext cx="117543" cy="117575"/>
                </a:xfrm>
                <a:custGeom>
                  <a:avLst/>
                  <a:gdLst>
                    <a:gd name="T0" fmla="*/ 407 w 470"/>
                    <a:gd name="T1" fmla="*/ 344 h 470"/>
                    <a:gd name="T2" fmla="*/ 407 w 470"/>
                    <a:gd name="T3" fmla="*/ 344 h 470"/>
                    <a:gd name="T4" fmla="*/ 125 w 470"/>
                    <a:gd name="T5" fmla="*/ 407 h 470"/>
                    <a:gd name="T6" fmla="*/ 63 w 470"/>
                    <a:gd name="T7" fmla="*/ 125 h 470"/>
                    <a:gd name="T8" fmla="*/ 344 w 470"/>
                    <a:gd name="T9" fmla="*/ 63 h 470"/>
                    <a:gd name="T10" fmla="*/ 407 w 470"/>
                    <a:gd name="T11" fmla="*/ 344 h 470"/>
                  </a:gdLst>
                  <a:ahLst/>
                  <a:cxnLst>
                    <a:cxn ang="0">
                      <a:pos x="T0" y="T1"/>
                    </a:cxn>
                    <a:cxn ang="0">
                      <a:pos x="T2" y="T3"/>
                    </a:cxn>
                    <a:cxn ang="0">
                      <a:pos x="T4" y="T5"/>
                    </a:cxn>
                    <a:cxn ang="0">
                      <a:pos x="T6" y="T7"/>
                    </a:cxn>
                    <a:cxn ang="0">
                      <a:pos x="T8" y="T9"/>
                    </a:cxn>
                    <a:cxn ang="0">
                      <a:pos x="T10" y="T11"/>
                    </a:cxn>
                  </a:cxnLst>
                  <a:rect l="0" t="0" r="r" b="b"/>
                  <a:pathLst>
                    <a:path w="470" h="470">
                      <a:moveTo>
                        <a:pt x="407" y="344"/>
                      </a:moveTo>
                      <a:lnTo>
                        <a:pt x="407" y="344"/>
                      </a:lnTo>
                      <a:cubicBezTo>
                        <a:pt x="344" y="438"/>
                        <a:pt x="219" y="469"/>
                        <a:pt x="125" y="407"/>
                      </a:cubicBezTo>
                      <a:cubicBezTo>
                        <a:pt x="32" y="344"/>
                        <a:pt x="0" y="219"/>
                        <a:pt x="63" y="125"/>
                      </a:cubicBezTo>
                      <a:cubicBezTo>
                        <a:pt x="125" y="32"/>
                        <a:pt x="250" y="0"/>
                        <a:pt x="344" y="63"/>
                      </a:cubicBezTo>
                      <a:cubicBezTo>
                        <a:pt x="438" y="125"/>
                        <a:pt x="469" y="250"/>
                        <a:pt x="407"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9" name="文本"/>
                <p:cNvSpPr>
                  <a:spLocks noChangeArrowheads="1"/>
                </p:cNvSpPr>
                <p:nvPr/>
              </p:nvSpPr>
              <p:spPr bwMode="auto">
                <a:xfrm>
                  <a:off x="7115994" y="2629445"/>
                  <a:ext cx="109854" cy="109883"/>
                </a:xfrm>
                <a:custGeom>
                  <a:avLst/>
                  <a:gdLst>
                    <a:gd name="T0" fmla="*/ 250 w 439"/>
                    <a:gd name="T1" fmla="*/ 0 h 439"/>
                    <a:gd name="T2" fmla="*/ 250 w 439"/>
                    <a:gd name="T3" fmla="*/ 0 h 439"/>
                    <a:gd name="T4" fmla="*/ 406 w 439"/>
                    <a:gd name="T5" fmla="*/ 250 h 439"/>
                    <a:gd name="T6" fmla="*/ 188 w 439"/>
                    <a:gd name="T7" fmla="*/ 406 h 439"/>
                    <a:gd name="T8" fmla="*/ 31 w 439"/>
                    <a:gd name="T9" fmla="*/ 156 h 439"/>
                    <a:gd name="T10" fmla="*/ 250 w 439"/>
                    <a:gd name="T11" fmla="*/ 0 h 439"/>
                  </a:gdLst>
                  <a:ahLst/>
                  <a:cxnLst>
                    <a:cxn ang="0">
                      <a:pos x="T0" y="T1"/>
                    </a:cxn>
                    <a:cxn ang="0">
                      <a:pos x="T2" y="T3"/>
                    </a:cxn>
                    <a:cxn ang="0">
                      <a:pos x="T4" y="T5"/>
                    </a:cxn>
                    <a:cxn ang="0">
                      <a:pos x="T6" y="T7"/>
                    </a:cxn>
                    <a:cxn ang="0">
                      <a:pos x="T8" y="T9"/>
                    </a:cxn>
                    <a:cxn ang="0">
                      <a:pos x="T10" y="T11"/>
                    </a:cxn>
                  </a:cxnLst>
                  <a:rect l="0" t="0" r="r" b="b"/>
                  <a:pathLst>
                    <a:path w="439" h="439">
                      <a:moveTo>
                        <a:pt x="250" y="0"/>
                      </a:moveTo>
                      <a:lnTo>
                        <a:pt x="250" y="0"/>
                      </a:lnTo>
                      <a:cubicBezTo>
                        <a:pt x="375" y="31"/>
                        <a:pt x="438" y="125"/>
                        <a:pt x="406" y="250"/>
                      </a:cubicBezTo>
                      <a:cubicBezTo>
                        <a:pt x="406" y="344"/>
                        <a:pt x="281" y="438"/>
                        <a:pt x="188" y="406"/>
                      </a:cubicBezTo>
                      <a:cubicBezTo>
                        <a:pt x="63" y="375"/>
                        <a:pt x="0" y="281"/>
                        <a:pt x="31" y="156"/>
                      </a:cubicBezTo>
                      <a:cubicBezTo>
                        <a:pt x="31" y="63"/>
                        <a:pt x="156" y="0"/>
                        <a:pt x="250"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0" name="文本"/>
                <p:cNvSpPr>
                  <a:spLocks noChangeArrowheads="1"/>
                </p:cNvSpPr>
                <p:nvPr>
                  <p:custDataLst>
                    <p:tags r:id="rId38"/>
                  </p:custDataLst>
                </p:nvPr>
              </p:nvSpPr>
              <p:spPr bwMode="auto">
                <a:xfrm>
                  <a:off x="6058103" y="3338187"/>
                  <a:ext cx="108755" cy="101092"/>
                </a:xfrm>
                <a:custGeom>
                  <a:avLst/>
                  <a:gdLst>
                    <a:gd name="T0" fmla="*/ 405 w 438"/>
                    <a:gd name="T1" fmla="*/ 250 h 407"/>
                    <a:gd name="T2" fmla="*/ 405 w 438"/>
                    <a:gd name="T3" fmla="*/ 250 h 407"/>
                    <a:gd name="T4" fmla="*/ 187 w 438"/>
                    <a:gd name="T5" fmla="*/ 406 h 407"/>
                    <a:gd name="T6" fmla="*/ 31 w 438"/>
                    <a:gd name="T7" fmla="*/ 156 h 407"/>
                    <a:gd name="T8" fmla="*/ 249 w 438"/>
                    <a:gd name="T9" fmla="*/ 0 h 407"/>
                    <a:gd name="T10" fmla="*/ 405 w 438"/>
                    <a:gd name="T11" fmla="*/ 250 h 407"/>
                  </a:gdLst>
                  <a:ahLst/>
                  <a:cxnLst>
                    <a:cxn ang="0">
                      <a:pos x="T0" y="T1"/>
                    </a:cxn>
                    <a:cxn ang="0">
                      <a:pos x="T2" y="T3"/>
                    </a:cxn>
                    <a:cxn ang="0">
                      <a:pos x="T4" y="T5"/>
                    </a:cxn>
                    <a:cxn ang="0">
                      <a:pos x="T6" y="T7"/>
                    </a:cxn>
                    <a:cxn ang="0">
                      <a:pos x="T8" y="T9"/>
                    </a:cxn>
                    <a:cxn ang="0">
                      <a:pos x="T10" y="T11"/>
                    </a:cxn>
                  </a:cxnLst>
                  <a:rect l="0" t="0" r="r" b="b"/>
                  <a:pathLst>
                    <a:path w="438" h="407">
                      <a:moveTo>
                        <a:pt x="405" y="250"/>
                      </a:moveTo>
                      <a:lnTo>
                        <a:pt x="405" y="250"/>
                      </a:lnTo>
                      <a:cubicBezTo>
                        <a:pt x="405" y="344"/>
                        <a:pt x="280" y="406"/>
                        <a:pt x="187" y="406"/>
                      </a:cubicBezTo>
                      <a:cubicBezTo>
                        <a:pt x="63" y="375"/>
                        <a:pt x="0" y="281"/>
                        <a:pt x="31" y="156"/>
                      </a:cubicBezTo>
                      <a:cubicBezTo>
                        <a:pt x="63" y="62"/>
                        <a:pt x="156" y="0"/>
                        <a:pt x="249" y="0"/>
                      </a:cubicBezTo>
                      <a:cubicBezTo>
                        <a:pt x="374" y="31"/>
                        <a:pt x="437" y="125"/>
                        <a:pt x="405"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1" name="文本"/>
                <p:cNvSpPr>
                  <a:spLocks noChangeArrowheads="1"/>
                </p:cNvSpPr>
                <p:nvPr>
                  <p:custDataLst>
                    <p:tags r:id="rId39"/>
                  </p:custDataLst>
                </p:nvPr>
              </p:nvSpPr>
              <p:spPr bwMode="auto">
                <a:xfrm>
                  <a:off x="7824554" y="3687614"/>
                  <a:ext cx="108755" cy="109883"/>
                </a:xfrm>
                <a:custGeom>
                  <a:avLst/>
                  <a:gdLst>
                    <a:gd name="T0" fmla="*/ 406 w 438"/>
                    <a:gd name="T1" fmla="*/ 250 h 439"/>
                    <a:gd name="T2" fmla="*/ 406 w 438"/>
                    <a:gd name="T3" fmla="*/ 250 h 439"/>
                    <a:gd name="T4" fmla="*/ 187 w 438"/>
                    <a:gd name="T5" fmla="*/ 406 h 439"/>
                    <a:gd name="T6" fmla="*/ 31 w 438"/>
                    <a:gd name="T7" fmla="*/ 156 h 439"/>
                    <a:gd name="T8" fmla="*/ 250 w 438"/>
                    <a:gd name="T9" fmla="*/ 0 h 439"/>
                    <a:gd name="T10" fmla="*/ 406 w 438"/>
                    <a:gd name="T11" fmla="*/ 250 h 439"/>
                  </a:gdLst>
                  <a:ahLst/>
                  <a:cxnLst>
                    <a:cxn ang="0">
                      <a:pos x="T0" y="T1"/>
                    </a:cxn>
                    <a:cxn ang="0">
                      <a:pos x="T2" y="T3"/>
                    </a:cxn>
                    <a:cxn ang="0">
                      <a:pos x="T4" y="T5"/>
                    </a:cxn>
                    <a:cxn ang="0">
                      <a:pos x="T6" y="T7"/>
                    </a:cxn>
                    <a:cxn ang="0">
                      <a:pos x="T8" y="T9"/>
                    </a:cxn>
                    <a:cxn ang="0">
                      <a:pos x="T10" y="T11"/>
                    </a:cxn>
                  </a:cxnLst>
                  <a:rect l="0" t="0" r="r" b="b"/>
                  <a:pathLst>
                    <a:path w="438" h="439">
                      <a:moveTo>
                        <a:pt x="406" y="250"/>
                      </a:moveTo>
                      <a:lnTo>
                        <a:pt x="406" y="250"/>
                      </a:lnTo>
                      <a:cubicBezTo>
                        <a:pt x="375" y="344"/>
                        <a:pt x="281" y="438"/>
                        <a:pt x="187" y="406"/>
                      </a:cubicBezTo>
                      <a:cubicBezTo>
                        <a:pt x="62" y="375"/>
                        <a:pt x="0" y="281"/>
                        <a:pt x="31" y="156"/>
                      </a:cubicBezTo>
                      <a:cubicBezTo>
                        <a:pt x="31" y="63"/>
                        <a:pt x="156" y="0"/>
                        <a:pt x="250" y="0"/>
                      </a:cubicBezTo>
                      <a:cubicBezTo>
                        <a:pt x="375" y="31"/>
                        <a:pt x="437" y="125"/>
                        <a:pt x="406"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2" name="文本"/>
                <p:cNvSpPr>
                  <a:spLocks noChangeArrowheads="1"/>
                </p:cNvSpPr>
                <p:nvPr>
                  <p:custDataLst>
                    <p:tags r:id="rId40"/>
                  </p:custDataLst>
                </p:nvPr>
              </p:nvSpPr>
              <p:spPr bwMode="auto">
                <a:xfrm>
                  <a:off x="7683940" y="3010737"/>
                  <a:ext cx="117543" cy="109883"/>
                </a:xfrm>
                <a:custGeom>
                  <a:avLst/>
                  <a:gdLst>
                    <a:gd name="T0" fmla="*/ 407 w 470"/>
                    <a:gd name="T1" fmla="*/ 94 h 439"/>
                    <a:gd name="T2" fmla="*/ 407 w 470"/>
                    <a:gd name="T3" fmla="*/ 94 h 439"/>
                    <a:gd name="T4" fmla="*/ 344 w 470"/>
                    <a:gd name="T5" fmla="*/ 375 h 439"/>
                    <a:gd name="T6" fmla="*/ 63 w 470"/>
                    <a:gd name="T7" fmla="*/ 313 h 439"/>
                    <a:gd name="T8" fmla="*/ 125 w 470"/>
                    <a:gd name="T9" fmla="*/ 63 h 439"/>
                    <a:gd name="T10" fmla="*/ 407 w 470"/>
                    <a:gd name="T11" fmla="*/ 94 h 439"/>
                  </a:gdLst>
                  <a:ahLst/>
                  <a:cxnLst>
                    <a:cxn ang="0">
                      <a:pos x="T0" y="T1"/>
                    </a:cxn>
                    <a:cxn ang="0">
                      <a:pos x="T2" y="T3"/>
                    </a:cxn>
                    <a:cxn ang="0">
                      <a:pos x="T4" y="T5"/>
                    </a:cxn>
                    <a:cxn ang="0">
                      <a:pos x="T6" y="T7"/>
                    </a:cxn>
                    <a:cxn ang="0">
                      <a:pos x="T8" y="T9"/>
                    </a:cxn>
                    <a:cxn ang="0">
                      <a:pos x="T10" y="T11"/>
                    </a:cxn>
                  </a:cxnLst>
                  <a:rect l="0" t="0" r="r" b="b"/>
                  <a:pathLst>
                    <a:path w="470" h="439">
                      <a:moveTo>
                        <a:pt x="407" y="94"/>
                      </a:moveTo>
                      <a:lnTo>
                        <a:pt x="407" y="94"/>
                      </a:lnTo>
                      <a:cubicBezTo>
                        <a:pt x="469" y="188"/>
                        <a:pt x="438" y="313"/>
                        <a:pt x="344" y="375"/>
                      </a:cubicBezTo>
                      <a:cubicBezTo>
                        <a:pt x="250" y="438"/>
                        <a:pt x="125" y="407"/>
                        <a:pt x="63" y="313"/>
                      </a:cubicBezTo>
                      <a:cubicBezTo>
                        <a:pt x="0" y="219"/>
                        <a:pt x="32" y="125"/>
                        <a:pt x="125" y="63"/>
                      </a:cubicBezTo>
                      <a:cubicBezTo>
                        <a:pt x="219" y="0"/>
                        <a:pt x="344" y="0"/>
                        <a:pt x="407" y="9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3" name="文本"/>
                <p:cNvSpPr>
                  <a:spLocks noChangeArrowheads="1"/>
                </p:cNvSpPr>
                <p:nvPr>
                  <p:custDataLst>
                    <p:tags r:id="rId41"/>
                  </p:custDataLst>
                </p:nvPr>
              </p:nvSpPr>
              <p:spPr bwMode="auto">
                <a:xfrm>
                  <a:off x="6439294" y="2761304"/>
                  <a:ext cx="109854" cy="109883"/>
                </a:xfrm>
                <a:custGeom>
                  <a:avLst/>
                  <a:gdLst>
                    <a:gd name="T0" fmla="*/ 344 w 439"/>
                    <a:gd name="T1" fmla="*/ 375 h 439"/>
                    <a:gd name="T2" fmla="*/ 344 w 439"/>
                    <a:gd name="T3" fmla="*/ 375 h 439"/>
                    <a:gd name="T4" fmla="*/ 63 w 439"/>
                    <a:gd name="T5" fmla="*/ 313 h 439"/>
                    <a:gd name="T6" fmla="*/ 125 w 439"/>
                    <a:gd name="T7" fmla="*/ 63 h 439"/>
                    <a:gd name="T8" fmla="*/ 407 w 439"/>
                    <a:gd name="T9" fmla="*/ 94 h 439"/>
                    <a:gd name="T10" fmla="*/ 344 w 439"/>
                    <a:gd name="T11" fmla="*/ 375 h 439"/>
                  </a:gdLst>
                  <a:ahLst/>
                  <a:cxnLst>
                    <a:cxn ang="0">
                      <a:pos x="T0" y="T1"/>
                    </a:cxn>
                    <a:cxn ang="0">
                      <a:pos x="T2" y="T3"/>
                    </a:cxn>
                    <a:cxn ang="0">
                      <a:pos x="T4" y="T5"/>
                    </a:cxn>
                    <a:cxn ang="0">
                      <a:pos x="T6" y="T7"/>
                    </a:cxn>
                    <a:cxn ang="0">
                      <a:pos x="T8" y="T9"/>
                    </a:cxn>
                    <a:cxn ang="0">
                      <a:pos x="T10" y="T11"/>
                    </a:cxn>
                  </a:cxnLst>
                  <a:rect l="0" t="0" r="r" b="b"/>
                  <a:pathLst>
                    <a:path w="439" h="439">
                      <a:moveTo>
                        <a:pt x="344" y="375"/>
                      </a:moveTo>
                      <a:lnTo>
                        <a:pt x="344" y="375"/>
                      </a:lnTo>
                      <a:cubicBezTo>
                        <a:pt x="250" y="438"/>
                        <a:pt x="125" y="407"/>
                        <a:pt x="63" y="313"/>
                      </a:cubicBezTo>
                      <a:cubicBezTo>
                        <a:pt x="0" y="250"/>
                        <a:pt x="32" y="125"/>
                        <a:pt x="125" y="63"/>
                      </a:cubicBezTo>
                      <a:cubicBezTo>
                        <a:pt x="219" y="0"/>
                        <a:pt x="344" y="0"/>
                        <a:pt x="407" y="94"/>
                      </a:cubicBezTo>
                      <a:cubicBezTo>
                        <a:pt x="438" y="188"/>
                        <a:pt x="438" y="313"/>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4" name="文本"/>
                <p:cNvSpPr>
                  <a:spLocks noChangeArrowheads="1"/>
                </p:cNvSpPr>
                <p:nvPr>
                  <p:custDataLst>
                    <p:tags r:id="rId42"/>
                  </p:custDataLst>
                </p:nvPr>
              </p:nvSpPr>
              <p:spPr bwMode="auto">
                <a:xfrm>
                  <a:off x="7435670" y="4255706"/>
                  <a:ext cx="117543" cy="117575"/>
                </a:xfrm>
                <a:custGeom>
                  <a:avLst/>
                  <a:gdLst>
                    <a:gd name="T0" fmla="*/ 344 w 470"/>
                    <a:gd name="T1" fmla="*/ 407 h 470"/>
                    <a:gd name="T2" fmla="*/ 344 w 470"/>
                    <a:gd name="T3" fmla="*/ 407 h 470"/>
                    <a:gd name="T4" fmla="*/ 63 w 470"/>
                    <a:gd name="T5" fmla="*/ 344 h 470"/>
                    <a:gd name="T6" fmla="*/ 125 w 470"/>
                    <a:gd name="T7" fmla="*/ 63 h 470"/>
                    <a:gd name="T8" fmla="*/ 407 w 470"/>
                    <a:gd name="T9" fmla="*/ 125 h 470"/>
                    <a:gd name="T10" fmla="*/ 344 w 470"/>
                    <a:gd name="T11" fmla="*/ 407 h 470"/>
                  </a:gdLst>
                  <a:ahLst/>
                  <a:cxnLst>
                    <a:cxn ang="0">
                      <a:pos x="T0" y="T1"/>
                    </a:cxn>
                    <a:cxn ang="0">
                      <a:pos x="T2" y="T3"/>
                    </a:cxn>
                    <a:cxn ang="0">
                      <a:pos x="T4" y="T5"/>
                    </a:cxn>
                    <a:cxn ang="0">
                      <a:pos x="T6" y="T7"/>
                    </a:cxn>
                    <a:cxn ang="0">
                      <a:pos x="T8" y="T9"/>
                    </a:cxn>
                    <a:cxn ang="0">
                      <a:pos x="T10" y="T11"/>
                    </a:cxn>
                  </a:cxnLst>
                  <a:rect l="0" t="0" r="r" b="b"/>
                  <a:pathLst>
                    <a:path w="470" h="470">
                      <a:moveTo>
                        <a:pt x="344" y="407"/>
                      </a:moveTo>
                      <a:lnTo>
                        <a:pt x="344" y="407"/>
                      </a:lnTo>
                      <a:cubicBezTo>
                        <a:pt x="250" y="469"/>
                        <a:pt x="125" y="438"/>
                        <a:pt x="63" y="344"/>
                      </a:cubicBezTo>
                      <a:cubicBezTo>
                        <a:pt x="0" y="250"/>
                        <a:pt x="32" y="125"/>
                        <a:pt x="125" y="63"/>
                      </a:cubicBezTo>
                      <a:cubicBezTo>
                        <a:pt x="219" y="0"/>
                        <a:pt x="344" y="32"/>
                        <a:pt x="407" y="125"/>
                      </a:cubicBezTo>
                      <a:cubicBezTo>
                        <a:pt x="469" y="219"/>
                        <a:pt x="438" y="344"/>
                        <a:pt x="344"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sp>
            <p:nvSpPr>
              <p:cNvPr id="75" name="椭圆 74"/>
              <p:cNvSpPr/>
              <p:nvPr/>
            </p:nvSpPr>
            <p:spPr>
              <a:xfrm>
                <a:off x="4413591" y="3196154"/>
                <a:ext cx="1252580" cy="125275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6525601" y="3196154"/>
                <a:ext cx="1252580" cy="1252758"/>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圆角矩形 61"/>
            <p:cNvSpPr/>
            <p:nvPr/>
          </p:nvSpPr>
          <p:spPr>
            <a:xfrm>
              <a:off x="1407580"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01</a:t>
              </a:r>
              <a:endParaRPr lang="zh-CN" altLang="en-US" dirty="0">
                <a:latin typeface="MiSans Bold" panose="00000800000000000000" charset="-122"/>
                <a:ea typeface="MiSans Bold" panose="00000800000000000000" charset="-122"/>
              </a:endParaRPr>
            </a:p>
          </p:txBody>
        </p:sp>
        <p:sp>
          <p:nvSpPr>
            <p:cNvPr id="78" name="圆角矩形 61"/>
            <p:cNvSpPr/>
            <p:nvPr/>
          </p:nvSpPr>
          <p:spPr>
            <a:xfrm>
              <a:off x="9167374"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02</a:t>
              </a:r>
              <a:endParaRPr lang="zh-CN" altLang="en-US" dirty="0">
                <a:latin typeface="MiSans Bold" panose="00000800000000000000" charset="-122"/>
                <a:ea typeface="MiSans Bold" panose="00000800000000000000" charset="-122"/>
              </a:endParaRPr>
            </a:p>
          </p:txBody>
        </p:sp>
      </p:grpSp>
      <p:sp>
        <p:nvSpPr>
          <p:cNvPr id="79" name="stack-of-papers_156"/>
          <p:cNvSpPr>
            <a:spLocks noChangeAspect="1"/>
          </p:cNvSpPr>
          <p:nvPr>
            <p:custDataLst>
              <p:tags r:id="rId43"/>
            </p:custDataLst>
          </p:nvPr>
        </p:nvSpPr>
        <p:spPr bwMode="auto">
          <a:xfrm>
            <a:off x="4544429" y="2501259"/>
            <a:ext cx="609685" cy="527295"/>
          </a:xfrm>
          <a:custGeom>
            <a:avLst/>
            <a:gdLst>
              <a:gd name="connsiteX0" fmla="*/ 527054 w 559361"/>
              <a:gd name="connsiteY0" fmla="*/ 299251 h 483772"/>
              <a:gd name="connsiteX1" fmla="*/ 559361 w 559361"/>
              <a:gd name="connsiteY1" fmla="*/ 327623 h 483772"/>
              <a:gd name="connsiteX2" fmla="*/ 280405 w 559361"/>
              <a:gd name="connsiteY2" fmla="*/ 483772 h 483772"/>
              <a:gd name="connsiteX3" fmla="*/ 0 w 559361"/>
              <a:gd name="connsiteY3" fmla="*/ 327623 h 483772"/>
              <a:gd name="connsiteX4" fmla="*/ 32307 w 559361"/>
              <a:gd name="connsiteY4" fmla="*/ 300494 h 483772"/>
              <a:gd name="connsiteX5" fmla="*/ 280405 w 559361"/>
              <a:gd name="connsiteY5" fmla="*/ 433448 h 483772"/>
              <a:gd name="connsiteX6" fmla="*/ 32307 w 559361"/>
              <a:gd name="connsiteY6" fmla="*/ 214135 h 483772"/>
              <a:gd name="connsiteX7" fmla="*/ 280405 w 559361"/>
              <a:gd name="connsiteY7" fmla="*/ 346882 h 483772"/>
              <a:gd name="connsiteX8" fmla="*/ 527054 w 559361"/>
              <a:gd name="connsiteY8" fmla="*/ 214135 h 483772"/>
              <a:gd name="connsiteX9" fmla="*/ 559361 w 559361"/>
              <a:gd name="connsiteY9" fmla="*/ 242507 h 483772"/>
              <a:gd name="connsiteX10" fmla="*/ 280405 w 559361"/>
              <a:gd name="connsiteY10" fmla="*/ 398449 h 483772"/>
              <a:gd name="connsiteX11" fmla="*/ 0 w 559361"/>
              <a:gd name="connsiteY11" fmla="*/ 242507 h 483772"/>
              <a:gd name="connsiteX12" fmla="*/ 280405 w 559361"/>
              <a:gd name="connsiteY12" fmla="*/ 0 h 483772"/>
              <a:gd name="connsiteX13" fmla="*/ 559361 w 559361"/>
              <a:gd name="connsiteY13" fmla="*/ 155942 h 483772"/>
              <a:gd name="connsiteX14" fmla="*/ 280405 w 559361"/>
              <a:gd name="connsiteY14" fmla="*/ 312091 h 483772"/>
              <a:gd name="connsiteX15" fmla="*/ 0 w 559361"/>
              <a:gd name="connsiteY15" fmla="*/ 155942 h 48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361" h="483772">
                <a:moveTo>
                  <a:pt x="527054" y="299251"/>
                </a:moveTo>
                <a:lnTo>
                  <a:pt x="559361" y="327623"/>
                </a:lnTo>
                <a:lnTo>
                  <a:pt x="280405" y="483772"/>
                </a:lnTo>
                <a:lnTo>
                  <a:pt x="0" y="327623"/>
                </a:lnTo>
                <a:lnTo>
                  <a:pt x="32307" y="300494"/>
                </a:lnTo>
                <a:lnTo>
                  <a:pt x="280405" y="433448"/>
                </a:lnTo>
                <a:close/>
                <a:moveTo>
                  <a:pt x="32307" y="214135"/>
                </a:moveTo>
                <a:lnTo>
                  <a:pt x="280405" y="346882"/>
                </a:lnTo>
                <a:lnTo>
                  <a:pt x="527054" y="214135"/>
                </a:lnTo>
                <a:lnTo>
                  <a:pt x="559361" y="242507"/>
                </a:lnTo>
                <a:lnTo>
                  <a:pt x="280405" y="398449"/>
                </a:lnTo>
                <a:lnTo>
                  <a:pt x="0" y="242507"/>
                </a:lnTo>
                <a:close/>
                <a:moveTo>
                  <a:pt x="280405" y="0"/>
                </a:moveTo>
                <a:lnTo>
                  <a:pt x="559361" y="155942"/>
                </a:lnTo>
                <a:lnTo>
                  <a:pt x="280405" y="312091"/>
                </a:lnTo>
                <a:lnTo>
                  <a:pt x="0" y="155942"/>
                </a:lnTo>
                <a:close/>
              </a:path>
            </a:pathLst>
          </a:custGeom>
          <a:solidFill>
            <a:schemeClr val="bg1"/>
          </a:solidFill>
          <a:ln>
            <a:noFill/>
          </a:ln>
        </p:spPr>
      </p:sp>
      <p:sp>
        <p:nvSpPr>
          <p:cNvPr id="80" name="iconfont-1187-867994"/>
          <p:cNvSpPr>
            <a:spLocks noChangeAspect="1"/>
          </p:cNvSpPr>
          <p:nvPr>
            <p:custDataLst>
              <p:tags r:id="rId44"/>
            </p:custDataLst>
          </p:nvPr>
        </p:nvSpPr>
        <p:spPr bwMode="auto">
          <a:xfrm>
            <a:off x="6714680" y="2464622"/>
            <a:ext cx="609685" cy="526970"/>
          </a:xfrm>
          <a:custGeom>
            <a:avLst/>
            <a:gdLst>
              <a:gd name="T0" fmla="*/ 3379 w 14571"/>
              <a:gd name="T1" fmla="*/ 12594 h 12594"/>
              <a:gd name="T2" fmla="*/ 3631 w 14571"/>
              <a:gd name="T3" fmla="*/ 8903 h 12594"/>
              <a:gd name="T4" fmla="*/ 4523 w 14571"/>
              <a:gd name="T5" fmla="*/ 6850 h 12594"/>
              <a:gd name="T6" fmla="*/ 4857 w 14571"/>
              <a:gd name="T7" fmla="*/ 8701 h 12594"/>
              <a:gd name="T8" fmla="*/ 5876 w 14571"/>
              <a:gd name="T9" fmla="*/ 5202 h 12594"/>
              <a:gd name="T10" fmla="*/ 7765 w 14571"/>
              <a:gd name="T11" fmla="*/ 12594 h 12594"/>
              <a:gd name="T12" fmla="*/ 8570 w 14571"/>
              <a:gd name="T13" fmla="*/ 2349 h 12594"/>
              <a:gd name="T14" fmla="*/ 8323 w 14571"/>
              <a:gd name="T15" fmla="*/ 4627 h 12594"/>
              <a:gd name="T16" fmla="*/ 4802 w 14571"/>
              <a:gd name="T17" fmla="*/ 0 h 12594"/>
              <a:gd name="T18" fmla="*/ 2404 w 14571"/>
              <a:gd name="T19" fmla="*/ 5766 h 12594"/>
              <a:gd name="T20" fmla="*/ 1889 w 14571"/>
              <a:gd name="T21" fmla="*/ 3674 h 12594"/>
              <a:gd name="T22" fmla="*/ 400 w 14571"/>
              <a:gd name="T23" fmla="*/ 7715 h 12594"/>
              <a:gd name="T24" fmla="*/ 3379 w 14571"/>
              <a:gd name="T25" fmla="*/ 12594 h 12594"/>
              <a:gd name="T26" fmla="*/ 3379 w 14571"/>
              <a:gd name="T27" fmla="*/ 12594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571" h="12594">
                <a:moveTo>
                  <a:pt x="3379" y="12594"/>
                </a:moveTo>
                <a:cubicBezTo>
                  <a:pt x="2535" y="10847"/>
                  <a:pt x="2984" y="9845"/>
                  <a:pt x="3631" y="8903"/>
                </a:cubicBezTo>
                <a:cubicBezTo>
                  <a:pt x="4337" y="7874"/>
                  <a:pt x="4523" y="6850"/>
                  <a:pt x="4523" y="6850"/>
                </a:cubicBezTo>
                <a:cubicBezTo>
                  <a:pt x="4523" y="6850"/>
                  <a:pt x="5076" y="7573"/>
                  <a:pt x="4857" y="8701"/>
                </a:cubicBezTo>
                <a:cubicBezTo>
                  <a:pt x="5837" y="7606"/>
                  <a:pt x="6023" y="5870"/>
                  <a:pt x="5876" y="5202"/>
                </a:cubicBezTo>
                <a:cubicBezTo>
                  <a:pt x="8099" y="6751"/>
                  <a:pt x="9046" y="10108"/>
                  <a:pt x="7765" y="12594"/>
                </a:cubicBezTo>
                <a:cubicBezTo>
                  <a:pt x="14571" y="8750"/>
                  <a:pt x="9457" y="3001"/>
                  <a:pt x="8570" y="2349"/>
                </a:cubicBezTo>
                <a:cubicBezTo>
                  <a:pt x="8865" y="3001"/>
                  <a:pt x="8920" y="4096"/>
                  <a:pt x="8323" y="4627"/>
                </a:cubicBezTo>
                <a:cubicBezTo>
                  <a:pt x="7310" y="788"/>
                  <a:pt x="4802" y="0"/>
                  <a:pt x="4802" y="0"/>
                </a:cubicBezTo>
                <a:cubicBezTo>
                  <a:pt x="5098" y="1982"/>
                  <a:pt x="3724" y="4145"/>
                  <a:pt x="2404" y="5766"/>
                </a:cubicBezTo>
                <a:cubicBezTo>
                  <a:pt x="2355" y="4977"/>
                  <a:pt x="2305" y="4430"/>
                  <a:pt x="1889" y="3674"/>
                </a:cubicBezTo>
                <a:cubicBezTo>
                  <a:pt x="1796" y="5109"/>
                  <a:pt x="696" y="6281"/>
                  <a:pt x="400" y="7715"/>
                </a:cubicBezTo>
                <a:cubicBezTo>
                  <a:pt x="0" y="9664"/>
                  <a:pt x="701" y="11088"/>
                  <a:pt x="3379" y="12594"/>
                </a:cubicBezTo>
                <a:close/>
                <a:moveTo>
                  <a:pt x="3379" y="12594"/>
                </a:moveTo>
                <a:close/>
              </a:path>
            </a:pathLst>
          </a:custGeom>
          <a:solidFill>
            <a:schemeClr val="bg1"/>
          </a:solidFill>
          <a:ln>
            <a:noFill/>
          </a:ln>
        </p:spPr>
      </p:sp>
      <p:grpSp>
        <p:nvGrpSpPr>
          <p:cNvPr id="81" name="组合 80"/>
          <p:cNvGrpSpPr/>
          <p:nvPr/>
        </p:nvGrpSpPr>
        <p:grpSpPr>
          <a:xfrm>
            <a:off x="741695" y="2593105"/>
            <a:ext cx="2602865" cy="1794510"/>
            <a:chOff x="676230" y="3787545"/>
            <a:chExt cx="2602865" cy="1794510"/>
          </a:xfrm>
        </p:grpSpPr>
        <p:grpSp>
          <p:nvGrpSpPr>
            <p:cNvPr id="82" name="组合 81"/>
            <p:cNvGrpSpPr/>
            <p:nvPr/>
          </p:nvGrpSpPr>
          <p:grpSpPr>
            <a:xfrm>
              <a:off x="676230" y="3787545"/>
              <a:ext cx="2602865" cy="1794510"/>
              <a:chOff x="1076250" y="4156778"/>
              <a:chExt cx="2602865" cy="1794510"/>
            </a:xfrm>
          </p:grpSpPr>
          <p:sp>
            <p:nvSpPr>
              <p:cNvPr id="83" name="文本框 82"/>
              <p:cNvSpPr txBox="1"/>
              <p:nvPr/>
            </p:nvSpPr>
            <p:spPr>
              <a:xfrm>
                <a:off x="1076250" y="4156778"/>
                <a:ext cx="2602865"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多源病虫害数据融合采集</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4" name="TextBox 11"/>
              <p:cNvSpPr txBox="1"/>
              <p:nvPr/>
            </p:nvSpPr>
            <p:spPr>
              <a:xfrm>
                <a:off x="1184835" y="4659063"/>
                <a:ext cx="2364740"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结合多光谱相机航拍与田间人工调查，标注病虫害叶片图像及环境数据（温湿度），提升数据样本准确性。</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85" name="直接连接符 84"/>
            <p:cNvCxnSpPr/>
            <p:nvPr>
              <p:custDataLst>
                <p:tags r:id="rId45"/>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custDataLst>
              <p:tags r:id="rId46"/>
            </p:custDataLst>
          </p:nvPr>
        </p:nvGrpSpPr>
        <p:grpSpPr>
          <a:xfrm>
            <a:off x="8644433" y="2593105"/>
            <a:ext cx="2641600" cy="1781810"/>
            <a:chOff x="688295" y="3787545"/>
            <a:chExt cx="2641600" cy="1781810"/>
          </a:xfrm>
        </p:grpSpPr>
        <p:grpSp>
          <p:nvGrpSpPr>
            <p:cNvPr id="87" name="组合 86"/>
            <p:cNvGrpSpPr/>
            <p:nvPr/>
          </p:nvGrpSpPr>
          <p:grpSpPr>
            <a:xfrm>
              <a:off x="688295" y="3787545"/>
              <a:ext cx="2641600" cy="1781810"/>
              <a:chOff x="1088315" y="4156778"/>
              <a:chExt cx="2641600" cy="1781810"/>
            </a:xfrm>
          </p:grpSpPr>
          <p:sp>
            <p:nvSpPr>
              <p:cNvPr id="88" name="文本框 87"/>
              <p:cNvSpPr txBox="1"/>
              <p:nvPr/>
            </p:nvSpPr>
            <p:spPr>
              <a:xfrm>
                <a:off x="1088315" y="4156778"/>
                <a:ext cx="2641600"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轻量化病虫害识别模型构建</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9" name="TextBox 11"/>
              <p:cNvSpPr txBox="1"/>
              <p:nvPr/>
            </p:nvSpPr>
            <p:spPr>
              <a:xfrm>
                <a:off x="1204520" y="4646363"/>
                <a:ext cx="2345055"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简化卷积神经网络（</a:t>
                </a:r>
                <a:r>
                  <a:rPr lang="en-US" altLang="zh-CN"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CNN</a:t>
                </a: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）结构，减少模型参数量，适配农业移动终端（如植保无人机）的实时识别需求。</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90" name="直接连接符 89"/>
            <p:cNvCxnSpPr/>
            <p:nvPr>
              <p:custDataLst>
                <p:tags r:id="rId47"/>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91" name="直接连接符 90"/>
          <p:cNvCxnSpPr/>
          <p:nvPr/>
        </p:nvCxnSpPr>
        <p:spPr>
          <a:xfrm>
            <a:off x="849541" y="4791765"/>
            <a:ext cx="10492918"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939805" y="4906115"/>
            <a:ext cx="2676771" cy="429895"/>
          </a:xfrm>
          <a:prstGeom prst="rect">
            <a:avLst/>
          </a:prstGeom>
          <a:noFill/>
        </p:spPr>
        <p:txBody>
          <a:bodyPr wrap="square" rtlCol="0">
            <a:spAutoFit/>
          </a:bodyPr>
          <a:lstStyle/>
          <a:p>
            <a:r>
              <a:rPr lang="zh-CN" altLang="en-US" sz="2200" b="1" dirty="0">
                <a:solidFill>
                  <a:srgbClr val="512926"/>
                </a:solidFill>
                <a:latin typeface="思源黑体 CN Medium" panose="020B0600000000000000" charset="-122"/>
                <a:ea typeface="思源黑体 CN Medium" panose="020B0600000000000000" charset="-122"/>
              </a:rPr>
              <a:t>研究思路</a:t>
            </a:r>
            <a:endParaRPr lang="zh-CN" altLang="en-US" sz="2200" b="1" dirty="0">
              <a:solidFill>
                <a:srgbClr val="512926"/>
              </a:solidFill>
              <a:latin typeface="思源黑体 CN Medium" panose="020B0600000000000000" charset="-122"/>
              <a:ea typeface="思源黑体 CN Medium" panose="020B0600000000000000" charset="-122"/>
            </a:endParaRPr>
          </a:p>
        </p:txBody>
      </p:sp>
      <p:sp>
        <p:nvSpPr>
          <p:cNvPr id="93" name="TextBox 11"/>
          <p:cNvSpPr txBox="1"/>
          <p:nvPr/>
        </p:nvSpPr>
        <p:spPr>
          <a:xfrm>
            <a:off x="1026945" y="5362143"/>
            <a:ext cx="10290114" cy="1102360"/>
          </a:xfrm>
          <a:prstGeom prst="rect">
            <a:avLst/>
          </a:prstGeom>
          <a:noFill/>
        </p:spPr>
        <p:txBody>
          <a:bodyPr wrap="square" lIns="0" tIns="0" rIns="0" bIns="0" rtlCol="0">
            <a:spAutoFit/>
            <a:scene3d>
              <a:camera prst="orthographicFront"/>
              <a:lightRig rig="threePt" dir="t"/>
            </a:scene3d>
            <a:sp3d contourW="12700"/>
          </a:bodyPr>
          <a:lstStyle/>
          <a:p>
            <a:pPr indent="0" defTabSz="457200">
              <a:lnSpc>
                <a:spcPts val="2150"/>
              </a:lnSpc>
              <a:buFont typeface="MiSans" panose="00000500000000000000" charset="-122"/>
              <a:buNone/>
            </a:pPr>
            <a:r>
              <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rPr>
              <a:t>该选题聚焦智慧农业场景，通过融合多源病虫害数据采集与构建轻量化识别模型，实现对作物病虫害的智能监测，助力精准植保。先通过多光谱航拍与田间调查融合采集作物病虫害数据以保障样本质量，再构建轻量化识别模型适配农业移动终端，最终实现作物病虫害的智能监测。</a:t>
            </a: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a:p>
            <a:pPr indent="0" defTabSz="457200">
              <a:lnSpc>
                <a:spcPts val="2150"/>
              </a:lnSpc>
              <a:buFont typeface="MiSans" panose="00000500000000000000" charset="-122"/>
              <a:buNone/>
            </a:pP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spTree>
    <p:custDataLst>
      <p:tags r:id="rId48"/>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p="http://schemas.openxmlformats.org/presentationml/2006/main">
  <p:tag name="KSO_WM_SLIDE_NOBEAT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SLIDE_NOBEAT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0.xml><?xml version="1.0" encoding="utf-8"?>
<p:tagLst xmlns:p="http://schemas.openxmlformats.org/presentationml/2006/main">
  <p:tag name="KSO_WM_SLIDE_NOBEAT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2.xml><?xml version="1.0" encoding="utf-8"?>
<p:tagLst xmlns:p="http://schemas.openxmlformats.org/presentationml/2006/main">
  <p:tag name="KSO_WM_SLIDE_NOBEAT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4.xml><?xml version="1.0" encoding="utf-8"?>
<p:tagLst xmlns:p="http://schemas.openxmlformats.org/presentationml/2006/main">
  <p:tag name="KSO_WM_SLIDE_NOBEAT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6.xml><?xml version="1.0" encoding="utf-8"?>
<p:tagLst xmlns:p="http://schemas.openxmlformats.org/presentationml/2006/main">
  <p:tag name="KSO_WM_SLIDE_NOBEAT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p="http://schemas.openxmlformats.org/presentationml/2006/main">
  <p:tag name="ADJUSTMENTS" val="7.121871"/>
  <p:tag name="SHADOWSIZE" val="98"/>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1.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2.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3.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4.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5.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6.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7.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8.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p="http://schemas.openxmlformats.org/presentationml/2006/main">
  <p:tag name="KSO_WM_SLIDE_NOBEAT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p="http://schemas.openxmlformats.org/presentationml/2006/main">
  <p:tag name="wpp_generatetext" val="1"/>
</p:tagLst>
</file>

<file path=ppt/tags/tag191.xml><?xml version="1.0" encoding="utf-8"?>
<p:tagLst xmlns:p="http://schemas.openxmlformats.org/presentationml/2006/main">
  <p:tag name="wpp_generatetext" val="1"/>
</p:tagLst>
</file>

<file path=ppt/tags/tag192.xml><?xml version="1.0" encoding="utf-8"?>
<p:tagLst xmlns:p="http://schemas.openxmlformats.org/presentationml/2006/main">
  <p:tag name="KSO_WM_SLIDE_NOBEAT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4.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custom20204537_31*m_h_f*1_1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5.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custom20204537_31*m_h_f*1_2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6.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custom20204537_31*m_h_f*1_3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custom20204537_31*m_h_f*1_4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custom20204537_31*m_h_i*1_1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19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custom20204537_31*m_h_i*1_1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custom20204537_31*m_h_i*1_1_4"/>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1.xml><?xml version="1.0" encoding="utf-8"?>
<p:tagLst xmlns:p="http://schemas.openxmlformats.org/presentationml/2006/main">
  <p:tag name="KSO_WM_UNIT_DIAGRAM_MODELTYPE" val="numdgm"/>
  <p:tag name="KSO_WM_UNIT_VALUE" val="81*81"/>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custom20204537_31*m_h_x*1_1_1"/>
  <p:tag name="KSO_WM_TEMPLATE_CATEGORY" val="custom"/>
  <p:tag name="KSO_WM_TEMPLATE_INDEX" val="20204537"/>
  <p:tag name="KSO_WM_UNIT_LAYERLEVEL" val="1_1_1"/>
  <p:tag name="KSO_WM_TAG_VERSION" val="1.0"/>
  <p:tag name="KSO_WM_UNIT_FILL_FORE_SCHEMECOLOR_INDEX" val="14"/>
  <p:tag name="KSO_WM_UNIT_FILL_TYPE" val="1"/>
  <p:tag name="KSO_WM_UNIT_USESOURCEFORMAT_APPLY" val="1"/>
</p:tagLst>
</file>

<file path=ppt/tags/tag20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custom20204537_31*m_h_i*1_2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custom20204537_31*m_h_i*1_2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custom20204537_31*m_h_i*1_3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custom20204537_31*m_h_i*1_3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custom20204537_31*m_h_i*1_4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custom20204537_31*m_h_i*1_4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custom20204537_31*m_h_i*1_4_4"/>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2"/>
  <p:tag name="KSO_WM_UNIT_ID" val="custom20204537_31*m_h_i*1_1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custom20204537_31*m_h_i*1_2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2"/>
  <p:tag name="KSO_WM_UNIT_ID" val="custom20204537_31*m_h_i*1_3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2"/>
  <p:tag name="KSO_WM_UNIT_ID" val="custom20204537_31*m_h_i*1_4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3.xml><?xml version="1.0" encoding="utf-8"?>
<p:tagLst xmlns:p="http://schemas.openxmlformats.org/presentationml/2006/main">
  <p:tag name="KSO_WM_UNIT_DIAGRAM_MODELTYPE" val="numdgm"/>
  <p:tag name="KSO_WM_UNIT_VALUE" val="79*82"/>
  <p:tag name="KSO_WM_UNIT_HIGHLIGHT" val="0"/>
  <p:tag name="KSO_WM_UNIT_COMPATIBLE" val="0"/>
  <p:tag name="KSO_WM_UNIT_DIAGRAM_ISNUMVISUAL" val="0"/>
  <p:tag name="KSO_WM_UNIT_DIAGRAM_ISREFERUNIT" val="0"/>
  <p:tag name="KSO_WM_DIAGRAM_GROUP_CODE" val="m1-1"/>
  <p:tag name="KSO_WM_UNIT_TYPE" val="m_h_x"/>
  <p:tag name="KSO_WM_UNIT_INDEX" val="1_4_1"/>
  <p:tag name="KSO_WM_UNIT_ID" val="custom20204537_31*m_h_x*1_4_1"/>
  <p:tag name="KSO_WM_TEMPLATE_CATEGORY" val="custom"/>
  <p:tag name="KSO_WM_TEMPLATE_INDEX" val="20204537"/>
  <p:tag name="KSO_WM_UNIT_LAYERLEVEL" val="1_1_1"/>
  <p:tag name="KSO_WM_TAG_VERSION" val="1.0"/>
  <p:tag name="KSO_WM_UNIT_USESOURCEFORMAT_APPLY" val="1"/>
</p:tagLst>
</file>

<file path=ppt/tags/tag214.xml><?xml version="1.0" encoding="utf-8"?>
<p:tagLst xmlns:p="http://schemas.openxmlformats.org/presentationml/2006/main">
  <p:tag name="KSO_WM_UNIT_DIAGRAM_MODELTYPE" val="numdgm"/>
  <p:tag name="KSO_WM_UNIT_VALUE" val="79*79"/>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custom20204537_31*m_h_x*1_3_1"/>
  <p:tag name="KSO_WM_TEMPLATE_CATEGORY" val="custom"/>
  <p:tag name="KSO_WM_TEMPLATE_INDEX" val="20204537"/>
  <p:tag name="KSO_WM_UNIT_LAYERLEVEL" val="1_1_1"/>
  <p:tag name="KSO_WM_TAG_VERSION" val="1.0"/>
  <p:tag name="KSO_WM_UNIT_USESOURCEFORMAT_APPLY" val="1"/>
</p:tagLst>
</file>

<file path=ppt/tags/tag215.xml><?xml version="1.0" encoding="utf-8"?>
<p:tagLst xmlns:p="http://schemas.openxmlformats.org/presentationml/2006/main">
  <p:tag name="KSO_WM_UNIT_DIAGRAM_MODELTYPE" val="numdgm"/>
  <p:tag name="KSO_WM_UNIT_VALUE" val="82*56"/>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custom20204537_31*m_h_x*1_2_1"/>
  <p:tag name="KSO_WM_TEMPLATE_CATEGORY" val="custom"/>
  <p:tag name="KSO_WM_TEMPLATE_INDEX" val="20204537"/>
  <p:tag name="KSO_WM_UNIT_LAYERLEVEL" val="1_1_1"/>
  <p:tag name="KSO_WM_TAG_VERSION" val="1.0"/>
  <p:tag name="KSO_WM_UNIT_USESOURCEFORMAT_APPLY" val="1"/>
</p:tagLst>
</file>

<file path=ppt/tags/tag216.xml><?xml version="1.0" encoding="utf-8"?>
<p:tagLst xmlns:p="http://schemas.openxmlformats.org/presentationml/2006/main">
  <p:tag name="KSO_WM_SLIDE_NOBEAT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8.xml><?xml version="1.0" encoding="utf-8"?>
<p:tagLst xmlns:p="http://schemas.openxmlformats.org/presentationml/2006/main">
  <p:tag name="PA" val="v5.2.11"/>
</p:tagLst>
</file>

<file path=ppt/tags/tag219.xml><?xml version="1.0" encoding="utf-8"?>
<p:tagLst xmlns:p="http://schemas.openxmlformats.org/presentationml/2006/main">
  <p:tag name="PA" val="v5.2.11"/>
</p:tagLst>
</file>

<file path=ppt/tags/tag220.xml><?xml version="1.0" encoding="utf-8"?>
<p:tagLst xmlns:p="http://schemas.openxmlformats.org/presentationml/2006/main">
  <p:tag name="PA" val="v5.2.1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KSO_WM_SLIDE_NOBEAT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5.xml><?xml version="1.0" encoding="utf-8"?>
<p:tagLst xmlns:p="http://schemas.openxmlformats.org/presentationml/2006/main">
  <p:tag name="KSO_WM_SLIDE_NOBEAT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7.xml><?xml version="1.0" encoding="utf-8"?>
<p:tagLst xmlns:p="http://schemas.openxmlformats.org/presentationml/2006/main">
  <p:tag name="KSO_WM_SLIDE_NOBEAT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9.xml><?xml version="1.0" encoding="utf-8"?>
<p:tagLst xmlns:p="http://schemas.openxmlformats.org/presentationml/2006/main">
  <p:tag name="KSO_WM_SLIDE_NOBEAT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2.xml><?xml version="1.0" encoding="utf-8"?>
<p:tagLst xmlns:p="http://schemas.openxmlformats.org/presentationml/2006/main">
  <p:tag name="KSO_WM_SLIDE_NOBEAT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4.xml><?xml version="1.0" encoding="utf-8"?>
<p:tagLst xmlns:p="http://schemas.openxmlformats.org/presentationml/2006/main">
  <p:tag name="KSO_WM_SLIDE_NOBEAT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6.xml><?xml version="1.0" encoding="utf-8"?>
<p:tagLst xmlns:p="http://schemas.openxmlformats.org/presentationml/2006/main">
  <p:tag name="KSO_WM_SLIDE_NOBEATY"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8.xml><?xml version="1.0" encoding="utf-8"?>
<p:tagLst xmlns:p="http://schemas.openxmlformats.org/presentationml/2006/main">
  <p:tag name="KSO_WM_SLIDE_NOBEAT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 name="wpp_generatetext" val="1"/>
</p:tagLst>
</file>

<file path=ppt/tags/tag240.xml><?xml version="1.0" encoding="utf-8"?>
<p:tagLst xmlns:p="http://schemas.openxmlformats.org/presentationml/2006/main">
  <p:tag name="KSO_WM_SLIDE_NOBEAT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2.xml><?xml version="1.0" encoding="utf-8"?>
<p:tagLst xmlns:p="http://schemas.openxmlformats.org/presentationml/2006/main">
  <p:tag name="KSO_WM_SLIDE_NOBEATY"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6.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7.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8.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9.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0.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1.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2.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3.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6.xml><?xml version="1.0" encoding="utf-8"?>
<p:tagLst xmlns:p="http://schemas.openxmlformats.org/presentationml/2006/main">
  <p:tag name="KSO_WM_SLIDE_NOBEATY"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8.xml><?xml version="1.0" encoding="utf-8"?>
<p:tagLst xmlns:p="http://schemas.openxmlformats.org/presentationml/2006/main">
  <p:tag name="KSO_WM_SLIDE_NOBEATY"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0.xml><?xml version="1.0" encoding="utf-8"?>
<p:tagLst xmlns:p="http://schemas.openxmlformats.org/presentationml/2006/main">
  <p:tag name="PA" val="v5.2.3"/>
</p:tagLst>
</file>

<file path=ppt/tags/tag261.xml><?xml version="1.0" encoding="utf-8"?>
<p:tagLst xmlns:p="http://schemas.openxmlformats.org/presentationml/2006/main">
  <p:tag name="PA" val="v5.2.3"/>
</p:tagLst>
</file>

<file path=ppt/tags/tag262.xml><?xml version="1.0" encoding="utf-8"?>
<p:tagLst xmlns:p="http://schemas.openxmlformats.org/presentationml/2006/main">
  <p:tag name="PA" val="v5.2.3"/>
</p:tagLst>
</file>

<file path=ppt/tags/tag263.xml><?xml version="1.0" encoding="utf-8"?>
<p:tagLst xmlns:p="http://schemas.openxmlformats.org/presentationml/2006/main">
  <p:tag name="PA" val="v5.2.3"/>
</p:tagLst>
</file>

<file path=ppt/tags/tag264.xml><?xml version="1.0" encoding="utf-8"?>
<p:tagLst xmlns:p="http://schemas.openxmlformats.org/presentationml/2006/main">
  <p:tag name="PA" val="v5.2.3"/>
</p:tagLst>
</file>

<file path=ppt/tags/tag265.xml><?xml version="1.0" encoding="utf-8"?>
<p:tagLst xmlns:p="http://schemas.openxmlformats.org/presentationml/2006/main">
  <p:tag name="PA" val="v5.2.3"/>
</p:tagLst>
</file>

<file path=ppt/tags/tag266.xml><?xml version="1.0" encoding="utf-8"?>
<p:tagLst xmlns:p="http://schemas.openxmlformats.org/presentationml/2006/main">
  <p:tag name="PA" val="v5.2.3"/>
</p:tagLst>
</file>

<file path=ppt/tags/tag267.xml><?xml version="1.0" encoding="utf-8"?>
<p:tagLst xmlns:p="http://schemas.openxmlformats.org/presentationml/2006/main">
  <p:tag name="PA" val="v5.2.3"/>
</p:tagLst>
</file>

<file path=ppt/tags/tag268.xml><?xml version="1.0" encoding="utf-8"?>
<p:tagLst xmlns:p="http://schemas.openxmlformats.org/presentationml/2006/main">
  <p:tag name="KSO_WM_SLIDE_NOBEAT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0.xml><?xml version="1.0" encoding="utf-8"?>
<p:tagLst xmlns:p="http://schemas.openxmlformats.org/presentationml/2006/main">
  <p:tag name="KSO_WM_SLIDE_NOBEATY"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3.xml><?xml version="1.0" encoding="utf-8"?>
<p:tagLst xmlns:p="http://schemas.openxmlformats.org/presentationml/2006/main">
  <p:tag name="KSO_WM_SLIDE_NOBEAT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5.xml><?xml version="1.0" encoding="utf-8"?>
<p:tagLst xmlns:p="http://schemas.openxmlformats.org/presentationml/2006/main">
  <p:tag name="KSO_WM_SLIDE_NOBEAT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7.xml><?xml version="1.0" encoding="utf-8"?>
<p:tagLst xmlns:p="http://schemas.openxmlformats.org/presentationml/2006/main">
  <p:tag name="KSO_WM_SLIDE_NOBEATY"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SLIDE_NOBEATY"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4.xml><?xml version="1.0" encoding="utf-8"?>
<p:tagLst xmlns:p="http://schemas.openxmlformats.org/presentationml/2006/main">
  <p:tag name="wpp_generatetext" val="1"/>
</p:tagLst>
</file>

<file path=ppt/tags/tag285.xml><?xml version="1.0" encoding="utf-8"?>
<p:tagLst xmlns:p="http://schemas.openxmlformats.org/presentationml/2006/main">
  <p:tag name="wpp_generatetext" val="1"/>
</p:tagLst>
</file>

<file path=ppt/tags/tag286.xml><?xml version="1.0" encoding="utf-8"?>
<p:tagLst xmlns:p="http://schemas.openxmlformats.org/presentationml/2006/main">
  <p:tag name="KSO_WM_SLIDE_NOBEATY"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8.xml><?xml version="1.0" encoding="utf-8"?>
<p:tagLst xmlns:p="http://schemas.openxmlformats.org/presentationml/2006/main">
  <p:tag name="KSO_WM_SLIDE_NOBEATY"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0.xml><?xml version="1.0" encoding="utf-8"?>
<p:tagLst xmlns:p="http://schemas.openxmlformats.org/presentationml/2006/main">
  <p:tag name="wpp_generatetext" val="1"/>
</p:tagLst>
</file>

<file path=ppt/tags/tag291.xml><?xml version="1.0" encoding="utf-8"?>
<p:tagLst xmlns:p="http://schemas.openxmlformats.org/presentationml/2006/main">
  <p:tag name="KSO_WM_SLIDE_NOBEAT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3.xml><?xml version="1.0" encoding="utf-8"?>
<p:tagLst xmlns:p="http://schemas.openxmlformats.org/presentationml/2006/main">
  <p:tag name="KSO_WM_SLIDE_NOBEATY"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5.xml><?xml version="1.0" encoding="utf-8"?>
<p:tagLst xmlns:p="http://schemas.openxmlformats.org/presentationml/2006/main">
  <p:tag name="wpp_generatetext" val="1"/>
</p:tagLst>
</file>

<file path=ppt/tags/tag296.xml><?xml version="1.0" encoding="utf-8"?>
<p:tagLst xmlns:p="http://schemas.openxmlformats.org/presentationml/2006/main">
  <p:tag name="wpp_generatetext" val="1"/>
</p:tagLst>
</file>

<file path=ppt/tags/tag297.xml><?xml version="1.0" encoding="utf-8"?>
<p:tagLst xmlns:p="http://schemas.openxmlformats.org/presentationml/2006/main">
  <p:tag name="wpp_generatetext" val="1"/>
</p:tagLst>
</file>

<file path=ppt/tags/tag298.xml><?xml version="1.0" encoding="utf-8"?>
<p:tagLst xmlns:p="http://schemas.openxmlformats.org/presentationml/2006/main">
  <p:tag name="wpp_generatetext" val="1"/>
</p:tagLst>
</file>

<file path=ppt/tags/tag299.xml><?xml version="1.0" encoding="utf-8"?>
<p:tagLst xmlns:p="http://schemas.openxmlformats.org/presentationml/2006/main">
  <p:tag name="KSO_WM_SLIDE_NOBEAT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1.xml><?xml version="1.0" encoding="utf-8"?>
<p:tagLst xmlns:p="http://schemas.openxmlformats.org/presentationml/2006/main">
  <p:tag name="KSO_WM_SLIDE_NOBEAT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9.xml><?xml version="1.0" encoding="utf-8"?>
<p:tagLst xmlns:p="http://schemas.openxmlformats.org/presentationml/2006/main">
  <p:tag name="KSO_WM_SLIDE_NOBEATY" val="1"/>
</p:tagLst>
</file>

<file path=ppt/theme/theme1.xml><?xml version="1.0" encoding="utf-8"?>
<a:theme xmlns:a="http://schemas.openxmlformats.org/drawingml/2006/main" name="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9058</Words>
  <Application>WPS 演示</Application>
  <PresentationFormat>宽屏</PresentationFormat>
  <Paragraphs>829</Paragraphs>
  <Slides>41</Slides>
  <Notes>4</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41</vt:i4>
      </vt:variant>
    </vt:vector>
  </HeadingPairs>
  <TitlesOfParts>
    <vt:vector size="70" baseType="lpstr">
      <vt:lpstr>Arial</vt:lpstr>
      <vt:lpstr>宋体</vt:lpstr>
      <vt:lpstr>Wingdings</vt:lpstr>
      <vt:lpstr>Wingdings</vt:lpstr>
      <vt:lpstr>思源黑体 CN Regular</vt:lpstr>
      <vt:lpstr>思源黑体 CN Medium</vt:lpstr>
      <vt:lpstr>思源黑体 CN Bold</vt:lpstr>
      <vt:lpstr>标准粗黑</vt:lpstr>
      <vt:lpstr>方正宝黑体 简 Medium</vt:lpstr>
      <vt:lpstr>汉仪正圆-45W</vt:lpstr>
      <vt:lpstr>思源黑体 CN Light</vt:lpstr>
      <vt:lpstr>阿里巴巴普惠体 R</vt:lpstr>
      <vt:lpstr>华文仿宋</vt:lpstr>
      <vt:lpstr>思源黑体 CN Normal</vt:lpstr>
      <vt:lpstr>微软雅黑</vt:lpstr>
      <vt:lpstr>Arial Unicode MS</vt:lpstr>
      <vt:lpstr>Calibri</vt:lpstr>
      <vt:lpstr>Open Sans Light</vt:lpstr>
      <vt:lpstr>Yu Gothic UI Light</vt:lpstr>
      <vt:lpstr>Montserrat Black</vt:lpstr>
      <vt:lpstr>Segoe Print</vt:lpstr>
      <vt:lpstr>Calibri</vt:lpstr>
      <vt:lpstr>HarmonyOS Sans SC Medium</vt:lpstr>
      <vt:lpstr>HarmonyOS Sans SC</vt:lpstr>
      <vt:lpstr>MiSans</vt:lpstr>
      <vt:lpstr>MiSans Bold</vt:lpstr>
      <vt:lpstr>黑体</vt:lpstr>
      <vt:lpstr>自定义设计方案</vt:lpstr>
      <vt:lpstr>1_自定义设计方案</vt:lpstr>
      <vt:lpstr>PowerPoint 演示文稿</vt:lpstr>
      <vt:lpstr>PowerPoint 演示文稿</vt:lpstr>
      <vt:lpstr>研究背景</vt:lpstr>
      <vt:lpstr>小学中段语文 “读写结合” 教研融合的教学策略研究背景</vt:lpstr>
      <vt:lpstr>智能零售货架商品识别的视觉算法优化研究背景</vt:lpstr>
      <vt:lpstr>幼儿园大班科学区角材料层次性投放的实践研究背景</vt:lpstr>
      <vt:lpstr>COPD患者氧疗依从性影响因素与干预研究背景</vt:lpstr>
      <vt:lpstr>工业机器视觉表面缺陷检测的实时性优化研究背景</vt:lpstr>
      <vt:lpstr>小学高段科学探究式实验教学的教研融合策略研究背景</vt:lpstr>
      <vt:lpstr>幼儿园中班过渡环节音乐活动设计研究背景</vt:lpstr>
      <vt:lpstr>儿童过敏性紫癜家庭照护者照护能力与干预研究背景</vt:lpstr>
      <vt:lpstr>研究意义</vt:lpstr>
      <vt:lpstr>智能家居安防摄像头的人形误识别优化研究意义</vt:lpstr>
      <vt:lpstr>小学中段数学 “生活化问题解决” 教研融合策略研究意义</vt:lpstr>
      <vt:lpstr>居家腹膜透析患者家庭照护者导管护理规范执行研究意义</vt:lpstr>
      <vt:lpstr>中小学课后服务中非书面作业的设计与实施研究意义</vt:lpstr>
      <vt:lpstr>智慧物流分拣机器人的物品识别效率优化研究意义</vt:lpstr>
      <vt:lpstr>初中道德与法治 “生活情境-价值引领” 教研融合研究意义</vt:lpstr>
      <vt:lpstr>中小学劳动教育与学科教学融合的实践路径研究意义</vt:lpstr>
      <vt:lpstr>居家老年高血压患者家庭照护者血压监测规范执行研究意义</vt:lpstr>
      <vt:lpstr>研究现状</vt:lpstr>
      <vt:lpstr>QKD 网络动态路由与密钥协商协同优化研究现状</vt:lpstr>
      <vt:lpstr>中小学核心素养下跨学科学习评价的元认知支持研究现状</vt:lpstr>
      <vt:lpstr>MCI 老人数字干预照护协同研究现状</vt:lpstr>
      <vt:lpstr>小学高段语文群文阅读高阶思维教研融合研究现状</vt:lpstr>
      <vt:lpstr>智能电网用户侧储能充放电优化与负荷平抑研究现状</vt:lpstr>
      <vt:lpstr>初中物理概念建构深度学习的教研融合认知脚手架研究现状</vt:lpstr>
      <vt:lpstr>慢性心衰患者居家可穿戴照护决策支持研究现状</vt:lpstr>
      <vt:lpstr>中小学深度学习下认知负荷调控的教学设计研究现状</vt:lpstr>
      <vt:lpstr>数字化课程视频的智能语义标注研究现状</vt:lpstr>
      <vt:lpstr>研究方法</vt:lpstr>
      <vt:lpstr>肿瘤照护者数字症状管理赋能研究方法</vt:lpstr>
      <vt:lpstr>高中化学核心素养导向实验教学的教研融合路径研究方法</vt:lpstr>
      <vt:lpstr>面向脑机接口的运动意图解码模型轻量化研究方法</vt:lpstr>
      <vt:lpstr>中小学智能学习环境下学科认知迁移的支架设计研究方法</vt:lpstr>
      <vt:lpstr>老年糖尿病照护者远程血糖人机协同研究方法</vt:lpstr>
      <vt:lpstr>初中生物核心素养跨学科教研融合的机制与效能研究方法</vt:lpstr>
      <vt:lpstr>高动态无人机集群分布式协同导航与避障研究方法</vt:lpstr>
      <vt:lpstr>帕金森病居家照护者运动训练智能督导研究方法</vt:lpstr>
      <vt:lpstr>高中历史大概念教学认知负荷调控的教研融合策略研究方法</vt:lpstr>
      <vt:lpstr>智慧农业作物病虫害智能监测研究方法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180</cp:revision>
  <dcterms:created xsi:type="dcterms:W3CDTF">2019-06-19T02:08:00Z</dcterms:created>
  <dcterms:modified xsi:type="dcterms:W3CDTF">2025-10-29T06:54:29Z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2052-11.1.0.11176</vt:lpwstr>
  </property>
  <property fmtid="{D5CDD505-2E9C-101B-9397-08002B2CF9AE}" pid="3" name="ICV">
    <vt:lpwstr>60A801E517EE47AEBBC3704402C2846D_13</vt:lpwstr>
  </property>
</Properties>
</file>